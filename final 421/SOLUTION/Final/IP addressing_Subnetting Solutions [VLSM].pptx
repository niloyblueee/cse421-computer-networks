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3xrb+6WaQ6MRR34KJc8iNrwFt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3A69A4-910B-47DC-9213-1DF6D7ADD2BF}">
  <a:tblStyle styleId="{BA3A69A4-910B-47DC-9213-1DF6D7ADD2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6000"/>
              <a:buFont typeface="Calibri"/>
              <a:buNone/>
            </a:pPr>
            <a:r>
              <a:rPr lang="en-US" b="1">
                <a:solidFill>
                  <a:srgbClr val="00B050"/>
                </a:solidFill>
              </a:rPr>
              <a:t>Solutions</a:t>
            </a:r>
            <a:br>
              <a:rPr lang="en-US">
                <a:solidFill>
                  <a:srgbClr val="00B0F0"/>
                </a:solidFill>
              </a:rPr>
            </a:br>
            <a:r>
              <a:rPr lang="en-US">
                <a:solidFill>
                  <a:srgbClr val="00B0F0"/>
                </a:solidFill>
              </a:rPr>
              <a:t> IP Addressing +Subnetting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9880" y="224287"/>
            <a:ext cx="6858090" cy="352644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439947" y="2501660"/>
            <a:ext cx="103215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marR="0" lvl="0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arenBoth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IP: 192.128.0.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Broadcast IP: 192.128.255.255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NIP: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11000000.10000000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.00000000.00000000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BIP: 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11000000.10000000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.11111111.11111111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 length: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 Direct broadcast IP of the R1-LAN: 192.128.255.255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(iii) The number of required Ips: R0-LAN: 128+1, R1-LAN: 25+1, R2-LAN: 250+1, R3-LAN: 150+1,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Switched Network: 6 Ips for end devices+5 Ips for 5 interfaces of four routers (2 for R0, 1 for R1-R3 each)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: 11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444137" y="61423"/>
            <a:ext cx="2456122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Block: 169.0.0.0/17</a:t>
            </a:r>
            <a:endParaRPr/>
          </a:p>
        </p:txBody>
      </p:sp>
      <p:graphicFrame>
        <p:nvGraphicFramePr>
          <p:cNvPr id="98" name="Google Shape;98;p3"/>
          <p:cNvGraphicFramePr/>
          <p:nvPr/>
        </p:nvGraphicFramePr>
        <p:xfrm>
          <a:off x="0" y="1968500"/>
          <a:ext cx="12192000" cy="2921050"/>
        </p:xfrm>
        <a:graphic>
          <a:graphicData uri="http://schemas.openxmlformats.org/drawingml/2006/table">
            <a:tbl>
              <a:tblPr firstRow="1" bandRow="1">
                <a:noFill/>
                <a:tableStyleId>{BA3A69A4-910B-47DC-9213-1DF6D7ADD2BF}</a:tableStyleId>
              </a:tblPr>
              <a:tblGrid>
                <a:gridCol w="7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lt1"/>
                          </a:solidFill>
                        </a:rPr>
                        <a:t>Hosts, 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H2=Host+2,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No. of net bits, Nb=32-Hb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(prefix length)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lt1"/>
                          </a:solidFill>
                        </a:rPr>
                        <a:t>Network IP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SM</a:t>
                      </a:r>
                      <a:endParaRPr sz="1200" b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For next subnet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169.0.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169.0.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1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.0=169.0.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1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129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131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169.0.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1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1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.0=169.0.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2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32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169.0.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2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1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.0=169.0.3.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224</a:t>
                      </a:r>
                      <a:endParaRPr sz="1600" b="1">
                        <a:solidFill>
                          <a:srgbClr val="00B05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224=</a:t>
                      </a:r>
                      <a:r>
                        <a:rPr lang="en-US" sz="1600" b="0">
                          <a:solidFill>
                            <a:srgbClr val="7030A0"/>
                          </a:solidFill>
                        </a:rPr>
                        <a:t>32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169.0.3.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32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=169.0.3.32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255.255.255.240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" name="Google Shape;103;p3"/>
          <p:cNvSpPr txBox="1"/>
          <p:nvPr/>
        </p:nvSpPr>
        <p:spPr>
          <a:xfrm>
            <a:off x="897147" y="5676181"/>
            <a:ext cx="78247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(iv) The required IP of the switched network is 13. But 16 Ips have been allocated.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waste of IP: 16-13=3.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970" y="66441"/>
            <a:ext cx="7926030" cy="33625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146649" y="3892999"/>
            <a:ext cx="12048042" cy="29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marR="0" lvl="0" indent="-400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arenBoth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 IP: 7.16.255.255/18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00000111.00010000.11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111111.11111111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Nework IP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 00000111.00010000.11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0000.00000000  (made all host bits 0)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7.16.192.0/18  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 The number of required Ips: R2-LAN: 2500+1=2501, R4-LAN: 64+1=65, AccessNet:125+3=128, R1-R2 WAN: 2, R1-R3 WAN: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444137" y="61423"/>
            <a:ext cx="2585964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Block: 7.16.192.0/18</a:t>
            </a:r>
            <a:endParaRPr/>
          </a:p>
        </p:txBody>
      </p:sp>
      <p:graphicFrame>
        <p:nvGraphicFramePr>
          <p:cNvPr id="117" name="Google Shape;117;p5"/>
          <p:cNvGraphicFramePr/>
          <p:nvPr/>
        </p:nvGraphicFramePr>
        <p:xfrm>
          <a:off x="0" y="1968500"/>
          <a:ext cx="12192000" cy="2921050"/>
        </p:xfrm>
        <a:graphic>
          <a:graphicData uri="http://schemas.openxmlformats.org/drawingml/2006/table">
            <a:tbl>
              <a:tblPr firstRow="1" bandRow="1">
                <a:noFill/>
                <a:tableStyleId>{BA3A69A4-910B-47DC-9213-1DF6D7ADD2BF}</a:tableStyleId>
              </a:tblPr>
              <a:tblGrid>
                <a:gridCol w="7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Hosts, 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H2=Host+2,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No. of net bits, Nb=32-Hb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(prefix length)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lt1"/>
                          </a:solidFill>
                        </a:rPr>
                        <a:t>Network IP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SM</a:t>
                      </a:r>
                      <a:endParaRPr sz="1200" b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For next subnet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2503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4096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7.16.192.0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240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240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16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256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7.16.192+16.0=7.16.208.0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255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7.16.208+1.0=7.16.209.0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128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128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128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7.16.209.0+128=7.16.209.128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252</a:t>
                      </a:r>
                      <a:endParaRPr sz="1600" b="1">
                        <a:solidFill>
                          <a:srgbClr val="00B05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252=</a:t>
                      </a:r>
                      <a:r>
                        <a:rPr lang="en-US" sz="1600" b="0">
                          <a:solidFill>
                            <a:srgbClr val="7030A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7.16.209.128+4=7.16.209.132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255.255.255.252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" name="Google Shape;122;p5"/>
          <p:cNvSpPr txBox="1"/>
          <p:nvPr/>
        </p:nvSpPr>
        <p:spPr>
          <a:xfrm>
            <a:off x="897147" y="5676181"/>
            <a:ext cx="69559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(iv) The required IP of the R4-LAN is 67. But 128 IPs have been allocated.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waste of IP: 128-67=61.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0" name="Google Shape;13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endParaRPr/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44355"/>
            <a:ext cx="10248181" cy="239641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838200" y="2941608"/>
            <a:ext cx="7287957" cy="313932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752" t="-116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AFD2D8-6FDC-4809-BA69-613AD4CC7797}"/>
                  </a:ext>
                </a:extLst>
              </p:cNvPr>
              <p:cNvSpPr txBox="1"/>
              <p:nvPr/>
            </p:nvSpPr>
            <p:spPr>
              <a:xfrm>
                <a:off x="4526422" y="3272548"/>
                <a:ext cx="1326582" cy="2462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(16384)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AFD2D8-6FDC-4809-BA69-613AD4CC7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422" y="3272548"/>
                <a:ext cx="1326582" cy="246221"/>
              </a:xfrm>
              <a:prstGeom prst="rect">
                <a:avLst/>
              </a:prstGeom>
              <a:blipFill>
                <a:blip r:embed="rId5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444137" y="61423"/>
            <a:ext cx="2326278" cy="4001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Block: 41.1.0.0/18</a:t>
            </a:r>
            <a:endParaRPr/>
          </a:p>
        </p:txBody>
      </p:sp>
      <p:graphicFrame>
        <p:nvGraphicFramePr>
          <p:cNvPr id="138" name="Google Shape;138;p7"/>
          <p:cNvGraphicFramePr/>
          <p:nvPr/>
        </p:nvGraphicFramePr>
        <p:xfrm>
          <a:off x="0" y="1968500"/>
          <a:ext cx="12192000" cy="2921050"/>
        </p:xfrm>
        <a:graphic>
          <a:graphicData uri="http://schemas.openxmlformats.org/drawingml/2006/table">
            <a:tbl>
              <a:tblPr firstRow="1" bandRow="1">
                <a:noFill/>
                <a:tableStyleId>{BA3A69A4-910B-47DC-9213-1DF6D7ADD2BF}</a:tableStyleId>
              </a:tblPr>
              <a:tblGrid>
                <a:gridCol w="7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6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4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9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Hosts, 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H2=Host+2,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No. of net bits, Nb=32-Hb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(prefix length)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lt1"/>
                          </a:solidFill>
                        </a:rPr>
                        <a:t>Network IP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SM</a:t>
                      </a:r>
                      <a:endParaRPr sz="1200" b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lt1"/>
                          </a:solidFill>
                        </a:rPr>
                        <a:t>For next subnet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2048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248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248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1024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8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.0=41.1.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8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512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514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1024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8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4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.0=41.1.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12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1">
                          <a:solidFill>
                            <a:srgbClr val="00B050"/>
                          </a:solidFill>
                        </a:rPr>
                        <a:t>252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sz="1600" b="1">
                          <a:solidFill>
                            <a:srgbClr val="7030A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12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4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.0=41.1.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16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.0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252</a:t>
                      </a:r>
                      <a:endParaRPr sz="1600" b="1">
                        <a:solidFill>
                          <a:srgbClr val="00B05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256-</a:t>
                      </a:r>
                      <a:r>
                        <a:rPr lang="en-US" sz="1600" b="0">
                          <a:solidFill>
                            <a:srgbClr val="00B050"/>
                          </a:solidFill>
                        </a:rPr>
                        <a:t>252=</a:t>
                      </a:r>
                      <a:r>
                        <a:rPr lang="en-US" sz="1600" b="0">
                          <a:solidFill>
                            <a:srgbClr val="7030A0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41.1.16.</a:t>
                      </a:r>
                      <a:r>
                        <a:rPr lang="en-US" sz="1800" b="0">
                          <a:solidFill>
                            <a:srgbClr val="00B0F0"/>
                          </a:solidFill>
                        </a:rPr>
                        <a:t>0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-US" sz="1800" b="0">
                          <a:solidFill>
                            <a:srgbClr val="7030A0"/>
                          </a:solidFill>
                        </a:rPr>
                        <a:t>4</a:t>
                      </a:r>
                      <a:r>
                        <a:rPr lang="en-US" sz="1800" b="0">
                          <a:solidFill>
                            <a:schemeClr val="dk1"/>
                          </a:solidFill>
                        </a:rPr>
                        <a:t>=41.1.16.4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chemeClr val="dk1"/>
                          </a:solidFill>
                        </a:rPr>
                        <a:t>255.255.255.252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b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50" name="Google Shape;150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0113" y="99563"/>
            <a:ext cx="7554777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508958" y="2311879"/>
            <a:ext cx="6054671" cy="45243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03" t="-673" r="-1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7875917" y="5227608"/>
            <a:ext cx="41174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Layer 2 Switch does not need any IP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309" y="0"/>
            <a:ext cx="12192000" cy="15581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 txBox="1"/>
          <p:nvPr/>
        </p:nvSpPr>
        <p:spPr>
          <a:xfrm>
            <a:off x="983411" y="2363638"/>
            <a:ext cx="5256439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marR="0" lvl="0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UcParenR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usable IP: 109.127.255.254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Broadcast IP: 109.127.255.255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usable IP: 109.64.0.1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IP: 109.64.0.0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IP: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01101101.01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000000.00000000.00000000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Broadcast:  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01101101.01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111111.11111111.11111111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 rot="5400000">
            <a:off x="2777683" y="4546099"/>
            <a:ext cx="99248" cy="1281023"/>
          </a:xfrm>
          <a:prstGeom prst="righ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918308" y="5323430"/>
            <a:ext cx="18179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10 bits same</a:t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587261" y="5665343"/>
            <a:ext cx="26170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No. of net bits: 10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No. of host bits: 32-10=22</a:t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1196915" y="6257054"/>
            <a:ext cx="62757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SM: 11111111.11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000000.00000000.00000000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: 255.192.0.0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746521" y="4873925"/>
            <a:ext cx="4173194" cy="37824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315" t="-6451" b="-2580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479</Words>
  <Application>Microsoft Office PowerPoint</Application>
  <PresentationFormat>Widescreen</PresentationFormat>
  <Paragraphs>190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Solutions  IP Addressing +Subnetting</vt:lpstr>
      <vt:lpstr>PowerPoint Presentation</vt:lpstr>
      <vt:lpstr>PowerPoint Presentation</vt:lpstr>
      <vt:lpstr> </vt:lpstr>
      <vt:lpstr>PowerPoint Presentation</vt:lpstr>
      <vt:lpstr> </vt:lpstr>
      <vt:lpstr>PowerPoint Presentation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Solutions  IP Addressing +Subnetting</dc:title>
  <dc:creator>Md. Sakir Hossain</dc:creator>
  <cp:lastModifiedBy>Md. Sakir Hossain</cp:lastModifiedBy>
  <cp:revision>6</cp:revision>
  <dcterms:created xsi:type="dcterms:W3CDTF">2025-12-09T05:31:13Z</dcterms:created>
  <dcterms:modified xsi:type="dcterms:W3CDTF">2026-04-26T19:14:13Z</dcterms:modified>
</cp:coreProperties>
</file>