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orbel" panose="020B0503020204020204" pitchFamily="34" charset="0"/>
      <p:regular r:id="rId48"/>
      <p:bold r:id="rId49"/>
      <p:italic r:id="rId50"/>
      <p:boldItalic r:id="rId51"/>
    </p:embeddedFont>
    <p:embeddedFont>
      <p:font typeface="Tahoma" panose="020B0604030504040204" pitchFamily="34" charset="0"/>
      <p:regular r:id="rId52"/>
      <p:bold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gAnEiy20HLQAK0cVVD1aN6zXAZ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C4A9B5-D753-4CA7-BFB1-70B483EE8344}">
  <a:tblStyle styleId="{65C4A9B5-D753-4CA7-BFB1-70B483EE8344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tcBdr/>
        <a:fill>
          <a:solidFill>
            <a:srgbClr val="CCE2F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E2F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C888EB1-34AB-4A5A-A9AA-C63EC1D4F98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When the client boots (or otherwise wants to join a network), it begins a four-step process to obtain a IP address: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3" name="Google Shape;41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" name="Google Shape;42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Increases Forwarding Delays: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NAT adds a small delay because it needs to translate private IP addresses to a public one and vice versa, which takes some extra time.</a:t>
            </a:r>
            <a:endParaRPr/>
          </a:p>
          <a:p>
            <a:pPr marL="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Addressing Is Lost: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NAT, the original source and destination IP addresses are modified, meaning the devices on each end don't see each other's true IP addresses. This affects direct communication.</a:t>
            </a:r>
            <a:endParaRPr/>
          </a:p>
          <a:p>
            <a:pPr marL="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IPv4 Traceability Is Lost: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becomes difficult to trace the path or determine the source and destination of data packets across the internet because NAT modifies the IP addresses in transit.</a:t>
            </a:r>
            <a:endParaRPr/>
          </a:p>
          <a:p>
            <a:pPr marL="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Complicates Tunneling Protocols: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Protocols like IPsec, which secure internet communications, rely on knowing the IP addresses of the endpoints. NAT changes these addresses, which can break or complicate these security protocols.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0" name="Google Shape;490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0" name="Google Shape;55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4" name="Google Shape;56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0" name="Google Shape;61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2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52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2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2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52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2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52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3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6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6"/>
          <p:cNvSpPr txBox="1">
            <a:spLocks noGrp="1"/>
          </p:cNvSpPr>
          <p:nvPr>
            <p:ph type="body" idx="1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6"/>
          <p:cNvSpPr txBox="1">
            <a:spLocks noGrp="1"/>
          </p:cNvSpPr>
          <p:nvPr>
            <p:ph type="body" idx="2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5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5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4" name="Google Shape;54;p55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5" name="Google Shape;55;p5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6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56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2" name="Google Shape;62;p56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56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4" name="Google Shape;64;p5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9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9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9" name="Google Shape;79;p59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5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0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0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0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6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1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1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1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6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2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2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6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3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63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3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6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4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4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6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5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5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65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6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6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6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66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6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6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7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6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6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8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8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6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6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1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1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1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1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1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1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5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5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jpg"/><Relationship Id="rId4" Type="http://schemas.openxmlformats.org/officeDocument/2006/relationships/image" Target="../media/image2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hyperlink" Target="http://www.software.com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26.jpg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DHCPv4 &amp; NAT</a:t>
            </a:r>
            <a:endParaRPr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CSE 421 – Computer Netwroks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3" name="Google Shape;15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9"/>
          <p:cNvSpPr txBox="1">
            <a:spLocks noGrp="1"/>
          </p:cNvSpPr>
          <p:nvPr>
            <p:ph type="ctrTitle"/>
          </p:nvPr>
        </p:nvSpPr>
        <p:spPr>
          <a:xfrm>
            <a:off x="2249133" y="3529000"/>
            <a:ext cx="8574622" cy="158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 sz="4800"/>
              <a:t>Automatic IP Address Assignment</a:t>
            </a:r>
            <a:endParaRPr sz="4800"/>
          </a:p>
        </p:txBody>
      </p:sp>
      <p:pic>
        <p:nvPicPr>
          <p:cNvPr id="160" name="Google Shape;160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9"/>
          <p:cNvSpPr/>
          <p:nvPr/>
        </p:nvSpPr>
        <p:spPr>
          <a:xfrm>
            <a:off x="5276333" y="5110111"/>
            <a:ext cx="52469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Address Translation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9"/>
          <p:cNvSpPr txBox="1"/>
          <p:nvPr/>
        </p:nvSpPr>
        <p:spPr>
          <a:xfrm>
            <a:off x="1984555" y="269800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orbel"/>
              <a:buNone/>
            </a:pPr>
            <a:r>
              <a:rPr lang="en-US" sz="44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IP Addressing Services</a:t>
            </a:r>
            <a:endParaRPr sz="8000" b="1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0"/>
          <p:cNvSpPr txBox="1">
            <a:spLocks noGrp="1"/>
          </p:cNvSpPr>
          <p:nvPr>
            <p:ph type="title"/>
          </p:nvPr>
        </p:nvSpPr>
        <p:spPr>
          <a:xfrm>
            <a:off x="1997251" y="30119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68" name="Google Shape;168;p70"/>
          <p:cNvSpPr txBox="1">
            <a:spLocks noGrp="1"/>
          </p:cNvSpPr>
          <p:nvPr>
            <p:ph type="body" idx="1"/>
          </p:nvPr>
        </p:nvSpPr>
        <p:spPr>
          <a:xfrm>
            <a:off x="1903989" y="1372678"/>
            <a:ext cx="5254458" cy="467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DHCPv4 Concepts</a:t>
            </a:r>
            <a:endParaRPr/>
          </a:p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DHCPv4 Operations</a:t>
            </a:r>
            <a:endParaRPr sz="3600"/>
          </a:p>
          <a:p>
            <a:pPr marL="214313" lvl="0" indent="0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480"/>
              <a:buNone/>
            </a:pPr>
            <a:endParaRPr sz="3600"/>
          </a:p>
          <a:p>
            <a:pPr marL="214313" lvl="0" indent="-220980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NAT Concepts</a:t>
            </a:r>
            <a:endParaRPr sz="3600"/>
          </a:p>
          <a:p>
            <a:pPr marL="557213" lvl="1" indent="-21431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Introduction to NAT</a:t>
            </a:r>
            <a:endParaRPr sz="3200"/>
          </a:p>
          <a:p>
            <a:pPr marL="557213" lvl="1" indent="-21431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PAT (NAT Overloading)</a:t>
            </a:r>
            <a:endParaRPr sz="3200"/>
          </a:p>
          <a:p>
            <a:pPr marL="557213" lvl="1" indent="-21431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Port Forwarding</a:t>
            </a:r>
            <a:endParaRPr sz="3200"/>
          </a:p>
        </p:txBody>
      </p:sp>
      <p:pic>
        <p:nvPicPr>
          <p:cNvPr id="169" name="Google Shape;16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1286" y="179177"/>
            <a:ext cx="872043" cy="8000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0" name="Google Shape;170;p70"/>
          <p:cNvSpPr/>
          <p:nvPr/>
        </p:nvSpPr>
        <p:spPr>
          <a:xfrm>
            <a:off x="6430312" y="1768622"/>
            <a:ext cx="5195630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How devices get IP addresses automatically</a:t>
            </a:r>
            <a:endParaRPr sz="2800" b="1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1" name="Google Shape;171;p70"/>
          <p:cNvSpPr/>
          <p:nvPr/>
        </p:nvSpPr>
        <p:spPr>
          <a:xfrm>
            <a:off x="6712189" y="4072781"/>
            <a:ext cx="5109091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How many devices share one IP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address</a:t>
            </a:r>
            <a:endParaRPr sz="2800" b="1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1"/>
          <p:cNvSpPr txBox="1"/>
          <p:nvPr/>
        </p:nvSpPr>
        <p:spPr>
          <a:xfrm>
            <a:off x="2286000" y="1524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Dynamic Host Configuration</a:t>
            </a:r>
            <a:br>
              <a:rPr lang="en-US" sz="3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Protocol (DHCP)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1" descr="What is an DHCP? | Dynamic IP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1730" y="3124200"/>
            <a:ext cx="4244370" cy="282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2"/>
          <p:cNvSpPr txBox="1">
            <a:spLocks noGrp="1"/>
          </p:cNvSpPr>
          <p:nvPr>
            <p:ph type="title"/>
          </p:nvPr>
        </p:nvSpPr>
        <p:spPr>
          <a:xfrm>
            <a:off x="1109987" y="23003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/>
              <a:t>Assigning IPv4 Addresses : Static</a:t>
            </a:r>
            <a:endParaRPr/>
          </a:p>
        </p:txBody>
      </p:sp>
      <p:sp>
        <p:nvSpPr>
          <p:cNvPr id="184" name="Google Shape;184;p72"/>
          <p:cNvSpPr txBox="1">
            <a:spLocks noGrp="1"/>
          </p:cNvSpPr>
          <p:nvPr>
            <p:ph type="body" idx="1"/>
          </p:nvPr>
        </p:nvSpPr>
        <p:spPr>
          <a:xfrm>
            <a:off x="800381" y="1021521"/>
            <a:ext cx="6434029" cy="29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rmAutofit fontScale="92500" lnSpcReduction="10000"/>
          </a:bodyPr>
          <a:lstStyle/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Char char="•"/>
            </a:pPr>
            <a:r>
              <a:rPr lang="en-US" sz="3200"/>
              <a:t>Every device that connects to a network needs </a:t>
            </a:r>
            <a:r>
              <a:rPr lang="en-US" sz="3200" b="1">
                <a:solidFill>
                  <a:srgbClr val="7D28CD"/>
                </a:solidFill>
              </a:rPr>
              <a:t>an IP address.</a:t>
            </a:r>
            <a:endParaRPr/>
          </a:p>
          <a:p>
            <a:pPr marL="21431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None/>
            </a:pPr>
            <a:endParaRPr sz="3200" b="1">
              <a:solidFill>
                <a:srgbClr val="7D28CD"/>
              </a:solidFill>
            </a:endParaRPr>
          </a:p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Char char="•"/>
            </a:pPr>
            <a:r>
              <a:rPr lang="en-US" sz="3200">
                <a:solidFill>
                  <a:schemeClr val="dk1"/>
                </a:solidFill>
              </a:rPr>
              <a:t>How to assign an IP address to a device?</a:t>
            </a:r>
            <a:endParaRPr/>
          </a:p>
          <a:p>
            <a:pPr marL="557213" lvl="1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5405"/>
              <a:buChar char="•"/>
            </a:pPr>
            <a:r>
              <a:rPr lang="en-US" sz="3000" b="1">
                <a:solidFill>
                  <a:srgbClr val="7D28CD"/>
                </a:solidFill>
              </a:rPr>
              <a:t>Static</a:t>
            </a:r>
            <a:endParaRPr/>
          </a:p>
          <a:p>
            <a:pPr marL="557213" lvl="1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5405"/>
              <a:buChar char="•"/>
            </a:pPr>
            <a:r>
              <a:rPr lang="en-US" sz="3000" b="1">
                <a:solidFill>
                  <a:srgbClr val="7D28CD"/>
                </a:solidFill>
              </a:rPr>
              <a:t>Dynamic</a:t>
            </a:r>
            <a:endParaRPr sz="3000" b="1">
              <a:solidFill>
                <a:srgbClr val="7D28CD"/>
              </a:solidFill>
            </a:endParaRPr>
          </a:p>
          <a:p>
            <a:pPr marL="214313" lvl="0" indent="-48578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ct val="156756"/>
              <a:buNone/>
            </a:pPr>
            <a:endParaRPr/>
          </a:p>
        </p:txBody>
      </p:sp>
      <p:pic>
        <p:nvPicPr>
          <p:cNvPr id="185" name="Google Shape;18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0292" y="1021521"/>
            <a:ext cx="4581708" cy="5080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2"/>
          <p:cNvSpPr/>
          <p:nvPr/>
        </p:nvSpPr>
        <p:spPr>
          <a:xfrm>
            <a:off x="531276" y="4091992"/>
            <a:ext cx="7563852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Static </a:t>
            </a:r>
            <a:r>
              <a:rPr lang="en-US" sz="2800" b="0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/>
          </a:p>
          <a:p>
            <a:pPr marL="685800" marR="0" lvl="3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manually assigning ; stays fixed</a:t>
            </a:r>
            <a:endParaRPr/>
          </a:p>
          <a:p>
            <a:pPr marL="685800" marR="0" lvl="3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used for devices must always be reachable</a:t>
            </a:r>
            <a:endParaRPr sz="2800" b="1" i="0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685800" marR="0" lvl="3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Used for: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Web servers, Routers, printers etc.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3"/>
          <p:cNvSpPr txBox="1">
            <a:spLocks noGrp="1"/>
          </p:cNvSpPr>
          <p:nvPr>
            <p:ph type="title"/>
          </p:nvPr>
        </p:nvSpPr>
        <p:spPr>
          <a:xfrm>
            <a:off x="2366747" y="166599"/>
            <a:ext cx="7514035" cy="65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Dynamic IPv4 Addressing</a:t>
            </a:r>
            <a:endParaRPr/>
          </a:p>
        </p:txBody>
      </p:sp>
      <p:sp>
        <p:nvSpPr>
          <p:cNvPr id="192" name="Google Shape;192;p73"/>
          <p:cNvSpPr txBox="1"/>
          <p:nvPr/>
        </p:nvSpPr>
        <p:spPr>
          <a:xfrm>
            <a:off x="662354" y="1090247"/>
            <a:ext cx="5503316" cy="52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rmAutofit/>
          </a:bodyPr>
          <a:lstStyle/>
          <a:p>
            <a:pPr marL="557213" marR="0" lvl="1" indent="-21431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</a:t>
            </a:r>
            <a:endParaRPr/>
          </a:p>
          <a:p>
            <a:pPr marL="1014413" marR="0" lvl="2" indent="-21431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assigns IP addresses automatically to devices.</a:t>
            </a:r>
            <a:endParaRPr/>
          </a:p>
          <a:p>
            <a:pPr marL="1014413" marR="0" lvl="2" indent="-21431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Used for :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Laptops,phones, moving devices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1014413" marR="0" lvl="2" indent="-21431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Who does this??</a:t>
            </a:r>
            <a:endParaRPr/>
          </a:p>
          <a:p>
            <a:pPr marL="214313" marR="0" lvl="0" indent="-48578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3" name="Google Shape;193;p73"/>
          <p:cNvSpPr/>
          <p:nvPr/>
        </p:nvSpPr>
        <p:spPr>
          <a:xfrm>
            <a:off x="4417759" y="4098219"/>
            <a:ext cx="492370" cy="52753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w="120000" h="120000" fill="darken" extrusionOk="0"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w="120000" h="120000" fill="none" extrusionOk="0"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3"/>
          <p:cNvSpPr/>
          <p:nvPr/>
        </p:nvSpPr>
        <p:spPr>
          <a:xfrm>
            <a:off x="1958516" y="4744833"/>
            <a:ext cx="2405735" cy="6732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DHCP</a:t>
            </a:r>
            <a:endParaRPr/>
          </a:p>
        </p:txBody>
      </p:sp>
      <p:sp>
        <p:nvSpPr>
          <p:cNvPr id="195" name="Google Shape;195;p73"/>
          <p:cNvSpPr/>
          <p:nvPr/>
        </p:nvSpPr>
        <p:spPr>
          <a:xfrm>
            <a:off x="662354" y="5440327"/>
            <a:ext cx="59779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 Host Configuration Protocol</a:t>
            </a:r>
            <a:endParaRPr/>
          </a:p>
        </p:txBody>
      </p:sp>
      <p:sp>
        <p:nvSpPr>
          <p:cNvPr id="196" name="Google Shape;196;p73" descr="Internet of everything: 3.2.8 Automatic IP addressing | OpenLearn - Open  University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7796" y="1311358"/>
            <a:ext cx="5267659" cy="385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9772" y="230038"/>
            <a:ext cx="6873131" cy="661306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4"/>
          <p:cNvSpPr/>
          <p:nvPr/>
        </p:nvSpPr>
        <p:spPr>
          <a:xfrm>
            <a:off x="8494817" y="515630"/>
            <a:ext cx="33361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Static Assignments?</a:t>
            </a:r>
            <a:endParaRPr/>
          </a:p>
        </p:txBody>
      </p:sp>
      <p:sp>
        <p:nvSpPr>
          <p:cNvPr id="204" name="Google Shape;204;p74"/>
          <p:cNvSpPr/>
          <p:nvPr/>
        </p:nvSpPr>
        <p:spPr>
          <a:xfrm>
            <a:off x="8266392" y="1038850"/>
            <a:ext cx="379302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Dynamic Assignments?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5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Host Configuration Protocol (DHCP)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75"/>
          <p:cNvSpPr txBox="1">
            <a:spLocks noGrp="1"/>
          </p:cNvSpPr>
          <p:nvPr>
            <p:ph type="body" idx="1"/>
          </p:nvPr>
        </p:nvSpPr>
        <p:spPr>
          <a:xfrm>
            <a:off x="1558834" y="1937531"/>
            <a:ext cx="6527074" cy="1672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in large organizations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scalable.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Easier to manage many clients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/>
              <a:t>Usually part of a </a:t>
            </a:r>
            <a:r>
              <a:rPr lang="en-US" b="1"/>
              <a:t>central server</a:t>
            </a:r>
            <a:r>
              <a:rPr lang="en-US"/>
              <a:t> (Windows Server, Linux DHCP, etc.)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marL="452438" lvl="0" indent="-18897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24"/>
              <a:buFont typeface="Arial"/>
              <a:buNone/>
            </a:pPr>
            <a:endParaRPr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11" name="Google Shape;211;p75" descr="ips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726" y="4719501"/>
            <a:ext cx="1498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5" descr="ips02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6726" y="1708805"/>
            <a:ext cx="1371600" cy="16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5"/>
          <p:cNvSpPr/>
          <p:nvPr/>
        </p:nvSpPr>
        <p:spPr>
          <a:xfrm>
            <a:off x="3797300" y="788378"/>
            <a:ext cx="3794991" cy="63304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Which device runs it?</a:t>
            </a:r>
            <a:endParaRPr/>
          </a:p>
        </p:txBody>
      </p:sp>
      <p:sp>
        <p:nvSpPr>
          <p:cNvPr id="214" name="Google Shape;214;p75"/>
          <p:cNvSpPr/>
          <p:nvPr/>
        </p:nvSpPr>
        <p:spPr>
          <a:xfrm>
            <a:off x="1496291" y="4347754"/>
            <a:ext cx="6096000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43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Common in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homes, small offices (SOHO)</a:t>
            </a:r>
            <a:endParaRPr sz="2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Cheaper</a:t>
            </a:r>
            <a:endParaRPr/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Simple to configure</a:t>
            </a:r>
            <a:endParaRPr/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Wi-Fi routers we use at home run DHCP automatically</a:t>
            </a:r>
            <a:endParaRPr/>
          </a:p>
        </p:txBody>
      </p:sp>
      <p:sp>
        <p:nvSpPr>
          <p:cNvPr id="215" name="Google Shape;215;p75"/>
          <p:cNvSpPr/>
          <p:nvPr/>
        </p:nvSpPr>
        <p:spPr>
          <a:xfrm>
            <a:off x="8219805" y="3397905"/>
            <a:ext cx="2332442" cy="54261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Servers</a:t>
            </a:r>
            <a:endParaRPr/>
          </a:p>
        </p:txBody>
      </p:sp>
      <p:sp>
        <p:nvSpPr>
          <p:cNvPr id="216" name="Google Shape;216;p75"/>
          <p:cNvSpPr/>
          <p:nvPr/>
        </p:nvSpPr>
        <p:spPr>
          <a:xfrm>
            <a:off x="8219805" y="5941436"/>
            <a:ext cx="2295795" cy="49919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Routers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3067" y="838200"/>
            <a:ext cx="8821984" cy="5706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6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DHCP Operations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77"/>
          <p:cNvGrpSpPr/>
          <p:nvPr/>
        </p:nvGrpSpPr>
        <p:grpSpPr>
          <a:xfrm>
            <a:off x="1312617" y="1337520"/>
            <a:ext cx="5469272" cy="4385297"/>
            <a:chOff x="1312617" y="1337520"/>
            <a:chExt cx="5469272" cy="4385297"/>
          </a:xfrm>
        </p:grpSpPr>
        <p:pic>
          <p:nvPicPr>
            <p:cNvPr id="228" name="Google Shape;228;p7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12617" y="1337520"/>
              <a:ext cx="5469272" cy="43598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77"/>
            <p:cNvSpPr txBox="1"/>
            <p:nvPr/>
          </p:nvSpPr>
          <p:spPr>
            <a:xfrm>
              <a:off x="1534558" y="4770903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A</a:t>
              </a:r>
              <a:endParaRPr/>
            </a:p>
          </p:txBody>
        </p:sp>
        <p:sp>
          <p:nvSpPr>
            <p:cNvPr id="230" name="Google Shape;230;p77"/>
            <p:cNvSpPr txBox="1"/>
            <p:nvPr/>
          </p:nvSpPr>
          <p:spPr>
            <a:xfrm>
              <a:off x="2845734" y="5233750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B</a:t>
              </a:r>
              <a:endParaRPr/>
            </a:p>
          </p:txBody>
        </p:sp>
        <p:sp>
          <p:nvSpPr>
            <p:cNvPr id="231" name="Google Shape;231;p77"/>
            <p:cNvSpPr txBox="1"/>
            <p:nvPr/>
          </p:nvSpPr>
          <p:spPr>
            <a:xfrm>
              <a:off x="4576238" y="5415040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C</a:t>
              </a:r>
              <a:endParaRPr/>
            </a:p>
          </p:txBody>
        </p:sp>
      </p:grpSp>
      <p:sp>
        <p:nvSpPr>
          <p:cNvPr id="232" name="Google Shape;232;p77"/>
          <p:cNvSpPr txBox="1"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- Start</a:t>
            </a:r>
            <a:endParaRPr/>
          </a:p>
        </p:txBody>
      </p:sp>
      <p:sp>
        <p:nvSpPr>
          <p:cNvPr id="233" name="Google Shape;233;p77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7"/>
          <p:cNvSpPr/>
          <p:nvPr/>
        </p:nvSpPr>
        <p:spPr>
          <a:xfrm>
            <a:off x="3757426" y="28615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7"/>
          <p:cNvSpPr/>
          <p:nvPr/>
        </p:nvSpPr>
        <p:spPr>
          <a:xfrm>
            <a:off x="4029588" y="28615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7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7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7"/>
          <p:cNvSpPr/>
          <p:nvPr/>
        </p:nvSpPr>
        <p:spPr>
          <a:xfrm>
            <a:off x="3151183" y="4480647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7"/>
          <p:cNvSpPr/>
          <p:nvPr/>
        </p:nvSpPr>
        <p:spPr>
          <a:xfrm>
            <a:off x="4034403" y="1877853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7"/>
          <p:cNvSpPr/>
          <p:nvPr/>
        </p:nvSpPr>
        <p:spPr>
          <a:xfrm>
            <a:off x="4895739" y="4750494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7"/>
          <p:cNvSpPr txBox="1">
            <a:spLocks noGrp="1"/>
          </p:cNvSpPr>
          <p:nvPr>
            <p:ph type="body" idx="1"/>
          </p:nvPr>
        </p:nvSpPr>
        <p:spPr>
          <a:xfrm>
            <a:off x="7068385" y="1735801"/>
            <a:ext cx="5020521" cy="2039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 b="1">
                <a:solidFill>
                  <a:srgbClr val="0070C0"/>
                </a:solidFill>
              </a:rPr>
              <a:t>DHCP Discover </a:t>
            </a:r>
            <a:r>
              <a:rPr lang="en-US" sz="3200" b="1">
                <a:solidFill>
                  <a:schemeClr val="dk1"/>
                </a:solidFill>
              </a:rPr>
              <a:t>(Broadcast packet)</a:t>
            </a:r>
            <a:endParaRPr sz="3600">
              <a:solidFill>
                <a:schemeClr val="dk1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Finds the DHCP server(s) on the network.</a:t>
            </a:r>
            <a:endParaRPr sz="32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800"/>
          </a:p>
        </p:txBody>
      </p:sp>
      <p:sp>
        <p:nvSpPr>
          <p:cNvPr id="242" name="Google Shape;242;p77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3" name="Google Shape;243;p77"/>
          <p:cNvGraphicFramePr/>
          <p:nvPr/>
        </p:nvGraphicFramePr>
        <p:xfrm>
          <a:off x="362759" y="56974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FFFF-FFFF-FFFF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Host 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255.255.255.255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0.0.0.0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68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4" name="Google Shape;244;p77"/>
          <p:cNvGraphicFramePr/>
          <p:nvPr/>
        </p:nvGraphicFramePr>
        <p:xfrm>
          <a:off x="362758" y="62887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53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MAC address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MAC address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Dest IP address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Source IP address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Port No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Port No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5" name="Google Shape;245;p77"/>
          <p:cNvSpPr/>
          <p:nvPr/>
        </p:nvSpPr>
        <p:spPr>
          <a:xfrm rot="10800000" flipH="1">
            <a:off x="6296831" y="5628204"/>
            <a:ext cx="970115" cy="656564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7"/>
          <p:cNvSpPr/>
          <p:nvPr/>
        </p:nvSpPr>
        <p:spPr>
          <a:xfrm>
            <a:off x="1534558" y="4461230"/>
            <a:ext cx="981635" cy="20448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7"/>
          <p:cNvSpPr txBox="1"/>
          <p:nvPr/>
        </p:nvSpPr>
        <p:spPr>
          <a:xfrm>
            <a:off x="4265312" y="2293299"/>
            <a:ext cx="13510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172.16.4.254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9196" y="2926739"/>
            <a:ext cx="885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06720" y="1906974"/>
            <a:ext cx="561975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77"/>
          <p:cNvCxnSpPr/>
          <p:nvPr/>
        </p:nvCxnSpPr>
        <p:spPr>
          <a:xfrm>
            <a:off x="2668695" y="2407036"/>
            <a:ext cx="1204058" cy="32601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77"/>
          <p:cNvSpPr/>
          <p:nvPr/>
        </p:nvSpPr>
        <p:spPr>
          <a:xfrm>
            <a:off x="3600348" y="2820542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7"/>
          <p:cNvSpPr/>
          <p:nvPr/>
        </p:nvSpPr>
        <p:spPr>
          <a:xfrm>
            <a:off x="2122382" y="2342211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8"/>
          <p:cNvSpPr txBox="1"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  <p:pic>
        <p:nvPicPr>
          <p:cNvPr id="258" name="Google Shape;258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2617" y="1500381"/>
            <a:ext cx="5469272" cy="435988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8"/>
          <p:cNvSpPr/>
          <p:nvPr/>
        </p:nvSpPr>
        <p:spPr>
          <a:xfrm>
            <a:off x="5547045" y="3836292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8"/>
          <p:cNvSpPr/>
          <p:nvPr/>
        </p:nvSpPr>
        <p:spPr>
          <a:xfrm>
            <a:off x="3851576" y="2877778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8"/>
          <p:cNvSpPr txBox="1">
            <a:spLocks noGrp="1"/>
          </p:cNvSpPr>
          <p:nvPr>
            <p:ph type="body" idx="1"/>
          </p:nvPr>
        </p:nvSpPr>
        <p:spPr>
          <a:xfrm>
            <a:off x="6973997" y="1616909"/>
            <a:ext cx="5218003" cy="152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 b="1">
                <a:solidFill>
                  <a:srgbClr val="0070C0"/>
                </a:solidFill>
              </a:rPr>
              <a:t>DHCP Offer </a:t>
            </a:r>
            <a:r>
              <a:rPr lang="en-US" sz="2800" b="1">
                <a:solidFill>
                  <a:schemeClr val="dk1"/>
                </a:solidFill>
              </a:rPr>
              <a:t>(Unicast)</a:t>
            </a:r>
            <a:endParaRPr sz="3200">
              <a:solidFill>
                <a:schemeClr val="dk1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400"/>
              <a:t>Contains an available IP address to lease</a:t>
            </a:r>
            <a:endParaRPr sz="28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800"/>
          </a:p>
        </p:txBody>
      </p:sp>
      <p:sp>
        <p:nvSpPr>
          <p:cNvPr id="262" name="Google Shape;262;p78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78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20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Host 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DHCP Server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172.16.4.1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172.16.4.250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68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" name="Google Shape;264;p78"/>
          <p:cNvGraphicFramePr/>
          <p:nvPr/>
        </p:nvGraphicFramePr>
        <p:xfrm>
          <a:off x="1342589" y="637782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20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MAC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MAC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Dest IP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Source IP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Port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5" name="Google Shape;265;p78"/>
          <p:cNvSpPr txBox="1"/>
          <p:nvPr/>
        </p:nvSpPr>
        <p:spPr>
          <a:xfrm>
            <a:off x="1534558" y="4770903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/>
          </a:p>
        </p:txBody>
      </p:sp>
      <p:sp>
        <p:nvSpPr>
          <p:cNvPr id="266" name="Google Shape;266;p78"/>
          <p:cNvSpPr txBox="1"/>
          <p:nvPr/>
        </p:nvSpPr>
        <p:spPr>
          <a:xfrm>
            <a:off x="2829958" y="5428333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/>
          </a:p>
        </p:txBody>
      </p:sp>
      <p:sp>
        <p:nvSpPr>
          <p:cNvPr id="267" name="Google Shape;267;p78"/>
          <p:cNvSpPr txBox="1"/>
          <p:nvPr/>
        </p:nvSpPr>
        <p:spPr>
          <a:xfrm>
            <a:off x="4618417" y="5569105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C</a:t>
            </a:r>
            <a:endParaRPr/>
          </a:p>
        </p:txBody>
      </p:sp>
      <p:sp>
        <p:nvSpPr>
          <p:cNvPr id="268" name="Google Shape;268;p78"/>
          <p:cNvSpPr txBox="1"/>
          <p:nvPr/>
        </p:nvSpPr>
        <p:spPr>
          <a:xfrm>
            <a:off x="7570693" y="3251516"/>
            <a:ext cx="3792071" cy="1631216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 : 172.16.4.1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Subnet Mask: 255.255.255.0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Default Gateway: 172.16.4.254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DNS Server : 172.16.4.160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Lease Time : 3 days</a:t>
            </a:r>
            <a:endParaRPr/>
          </a:p>
        </p:txBody>
      </p:sp>
      <p:pic>
        <p:nvPicPr>
          <p:cNvPr id="269" name="Google Shape;269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7472" y="3085729"/>
            <a:ext cx="885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4996" y="2065964"/>
            <a:ext cx="561975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78"/>
          <p:cNvCxnSpPr/>
          <p:nvPr/>
        </p:nvCxnSpPr>
        <p:spPr>
          <a:xfrm>
            <a:off x="2636971" y="2566026"/>
            <a:ext cx="1182881" cy="47074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2589" y="1592916"/>
            <a:ext cx="6658228" cy="40817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7" name="Google Shape;277;p79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31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FFFFFFFFFFFF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Host 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255.255.255.255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172.16.4.1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68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8" name="Google Shape;278;p79"/>
          <p:cNvGraphicFramePr/>
          <p:nvPr/>
        </p:nvGraphicFramePr>
        <p:xfrm>
          <a:off x="1342589" y="637782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20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MAC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MAC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Dest IP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Source IP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Port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9" name="Google Shape;279;p79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9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9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9"/>
          <p:cNvSpPr/>
          <p:nvPr/>
        </p:nvSpPr>
        <p:spPr>
          <a:xfrm>
            <a:off x="4026256" y="2661720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9"/>
          <p:cNvSpPr/>
          <p:nvPr/>
        </p:nvSpPr>
        <p:spPr>
          <a:xfrm>
            <a:off x="4468484" y="28854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9"/>
          <p:cNvSpPr/>
          <p:nvPr/>
        </p:nvSpPr>
        <p:spPr>
          <a:xfrm>
            <a:off x="4620884" y="30378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9"/>
          <p:cNvSpPr/>
          <p:nvPr/>
        </p:nvSpPr>
        <p:spPr>
          <a:xfrm>
            <a:off x="3830042" y="2749209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9"/>
          <p:cNvSpPr/>
          <p:nvPr/>
        </p:nvSpPr>
        <p:spPr>
          <a:xfrm>
            <a:off x="6104543" y="2391598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9"/>
          <p:cNvSpPr txBox="1">
            <a:spLocks noGrp="1"/>
          </p:cNvSpPr>
          <p:nvPr>
            <p:ph type="body" idx="1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 b="1">
                <a:solidFill>
                  <a:srgbClr val="0070C0"/>
                </a:solidFill>
              </a:rPr>
              <a:t>DHCP Request </a:t>
            </a:r>
            <a:r>
              <a:rPr lang="en-US" sz="2800" b="1">
                <a:solidFill>
                  <a:schemeClr val="dk1"/>
                </a:solidFill>
              </a:rPr>
              <a:t>(Broadcast)</a:t>
            </a:r>
            <a:endParaRPr sz="3200">
              <a:solidFill>
                <a:schemeClr val="dk1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Tells server which address host has accepted</a:t>
            </a:r>
            <a:endParaRPr sz="33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800"/>
          </a:p>
        </p:txBody>
      </p:sp>
      <p:sp>
        <p:nvSpPr>
          <p:cNvPr id="288" name="Google Shape;288;p79"/>
          <p:cNvSpPr/>
          <p:nvPr/>
        </p:nvSpPr>
        <p:spPr>
          <a:xfrm>
            <a:off x="2098764" y="2878062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9"/>
          <p:cNvSpPr/>
          <p:nvPr/>
        </p:nvSpPr>
        <p:spPr>
          <a:xfrm>
            <a:off x="3951078" y="2083699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9"/>
          <p:cNvSpPr/>
          <p:nvPr/>
        </p:nvSpPr>
        <p:spPr>
          <a:xfrm>
            <a:off x="6799021" y="3145814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9"/>
          <p:cNvSpPr/>
          <p:nvPr/>
        </p:nvSpPr>
        <p:spPr>
          <a:xfrm>
            <a:off x="4738720" y="4953500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9"/>
          <p:cNvSpPr/>
          <p:nvPr/>
        </p:nvSpPr>
        <p:spPr>
          <a:xfrm>
            <a:off x="3010656" y="4518218"/>
            <a:ext cx="461819" cy="443345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9"/>
          <p:cNvSpPr txBox="1"/>
          <p:nvPr/>
        </p:nvSpPr>
        <p:spPr>
          <a:xfrm>
            <a:off x="7406640" y="3879669"/>
            <a:ext cx="2808514" cy="523220"/>
          </a:xfrm>
          <a:prstGeom prst="rect">
            <a:avLst/>
          </a:prstGeom>
          <a:solidFill>
            <a:srgbClr val="E6918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Did not take my IP address, so the address is free…. </a:t>
            </a:r>
            <a:endParaRPr/>
          </a:p>
        </p:txBody>
      </p:sp>
      <p:sp>
        <p:nvSpPr>
          <p:cNvPr id="294" name="Google Shape;294;p79"/>
          <p:cNvSpPr txBox="1"/>
          <p:nvPr/>
        </p:nvSpPr>
        <p:spPr>
          <a:xfrm>
            <a:off x="5625673" y="4605525"/>
            <a:ext cx="2808514" cy="523220"/>
          </a:xfrm>
          <a:prstGeom prst="rect">
            <a:avLst/>
          </a:prstGeom>
          <a:solidFill>
            <a:srgbClr val="B1DB9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Took my IP address, so the address is occupied…. </a:t>
            </a:r>
            <a:endParaRPr/>
          </a:p>
        </p:txBody>
      </p:sp>
      <p:sp>
        <p:nvSpPr>
          <p:cNvPr id="295" name="Google Shape;295;p79"/>
          <p:cNvSpPr txBox="1"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598" y="1266345"/>
            <a:ext cx="6658228" cy="408174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0"/>
          <p:cNvSpPr/>
          <p:nvPr/>
        </p:nvSpPr>
        <p:spPr>
          <a:xfrm>
            <a:off x="5338039" y="3548740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0"/>
          <p:cNvSpPr/>
          <p:nvPr/>
        </p:nvSpPr>
        <p:spPr>
          <a:xfrm>
            <a:off x="3709493" y="2694379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0"/>
          <p:cNvSpPr txBox="1">
            <a:spLocks noGrp="1"/>
          </p:cNvSpPr>
          <p:nvPr>
            <p:ph type="body" idx="1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11969"/>
              <a:buChar char="•"/>
            </a:pPr>
            <a:r>
              <a:rPr lang="en-US" sz="2800" b="1">
                <a:solidFill>
                  <a:srgbClr val="0070C0"/>
                </a:solidFill>
              </a:rPr>
              <a:t>DHCP Acknowledgement </a:t>
            </a:r>
            <a:r>
              <a:rPr lang="en-US" sz="2800" b="1">
                <a:solidFill>
                  <a:schemeClr val="dk1"/>
                </a:solidFill>
              </a:rPr>
              <a:t>(Unicast)</a:t>
            </a:r>
            <a:endParaRPr sz="3200">
              <a:solidFill>
                <a:schemeClr val="dk1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00772"/>
              <a:buChar char="•"/>
            </a:pPr>
            <a:r>
              <a:rPr lang="en-US" sz="2800"/>
              <a:t>Server Gives the OK to host to use the IP address.</a:t>
            </a:r>
            <a:endParaRPr sz="33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34362"/>
              <a:buNone/>
            </a:pPr>
            <a:endParaRPr sz="2800"/>
          </a:p>
        </p:txBody>
      </p:sp>
      <p:sp>
        <p:nvSpPr>
          <p:cNvPr id="304" name="Google Shape;304;p80"/>
          <p:cNvSpPr txBox="1"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  <p:graphicFrame>
        <p:nvGraphicFramePr>
          <p:cNvPr id="305" name="Google Shape;305;p80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20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Host 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DHCP Server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172.16.4.1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172.16.4.250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68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6" name="Google Shape;306;p80"/>
          <p:cNvGraphicFramePr/>
          <p:nvPr/>
        </p:nvGraphicFramePr>
        <p:xfrm>
          <a:off x="1342589" y="64008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20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7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MAC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MAC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Dest IP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Source IP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Dest 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Source Port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B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DHCP Operation (DORA)</a:t>
            </a:r>
            <a:endParaRPr/>
          </a:p>
        </p:txBody>
      </p:sp>
      <p:pic>
        <p:nvPicPr>
          <p:cNvPr id="312" name="Google Shape;312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389" y="1392194"/>
            <a:ext cx="9281887" cy="417684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81"/>
          <p:cNvSpPr txBox="1"/>
          <p:nvPr/>
        </p:nvSpPr>
        <p:spPr>
          <a:xfrm>
            <a:off x="4396419" y="5226784"/>
            <a:ext cx="3558861" cy="1631216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 : 172.16.4.1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Subnet Mask: 255.255.255.0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Default Gateway: 172.16.4.254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DNS Server : 172.16.4.160</a:t>
            </a:r>
            <a:b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Lease Time : 3 days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Steps to Renew a Lease</a:t>
            </a:r>
            <a:endParaRPr/>
          </a:p>
        </p:txBody>
      </p:sp>
      <p:pic>
        <p:nvPicPr>
          <p:cNvPr id="320" name="Google Shape;320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2803" y="1849638"/>
            <a:ext cx="8641726" cy="432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3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DHCP Operation</a:t>
            </a:r>
            <a:endParaRPr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7" name="Google Shape;327;p83"/>
          <p:cNvSpPr txBox="1">
            <a:spLocks noGrp="1"/>
          </p:cNvSpPr>
          <p:nvPr>
            <p:ph type="body" idx="1"/>
          </p:nvPr>
        </p:nvSpPr>
        <p:spPr>
          <a:xfrm>
            <a:off x="1260763" y="2202873"/>
            <a:ext cx="10678687" cy="42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98462" lvl="0" indent="-288924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20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DHCP works in a </a:t>
            </a:r>
            <a:r>
              <a:rPr lang="en-US" sz="2800" b="1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client/server mode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96875" lvl="0" indent="-34131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client connects, the server assigns or </a:t>
            </a:r>
            <a:r>
              <a:rPr lang="en-US" sz="3000" b="1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leases </a:t>
            </a: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 IP address to the device.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96875" lvl="0" indent="-34131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host must contact the DHCP server periodically to </a:t>
            </a:r>
            <a:r>
              <a:rPr lang="en-US" sz="3000" b="1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extend the lease</a:t>
            </a: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96875" lvl="0" indent="-34131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leasing of addresses assures that addresses that are no longer used are returned to the address pool for use by other devices. 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28" name="Google Shape;328;p83" descr="ips0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1090" y="1161544"/>
            <a:ext cx="5410200" cy="782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4"/>
          <p:cNvSpPr txBox="1"/>
          <p:nvPr/>
        </p:nvSpPr>
        <p:spPr>
          <a:xfrm>
            <a:off x="2555631" y="17584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DHCP RELAY</a:t>
            </a:r>
            <a:endParaRPr sz="20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4" name="Google Shape;334;p84" descr="What is an DHCP? | Dynamic IP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4" descr="Relay race icon in colors | Free Vector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5188" y="3084634"/>
            <a:ext cx="3457217" cy="242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5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DHCP related issues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42" name="Google Shape;342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767387"/>
            <a:ext cx="9074331" cy="58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85"/>
          <p:cNvSpPr/>
          <p:nvPr/>
        </p:nvSpPr>
        <p:spPr>
          <a:xfrm>
            <a:off x="1879868" y="1222354"/>
            <a:ext cx="4249881" cy="523220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What is the problem here?</a:t>
            </a:r>
            <a:endParaRPr sz="2800" b="1" i="0" u="none" strike="noStrike" cap="none">
              <a:solidFill>
                <a:srgbClr val="C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0606" y="951075"/>
            <a:ext cx="9433559" cy="58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6"/>
          <p:cNvSpPr txBox="1">
            <a:spLocks noGrp="1"/>
          </p:cNvSpPr>
          <p:nvPr>
            <p:ph type="title"/>
          </p:nvPr>
        </p:nvSpPr>
        <p:spPr>
          <a:xfrm>
            <a:off x="1676399" y="152400"/>
            <a:ext cx="98043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with DHCP Server not in the same network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86"/>
          <p:cNvSpPr txBox="1">
            <a:spLocks noGrp="1"/>
          </p:cNvSpPr>
          <p:nvPr>
            <p:ph type="body" idx="1"/>
          </p:nvPr>
        </p:nvSpPr>
        <p:spPr>
          <a:xfrm>
            <a:off x="1811382" y="11049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28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PC1 tries to obtain an IP configuration</a:t>
            </a:r>
            <a:endParaRPr sz="2800" b="1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1" name="Google Shape;351;p86"/>
          <p:cNvSpPr/>
          <p:nvPr/>
        </p:nvSpPr>
        <p:spPr>
          <a:xfrm>
            <a:off x="4589418" y="5487825"/>
            <a:ext cx="1201782" cy="965226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6"/>
          <p:cNvSpPr txBox="1"/>
          <p:nvPr/>
        </p:nvSpPr>
        <p:spPr>
          <a:xfrm>
            <a:off x="3361509" y="5678325"/>
            <a:ext cx="1828800" cy="457200"/>
          </a:xfrm>
          <a:prstGeom prst="rect">
            <a:avLst/>
          </a:prstGeom>
          <a:solidFill>
            <a:srgbClr val="800000"/>
          </a:solidFill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6"/>
          <p:cNvSpPr/>
          <p:nvPr/>
        </p:nvSpPr>
        <p:spPr>
          <a:xfrm>
            <a:off x="6222996" y="2296171"/>
            <a:ext cx="822039" cy="696411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25400" cap="flat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6"/>
          <p:cNvSpPr txBox="1"/>
          <p:nvPr/>
        </p:nvSpPr>
        <p:spPr>
          <a:xfrm>
            <a:off x="7039691" y="16002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2800" b="1" i="0" u="none" strike="noStrike" cap="non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Routers never forward broadcast packets!</a:t>
            </a:r>
            <a:endParaRPr sz="2800" b="1" i="0" u="none" strike="noStrike" cap="none">
              <a:solidFill>
                <a:srgbClr val="C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5" name="Google Shape;355;p86"/>
          <p:cNvSpPr txBox="1"/>
          <p:nvPr/>
        </p:nvSpPr>
        <p:spPr>
          <a:xfrm>
            <a:off x="8125153" y="2498101"/>
            <a:ext cx="2482510" cy="58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2800" b="1" i="0" u="none" strike="noStrike" cap="non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Solution??</a:t>
            </a:r>
            <a:endParaRPr sz="2800" b="1" i="0" u="none" strike="noStrike" cap="none">
              <a:solidFill>
                <a:srgbClr val="3F662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5559" y="351626"/>
            <a:ext cx="7085412" cy="440906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7"/>
          <p:cNvSpPr txBox="1">
            <a:spLocks noGrp="1"/>
          </p:cNvSpPr>
          <p:nvPr>
            <p:ph type="body" idx="1"/>
          </p:nvPr>
        </p:nvSpPr>
        <p:spPr>
          <a:xfrm>
            <a:off x="1285173" y="4760687"/>
            <a:ext cx="10543412" cy="122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Configure </a:t>
            </a:r>
            <a:r>
              <a:rPr lang="en-US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R1 Fa0/0 </a:t>
            </a:r>
            <a:r>
              <a:rPr lang="en-US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(the interface that receives the PC1broadcasts)</a:t>
            </a: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relay DHCP broadcasts </a:t>
            </a: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the DHCP server, use the following commands:</a:t>
            </a:r>
            <a:endParaRPr>
              <a:solidFill>
                <a:schemeClr val="dk2"/>
              </a:solidFill>
            </a:endParaRPr>
          </a:p>
          <a:p>
            <a:pPr marL="342900" lvl="0" indent="-2667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FFF00"/>
              </a:buClr>
              <a:buSzPts val="1200"/>
              <a:buNone/>
            </a:pP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363" name="Google Shape;363;p87"/>
          <p:cNvSpPr/>
          <p:nvPr/>
        </p:nvSpPr>
        <p:spPr>
          <a:xfrm>
            <a:off x="3352801" y="5826370"/>
            <a:ext cx="6096000" cy="77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R1(config)#</a:t>
            </a:r>
            <a:r>
              <a:rPr lang="en-US" sz="20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interface fa0/0</a:t>
            </a:r>
            <a:endParaRPr sz="20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R1(config-if)#</a:t>
            </a:r>
            <a:r>
              <a:rPr lang="en-US" sz="20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ip helper-address 192.168.11.5</a:t>
            </a:r>
            <a:endParaRPr sz="20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6171" y="3955284"/>
            <a:ext cx="486875" cy="36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1186" y="1604422"/>
            <a:ext cx="486875" cy="36745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87"/>
          <p:cNvSpPr/>
          <p:nvPr/>
        </p:nvSpPr>
        <p:spPr>
          <a:xfrm>
            <a:off x="9244223" y="2410145"/>
            <a:ext cx="258436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Known as </a:t>
            </a:r>
            <a:endParaRPr sz="36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DHCP Relay</a:t>
            </a:r>
            <a:endParaRPr sz="3600" b="0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1" name="Google Shape;371;p87"/>
          <p:cNvSpPr/>
          <p:nvPr/>
        </p:nvSpPr>
        <p:spPr>
          <a:xfrm>
            <a:off x="4678567" y="1754099"/>
            <a:ext cx="739367" cy="29277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E45AB9-874D-4D59-A97B-135945B07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702649"/>
              </p:ext>
            </p:extLst>
          </p:nvPr>
        </p:nvGraphicFramePr>
        <p:xfrm>
          <a:off x="681832" y="-57325"/>
          <a:ext cx="11278519" cy="8534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33936">
                  <a:extLst>
                    <a:ext uri="{9D8B030D-6E8A-4147-A177-3AD203B41FA5}">
                      <a16:colId xmlns:a16="http://schemas.microsoft.com/office/drawing/2014/main" val="2494465611"/>
                    </a:ext>
                  </a:extLst>
                </a:gridCol>
                <a:gridCol w="1837944">
                  <a:extLst>
                    <a:ext uri="{9D8B030D-6E8A-4147-A177-3AD203B41FA5}">
                      <a16:colId xmlns:a16="http://schemas.microsoft.com/office/drawing/2014/main" val="417561618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93570308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300752559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129370917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526620013"/>
                    </a:ext>
                  </a:extLst>
                </a:gridCol>
                <a:gridCol w="923543">
                  <a:extLst>
                    <a:ext uri="{9D8B030D-6E8A-4147-A177-3AD203B41FA5}">
                      <a16:colId xmlns:a16="http://schemas.microsoft.com/office/drawing/2014/main" val="117010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Src MAC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Dst MAC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Src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Dst</a:t>
                      </a:r>
                      <a:r>
                        <a:rPr lang="en-IN" dirty="0"/>
                        <a:t>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Src</a:t>
                      </a:r>
                      <a:r>
                        <a:rPr lang="en-IN" dirty="0"/>
                        <a:t>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dirty="0"/>
                        <a:t> 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239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PC1 → 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PC1 MAC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FF:FF:FF:FF:FF:FF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0.0.0.0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255.255.255.255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98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R1 → DHCP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R1 Fa0/1 MAC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DHCP MAC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192.168.10.1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192.168.11.5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888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6" descr="Difference Between NAT and PAT (with Comparison Chart, Advantages and  Disadvantages) - Tech Differenc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717" y="1066799"/>
            <a:ext cx="5579932" cy="432926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/>
          <p:nvPr/>
        </p:nvSpPr>
        <p:spPr>
          <a:xfrm>
            <a:off x="6638330" y="2490622"/>
            <a:ext cx="5109091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How many devices share one IP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address</a:t>
            </a:r>
            <a:endParaRPr sz="2800" b="1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6638330" y="3845295"/>
            <a:ext cx="4390946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Why do we need to share??</a:t>
            </a:r>
            <a:endParaRPr sz="2800" b="1" i="0" u="none" strike="noStrike" cap="non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80" name="Google Shape;380;p26" descr="Running out of IPv4 Addresses? Here are two options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3640" y="4522697"/>
            <a:ext cx="3086463" cy="209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8"/>
          <p:cNvSpPr txBox="1">
            <a:spLocks noGrp="1"/>
          </p:cNvSpPr>
          <p:nvPr>
            <p:ph type="body" idx="1"/>
          </p:nvPr>
        </p:nvSpPr>
        <p:spPr>
          <a:xfrm>
            <a:off x="1288367" y="929579"/>
            <a:ext cx="6523221" cy="568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>
                <a:solidFill>
                  <a:srgbClr val="0070C0"/>
                </a:solidFill>
              </a:rPr>
              <a:t>Two Categories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Private IP addresses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Public  IP addresses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b="1">
              <a:solidFill>
                <a:srgbClr val="7D28CD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>
                <a:solidFill>
                  <a:srgbClr val="7D28CD"/>
                </a:solidFill>
              </a:rPr>
              <a:t>Private IP Addresses: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2800" b="1">
              <a:solidFill>
                <a:srgbClr val="7D28CD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</a:t>
            </a:r>
            <a:r>
              <a:rPr lang="en-US" sz="2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inside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homes, offices, universities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Cannot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be used on the internet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Safe and reusable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Assigned manually or via DHCP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Example : </a:t>
            </a: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Separate three IP ranges</a:t>
            </a:r>
            <a:endParaRPr/>
          </a:p>
        </p:txBody>
      </p:sp>
      <p:sp>
        <p:nvSpPr>
          <p:cNvPr id="387" name="Google Shape;387;p88"/>
          <p:cNvSpPr txBox="1">
            <a:spLocks noGrp="1"/>
          </p:cNvSpPr>
          <p:nvPr>
            <p:ph type="title"/>
          </p:nvPr>
        </p:nvSpPr>
        <p:spPr>
          <a:xfrm>
            <a:off x="1484310" y="162696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Category of IP Addresses</a:t>
            </a:r>
            <a:endParaRPr/>
          </a:p>
        </p:txBody>
      </p:sp>
      <p:pic>
        <p:nvPicPr>
          <p:cNvPr id="388" name="Google Shape;388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8" descr="Public and Private IP addresses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88" descr="Public and Private IP addresses - Homenet Howt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2299" y="4218656"/>
            <a:ext cx="5899701" cy="242002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88"/>
          <p:cNvSpPr txBox="1"/>
          <p:nvPr/>
        </p:nvSpPr>
        <p:spPr>
          <a:xfrm>
            <a:off x="7717804" y="5244002"/>
            <a:ext cx="12151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10.0.0.0/8</a:t>
            </a:r>
            <a:endParaRPr sz="1800" b="1" i="0" u="none" strike="noStrike" cap="non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8"/>
          <p:cNvSpPr txBox="1"/>
          <p:nvPr/>
        </p:nvSpPr>
        <p:spPr>
          <a:xfrm>
            <a:off x="7569769" y="5743936"/>
            <a:ext cx="1730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172.16.0.0/12</a:t>
            </a:r>
            <a:endParaRPr sz="1800" b="1" i="0" u="none" strike="noStrike" cap="non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8"/>
          <p:cNvSpPr txBox="1"/>
          <p:nvPr/>
        </p:nvSpPr>
        <p:spPr>
          <a:xfrm>
            <a:off x="7569769" y="6168608"/>
            <a:ext cx="1730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192.168.0.0/16</a:t>
            </a:r>
            <a:endParaRPr sz="1800" b="1" i="0" u="none" strike="noStrike" cap="non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Category of IP Addresses</a:t>
            </a:r>
            <a:endParaRPr/>
          </a:p>
        </p:txBody>
      </p:sp>
      <p:pic>
        <p:nvPicPr>
          <p:cNvPr id="400" name="Google Shape;40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 txBox="1">
            <a:spLocks noGrp="1"/>
          </p:cNvSpPr>
          <p:nvPr>
            <p:ph type="body" idx="1"/>
          </p:nvPr>
        </p:nvSpPr>
        <p:spPr>
          <a:xfrm>
            <a:off x="1142565" y="990600"/>
            <a:ext cx="10470315" cy="568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b="1">
              <a:solidFill>
                <a:srgbClr val="7D28CD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 b="1">
                <a:solidFill>
                  <a:srgbClr val="7D28CD"/>
                </a:solidFill>
              </a:rPr>
              <a:t>Public IP Addresses: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3600" b="1">
              <a:solidFill>
                <a:srgbClr val="7D28CD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</a:t>
            </a:r>
            <a:r>
              <a:rPr lang="en-US" sz="32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 the internet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Must be unique globally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Provided by ISP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Expensive and limited</a:t>
            </a:r>
            <a:endParaRPr/>
          </a:p>
          <a:p>
            <a:pPr marL="742950" lvl="1" indent="-647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Example :</a:t>
            </a:r>
            <a:r>
              <a:rPr lang="en-US" sz="32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Any IP address not within the above private ranges can be considered a public IP address. 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02" name="Google Shape;402;p28" descr="IP - Free technology ic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7787" y="1732005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Public Addresses</a:t>
            </a:r>
            <a:endParaRPr/>
          </a:p>
        </p:txBody>
      </p:sp>
      <p:sp>
        <p:nvSpPr>
          <p:cNvPr id="408" name="Google Shape;408;p27"/>
          <p:cNvSpPr txBox="1">
            <a:spLocks noGrp="1"/>
          </p:cNvSpPr>
          <p:nvPr>
            <p:ph type="body" idx="1"/>
          </p:nvPr>
        </p:nvSpPr>
        <p:spPr>
          <a:xfrm>
            <a:off x="1484310" y="1242291"/>
            <a:ext cx="10018713" cy="319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Must be unique worldwide</a:t>
            </a:r>
            <a:endParaRPr/>
          </a:p>
          <a:p>
            <a:pPr marL="2857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Given by ISPs and regulated by global organizations called </a:t>
            </a:r>
            <a:r>
              <a:rPr lang="en-US" sz="3200" b="1">
                <a:solidFill>
                  <a:srgbClr val="7D28CD"/>
                </a:solidFill>
              </a:rPr>
              <a:t>Regional Internet Registries (RIRs).</a:t>
            </a:r>
            <a:endParaRPr/>
          </a:p>
          <a:p>
            <a:pPr marL="2857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Organizations that owns the public IP can use it on their network.</a:t>
            </a:r>
            <a:endParaRPr/>
          </a:p>
        </p:txBody>
      </p:sp>
      <p:pic>
        <p:nvPicPr>
          <p:cNvPr id="409" name="Google Shape;40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6114" y="4813466"/>
            <a:ext cx="7935515" cy="190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WHY??</a:t>
            </a:r>
            <a:endParaRPr/>
          </a:p>
        </p:txBody>
      </p:sp>
      <p:sp>
        <p:nvSpPr>
          <p:cNvPr id="416" name="Google Shape;416;p29"/>
          <p:cNvSpPr txBox="1">
            <a:spLocks noGrp="1"/>
          </p:cNvSpPr>
          <p:nvPr>
            <p:ph type="body" idx="1"/>
          </p:nvPr>
        </p:nvSpPr>
        <p:spPr>
          <a:xfrm>
            <a:off x="1484310" y="1392194"/>
            <a:ext cx="10533519" cy="341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Why categorise into Public and Private IP addresses?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How does using Private IP addresses help us save IP addresses?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Private addresses cannot be routed in the Internet– Do we want this? 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2800"/>
          </a:p>
        </p:txBody>
      </p:sp>
      <p:pic>
        <p:nvPicPr>
          <p:cNvPr id="417" name="Google Shape;41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9"/>
          <p:cNvSpPr txBox="1"/>
          <p:nvPr/>
        </p:nvSpPr>
        <p:spPr>
          <a:xfrm>
            <a:off x="2170545" y="5551055"/>
            <a:ext cx="3356196" cy="369291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 Address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7355541" y="5551014"/>
            <a:ext cx="2590800" cy="369332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Public Address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29"/>
          <p:cNvCxnSpPr/>
          <p:nvPr/>
        </p:nvCxnSpPr>
        <p:spPr>
          <a:xfrm>
            <a:off x="5654488" y="5623542"/>
            <a:ext cx="1524000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0800" dist="38100" dir="2700000" algn="tl" rotWithShape="0">
              <a:srgbClr val="000000">
                <a:alpha val="76862"/>
              </a:srgbClr>
            </a:outerShdw>
          </a:effectLst>
        </p:spPr>
      </p:cxnSp>
      <p:cxnSp>
        <p:nvCxnSpPr>
          <p:cNvPr id="421" name="Google Shape;421;p29"/>
          <p:cNvCxnSpPr/>
          <p:nvPr/>
        </p:nvCxnSpPr>
        <p:spPr>
          <a:xfrm rot="10800000">
            <a:off x="5616388" y="5865151"/>
            <a:ext cx="1600200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0800" dist="38100" dir="2700000" algn="tl" rotWithShape="0">
              <a:srgbClr val="000000">
                <a:alpha val="76862"/>
              </a:srgbClr>
            </a:outerShdw>
          </a:effectLst>
        </p:spPr>
      </p:cxnSp>
      <p:sp>
        <p:nvSpPr>
          <p:cNvPr id="422" name="Google Shape;422;p29"/>
          <p:cNvSpPr txBox="1"/>
          <p:nvPr/>
        </p:nvSpPr>
        <p:spPr>
          <a:xfrm>
            <a:off x="5890391" y="6106761"/>
            <a:ext cx="914400" cy="369300"/>
          </a:xfrm>
          <a:prstGeom prst="rect">
            <a:avLst/>
          </a:prstGeom>
          <a:solidFill>
            <a:srgbClr val="003300"/>
          </a:solidFill>
          <a:ln w="254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Sending</a:t>
            </a:r>
            <a:endParaRPr/>
          </a:p>
        </p:txBody>
      </p:sp>
      <p:pic>
        <p:nvPicPr>
          <p:cNvPr id="428" name="Google Shape;42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3" descr="ips27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1193" y="1605005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3" descr="ips28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2193" y="5338805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1" name="Google Shape;431;p33"/>
          <p:cNvGraphicFramePr/>
          <p:nvPr/>
        </p:nvGraphicFramePr>
        <p:xfrm>
          <a:off x="3462793" y="5415005"/>
          <a:ext cx="3429000" cy="66998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209.165.201.1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192.168.10.10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2" name="Google Shape;432;p33"/>
          <p:cNvSpPr txBox="1"/>
          <p:nvPr/>
        </p:nvSpPr>
        <p:spPr>
          <a:xfrm>
            <a:off x="1938793" y="1147805"/>
            <a:ext cx="6324600" cy="646331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outside network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33"/>
          <p:cNvGrpSpPr/>
          <p:nvPr/>
        </p:nvGrpSpPr>
        <p:grpSpPr>
          <a:xfrm>
            <a:off x="3843793" y="2824205"/>
            <a:ext cx="4978400" cy="2209800"/>
            <a:chOff x="2133600" y="2590800"/>
            <a:chExt cx="4978400" cy="2209800"/>
          </a:xfrm>
        </p:grpSpPr>
        <p:pic>
          <p:nvPicPr>
            <p:cNvPr id="434" name="Google Shape;434;p33" descr="ips29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5" name="Google Shape;435;p33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6862"/>
                </a:srgbClr>
              </a:outerShdw>
            </a:effectLst>
          </p:spPr>
        </p:cxnSp>
      </p:grpSp>
      <p:grpSp>
        <p:nvGrpSpPr>
          <p:cNvPr id="436" name="Google Shape;436;p33"/>
          <p:cNvGrpSpPr/>
          <p:nvPr/>
        </p:nvGrpSpPr>
        <p:grpSpPr>
          <a:xfrm>
            <a:off x="3996193" y="4424405"/>
            <a:ext cx="2895600" cy="457200"/>
            <a:chOff x="2286000" y="4191000"/>
            <a:chExt cx="2895600" cy="457200"/>
          </a:xfrm>
        </p:grpSpPr>
        <p:sp>
          <p:nvSpPr>
            <p:cNvPr id="437" name="Google Shape;437;p33"/>
            <p:cNvSpPr/>
            <p:nvPr/>
          </p:nvSpPr>
          <p:spPr>
            <a:xfrm>
              <a:off x="2286000" y="4343400"/>
              <a:ext cx="11430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3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33"/>
            <p:cNvCxnSpPr/>
            <p:nvPr/>
          </p:nvCxnSpPr>
          <p:spPr>
            <a:xfrm>
              <a:off x="3200400" y="4191000"/>
              <a:ext cx="6096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6862"/>
                </a:srgbClr>
              </a:outerShdw>
            </a:effectLst>
          </p:spPr>
        </p:cxnSp>
      </p:grpSp>
      <p:grpSp>
        <p:nvGrpSpPr>
          <p:cNvPr id="440" name="Google Shape;440;p33"/>
          <p:cNvGrpSpPr/>
          <p:nvPr/>
        </p:nvGrpSpPr>
        <p:grpSpPr>
          <a:xfrm>
            <a:off x="4758193" y="4576805"/>
            <a:ext cx="3505200" cy="990600"/>
            <a:chOff x="3048000" y="4343400"/>
            <a:chExt cx="3505200" cy="990600"/>
          </a:xfrm>
        </p:grpSpPr>
        <p:sp>
          <p:nvSpPr>
            <p:cNvPr id="441" name="Google Shape;441;p33"/>
            <p:cNvSpPr/>
            <p:nvPr/>
          </p:nvSpPr>
          <p:spPr>
            <a:xfrm>
              <a:off x="5410200" y="4343400"/>
              <a:ext cx="1143000" cy="304800"/>
            </a:xfrm>
            <a:prstGeom prst="rect">
              <a:avLst/>
            </a:prstGeom>
            <a:noFill/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2" name="Google Shape;442;p33"/>
            <p:cNvCxnSpPr/>
            <p:nvPr/>
          </p:nvCxnSpPr>
          <p:spPr>
            <a:xfrm rot="10800000" flipH="1">
              <a:off x="3048000" y="4724400"/>
              <a:ext cx="2590800" cy="609600"/>
            </a:xfrm>
            <a:prstGeom prst="straightConnector1">
              <a:avLst/>
            </a:prstGeom>
            <a:noFill/>
            <a:ln w="50800" cap="flat" cmpd="sng">
              <a:solidFill>
                <a:srgbClr val="0070C0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6862"/>
                </a:srgbClr>
              </a:outerShdw>
            </a:effectLst>
          </p:spPr>
        </p:cxnSp>
      </p:grpSp>
      <p:graphicFrame>
        <p:nvGraphicFramePr>
          <p:cNvPr id="443" name="Google Shape;443;p33"/>
          <p:cNvGraphicFramePr/>
          <p:nvPr/>
        </p:nvGraphicFramePr>
        <p:xfrm>
          <a:off x="5596393" y="2900405"/>
          <a:ext cx="3429000" cy="66998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209.165.201.1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209.165.200.226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4" name="Google Shape;444;p33"/>
          <p:cNvSpPr txBox="1"/>
          <p:nvPr/>
        </p:nvSpPr>
        <p:spPr>
          <a:xfrm>
            <a:off x="5824993" y="213840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33" descr="ips28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0193" y="2484848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Receiving</a:t>
            </a:r>
            <a:endParaRPr/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 descr="ips27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1165" y="1465729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4" descr="ips28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6965" y="4510876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4" name="Google Shape;454;p34"/>
          <p:cNvGraphicFramePr/>
          <p:nvPr/>
        </p:nvGraphicFramePr>
        <p:xfrm>
          <a:off x="7019365" y="5428129"/>
          <a:ext cx="3505200" cy="66998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71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209.165.200.226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209.165.201.1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5" name="Google Shape;455;p34"/>
          <p:cNvSpPr txBox="1"/>
          <p:nvPr/>
        </p:nvSpPr>
        <p:spPr>
          <a:xfrm>
            <a:off x="2218765" y="1008529"/>
            <a:ext cx="6324600" cy="646331"/>
          </a:xfrm>
          <a:prstGeom prst="rect">
            <a:avLst/>
          </a:prstGeom>
          <a:solidFill>
            <a:srgbClr val="003300"/>
          </a:solidFill>
          <a:ln w="254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inside network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p34"/>
          <p:cNvGrpSpPr/>
          <p:nvPr/>
        </p:nvGrpSpPr>
        <p:grpSpPr>
          <a:xfrm>
            <a:off x="4123765" y="2684929"/>
            <a:ext cx="4978400" cy="2209800"/>
            <a:chOff x="2133600" y="2590800"/>
            <a:chExt cx="4978400" cy="2209800"/>
          </a:xfrm>
        </p:grpSpPr>
        <p:pic>
          <p:nvPicPr>
            <p:cNvPr id="457" name="Google Shape;457;p34" descr="ips29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8" name="Google Shape;458;p34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6862"/>
                </a:srgbClr>
              </a:outerShdw>
            </a:effectLst>
          </p:spPr>
        </p:cxnSp>
      </p:grpSp>
      <p:graphicFrame>
        <p:nvGraphicFramePr>
          <p:cNvPr id="459" name="Google Shape;459;p34"/>
          <p:cNvGraphicFramePr/>
          <p:nvPr/>
        </p:nvGraphicFramePr>
        <p:xfrm>
          <a:off x="2218765" y="1999129"/>
          <a:ext cx="3429000" cy="669980"/>
        </p:xfrm>
        <a:graphic>
          <a:graphicData uri="http://schemas.openxmlformats.org/drawingml/2006/table">
            <a:tbl>
              <a:tblPr firstRow="1" bandRow="1">
                <a:noFill/>
                <a:tableStyleId>{65C4A9B5-D753-4CA7-BFB1-70B483EE8344}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192.168.10.10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209.165.201.1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0" name="Google Shape;460;p34"/>
          <p:cNvSpPr/>
          <p:nvPr/>
        </p:nvSpPr>
        <p:spPr>
          <a:xfrm>
            <a:off x="7400365" y="4437529"/>
            <a:ext cx="1143000" cy="304800"/>
          </a:xfrm>
          <a:prstGeom prst="rect">
            <a:avLst/>
          </a:prstGeom>
          <a:noFill/>
          <a:ln w="381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p34"/>
          <p:cNvGrpSpPr/>
          <p:nvPr/>
        </p:nvGrpSpPr>
        <p:grpSpPr>
          <a:xfrm>
            <a:off x="4276165" y="4208929"/>
            <a:ext cx="2895600" cy="533400"/>
            <a:chOff x="2286000" y="4114800"/>
            <a:chExt cx="2895600" cy="533400"/>
          </a:xfrm>
        </p:grpSpPr>
        <p:sp>
          <p:nvSpPr>
            <p:cNvPr id="462" name="Google Shape;462;p34"/>
            <p:cNvSpPr/>
            <p:nvPr/>
          </p:nvSpPr>
          <p:spPr>
            <a:xfrm>
              <a:off x="2286000" y="4343400"/>
              <a:ext cx="12192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3" name="Google Shape;463;p34"/>
            <p:cNvCxnSpPr/>
            <p:nvPr/>
          </p:nvCxnSpPr>
          <p:spPr>
            <a:xfrm rot="10800000">
              <a:off x="3048000" y="4114800"/>
              <a:ext cx="7620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6862"/>
                </a:srgbClr>
              </a:outerShdw>
            </a:effectLst>
          </p:spPr>
        </p:cxnSp>
        <p:sp>
          <p:nvSpPr>
            <p:cNvPr id="464" name="Google Shape;464;p34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34"/>
          <p:cNvSpPr txBox="1"/>
          <p:nvPr/>
        </p:nvSpPr>
        <p:spPr>
          <a:xfrm>
            <a:off x="6104965" y="1999129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34" descr="ips28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9266" y="2501291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Advantages of NAT</a:t>
            </a:r>
            <a:endParaRPr/>
          </a:p>
        </p:txBody>
      </p:sp>
      <p:sp>
        <p:nvSpPr>
          <p:cNvPr id="472" name="Google Shape;472;p35"/>
          <p:cNvSpPr txBox="1">
            <a:spLocks noGrp="1"/>
          </p:cNvSpPr>
          <p:nvPr>
            <p:ph type="body" idx="1"/>
          </p:nvPr>
        </p:nvSpPr>
        <p:spPr>
          <a:xfrm>
            <a:off x="974857" y="1392194"/>
            <a:ext cx="10707691" cy="399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600" b="1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Helps save </a:t>
            </a:r>
            <a:r>
              <a:rPr lang="en-US" sz="36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official IP addresses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6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Keeps internal network settings </a:t>
            </a:r>
            <a:r>
              <a:rPr lang="en-US" sz="3600" b="1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consistent</a:t>
            </a:r>
            <a:r>
              <a:rPr lang="en-US" sz="36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even when public IP configurations change.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6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keeps user and </a:t>
            </a:r>
            <a:r>
              <a:rPr lang="en-US" sz="3600" b="1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device IPs private</a:t>
            </a:r>
            <a:r>
              <a:rPr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the outside internet, enhancing security. </a:t>
            </a:r>
            <a:endParaRPr/>
          </a:p>
          <a:p>
            <a:pPr marL="742950" lvl="1" indent="-101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endParaRPr/>
          </a:p>
        </p:txBody>
      </p:sp>
      <p:pic>
        <p:nvPicPr>
          <p:cNvPr id="473" name="Google Shape;47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Disadvantages of NAT</a:t>
            </a:r>
            <a:endParaRPr/>
          </a:p>
        </p:txBody>
      </p:sp>
      <p:sp>
        <p:nvSpPr>
          <p:cNvPr id="479" name="Google Shape;479;p36"/>
          <p:cNvSpPr txBox="1">
            <a:spLocks noGrp="1"/>
          </p:cNvSpPr>
          <p:nvPr>
            <p:ph type="body" idx="1"/>
          </p:nvPr>
        </p:nvSpPr>
        <p:spPr>
          <a:xfrm>
            <a:off x="1429381" y="1392194"/>
            <a:ext cx="10128570" cy="388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/>
              <a:t>NAT </a:t>
            </a:r>
            <a:r>
              <a:rPr lang="en-US" sz="4000" b="1">
                <a:solidFill>
                  <a:srgbClr val="7030A0"/>
                </a:solidFill>
              </a:rPr>
              <a:t>increases</a:t>
            </a:r>
            <a:r>
              <a:rPr lang="en-US" sz="4000" b="1"/>
              <a:t> delays</a:t>
            </a:r>
            <a:r>
              <a:rPr lang="en-US" sz="4000"/>
              <a:t>.</a:t>
            </a:r>
            <a:endParaRPr sz="400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/>
              <a:t>End-to-end </a:t>
            </a:r>
            <a:r>
              <a:rPr lang="en-US" sz="4000" b="1"/>
              <a:t>IPv4 </a:t>
            </a:r>
            <a:r>
              <a:rPr lang="en-US" sz="4000" b="1">
                <a:solidFill>
                  <a:srgbClr val="7030A0"/>
                </a:solidFill>
              </a:rPr>
              <a:t>traceability </a:t>
            </a:r>
            <a:r>
              <a:rPr lang="en-US" sz="4000" b="1"/>
              <a:t>is lost</a:t>
            </a:r>
            <a:r>
              <a:rPr lang="en-US" sz="4000"/>
              <a:t>.</a:t>
            </a:r>
            <a:endParaRPr sz="400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 b="1">
                <a:solidFill>
                  <a:srgbClr val="7030A0"/>
                </a:solidFill>
              </a:rPr>
              <a:t>Can cause problems</a:t>
            </a:r>
            <a:r>
              <a:rPr lang="en-US" sz="4000" b="1"/>
              <a:t> for some protocols</a:t>
            </a:r>
            <a:r>
              <a:rPr lang="en-US" sz="4000"/>
              <a:t>, such as Ipsec, VPN</a:t>
            </a:r>
            <a:endParaRPr/>
          </a:p>
          <a:p>
            <a:pPr marL="742950" lvl="1" indent="-101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endParaRPr sz="40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32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480" name="Google Shape;48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6"/>
          <p:cNvSpPr/>
          <p:nvPr/>
        </p:nvSpPr>
        <p:spPr>
          <a:xfrm>
            <a:off x="2170835" y="4865105"/>
            <a:ext cx="7534868" cy="7078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Main issue</a:t>
            </a:r>
            <a:r>
              <a:rPr lang="en-US" sz="4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not </a:t>
            </a:r>
            <a:r>
              <a:rPr lang="en-US" sz="40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"/>
          <p:cNvSpPr txBox="1">
            <a:spLocks noGrp="1"/>
          </p:cNvSpPr>
          <p:nvPr>
            <p:ph type="title"/>
          </p:nvPr>
        </p:nvSpPr>
        <p:spPr>
          <a:xfrm>
            <a:off x="1288367" y="1514115"/>
            <a:ext cx="10018713" cy="239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PAT (NAT Overload)</a:t>
            </a:r>
            <a:endParaRPr/>
          </a:p>
        </p:txBody>
      </p:sp>
      <p:pic>
        <p:nvPicPr>
          <p:cNvPr id="487" name="Google Shape;48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9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Overload (PAT)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3" name="Google Shape;493;p89"/>
          <p:cNvSpPr txBox="1">
            <a:spLocks noGrp="1"/>
          </p:cNvSpPr>
          <p:nvPr>
            <p:ph type="body" idx="1"/>
          </p:nvPr>
        </p:nvSpPr>
        <p:spPr>
          <a:xfrm>
            <a:off x="1358538" y="838199"/>
            <a:ext cx="10528662" cy="560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600" b="1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Port Address Translation (PAT) = </a:t>
            </a:r>
            <a:r>
              <a:rPr lang="en-US" sz="3600"/>
              <a:t> </a:t>
            </a:r>
            <a:r>
              <a:rPr lang="en-US" sz="3600" b="1">
                <a:solidFill>
                  <a:srgbClr val="0070C0"/>
                </a:solidFill>
              </a:rPr>
              <a:t>Real-world NAT</a:t>
            </a:r>
            <a:endParaRPr/>
          </a:p>
          <a:p>
            <a:pPr marL="34290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None/>
            </a:pPr>
            <a:endParaRPr sz="280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Allows </a:t>
            </a:r>
            <a:r>
              <a:rPr lang="en-US" sz="3200" b="1">
                <a:solidFill>
                  <a:srgbClr val="0070C0"/>
                </a:solidFill>
              </a:rPr>
              <a:t>many devices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share </a:t>
            </a:r>
            <a:r>
              <a:rPr lang="en-US" sz="3200" b="1">
                <a:solidFill>
                  <a:srgbClr val="7D28CD"/>
                </a:solidFill>
              </a:rPr>
              <a:t>one public IP</a:t>
            </a:r>
            <a:endParaRPr sz="3200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Uses </a:t>
            </a:r>
            <a:r>
              <a:rPr lang="en-US" sz="3200" b="1">
                <a:solidFill>
                  <a:srgbClr val="0070C0"/>
                </a:solidFill>
              </a:rPr>
              <a:t>port numbers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differentiate the devices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Router keeps a table:</a:t>
            </a:r>
            <a:endParaRPr/>
          </a:p>
          <a:p>
            <a:pPr marL="1143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	Private IP + Port → Public IP + New Port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Each connection becomes </a:t>
            </a:r>
            <a:r>
              <a:rPr lang="en-US" sz="3200" b="1">
                <a:solidFill>
                  <a:srgbClr val="7D28CD"/>
                </a:solidFill>
              </a:rPr>
              <a:t>unique</a:t>
            </a:r>
            <a:r>
              <a:rPr lang="en-US" sz="3200"/>
              <a:t> because of the port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PAT </a:t>
            </a:r>
            <a:r>
              <a:rPr lang="en-US" sz="3200" b="1">
                <a:solidFill>
                  <a:srgbClr val="0070C0"/>
                </a:solidFill>
              </a:rPr>
              <a:t>changes</a:t>
            </a:r>
            <a:r>
              <a:rPr lang="en-US" sz="3200"/>
              <a:t> both the </a:t>
            </a:r>
            <a:r>
              <a:rPr lang="en-US" sz="3200" b="1">
                <a:solidFill>
                  <a:srgbClr val="7D28CD"/>
                </a:solidFill>
              </a:rPr>
              <a:t>IP address </a:t>
            </a:r>
            <a:r>
              <a:rPr lang="en-US" sz="3200" i="1"/>
              <a:t>and</a:t>
            </a:r>
            <a:r>
              <a:rPr lang="en-US" sz="3200"/>
              <a:t> the </a:t>
            </a:r>
            <a:r>
              <a:rPr lang="en-US" sz="3200" b="1">
                <a:solidFill>
                  <a:srgbClr val="7D28CD"/>
                </a:solidFill>
              </a:rPr>
              <a:t>port number</a:t>
            </a:r>
            <a:r>
              <a:rPr lang="en-US" sz="3200"/>
              <a:t>.</a:t>
            </a:r>
            <a:endParaRPr/>
          </a:p>
          <a:p>
            <a:pPr marL="34290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None/>
            </a:pP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0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4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sz="6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99" name="Google Shape;499;p90" descr="ips3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0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90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  <a:effectLst>
            <a:outerShdw blurRad="63500" dist="38100" dir="2700000">
              <a:srgbClr val="000000">
                <a:alpha val="77254"/>
              </a:srgbClr>
            </a:outerShdw>
          </a:effectLst>
        </p:spPr>
      </p:cxnSp>
      <p:graphicFrame>
        <p:nvGraphicFramePr>
          <p:cNvPr id="502" name="Google Shape;502;p90"/>
          <p:cNvGraphicFramePr/>
          <p:nvPr/>
        </p:nvGraphicFramePr>
        <p:xfrm>
          <a:off x="4191001" y="28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20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3" name="Google Shape;503;p90"/>
          <p:cNvGraphicFramePr/>
          <p:nvPr/>
        </p:nvGraphicFramePr>
        <p:xfrm>
          <a:off x="2514601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20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Google Shape;504;p90"/>
          <p:cNvGraphicFramePr/>
          <p:nvPr/>
        </p:nvGraphicFramePr>
        <p:xfrm>
          <a:off x="2590800" y="472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05" name="Google Shape;505;p90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id="506" name="Google Shape;506;p90" descr="ips31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7" name="Google Shape;507;p90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triangle" w="med" len="med"/>
            </a:ln>
            <a:effectLst>
              <a:outerShdw blurRad="63500" dist="38100" dir="2700000">
                <a:srgbClr val="000000">
                  <a:alpha val="77254"/>
                </a:srgbClr>
              </a:outerShdw>
            </a:effectLst>
          </p:spPr>
        </p:cxnSp>
      </p:grpSp>
      <p:graphicFrame>
        <p:nvGraphicFramePr>
          <p:cNvPr id="508" name="Google Shape;508;p90"/>
          <p:cNvGraphicFramePr/>
          <p:nvPr/>
        </p:nvGraphicFramePr>
        <p:xfrm>
          <a:off x="4191000" y="358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09" name="Google Shape;509;p90"/>
          <p:cNvGrpSpPr/>
          <p:nvPr/>
        </p:nvGrpSpPr>
        <p:grpSpPr>
          <a:xfrm>
            <a:off x="2819400" y="5791200"/>
            <a:ext cx="4191000" cy="762000"/>
            <a:chOff x="1295400" y="5791200"/>
            <a:chExt cx="4191000" cy="762000"/>
          </a:xfrm>
        </p:grpSpPr>
        <p:sp>
          <p:nvSpPr>
            <p:cNvPr id="510" name="Google Shape;510;p90"/>
            <p:cNvSpPr txBox="1"/>
            <p:nvPr/>
          </p:nvSpPr>
          <p:spPr>
            <a:xfrm>
              <a:off x="1295400" y="5791200"/>
              <a:ext cx="4191000" cy="7620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>
                <a:srgbClr val="000000">
                  <a:alpha val="3921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1" name="Google Shape;511;p90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>
              <a:outerShdw blurRad="63500" dist="38100" dir="2700000">
                <a:srgbClr val="000000">
                  <a:alpha val="77254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91" descr="ips3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91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91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  <a:effectLst>
            <a:outerShdw blurRad="63500" dist="38100" dir="2700000">
              <a:srgbClr val="000000">
                <a:alpha val="77254"/>
              </a:srgbClr>
            </a:outerShdw>
          </a:effectLst>
        </p:spPr>
      </p:cxnSp>
      <p:graphicFrame>
        <p:nvGraphicFramePr>
          <p:cNvPr id="519" name="Google Shape;519;p91"/>
          <p:cNvGraphicFramePr/>
          <p:nvPr/>
        </p:nvGraphicFramePr>
        <p:xfrm>
          <a:off x="4114801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20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0" name="Google Shape;520;p91"/>
          <p:cNvGraphicFramePr/>
          <p:nvPr/>
        </p:nvGraphicFramePr>
        <p:xfrm>
          <a:off x="6477001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8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1" name="Google Shape;521;p91"/>
          <p:cNvGraphicFramePr/>
          <p:nvPr/>
        </p:nvGraphicFramePr>
        <p:xfrm>
          <a:off x="41148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2" name="Google Shape;522;p91"/>
          <p:cNvGraphicFramePr/>
          <p:nvPr/>
        </p:nvGraphicFramePr>
        <p:xfrm>
          <a:off x="6477000" y="464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23" name="Google Shape;523;p91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id="524" name="Google Shape;524;p91" descr="ips31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25" name="Google Shape;525;p91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triangle" w="med" len="med"/>
            </a:ln>
            <a:effectLst>
              <a:outerShdw blurRad="63500" dist="38100" dir="2700000">
                <a:srgbClr val="000000">
                  <a:alpha val="77254"/>
                </a:srgbClr>
              </a:outerShdw>
            </a:effectLst>
          </p:spPr>
        </p:cxnSp>
      </p:grpSp>
      <p:grpSp>
        <p:nvGrpSpPr>
          <p:cNvPr id="526" name="Google Shape;526;p91"/>
          <p:cNvGrpSpPr/>
          <p:nvPr/>
        </p:nvGrpSpPr>
        <p:grpSpPr>
          <a:xfrm>
            <a:off x="4419600" y="5791200"/>
            <a:ext cx="5105400" cy="762000"/>
            <a:chOff x="2895600" y="5791200"/>
            <a:chExt cx="5105400" cy="762000"/>
          </a:xfrm>
        </p:grpSpPr>
        <p:sp>
          <p:nvSpPr>
            <p:cNvPr id="527" name="Google Shape;527;p91"/>
            <p:cNvSpPr txBox="1"/>
            <p:nvPr/>
          </p:nvSpPr>
          <p:spPr>
            <a:xfrm>
              <a:off x="3505200" y="5791200"/>
              <a:ext cx="4495800" cy="7620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>
                <a:srgbClr val="000000">
                  <a:alpha val="3921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8" name="Google Shape;528;p91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>
              <a:outerShdw blurRad="63500" dist="38100" dir="2700000">
                <a:srgbClr val="000000">
                  <a:alpha val="77254"/>
                </a:srgbClr>
              </a:outerShdw>
            </a:effectLst>
          </p:spPr>
        </p:cxnSp>
      </p:grpSp>
      <p:sp>
        <p:nvSpPr>
          <p:cNvPr id="529" name="Google Shape;529;p91"/>
          <p:cNvSpPr txBox="1"/>
          <p:nvPr/>
        </p:nvSpPr>
        <p:spPr>
          <a:xfrm>
            <a:off x="1765300" y="9435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orbel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sz="6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2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sz="4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5" name="Google Shape;535;p92"/>
          <p:cNvSpPr txBox="1">
            <a:spLocks noGrp="1"/>
          </p:cNvSpPr>
          <p:nvPr>
            <p:ph type="body" idx="1"/>
          </p:nvPr>
        </p:nvSpPr>
        <p:spPr>
          <a:xfrm>
            <a:off x="1676400" y="11430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lang="en-US" b="1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NEXT AVAILABLE PORT NUMBER</a:t>
            </a:r>
            <a:endParaRPr b="1">
              <a:solidFill>
                <a:srgbClr val="0070C0"/>
              </a:solidFill>
            </a:endParaRPr>
          </a:p>
        </p:txBody>
      </p:sp>
      <p:pic>
        <p:nvPicPr>
          <p:cNvPr id="536" name="Google Shape;536;p92" descr="ips3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2057400"/>
            <a:ext cx="8839200" cy="403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92"/>
          <p:cNvGrpSpPr/>
          <p:nvPr/>
        </p:nvGrpSpPr>
        <p:grpSpPr>
          <a:xfrm>
            <a:off x="2743200" y="3810001"/>
            <a:ext cx="2057400" cy="579437"/>
            <a:chOff x="1219200" y="3810000"/>
            <a:chExt cx="2057400" cy="579864"/>
          </a:xfrm>
        </p:grpSpPr>
        <p:pic>
          <p:nvPicPr>
            <p:cNvPr id="538" name="Google Shape;538;p92" descr="ips28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92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192.168.10.11:1444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0" name="Google Shape;540;p92"/>
          <p:cNvGrpSpPr/>
          <p:nvPr/>
        </p:nvGrpSpPr>
        <p:grpSpPr>
          <a:xfrm>
            <a:off x="2743200" y="4876801"/>
            <a:ext cx="2057400" cy="579437"/>
            <a:chOff x="1219200" y="3810000"/>
            <a:chExt cx="2057400" cy="579864"/>
          </a:xfrm>
        </p:grpSpPr>
        <p:pic>
          <p:nvPicPr>
            <p:cNvPr id="541" name="Google Shape;541;p92" descr="ips28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92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192.168.10.12:1444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3" name="Google Shape;543;p92" descr="ips3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0" y="5122025"/>
            <a:ext cx="51435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92"/>
          <p:cNvSpPr txBox="1"/>
          <p:nvPr/>
        </p:nvSpPr>
        <p:spPr>
          <a:xfrm>
            <a:off x="5486400" y="6019800"/>
            <a:ext cx="4267200" cy="1524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92"/>
          <p:cNvCxnSpPr/>
          <p:nvPr/>
        </p:nvCxnSpPr>
        <p:spPr>
          <a:xfrm rot="-5400000" flipH="1">
            <a:off x="6134100" y="4000500"/>
            <a:ext cx="1295400" cy="12192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  <a:effectLst>
            <a:outerShdw blurRad="63500" dist="38100" dir="2700000">
              <a:srgbClr val="000000">
                <a:alpha val="77254"/>
              </a:srgbClr>
            </a:outerShdw>
          </a:effectLst>
        </p:spPr>
      </p:cxnSp>
      <p:sp>
        <p:nvSpPr>
          <p:cNvPr id="546" name="Google Shape;546;p92"/>
          <p:cNvSpPr txBox="1"/>
          <p:nvPr/>
        </p:nvSpPr>
        <p:spPr>
          <a:xfrm>
            <a:off x="5410200" y="5715000"/>
            <a:ext cx="4267200" cy="304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2"/>
          <p:cNvSpPr txBox="1"/>
          <p:nvPr/>
        </p:nvSpPr>
        <p:spPr>
          <a:xfrm>
            <a:off x="7848600" y="5638800"/>
            <a:ext cx="1905000" cy="685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Packets without Ports</a:t>
            </a:r>
            <a:endParaRPr/>
          </a:p>
        </p:txBody>
      </p:sp>
      <p:sp>
        <p:nvSpPr>
          <p:cNvPr id="553" name="Google Shape;553;p40"/>
          <p:cNvSpPr txBox="1">
            <a:spLocks noGrp="1"/>
          </p:cNvSpPr>
          <p:nvPr>
            <p:ph type="body" idx="1"/>
          </p:nvPr>
        </p:nvSpPr>
        <p:spPr>
          <a:xfrm>
            <a:off x="1400286" y="1275816"/>
            <a:ext cx="10186760" cy="4589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Some protocols (like </a:t>
            </a:r>
            <a:r>
              <a:rPr lang="en-US" sz="3200" b="1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ICMP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 do </a:t>
            </a:r>
            <a:r>
              <a:rPr lang="en-US" sz="3200" b="1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not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have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TCP/UDP port numbers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still needs a way to identify each connection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ICMP uses a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Query ID</a:t>
            </a:r>
            <a:r>
              <a:rPr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match request  reply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uses this </a:t>
            </a:r>
            <a:r>
              <a:rPr lang="en-US" sz="32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Query ID 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same way it uses port numbers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554" name="Google Shape;55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Port Forwarding</a:t>
            </a:r>
            <a:endParaRPr/>
          </a:p>
        </p:txBody>
      </p:sp>
      <p:pic>
        <p:nvPicPr>
          <p:cNvPr id="560" name="Google Shape;56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1063" y="3161147"/>
            <a:ext cx="5316039" cy="299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567" name="Google Shape;567;p93"/>
          <p:cNvSpPr txBox="1">
            <a:spLocks noGrp="1"/>
          </p:cNvSpPr>
          <p:nvPr>
            <p:ph type="body" idx="1"/>
          </p:nvPr>
        </p:nvSpPr>
        <p:spPr>
          <a:xfrm>
            <a:off x="1290346" y="1406048"/>
            <a:ext cx="10486018" cy="1888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Char char="•"/>
            </a:pPr>
            <a:r>
              <a:rPr lang="en-US" sz="2800"/>
              <a:t>Sometimes  we need access to services hosted on private IP addresses (like home security cameras or personal web servers) </a:t>
            </a:r>
            <a:r>
              <a:rPr lang="en-US" sz="2800" b="1">
                <a:solidFill>
                  <a:srgbClr val="7030A0"/>
                </a:solidFill>
              </a:rPr>
              <a:t>from the internet.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None/>
            </a:pPr>
            <a:endParaRPr sz="28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Char char="•"/>
            </a:pPr>
            <a:r>
              <a:rPr lang="en-US" sz="2800"/>
              <a:t>Can we do that?? Why? Why not?</a:t>
            </a:r>
            <a:endParaRPr/>
          </a:p>
        </p:txBody>
      </p:sp>
      <p:pic>
        <p:nvPicPr>
          <p:cNvPr id="568" name="Google Shape;568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93" descr="Port Forwarding Exampl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3014" y="3202165"/>
            <a:ext cx="8081750" cy="3517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94" descr="ips3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6647" y="1375755"/>
            <a:ext cx="9712036" cy="4443153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94"/>
          <p:cNvSpPr txBox="1"/>
          <p:nvPr/>
        </p:nvSpPr>
        <p:spPr>
          <a:xfrm>
            <a:off x="1576647" y="2277686"/>
            <a:ext cx="23940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www.software.com</a:t>
            </a:r>
            <a:endParaRPr sz="2000" b="1" i="0" u="none" strike="noStrike" cap="non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6" name="Google Shape;576;p94"/>
          <p:cNvSpPr txBox="1"/>
          <p:nvPr/>
        </p:nvSpPr>
        <p:spPr>
          <a:xfrm>
            <a:off x="1576647" y="5818908"/>
            <a:ext cx="42450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One Public IP : 200.20.20.4</a:t>
            </a:r>
            <a:endParaRPr/>
          </a:p>
        </p:txBody>
      </p:sp>
      <p:pic>
        <p:nvPicPr>
          <p:cNvPr id="577" name="Google Shape;577;p94" descr="a URL into a web browser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9228" y="722812"/>
            <a:ext cx="2156575" cy="130588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94"/>
          <p:cNvSpPr txBox="1"/>
          <p:nvPr/>
        </p:nvSpPr>
        <p:spPr>
          <a:xfrm>
            <a:off x="9202188" y="1375754"/>
            <a:ext cx="190361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www.software.com</a:t>
            </a:r>
            <a:endParaRPr sz="1400" b="1" i="0" u="none" strike="noStrike" cap="non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79" name="Google Shape;579;p94" descr="ips28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33295" y="2477741"/>
            <a:ext cx="520700" cy="33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0" name="Google Shape;580;p94"/>
          <p:cNvGrpSpPr/>
          <p:nvPr/>
        </p:nvGrpSpPr>
        <p:grpSpPr>
          <a:xfrm>
            <a:off x="4273664" y="3950609"/>
            <a:ext cx="5143500" cy="1219200"/>
            <a:chOff x="4489795" y="3950609"/>
            <a:chExt cx="5143500" cy="1219200"/>
          </a:xfrm>
        </p:grpSpPr>
        <p:pic>
          <p:nvPicPr>
            <p:cNvPr id="581" name="Google Shape;581;p94" descr="ips33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489795" y="3950609"/>
              <a:ext cx="5143500" cy="12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94"/>
            <p:cNvSpPr/>
            <p:nvPr/>
          </p:nvSpPr>
          <p:spPr>
            <a:xfrm>
              <a:off x="4655127" y="4560209"/>
              <a:ext cx="2244437" cy="477304"/>
            </a:xfrm>
            <a:prstGeom prst="rect">
              <a:avLst/>
            </a:prstGeom>
            <a:solidFill>
              <a:srgbClr val="E8E8E8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94"/>
            <p:cNvSpPr/>
            <p:nvPr/>
          </p:nvSpPr>
          <p:spPr>
            <a:xfrm>
              <a:off x="7061545" y="4576834"/>
              <a:ext cx="2365088" cy="477304"/>
            </a:xfrm>
            <a:prstGeom prst="rect">
              <a:avLst/>
            </a:prstGeom>
            <a:solidFill>
              <a:srgbClr val="E8E8E8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4" name="Google Shape;584;p94"/>
          <p:cNvSpPr/>
          <p:nvPr/>
        </p:nvSpPr>
        <p:spPr>
          <a:xfrm>
            <a:off x="6095999" y="2280402"/>
            <a:ext cx="587433" cy="62698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w="120000" h="120000" fill="darken" extrusionOk="0"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w="120000" h="120000" fill="none" extrusionOk="0"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94"/>
          <p:cNvSpPr txBox="1"/>
          <p:nvPr/>
        </p:nvSpPr>
        <p:spPr>
          <a:xfrm>
            <a:off x="1576647" y="245758"/>
            <a:ext cx="792260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Configure in Router :</a:t>
            </a:r>
            <a:b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</a:t>
            </a:r>
            <a:r>
              <a:rPr lang="en-US" sz="28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Dest IP 200.20.20.4 :80 =&gt; 192.168.10.10</a:t>
            </a:r>
            <a:endParaRPr/>
          </a:p>
        </p:txBody>
      </p:sp>
      <p:sp>
        <p:nvSpPr>
          <p:cNvPr id="586" name="Google Shape;586;p94"/>
          <p:cNvSpPr txBox="1"/>
          <p:nvPr/>
        </p:nvSpPr>
        <p:spPr>
          <a:xfrm>
            <a:off x="6687703" y="5904355"/>
            <a:ext cx="460098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DNS Records  for </a:t>
            </a:r>
            <a:r>
              <a:rPr lang="en-US" sz="2000" b="1" i="0" u="sng" strike="noStrike" cap="non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www.software.com</a:t>
            </a:r>
            <a:r>
              <a:rPr lang="en-US" sz="2000" b="1" i="0" u="none" strike="noStrike" cap="non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 =&gt; 200.20.20.4</a:t>
            </a:r>
            <a:endParaRPr/>
          </a:p>
        </p:txBody>
      </p:sp>
      <p:sp>
        <p:nvSpPr>
          <p:cNvPr id="587" name="Google Shape;587;p94"/>
          <p:cNvSpPr txBox="1"/>
          <p:nvPr/>
        </p:nvSpPr>
        <p:spPr>
          <a:xfrm>
            <a:off x="7206500" y="4621420"/>
            <a:ext cx="224443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200.20.20.4 : 80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94"/>
          <p:cNvSpPr txBox="1"/>
          <p:nvPr/>
        </p:nvSpPr>
        <p:spPr>
          <a:xfrm>
            <a:off x="4273664" y="4622615"/>
            <a:ext cx="26881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192.168.10.10 : 80</a:t>
            </a:r>
            <a:endParaRPr sz="1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94"/>
          <p:cNvCxnSpPr>
            <a:stCxn id="587" idx="1"/>
          </p:cNvCxnSpPr>
          <p:nvPr/>
        </p:nvCxnSpPr>
        <p:spPr>
          <a:xfrm flipH="1">
            <a:off x="6683300" y="4821475"/>
            <a:ext cx="523200" cy="1200"/>
          </a:xfrm>
          <a:prstGeom prst="straightConnector1">
            <a:avLst/>
          </a:prstGeom>
          <a:noFill/>
          <a:ln w="539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0" name="Google Shape;590;p94"/>
          <p:cNvSpPr txBox="1"/>
          <p:nvPr/>
        </p:nvSpPr>
        <p:spPr>
          <a:xfrm>
            <a:off x="5486399" y="5214395"/>
            <a:ext cx="30964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Port Forwarding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596" name="Google Shape;596;p46"/>
          <p:cNvSpPr txBox="1">
            <a:spLocks noGrp="1"/>
          </p:cNvSpPr>
          <p:nvPr>
            <p:ph type="body" idx="1"/>
          </p:nvPr>
        </p:nvSpPr>
        <p:spPr>
          <a:xfrm>
            <a:off x="1484310" y="1611746"/>
            <a:ext cx="10018713" cy="39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Used when a server inside the network has a </a:t>
            </a:r>
            <a:r>
              <a:rPr lang="en-US" sz="3600" b="1"/>
              <a:t>private IP</a:t>
            </a:r>
            <a:endParaRPr sz="360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36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Router maps </a:t>
            </a:r>
            <a:r>
              <a:rPr lang="en-US" sz="3600" b="1">
                <a:solidFill>
                  <a:srgbClr val="7D28CD"/>
                </a:solidFill>
              </a:rPr>
              <a:t>PublicIP:Port </a:t>
            </a:r>
            <a:r>
              <a:rPr lang="en-US" sz="3600"/>
              <a:t>to the </a:t>
            </a:r>
            <a:r>
              <a:rPr lang="en-US" sz="3600" b="1">
                <a:solidFill>
                  <a:srgbClr val="0070C0"/>
                </a:solidFill>
              </a:rPr>
              <a:t>correct PrivateIP:Port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/>
              <a:t>inside the network.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36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Allows Internet users to access inside services</a:t>
            </a:r>
            <a:endParaRPr/>
          </a:p>
        </p:txBody>
      </p:sp>
      <p:pic>
        <p:nvPicPr>
          <p:cNvPr id="597" name="Google Shape;5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95" descr="Port Forwarding Examp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628" y="1148863"/>
            <a:ext cx="9575910" cy="514643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95"/>
          <p:cNvSpPr txBox="1"/>
          <p:nvPr/>
        </p:nvSpPr>
        <p:spPr>
          <a:xfrm>
            <a:off x="4917007" y="5366118"/>
            <a:ext cx="31539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Public IP : 112.12.136.14</a:t>
            </a:r>
            <a:endParaRPr sz="2000" b="1" i="0" u="none" strike="noStrike" cap="none">
              <a:solidFill>
                <a:srgbClr val="7030A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4" name="Google Shape;604;p95"/>
          <p:cNvSpPr txBox="1"/>
          <p:nvPr/>
        </p:nvSpPr>
        <p:spPr>
          <a:xfrm>
            <a:off x="2615454" y="2010208"/>
            <a:ext cx="5614145" cy="400110"/>
          </a:xfrm>
          <a:prstGeom prst="rect">
            <a:avLst/>
          </a:prstGeom>
          <a:solidFill>
            <a:srgbClr val="EDC38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112.12.136.14 : 27105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==&gt;</a:t>
            </a:r>
            <a:r>
              <a:rPr lang="en-US" sz="2000" b="1" i="0" u="none" strike="noStrike" cap="non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192.168.1.105:27015</a:t>
            </a:r>
            <a:endParaRPr sz="2000" b="1" i="0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5" name="Google Shape;605;p95"/>
          <p:cNvSpPr txBox="1"/>
          <p:nvPr/>
        </p:nvSpPr>
        <p:spPr>
          <a:xfrm>
            <a:off x="1971644" y="1532924"/>
            <a:ext cx="2395083" cy="400110"/>
          </a:xfrm>
          <a:prstGeom prst="rect">
            <a:avLst/>
          </a:prstGeom>
          <a:solidFill>
            <a:srgbClr val="5E993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Access from outside</a:t>
            </a:r>
            <a:endParaRPr sz="2000" b="1" i="0" u="none" strike="noStrike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06" name="Google Shape;606;p95"/>
          <p:cNvCxnSpPr/>
          <p:nvPr/>
        </p:nvCxnSpPr>
        <p:spPr>
          <a:xfrm>
            <a:off x="4917007" y="2537927"/>
            <a:ext cx="569393" cy="699795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7" name="Google Shape;607;p95"/>
          <p:cNvSpPr txBox="1"/>
          <p:nvPr/>
        </p:nvSpPr>
        <p:spPr>
          <a:xfrm>
            <a:off x="4974488" y="1219533"/>
            <a:ext cx="30964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Port Forwarding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0"/>
          <p:cNvSpPr txBox="1">
            <a:spLocks noGrp="1"/>
          </p:cNvSpPr>
          <p:nvPr>
            <p:ph type="title"/>
          </p:nvPr>
        </p:nvSpPr>
        <p:spPr>
          <a:xfrm>
            <a:off x="1401182" y="1800904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613" name="Google Shape;61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Microsoft Office PowerPoint</Application>
  <PresentationFormat>Widescreen</PresentationFormat>
  <Paragraphs>356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Tahoma</vt:lpstr>
      <vt:lpstr>Calibri</vt:lpstr>
      <vt:lpstr>Corbel</vt:lpstr>
      <vt:lpstr>Courier New</vt:lpstr>
      <vt:lpstr>Parallax</vt:lpstr>
      <vt:lpstr>DHCPv4 &amp; NAT</vt:lpstr>
      <vt:lpstr>Automatic IP Address Assignment</vt:lpstr>
      <vt:lpstr>Objectives</vt:lpstr>
      <vt:lpstr>PowerPoint Presentation</vt:lpstr>
      <vt:lpstr>Assigning IPv4 Addresses : Static</vt:lpstr>
      <vt:lpstr>Dynamic IPv4 Addressing</vt:lpstr>
      <vt:lpstr>PowerPoint Presentation</vt:lpstr>
      <vt:lpstr>Dynamic Host Configuration Protocol (DHCP)</vt:lpstr>
      <vt:lpstr>DHCP Operations</vt:lpstr>
      <vt:lpstr>DHCP Operation - Start</vt:lpstr>
      <vt:lpstr>DHCP Operation </vt:lpstr>
      <vt:lpstr>DHCP Operation </vt:lpstr>
      <vt:lpstr>DHCP Operation </vt:lpstr>
      <vt:lpstr>DHCP Operation (DORA)</vt:lpstr>
      <vt:lpstr>Steps to Renew a Lease</vt:lpstr>
      <vt:lpstr>DHCP Operation</vt:lpstr>
      <vt:lpstr>PowerPoint Presentation</vt:lpstr>
      <vt:lpstr>DHCP related issues</vt:lpstr>
      <vt:lpstr>Problem with DHCP Server not in the same network</vt:lpstr>
      <vt:lpstr>PowerPoint Presentation</vt:lpstr>
      <vt:lpstr>PowerPoint Presentation</vt:lpstr>
      <vt:lpstr>Category of IP Addresses</vt:lpstr>
      <vt:lpstr>Category of IP Addresses</vt:lpstr>
      <vt:lpstr>Public Addresses</vt:lpstr>
      <vt:lpstr>WHY??</vt:lpstr>
      <vt:lpstr>Example: NAT; Sending</vt:lpstr>
      <vt:lpstr>Example: NAT; Receiving</vt:lpstr>
      <vt:lpstr>Advantages of NAT</vt:lpstr>
      <vt:lpstr>Disadvantages of NAT</vt:lpstr>
      <vt:lpstr>PAT (NAT Overload)</vt:lpstr>
      <vt:lpstr>NAT Overload (PAT)</vt:lpstr>
      <vt:lpstr>PAT Operation</vt:lpstr>
      <vt:lpstr>PowerPoint Presentation</vt:lpstr>
      <vt:lpstr>PAT Operation</vt:lpstr>
      <vt:lpstr>Packets without Ports</vt:lpstr>
      <vt:lpstr>Port Forwarding</vt:lpstr>
      <vt:lpstr>Port Forwarding</vt:lpstr>
      <vt:lpstr>PowerPoint Presentation</vt:lpstr>
      <vt:lpstr>Port Forwarding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DHCPv4 &amp; NAT</dc:title>
  <dc:creator>Arif Shakil</dc:creator>
  <cp:lastModifiedBy>Md. Sakir Hossain</cp:lastModifiedBy>
  <cp:revision>1</cp:revision>
  <dcterms:created xsi:type="dcterms:W3CDTF">2020-06-17T13:03:26Z</dcterms:created>
  <dcterms:modified xsi:type="dcterms:W3CDTF">2026-04-21T05:02:46Z</dcterms:modified>
</cp:coreProperties>
</file>