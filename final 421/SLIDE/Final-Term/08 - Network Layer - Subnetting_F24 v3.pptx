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Corbel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gxZ/8MkmgOh2eEGGwRILMivB/B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BE76C7-80C6-4663-8FD5-0E8C5C449355}">
  <a:tblStyle styleId="{7CBE76C7-80C6-4663-8FD5-0E8C5C44935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B"/>
          </a:solidFill>
        </a:fill>
      </a:tcStyle>
    </a:wholeTbl>
    <a:band1H>
      <a:tcTxStyle b="off" i="off"/>
      <a:tcStyle>
        <a:fill>
          <a:solidFill>
            <a:srgbClr val="CCE2F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CE2F8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rbel-bold.fntdata"/><Relationship Id="rId25" Type="http://schemas.openxmlformats.org/officeDocument/2006/relationships/font" Target="fonts/Corbel-regular.fntdata"/><Relationship Id="rId28" Type="http://schemas.openxmlformats.org/officeDocument/2006/relationships/font" Target="fonts/Corbel-boldItalic.fntdata"/><Relationship Id="rId27" Type="http://schemas.openxmlformats.org/officeDocument/2006/relationships/font" Target="fonts/Corbel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Subnets are designed by accepting bits from the IP address's host part and using these bits to assign a number of smaller sub-networks inside the original network. 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Allows an organization to add sub-networks without the need to acquire a new network number via the Internet service provider (ISP). 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2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22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22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22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22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22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22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22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2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0" name="Google Shape;50;p25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8" name="Google Shape;58;p26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9" name="Google Shape;59;p26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0" name="Google Shape;60;p2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2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5" name="Google Shape;75;p29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6" name="Google Shape;76;p2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0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0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0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3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1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1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31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3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2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2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3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3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3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3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33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3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4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4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3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5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5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5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5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9" name="Google Shape;119;p35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3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6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6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36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3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7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8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8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9" name="Google Shape;139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1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21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21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21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21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21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21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2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2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5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5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5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5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5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2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2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2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Layer:</a:t>
            </a:r>
            <a:br>
              <a:rPr lang="en-US"/>
            </a:br>
            <a:r>
              <a:rPr lang="en-US"/>
              <a:t>Subnetting</a:t>
            </a:r>
            <a:endParaRPr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8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55" name="Google Shape;155;p2"/>
          <p:cNvSpPr txBox="1"/>
          <p:nvPr>
            <p:ph idx="1" type="body"/>
          </p:nvPr>
        </p:nvSpPr>
        <p:spPr>
          <a:xfrm>
            <a:off x="1366050" y="1743150"/>
            <a:ext cx="10018800" cy="33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80"/>
              <a:buChar char="•"/>
            </a:pPr>
            <a:r>
              <a:rPr lang="en-US" sz="3200"/>
              <a:t>IPv4 Exhaustion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80"/>
              <a:buChar char="•"/>
            </a:pPr>
            <a:r>
              <a:rPr lang="en-US" sz="3200"/>
              <a:t>Solution to the depletion of IPv4 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80"/>
              <a:buChar char="•"/>
            </a:pPr>
            <a:r>
              <a:rPr lang="en-US" sz="3200"/>
              <a:t>Types of Subnetting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4280"/>
              <a:buChar char="•"/>
            </a:pPr>
            <a:r>
              <a:rPr lang="en-US" sz="3200"/>
              <a:t>Examples </a:t>
            </a:r>
            <a:endParaRPr sz="3200"/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IPv4 Address Exhaustion</a:t>
            </a:r>
            <a:endParaRPr/>
          </a:p>
        </p:txBody>
      </p:sp>
      <p:pic>
        <p:nvPicPr>
          <p:cNvPr id="162" name="Google Shape;1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4349" y="1066799"/>
            <a:ext cx="6528825" cy="25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4124" y="1886250"/>
            <a:ext cx="5567226" cy="49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14700" y="3973750"/>
            <a:ext cx="3207625" cy="213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Solutions</a:t>
            </a:r>
            <a:endParaRPr/>
          </a:p>
        </p:txBody>
      </p:sp>
      <p:sp>
        <p:nvSpPr>
          <p:cNvPr id="171" name="Google Shape;171;p4"/>
          <p:cNvSpPr txBox="1"/>
          <p:nvPr>
            <p:ph idx="1" type="body"/>
          </p:nvPr>
        </p:nvSpPr>
        <p:spPr>
          <a:xfrm>
            <a:off x="1484300" y="1066800"/>
            <a:ext cx="10018800" cy="39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80"/>
              <a:buChar char="•"/>
            </a:pPr>
            <a:r>
              <a:rPr b="1" lang="en-US" sz="2700"/>
              <a:t>Long term:</a:t>
            </a:r>
            <a:endParaRPr sz="2700"/>
          </a:p>
          <a:p>
            <a:pPr indent="-304800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2300"/>
              <a:t>Change to IP version 6.</a:t>
            </a:r>
            <a:endParaRPr sz="2300"/>
          </a:p>
          <a:p>
            <a:pPr indent="-304800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2300"/>
              <a:t>Plenty of addresses using a different scheme</a:t>
            </a:r>
            <a:endParaRPr sz="2300"/>
          </a:p>
          <a:p>
            <a:pPr indent="-285750" lvl="0" marL="2857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3780"/>
              <a:buChar char="•"/>
            </a:pPr>
            <a:r>
              <a:rPr b="1" lang="en-US" sz="2700"/>
              <a:t>Short term:</a:t>
            </a:r>
            <a:endParaRPr sz="2700"/>
          </a:p>
          <a:p>
            <a:pPr indent="-304800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2300"/>
              <a:t>Use </a:t>
            </a:r>
            <a:r>
              <a:rPr b="1" lang="en-US" sz="2300"/>
              <a:t>Subnetting </a:t>
            </a:r>
            <a:r>
              <a:rPr lang="en-US" sz="2300"/>
              <a:t> to avoid wasting addresses</a:t>
            </a:r>
            <a:endParaRPr sz="2300"/>
          </a:p>
          <a:p>
            <a:pPr indent="-304800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2300"/>
              <a:t>Use </a:t>
            </a:r>
            <a:r>
              <a:rPr b="1" lang="en-US" sz="2300"/>
              <a:t>private addresses </a:t>
            </a:r>
            <a:r>
              <a:rPr lang="en-US" sz="2300"/>
              <a:t>locally and </a:t>
            </a:r>
            <a:r>
              <a:rPr b="1" lang="en-US" sz="2300"/>
              <a:t>NAT</a:t>
            </a:r>
            <a:r>
              <a:rPr lang="en-US" sz="2300"/>
              <a:t> for internet access – lets many host share a few public addresses</a:t>
            </a:r>
            <a:endParaRPr sz="2300"/>
          </a:p>
          <a:p>
            <a:pPr indent="0" lvl="0" marL="9144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2300"/>
          </a:p>
          <a:p>
            <a:pPr indent="-64770" lvl="0" marL="2857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700"/>
          </a:p>
          <a:p>
            <a:pPr indent="-64770" lvl="0" marL="2857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172" name="Google Shape;17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2692" y="4472696"/>
            <a:ext cx="4390025" cy="180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Subnetting</a:t>
            </a:r>
            <a:endParaRPr/>
          </a:p>
        </p:txBody>
      </p:sp>
      <p:sp>
        <p:nvSpPr>
          <p:cNvPr id="179" name="Google Shape;179;p5"/>
          <p:cNvSpPr txBox="1"/>
          <p:nvPr>
            <p:ph idx="1" type="body"/>
          </p:nvPr>
        </p:nvSpPr>
        <p:spPr>
          <a:xfrm>
            <a:off x="1591838" y="1304557"/>
            <a:ext cx="10018800" cy="21863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Partition a single physical network into more than one smaller logical sub-networks (subnets). 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7D28CD"/>
                </a:solidFill>
              </a:rPr>
              <a:t>Borrow bits </a:t>
            </a:r>
            <a:r>
              <a:rPr lang="en-US"/>
              <a:t>from </a:t>
            </a:r>
            <a:r>
              <a:rPr b="1" lang="en-US">
                <a:solidFill>
                  <a:srgbClr val="7D28CD"/>
                </a:solidFill>
              </a:rPr>
              <a:t>the IP address's host part </a:t>
            </a:r>
            <a:endParaRPr b="1">
              <a:solidFill>
                <a:srgbClr val="7D28CD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Use these bits to create a number of smaller sub-networks inside the original network. 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180" name="Google Shape;18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63737" y="3728671"/>
            <a:ext cx="7238551" cy="20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Subnetting</a:t>
            </a:r>
            <a:endParaRPr/>
          </a:p>
        </p:txBody>
      </p:sp>
      <p:sp>
        <p:nvSpPr>
          <p:cNvPr id="187" name="Google Shape;187;p6"/>
          <p:cNvSpPr txBox="1"/>
          <p:nvPr>
            <p:ph idx="1" type="body"/>
          </p:nvPr>
        </p:nvSpPr>
        <p:spPr>
          <a:xfrm>
            <a:off x="1484310" y="1673470"/>
            <a:ext cx="10018713" cy="1966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600"/>
              <a:t>Two methods of subnetting</a:t>
            </a:r>
            <a:endParaRPr sz="36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3200"/>
              <a:t>Fixed Length Subnet Masking</a:t>
            </a:r>
            <a:endParaRPr sz="32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3200"/>
              <a:t>Variable Length Masking</a:t>
            </a:r>
            <a:endParaRPr sz="3200"/>
          </a:p>
        </p:txBody>
      </p:sp>
      <p:pic>
        <p:nvPicPr>
          <p:cNvPr id="188" name="Google Shape;1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Fixed length subnetting</a:t>
            </a:r>
            <a:endParaRPr/>
          </a:p>
        </p:txBody>
      </p:sp>
      <p:sp>
        <p:nvSpPr>
          <p:cNvPr id="194" name="Google Shape;194;p7"/>
          <p:cNvSpPr txBox="1"/>
          <p:nvPr>
            <p:ph idx="1" type="body"/>
          </p:nvPr>
        </p:nvSpPr>
        <p:spPr>
          <a:xfrm>
            <a:off x="1484300" y="1066800"/>
            <a:ext cx="10018800" cy="19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598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How many network addresses do you need for the organization? </a:t>
            </a:r>
            <a:endParaRPr/>
          </a:p>
          <a:p>
            <a:pPr indent="-228598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How many network addresses do you have?</a:t>
            </a:r>
            <a:endParaRPr/>
          </a:p>
          <a:p>
            <a:pPr indent="-228598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How many bits do you have for hosts? </a:t>
            </a:r>
            <a:endParaRPr/>
          </a:p>
          <a:p>
            <a:pPr indent="-228598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How many host bits do you need to borrow to create the number of sub networks that you need? </a:t>
            </a:r>
            <a:endParaRPr/>
          </a:p>
          <a:p>
            <a:pPr indent="-64770" lvl="0" marL="2857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2697"/>
              <a:buNone/>
            </a:pPr>
            <a:r>
              <a:t/>
            </a:r>
            <a:endParaRPr sz="1860"/>
          </a:p>
        </p:txBody>
      </p:sp>
      <p:pic>
        <p:nvPicPr>
          <p:cNvPr id="195" name="Google Shape;1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4939" y="3023400"/>
            <a:ext cx="7222917" cy="36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7"/>
          <p:cNvSpPr txBox="1"/>
          <p:nvPr/>
        </p:nvSpPr>
        <p:spPr>
          <a:xfrm>
            <a:off x="2704658" y="3087476"/>
            <a:ext cx="156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Banani Branch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 Hosts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6909762" y="4819085"/>
            <a:ext cx="157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Khulna Branch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60 Hosts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3591166" y="5814600"/>
            <a:ext cx="1813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Motijheel Branch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40 Hosts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9055325" y="1369625"/>
            <a:ext cx="23352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200.20.20.0/24</a:t>
            </a:r>
            <a:endParaRPr b="1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1340050" y="3128700"/>
            <a:ext cx="1950900" cy="16752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1267550" y="2871750"/>
            <a:ext cx="433500" cy="4908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1" i="0" sz="2300" u="none" cap="none" strike="noStrike">
              <a:solidFill>
                <a:srgbClr val="CC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6461308" y="3087476"/>
            <a:ext cx="1950900" cy="16752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1535150" y="4875057"/>
            <a:ext cx="433500" cy="4908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1" i="0" sz="2300" u="none" cap="none" strike="noStrike">
              <a:solidFill>
                <a:srgbClr val="CC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6285660" y="2958974"/>
            <a:ext cx="433500" cy="4908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 b="1" i="0" sz="2300" u="none" cap="none" strike="noStrike">
              <a:solidFill>
                <a:srgbClr val="CC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1587708" y="5091052"/>
            <a:ext cx="1950900" cy="16752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3665656" y="4025609"/>
            <a:ext cx="2335200" cy="10668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498394" y="3475500"/>
            <a:ext cx="433500" cy="4908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1" i="0" sz="2300" u="none" cap="none" strike="noStrike">
              <a:solidFill>
                <a:srgbClr val="CC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6483575" y="1694800"/>
            <a:ext cx="1024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8 bits</a:t>
            </a:r>
            <a:endParaRPr b="1" i="0" sz="2200" u="none" cap="none" strike="noStrike">
              <a:solidFill>
                <a:srgbClr val="0000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3571550" y="2495700"/>
            <a:ext cx="1024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2 bits</a:t>
            </a:r>
            <a:endParaRPr b="1" i="0" sz="2200" u="none" cap="none" strike="noStrike">
              <a:solidFill>
                <a:srgbClr val="0000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 txBox="1"/>
          <p:nvPr>
            <p:ph type="title"/>
          </p:nvPr>
        </p:nvSpPr>
        <p:spPr>
          <a:xfrm>
            <a:off x="1406673" y="217098"/>
            <a:ext cx="10018713" cy="849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cxnSp>
        <p:nvCxnSpPr>
          <p:cNvPr id="216" name="Google Shape;216;p11"/>
          <p:cNvCxnSpPr/>
          <p:nvPr/>
        </p:nvCxnSpPr>
        <p:spPr>
          <a:xfrm>
            <a:off x="1578634" y="5538005"/>
            <a:ext cx="117319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11"/>
          <p:cNvCxnSpPr/>
          <p:nvPr/>
        </p:nvCxnSpPr>
        <p:spPr>
          <a:xfrm>
            <a:off x="2950232" y="5529378"/>
            <a:ext cx="25879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" name="Google Shape;218;p11"/>
          <p:cNvCxnSpPr/>
          <p:nvPr/>
        </p:nvCxnSpPr>
        <p:spPr>
          <a:xfrm>
            <a:off x="3372928" y="5520751"/>
            <a:ext cx="845389" cy="0"/>
          </a:xfrm>
          <a:prstGeom prst="straightConnector1">
            <a:avLst/>
          </a:prstGeom>
          <a:noFill/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11"/>
          <p:cNvSpPr txBox="1"/>
          <p:nvPr/>
        </p:nvSpPr>
        <p:spPr>
          <a:xfrm>
            <a:off x="1691344" y="5696143"/>
            <a:ext cx="79220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1"/>
          <p:cNvSpPr txBox="1"/>
          <p:nvPr/>
        </p:nvSpPr>
        <p:spPr>
          <a:xfrm>
            <a:off x="2588543" y="5871534"/>
            <a:ext cx="13099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Subnet ID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 txBox="1"/>
          <p:nvPr/>
        </p:nvSpPr>
        <p:spPr>
          <a:xfrm>
            <a:off x="3898517" y="5791200"/>
            <a:ext cx="14991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Subnet Host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"/>
          <p:cNvSpPr/>
          <p:nvPr/>
        </p:nvSpPr>
        <p:spPr>
          <a:xfrm rot="-5400000">
            <a:off x="3566587" y="4492223"/>
            <a:ext cx="138273" cy="1303214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3336344" y="4726749"/>
            <a:ext cx="8819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 txBox="1"/>
          <p:nvPr/>
        </p:nvSpPr>
        <p:spPr>
          <a:xfrm>
            <a:off x="5528291" y="4726749"/>
            <a:ext cx="6548690" cy="1881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200.20.20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000000 =200.20.20.0        Network ID of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200.20.20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000000 =200.20.20.64      Network ID of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200.20.20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000000 =200.20.20.128    Network ID of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200.20.20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000000 =200.20.20.192    Network ID of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"/>
          <p:cNvSpPr txBox="1"/>
          <p:nvPr/>
        </p:nvSpPr>
        <p:spPr>
          <a:xfrm>
            <a:off x="8393503" y="3121223"/>
            <a:ext cx="3798498" cy="30777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9607" l="0" r="0" t="-392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 txBox="1"/>
          <p:nvPr/>
        </p:nvSpPr>
        <p:spPr>
          <a:xfrm>
            <a:off x="1484310" y="1509623"/>
            <a:ext cx="10018713" cy="428157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30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"/>
          <p:cNvSpPr txBox="1"/>
          <p:nvPr>
            <p:ph type="title"/>
          </p:nvPr>
        </p:nvSpPr>
        <p:spPr>
          <a:xfrm>
            <a:off x="1484310" y="145472"/>
            <a:ext cx="10018713" cy="12261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33" name="Google Shape;233;p14"/>
          <p:cNvSpPr txBox="1"/>
          <p:nvPr>
            <p:ph idx="1" type="body"/>
          </p:nvPr>
        </p:nvSpPr>
        <p:spPr>
          <a:xfrm>
            <a:off x="1484310" y="1565565"/>
            <a:ext cx="10018713" cy="4225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company has been allocated the IP block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2.128.0.0/10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for its internal network.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Allocate addresses to five departments with different host requirements.</a:t>
            </a:r>
            <a:endParaRPr/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Network A: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40,000 hosts</a:t>
            </a:r>
            <a:endParaRPr/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Network B: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35 hosts</a:t>
            </a:r>
            <a:endParaRPr/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Network C: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2 hosts </a:t>
            </a:r>
            <a:endParaRPr/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Network D: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1,00,000 hosts </a:t>
            </a:r>
            <a:endParaRPr/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Network E: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1,000 hosts</a:t>
            </a:r>
            <a:endParaRPr/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Find the network IP addresses of each network.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"/>
          <p:cNvSpPr txBox="1"/>
          <p:nvPr>
            <p:ph type="title"/>
          </p:nvPr>
        </p:nvSpPr>
        <p:spPr>
          <a:xfrm>
            <a:off x="1406673" y="217098"/>
            <a:ext cx="10018713" cy="849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39" name="Google Shape;239;p15"/>
          <p:cNvSpPr txBox="1"/>
          <p:nvPr>
            <p:ph idx="1" type="body"/>
          </p:nvPr>
        </p:nvSpPr>
        <p:spPr>
          <a:xfrm>
            <a:off x="1484310" y="1509623"/>
            <a:ext cx="10018713" cy="428157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303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 </a:t>
            </a:r>
            <a:endParaRPr/>
          </a:p>
        </p:txBody>
      </p:sp>
      <p:cxnSp>
        <p:nvCxnSpPr>
          <p:cNvPr id="240" name="Google Shape;240;p15"/>
          <p:cNvCxnSpPr/>
          <p:nvPr/>
        </p:nvCxnSpPr>
        <p:spPr>
          <a:xfrm flipH="1" rot="10800000">
            <a:off x="1578634" y="5529378"/>
            <a:ext cx="923026" cy="86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15"/>
          <p:cNvCxnSpPr/>
          <p:nvPr/>
        </p:nvCxnSpPr>
        <p:spPr>
          <a:xfrm>
            <a:off x="2501660" y="5503344"/>
            <a:ext cx="38632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15"/>
          <p:cNvCxnSpPr/>
          <p:nvPr/>
        </p:nvCxnSpPr>
        <p:spPr>
          <a:xfrm>
            <a:off x="2984116" y="5503344"/>
            <a:ext cx="845389" cy="0"/>
          </a:xfrm>
          <a:prstGeom prst="straightConnector1">
            <a:avLst/>
          </a:prstGeom>
          <a:noFill/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15"/>
          <p:cNvSpPr txBox="1"/>
          <p:nvPr/>
        </p:nvSpPr>
        <p:spPr>
          <a:xfrm>
            <a:off x="1406673" y="5637311"/>
            <a:ext cx="79220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Net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5"/>
          <p:cNvSpPr txBox="1"/>
          <p:nvPr/>
        </p:nvSpPr>
        <p:spPr>
          <a:xfrm>
            <a:off x="2232994" y="5666792"/>
            <a:ext cx="13099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Subnet ID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5"/>
          <p:cNvSpPr txBox="1"/>
          <p:nvPr/>
        </p:nvSpPr>
        <p:spPr>
          <a:xfrm>
            <a:off x="3232150" y="5937248"/>
            <a:ext cx="14991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Subnet Host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5"/>
          <p:cNvSpPr/>
          <p:nvPr/>
        </p:nvSpPr>
        <p:spPr>
          <a:xfrm rot="-5400000">
            <a:off x="3035325" y="4541030"/>
            <a:ext cx="88615" cy="1155941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5"/>
          <p:cNvSpPr txBox="1"/>
          <p:nvPr/>
        </p:nvSpPr>
        <p:spPr>
          <a:xfrm>
            <a:off x="2694820" y="4734657"/>
            <a:ext cx="8819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5"/>
          <p:cNvSpPr txBox="1"/>
          <p:nvPr/>
        </p:nvSpPr>
        <p:spPr>
          <a:xfrm>
            <a:off x="6515167" y="4504921"/>
            <a:ext cx="5438563" cy="2118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2.1000</a:t>
            </a:r>
            <a:r>
              <a:rPr b="0" i="0" lang="en-US" sz="18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000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0.0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.0 =2.128.0.0        Network ID of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2.1000</a:t>
            </a:r>
            <a:r>
              <a:rPr b="0" i="0" lang="en-US" sz="18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001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0.0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.0 = 2.130.0.0       Network ID of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2.1000</a:t>
            </a:r>
            <a:r>
              <a:rPr b="0" i="0" lang="en-US" sz="18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010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0.0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.0 = 2.132.0.0       Network ID of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2.1000</a:t>
            </a:r>
            <a:r>
              <a:rPr b="0" i="0" lang="en-US" sz="18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011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0.0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.0 = 2.134.0.0       Network ID of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2.1000</a:t>
            </a:r>
            <a:r>
              <a:rPr b="0" i="0" lang="en-US" sz="18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0.0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.0 = 2.136.0.0        Network ID of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Lots of Waste!</a:t>
            </a:r>
            <a:endParaRPr/>
          </a:p>
        </p:txBody>
      </p:sp>
      <p:sp>
        <p:nvSpPr>
          <p:cNvPr id="254" name="Google Shape;254;p12"/>
          <p:cNvSpPr txBox="1"/>
          <p:nvPr>
            <p:ph idx="1" type="body"/>
          </p:nvPr>
        </p:nvSpPr>
        <p:spPr>
          <a:xfrm>
            <a:off x="1484300" y="1066800"/>
            <a:ext cx="10018800" cy="2152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Char char="•"/>
            </a:pPr>
            <a:r>
              <a:rPr b="1" lang="en-US" sz="2700"/>
              <a:t>Problem of Fixed Subnetting:</a:t>
            </a:r>
            <a:endParaRPr sz="2700"/>
          </a:p>
          <a:p>
            <a:pPr indent="-3048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2300"/>
              <a:t>Waste IPv4 addresses.</a:t>
            </a:r>
            <a:endParaRPr/>
          </a:p>
          <a:p>
            <a:pPr indent="-3048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2300"/>
              <a:t>For example : Router3 –Router2 Network requires 2 IP addresses.</a:t>
            </a:r>
            <a:endParaRPr/>
          </a:p>
          <a:p>
            <a:pPr indent="-3048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2300"/>
              <a:t>How many is available? How many wasted?</a:t>
            </a:r>
            <a:endParaRPr/>
          </a:p>
          <a:p>
            <a:pPr indent="-1016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300"/>
          </a:p>
        </p:txBody>
      </p:sp>
      <p:pic>
        <p:nvPicPr>
          <p:cNvPr id="255" name="Google Shape;2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2"/>
          <p:cNvSpPr txBox="1"/>
          <p:nvPr/>
        </p:nvSpPr>
        <p:spPr>
          <a:xfrm>
            <a:off x="2105452" y="4907263"/>
            <a:ext cx="6966300" cy="16747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00FF"/>
              </a:buClr>
              <a:buSzPts val="378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Solutions:</a:t>
            </a:r>
            <a:endParaRPr b="0" i="0" sz="2700" u="none" cap="none" strike="noStrike">
              <a:solidFill>
                <a:srgbClr val="0000FF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0480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3200"/>
              <a:buFont typeface="Arial"/>
              <a:buChar char="•"/>
            </a:pPr>
            <a:r>
              <a:rPr b="1" i="0" lang="en-US" sz="23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Variable Length Subnet Masking (VLSM)</a:t>
            </a:r>
            <a:endParaRPr b="1" i="0" sz="23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318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32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Create subnets as per specific host requirements.</a:t>
            </a:r>
            <a:endParaRPr b="0" i="0" sz="21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1514408" y="3348010"/>
            <a:ext cx="6096000" cy="1764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480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2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If you are using private addresses, then you may not be bothered.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32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Waste of public addresses does matter.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58" name="Google Shape;25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0516" y="2499029"/>
            <a:ext cx="4396153" cy="1898403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2"/>
          <p:cNvSpPr/>
          <p:nvPr/>
        </p:nvSpPr>
        <p:spPr>
          <a:xfrm>
            <a:off x="8995252" y="2881084"/>
            <a:ext cx="16866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200.20.20.192/26</a:t>
            </a:r>
            <a:endParaRPr b="0" i="0" sz="1600" u="none" cap="none" strike="noStrike">
              <a:solidFill>
                <a:srgbClr val="0000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3323443" y="2962489"/>
            <a:ext cx="453970" cy="40011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62</a:t>
            </a:r>
            <a:endParaRPr b="0" i="0" sz="2000" u="none" cap="none" strike="noStrike">
              <a:solidFill>
                <a:srgbClr val="FFFF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5840352" y="2947900"/>
            <a:ext cx="453970" cy="40011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60</a:t>
            </a:r>
            <a:endParaRPr b="0" i="0" sz="2000" u="none" cap="none" strike="noStrike">
              <a:solidFill>
                <a:srgbClr val="FFFF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VLSM</a:t>
            </a:r>
            <a:endParaRPr/>
          </a:p>
        </p:txBody>
      </p:sp>
      <p:sp>
        <p:nvSpPr>
          <p:cNvPr id="267" name="Google Shape;267;p9"/>
          <p:cNvSpPr txBox="1"/>
          <p:nvPr>
            <p:ph idx="1" type="body"/>
          </p:nvPr>
        </p:nvSpPr>
        <p:spPr>
          <a:xfrm>
            <a:off x="1484263" y="1342700"/>
            <a:ext cx="10018800" cy="9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0"/>
              <a:buChar char="•"/>
            </a:pPr>
            <a:r>
              <a:rPr lang="en-US" sz="2500"/>
              <a:t>Also known as </a:t>
            </a:r>
            <a:r>
              <a:rPr b="1" lang="en-US" sz="2500"/>
              <a:t>“Variable Length Subnet Masking”</a:t>
            </a:r>
            <a:endParaRPr sz="25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500"/>
          </a:p>
        </p:txBody>
      </p:sp>
      <p:pic>
        <p:nvPicPr>
          <p:cNvPr id="268" name="Google Shape;26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9"/>
          <p:cNvSpPr txBox="1"/>
          <p:nvPr/>
        </p:nvSpPr>
        <p:spPr>
          <a:xfrm>
            <a:off x="1691225" y="2108700"/>
            <a:ext cx="8891400" cy="23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31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Assign a block of IP satisfying only that particular LAN.</a:t>
            </a:r>
            <a:endParaRPr b="0" i="0" sz="2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98450" lvl="2" marL="120015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1186C3"/>
              </a:buClr>
              <a:buSzPts val="281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200 hosts?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Assign a block of size 256 IPs!</a:t>
            </a:r>
            <a:endParaRPr b="0" i="0" sz="2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98450" lvl="2" marL="120015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1186C3"/>
              </a:buClr>
              <a:buSzPts val="281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1000 hosts?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Assign a block of size 1024 IPs!</a:t>
            </a:r>
            <a:endParaRPr b="0" i="0" sz="2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98450" lvl="2" marL="120015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1186C3"/>
              </a:buClr>
              <a:buSzPts val="281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 Hosts?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Assign a block of size 2 IPs!</a:t>
            </a:r>
            <a:endParaRPr b="0" i="0" sz="2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0" name="Google Shape;270;p9"/>
          <p:cNvSpPr txBox="1"/>
          <p:nvPr/>
        </p:nvSpPr>
        <p:spPr>
          <a:xfrm>
            <a:off x="1842600" y="4867600"/>
            <a:ext cx="9084900" cy="10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Always satisfy the requirements of your biggest LAN and then work your way down to the smallest LAN.</a:t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VLSM Example 1</a:t>
            </a:r>
            <a:endParaRPr/>
          </a:p>
        </p:txBody>
      </p:sp>
      <p:pic>
        <p:nvPicPr>
          <p:cNvPr id="276" name="Google Shape;2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lsm05.jpg" id="277" name="Google Shape;27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4310" y="1201315"/>
            <a:ext cx="4544457" cy="5036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"/>
          <p:cNvSpPr txBox="1"/>
          <p:nvPr/>
        </p:nvSpPr>
        <p:spPr>
          <a:xfrm>
            <a:off x="444137" y="61423"/>
            <a:ext cx="3118161" cy="4001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Block: 192.168.16.0/24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3" name="Google Shape;283;p16"/>
          <p:cNvGraphicFramePr/>
          <p:nvPr/>
        </p:nvGraphicFramePr>
        <p:xfrm>
          <a:off x="0" y="35821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{7CBE76C7-80C6-4663-8FD5-0E8C5C449355}</a:tableStyleId>
              </a:tblPr>
              <a:tblGrid>
                <a:gridCol w="730275"/>
                <a:gridCol w="814700"/>
                <a:gridCol w="1278200"/>
                <a:gridCol w="1531050"/>
                <a:gridCol w="716350"/>
                <a:gridCol w="3904850"/>
                <a:gridCol w="1769825"/>
                <a:gridCol w="1446750"/>
              </a:tblGrid>
              <a:tr h="106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lt1"/>
                          </a:solidFill>
                        </a:rPr>
                        <a:t>Hosts, H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lt1"/>
                          </a:solidFill>
                        </a:rPr>
                        <a:t>H2=Host+2,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No. of host bits: Hb=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r>
                        <a:rPr baseline="30000" lang="en-US" sz="1400" u="none" cap="none" strike="noStrike"/>
                        <a:t>Hb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lt1"/>
                          </a:solidFill>
                        </a:rPr>
                        <a:t>No. of net bits, Nb=32-Hb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lt1"/>
                          </a:solidFill>
                        </a:rPr>
                        <a:t>(prefix length)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No. of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Allocated IPs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lt1"/>
                          </a:solidFill>
                        </a:rPr>
                        <a:t>Network IP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lt1"/>
                          </a:solidFill>
                        </a:rPr>
                        <a:t>SM</a:t>
                      </a:r>
                      <a:endParaRPr b="0"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lt1"/>
                          </a:solidFill>
                        </a:rPr>
                        <a:t>For next subnet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122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128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192.168.16.</a:t>
                      </a:r>
                      <a:r>
                        <a:rPr b="0" lang="en-US" sz="1800" u="none" cap="none" strike="noStrike">
                          <a:solidFill>
                            <a:srgbClr val="00B0F0"/>
                          </a:solidFill>
                        </a:rPr>
                        <a:t>0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255.255.255.</a:t>
                      </a:r>
                      <a:r>
                        <a:rPr b="1" lang="en-US" sz="1600" u="none" cap="none" strike="noStrike">
                          <a:solidFill>
                            <a:srgbClr val="00B050"/>
                          </a:solidFill>
                        </a:rPr>
                        <a:t>128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b="1" lang="en-US" sz="1600" u="none" cap="none" strike="noStrike">
                          <a:solidFill>
                            <a:srgbClr val="00B050"/>
                          </a:solidFill>
                        </a:rPr>
                        <a:t>128</a:t>
                      </a: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b="1" lang="en-US" sz="1600" u="none" cap="none" strike="noStrike">
                          <a:solidFill>
                            <a:schemeClr val="accent6"/>
                          </a:solidFill>
                        </a:rPr>
                        <a:t>128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64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192.168.16.</a:t>
                      </a:r>
                      <a:r>
                        <a:rPr b="0" lang="en-US" sz="1800" u="none" cap="none" strike="noStrike">
                          <a:solidFill>
                            <a:srgbClr val="00B0F0"/>
                          </a:solidFill>
                        </a:rPr>
                        <a:t>0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b="0" lang="en-US" sz="1800" u="none" cap="none" strike="noStrike">
                          <a:solidFill>
                            <a:schemeClr val="accent6"/>
                          </a:solidFill>
                        </a:rPr>
                        <a:t>128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=192.168.16.</a:t>
                      </a:r>
                      <a:r>
                        <a:rPr b="0" lang="en-US" sz="1800" u="none" cap="none" strike="noStrike">
                          <a:solidFill>
                            <a:srgbClr val="00B0F0"/>
                          </a:solidFill>
                        </a:rPr>
                        <a:t>128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255.255.255.</a:t>
                      </a:r>
                      <a:r>
                        <a:rPr b="1" lang="en-US" sz="1600" u="none" cap="none" strike="noStrike">
                          <a:solidFill>
                            <a:srgbClr val="00B050"/>
                          </a:solidFill>
                        </a:rPr>
                        <a:t>192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b="1" lang="en-US" sz="1600" u="none" cap="none" strike="noStrike">
                          <a:solidFill>
                            <a:srgbClr val="00B050"/>
                          </a:solidFill>
                        </a:rPr>
                        <a:t>192</a:t>
                      </a: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b="1" lang="en-US" sz="1600" u="none" cap="none" strike="noStrike">
                          <a:solidFill>
                            <a:schemeClr val="accent6"/>
                          </a:solidFill>
                        </a:rPr>
                        <a:t>64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32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192.168.16.</a:t>
                      </a:r>
                      <a:r>
                        <a:rPr b="0" lang="en-US" sz="1800" u="none" cap="none" strike="noStrike">
                          <a:solidFill>
                            <a:srgbClr val="00B0F0"/>
                          </a:solidFill>
                        </a:rPr>
                        <a:t>128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b="0" lang="en-US" sz="1800" u="none" cap="none" strike="noStrike">
                          <a:solidFill>
                            <a:schemeClr val="accent6"/>
                          </a:solidFill>
                        </a:rPr>
                        <a:t>64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=192.168.16.</a:t>
                      </a:r>
                      <a:r>
                        <a:rPr b="0" lang="en-US" sz="1800" u="none" cap="none" strike="noStrike">
                          <a:solidFill>
                            <a:srgbClr val="00B0F0"/>
                          </a:solidFill>
                        </a:rPr>
                        <a:t>192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255.255.255.</a:t>
                      </a:r>
                      <a:r>
                        <a:rPr b="1" lang="en-US" sz="1600" u="none" cap="none" strike="noStrike">
                          <a:solidFill>
                            <a:srgbClr val="00B050"/>
                          </a:solidFill>
                        </a:rPr>
                        <a:t>224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b="0" lang="en-US" sz="1600" u="none" cap="none" strike="noStrike">
                          <a:solidFill>
                            <a:srgbClr val="00B050"/>
                          </a:solidFill>
                        </a:rPr>
                        <a:t>224=</a:t>
                      </a:r>
                      <a:r>
                        <a:rPr b="0" lang="en-US" sz="1600" u="none" cap="none" strike="noStrike">
                          <a:solidFill>
                            <a:schemeClr val="accent6"/>
                          </a:solidFill>
                        </a:rPr>
                        <a:t>32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192.168.16.</a:t>
                      </a:r>
                      <a:r>
                        <a:rPr b="0" lang="en-US" sz="1800" u="none" cap="none" strike="noStrike">
                          <a:solidFill>
                            <a:srgbClr val="00B0F0"/>
                          </a:solidFill>
                        </a:rPr>
                        <a:t>192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b="0" lang="en-US" sz="1800" u="none" cap="none" strike="noStrike">
                          <a:solidFill>
                            <a:schemeClr val="accent6"/>
                          </a:solidFill>
                        </a:rPr>
                        <a:t>32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=192.168.16.</a:t>
                      </a:r>
                      <a:r>
                        <a:rPr b="0" lang="en-US" sz="1800" u="none" cap="none" strike="noStrike">
                          <a:solidFill>
                            <a:srgbClr val="00B0F0"/>
                          </a:solidFill>
                        </a:rPr>
                        <a:t>224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255.255.255.</a:t>
                      </a:r>
                      <a:r>
                        <a:rPr b="1" lang="en-US" sz="1600" u="none" cap="none" strike="noStrike">
                          <a:solidFill>
                            <a:srgbClr val="00B050"/>
                          </a:solidFill>
                        </a:rPr>
                        <a:t>252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b="0" lang="en-US" sz="1600" u="none" cap="none" strike="noStrike">
                          <a:solidFill>
                            <a:srgbClr val="00B050"/>
                          </a:solidFill>
                        </a:rPr>
                        <a:t>252=</a:t>
                      </a:r>
                      <a:r>
                        <a:rPr b="0" lang="en-US" sz="1600" u="none" cap="none" strike="noStrike">
                          <a:solidFill>
                            <a:schemeClr val="accent6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192.168.16.</a:t>
                      </a:r>
                      <a:r>
                        <a:rPr b="0" lang="en-US" sz="1800" u="none" cap="none" strike="noStrike">
                          <a:solidFill>
                            <a:srgbClr val="00B0F0"/>
                          </a:solidFill>
                        </a:rPr>
                        <a:t>224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b="0" lang="en-US" sz="1800" u="none" cap="none" strike="noStrike">
                          <a:solidFill>
                            <a:schemeClr val="accent6"/>
                          </a:solidFill>
                        </a:rPr>
                        <a:t>4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=192.168.16.228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255.255.255.</a:t>
                      </a:r>
                      <a:r>
                        <a:rPr b="1" lang="en-US" sz="1600" u="none" cap="none" strike="noStrike">
                          <a:solidFill>
                            <a:srgbClr val="00B050"/>
                          </a:solidFill>
                        </a:rPr>
                        <a:t>252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accent6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84" name="Google Shape;284;p16"/>
          <p:cNvSpPr txBox="1"/>
          <p:nvPr/>
        </p:nvSpPr>
        <p:spPr>
          <a:xfrm>
            <a:off x="4003964" y="61423"/>
            <a:ext cx="59282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11000000.10101000.00010000.0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6"/>
          <p:cNvSpPr txBox="1"/>
          <p:nvPr/>
        </p:nvSpPr>
        <p:spPr>
          <a:xfrm>
            <a:off x="2105891" y="523088"/>
            <a:ext cx="70920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Net128: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11000000.10101000.00010000.0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p16"/>
          <p:cNvCxnSpPr/>
          <p:nvPr/>
        </p:nvCxnSpPr>
        <p:spPr>
          <a:xfrm>
            <a:off x="11166764" y="686880"/>
            <a:ext cx="0" cy="59574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7" name="Google Shape;287;p16"/>
          <p:cNvSpPr txBox="1"/>
          <p:nvPr/>
        </p:nvSpPr>
        <p:spPr>
          <a:xfrm>
            <a:off x="2105891" y="952579"/>
            <a:ext cx="70920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Net64:  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11000000.10101000.00010000.00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6"/>
          <p:cNvSpPr txBox="1"/>
          <p:nvPr/>
        </p:nvSpPr>
        <p:spPr>
          <a:xfrm>
            <a:off x="2105891" y="1353668"/>
            <a:ext cx="70904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Net32:  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11000000.10101000.00010000.000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6"/>
          <p:cNvSpPr txBox="1"/>
          <p:nvPr/>
        </p:nvSpPr>
        <p:spPr>
          <a:xfrm>
            <a:off x="2105891" y="1783159"/>
            <a:ext cx="7088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Net2:    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11000000.10101000.00010000.000000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" name="Google Shape;290;p16"/>
          <p:cNvCxnSpPr/>
          <p:nvPr/>
        </p:nvCxnSpPr>
        <p:spPr>
          <a:xfrm>
            <a:off x="7855527" y="461533"/>
            <a:ext cx="0" cy="595745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16"/>
          <p:cNvCxnSpPr/>
          <p:nvPr/>
        </p:nvCxnSpPr>
        <p:spPr>
          <a:xfrm>
            <a:off x="8020119" y="848569"/>
            <a:ext cx="0" cy="595745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p16"/>
          <p:cNvCxnSpPr/>
          <p:nvPr/>
        </p:nvCxnSpPr>
        <p:spPr>
          <a:xfrm>
            <a:off x="8188036" y="1282625"/>
            <a:ext cx="0" cy="595745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p16"/>
          <p:cNvCxnSpPr/>
          <p:nvPr/>
        </p:nvCxnSpPr>
        <p:spPr>
          <a:xfrm>
            <a:off x="8700655" y="1783159"/>
            <a:ext cx="0" cy="595745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VLSM Example 2</a:t>
            </a:r>
            <a:endParaRPr/>
          </a:p>
        </p:txBody>
      </p:sp>
      <p:pic>
        <p:nvPicPr>
          <p:cNvPr id="299" name="Google Shape;2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8"/>
          <p:cNvSpPr txBox="1"/>
          <p:nvPr/>
        </p:nvSpPr>
        <p:spPr>
          <a:xfrm>
            <a:off x="10633869" y="2650928"/>
            <a:ext cx="86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4 LANs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8"/>
          <p:cNvSpPr txBox="1"/>
          <p:nvPr/>
        </p:nvSpPr>
        <p:spPr>
          <a:xfrm>
            <a:off x="10682393" y="3061678"/>
            <a:ext cx="93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 WANs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8"/>
          <p:cNvSpPr txBox="1"/>
          <p:nvPr/>
        </p:nvSpPr>
        <p:spPr>
          <a:xfrm>
            <a:off x="9953243" y="3472422"/>
            <a:ext cx="2097900" cy="92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 Switched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Or Multi Access Networks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219200"/>
            <a:ext cx="9898276" cy="488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"/>
          <p:cNvSpPr txBox="1"/>
          <p:nvPr/>
        </p:nvSpPr>
        <p:spPr>
          <a:xfrm>
            <a:off x="444137" y="61423"/>
            <a:ext cx="2975495" cy="4001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Block: 13.65.136.0/21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9" name="Google Shape;309;p17"/>
          <p:cNvGraphicFramePr/>
          <p:nvPr/>
        </p:nvGraphicFramePr>
        <p:xfrm>
          <a:off x="166376" y="28184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{7CBE76C7-80C6-4663-8FD5-0E8C5C449355}</a:tableStyleId>
              </a:tblPr>
              <a:tblGrid>
                <a:gridCol w="825300"/>
                <a:gridCol w="698600"/>
                <a:gridCol w="1260775"/>
                <a:gridCol w="1510150"/>
                <a:gridCol w="706575"/>
                <a:gridCol w="3796150"/>
                <a:gridCol w="1801100"/>
                <a:gridCol w="1427000"/>
              </a:tblGrid>
              <a:tr h="106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lt1"/>
                          </a:solidFill>
                        </a:rPr>
                        <a:t>Hosts, H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lt1"/>
                          </a:solidFill>
                        </a:rPr>
                        <a:t>H2=Host+2,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No. of host bits: Hb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lt1"/>
                          </a:solidFill>
                        </a:rPr>
                        <a:t>No. of net bits, Nb=32-Hb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lt1"/>
                          </a:solidFill>
                        </a:rPr>
                        <a:t>(prefix length)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lt1"/>
                          </a:solidFill>
                        </a:rPr>
                        <a:t>Network IP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lt1"/>
                          </a:solidFill>
                        </a:rPr>
                        <a:t>SM</a:t>
                      </a:r>
                      <a:endParaRPr b="0"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lt1"/>
                          </a:solidFill>
                        </a:rPr>
                        <a:t>For next subnet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950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952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1024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13.65.</a:t>
                      </a:r>
                      <a:r>
                        <a:rPr b="1" lang="en-US" sz="1800" u="none" cap="none" strike="noStrike">
                          <a:solidFill>
                            <a:srgbClr val="00B0F0"/>
                          </a:solidFill>
                        </a:rPr>
                        <a:t>136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.0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255.255.</a:t>
                      </a:r>
                      <a:r>
                        <a:rPr b="1" lang="en-US" sz="1600" u="none" cap="none" strike="noStrike">
                          <a:solidFill>
                            <a:srgbClr val="00B050"/>
                          </a:solidFill>
                        </a:rPr>
                        <a:t>252</a:t>
                      </a: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.0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b="1" lang="en-US" sz="1600" u="none" cap="none" strike="noStrike">
                          <a:solidFill>
                            <a:srgbClr val="00B050"/>
                          </a:solidFill>
                        </a:rPr>
                        <a:t>252</a:t>
                      </a: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b="1" lang="en-US" sz="1600" u="none" cap="none" strike="noStrike">
                          <a:solidFill>
                            <a:schemeClr val="accent6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502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512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13.65.</a:t>
                      </a:r>
                      <a:r>
                        <a:rPr b="1" lang="en-US" sz="1800" u="none" cap="none" strike="noStrike">
                          <a:solidFill>
                            <a:srgbClr val="00B0F0"/>
                          </a:solidFill>
                        </a:rPr>
                        <a:t>136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b="1" lang="en-US" sz="1800" u="none" cap="none" strike="noStrike">
                          <a:solidFill>
                            <a:schemeClr val="accent6"/>
                          </a:solidFill>
                        </a:rPr>
                        <a:t>4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.0 =13.65.</a:t>
                      </a:r>
                      <a:r>
                        <a:rPr b="1" lang="en-US" sz="1800" u="none" cap="none" strike="noStrike">
                          <a:solidFill>
                            <a:srgbClr val="00B0F0"/>
                          </a:solidFill>
                        </a:rPr>
                        <a:t>140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.0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255.255.</a:t>
                      </a:r>
                      <a:r>
                        <a:rPr b="1" lang="en-US" sz="1600" u="none" cap="none" strike="noStrike">
                          <a:solidFill>
                            <a:srgbClr val="00B050"/>
                          </a:solidFill>
                        </a:rPr>
                        <a:t>254</a:t>
                      </a: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.0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b="1" lang="en-US" sz="1600" u="none" cap="none" strike="noStrike">
                          <a:solidFill>
                            <a:srgbClr val="00B050"/>
                          </a:solidFill>
                        </a:rPr>
                        <a:t>254</a:t>
                      </a: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b="1" lang="en-US" sz="1600" u="none" cap="none" strike="noStrike">
                          <a:solidFill>
                            <a:schemeClr val="accent6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128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13.65.</a:t>
                      </a:r>
                      <a:r>
                        <a:rPr b="1" lang="en-US" sz="1800" u="none" cap="none" strike="noStrike">
                          <a:solidFill>
                            <a:srgbClr val="00B0F0"/>
                          </a:solidFill>
                        </a:rPr>
                        <a:t>140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b="1" lang="en-US" sz="1800" u="none" cap="none" strike="noStrike">
                          <a:solidFill>
                            <a:schemeClr val="accent6"/>
                          </a:solidFill>
                        </a:rPr>
                        <a:t>2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.0 =13.65.142.</a:t>
                      </a:r>
                      <a:r>
                        <a:rPr b="1" lang="en-US" sz="1800" u="none" cap="none" strike="noStrike">
                          <a:solidFill>
                            <a:srgbClr val="00B0F0"/>
                          </a:solidFill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255.255.255.</a:t>
                      </a:r>
                      <a:r>
                        <a:rPr b="1" lang="en-US" sz="1600" u="none" cap="none" strike="noStrike">
                          <a:solidFill>
                            <a:srgbClr val="00B050"/>
                          </a:solidFill>
                        </a:rPr>
                        <a:t>128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b="0" lang="en-US" sz="1600" u="none" cap="none" strike="noStrike">
                          <a:solidFill>
                            <a:srgbClr val="00B050"/>
                          </a:solidFill>
                        </a:rPr>
                        <a:t>128=</a:t>
                      </a:r>
                      <a:r>
                        <a:rPr b="0" lang="en-US" sz="1600" u="none" cap="none" strike="noStrike">
                          <a:solidFill>
                            <a:schemeClr val="accent6"/>
                          </a:solidFill>
                        </a:rPr>
                        <a:t>128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128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13.65.142.</a:t>
                      </a:r>
                      <a:r>
                        <a:rPr b="1" lang="en-US" sz="1800" u="none" cap="none" strike="noStrike">
                          <a:solidFill>
                            <a:srgbClr val="00B0F0"/>
                          </a:solidFill>
                        </a:rPr>
                        <a:t>0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b="0" lang="en-US" sz="1800" u="none" cap="none" strike="noStrike">
                          <a:solidFill>
                            <a:schemeClr val="accent6"/>
                          </a:solidFill>
                        </a:rPr>
                        <a:t>128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 =13.65.142.</a:t>
                      </a:r>
                      <a:r>
                        <a:rPr b="1" lang="en-US" sz="1800" u="none" cap="none" strike="noStrike">
                          <a:solidFill>
                            <a:srgbClr val="00B0F0"/>
                          </a:solidFill>
                        </a:rPr>
                        <a:t>128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255.255.255.</a:t>
                      </a:r>
                      <a:r>
                        <a:rPr b="1" lang="en-US" sz="1600" u="none" cap="none" strike="noStrike">
                          <a:solidFill>
                            <a:srgbClr val="00B050"/>
                          </a:solidFill>
                        </a:rPr>
                        <a:t>128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b="0" lang="en-US" sz="1600" u="none" cap="none" strike="noStrike">
                          <a:solidFill>
                            <a:srgbClr val="00B050"/>
                          </a:solidFill>
                        </a:rPr>
                        <a:t>128=</a:t>
                      </a:r>
                      <a:r>
                        <a:rPr b="0" lang="en-US" sz="1600" u="none" cap="none" strike="noStrike">
                          <a:solidFill>
                            <a:schemeClr val="accent6"/>
                          </a:solidFill>
                        </a:rPr>
                        <a:t>128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13.65.142.</a:t>
                      </a:r>
                      <a:r>
                        <a:rPr b="0" lang="en-US" sz="1800" u="none" cap="none" strike="noStrike">
                          <a:solidFill>
                            <a:srgbClr val="00B0F0"/>
                          </a:solidFill>
                        </a:rPr>
                        <a:t>128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b="0" lang="en-US" sz="1800" u="none" cap="none" strike="noStrike">
                          <a:solidFill>
                            <a:schemeClr val="accent6"/>
                          </a:solidFill>
                        </a:rPr>
                        <a:t>128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=13.65.143.</a:t>
                      </a:r>
                      <a:r>
                        <a:rPr b="1" lang="en-US" sz="1800" u="none" cap="none" strike="noStrike">
                          <a:solidFill>
                            <a:srgbClr val="00B0F0"/>
                          </a:solidFill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255.255.255.</a:t>
                      </a:r>
                      <a:r>
                        <a:rPr b="1" lang="en-US" sz="1600" u="none" cap="none" strike="noStrike">
                          <a:solidFill>
                            <a:srgbClr val="00B050"/>
                          </a:solidFill>
                        </a:rPr>
                        <a:t>248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b="0" lang="en-US" sz="1600" u="none" cap="none" strike="noStrike">
                          <a:solidFill>
                            <a:srgbClr val="00B050"/>
                          </a:solidFill>
                        </a:rPr>
                        <a:t>248=</a:t>
                      </a:r>
                      <a:r>
                        <a:rPr b="0" lang="en-US" sz="1600" u="none" cap="none" strike="noStrike">
                          <a:solidFill>
                            <a:schemeClr val="accent6"/>
                          </a:solidFill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13.65.143.</a:t>
                      </a:r>
                      <a:r>
                        <a:rPr b="0" lang="en-US" sz="1800" u="none" cap="none" strike="noStrike">
                          <a:solidFill>
                            <a:srgbClr val="00B0F0"/>
                          </a:solidFill>
                        </a:rPr>
                        <a:t>0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b="0" lang="en-US" sz="1800" u="none" cap="none" strike="noStrike">
                          <a:solidFill>
                            <a:schemeClr val="accent6"/>
                          </a:solidFill>
                        </a:rPr>
                        <a:t>8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=13.65.143.</a:t>
                      </a:r>
                      <a:r>
                        <a:rPr b="1" lang="en-US" sz="1800" u="none" cap="none" strike="noStrike">
                          <a:solidFill>
                            <a:srgbClr val="00B0F0"/>
                          </a:solidFill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255.255.255.</a:t>
                      </a:r>
                      <a:r>
                        <a:rPr b="1" lang="en-US" sz="1600" u="none" cap="none" strike="noStrike">
                          <a:solidFill>
                            <a:srgbClr val="00B050"/>
                          </a:solidFill>
                        </a:rPr>
                        <a:t>252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b="0" lang="en-US" sz="1600" u="none" cap="none" strike="noStrike">
                          <a:solidFill>
                            <a:srgbClr val="00B050"/>
                          </a:solidFill>
                        </a:rPr>
                        <a:t>252=</a:t>
                      </a:r>
                      <a:r>
                        <a:rPr b="0" lang="en-US" sz="1600" u="none" cap="none" strike="noStrike">
                          <a:solidFill>
                            <a:schemeClr val="accent6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13.65.143.</a:t>
                      </a:r>
                      <a:r>
                        <a:rPr b="0" lang="en-US" sz="1800" u="none" cap="none" strike="noStrike">
                          <a:solidFill>
                            <a:srgbClr val="00B0F0"/>
                          </a:solidFill>
                        </a:rPr>
                        <a:t>8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b="0" lang="en-US" sz="1800" u="none" cap="none" strike="noStrike">
                          <a:solidFill>
                            <a:schemeClr val="accent6"/>
                          </a:solidFill>
                        </a:rPr>
                        <a:t>4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=13.65.143.</a:t>
                      </a:r>
                      <a:r>
                        <a:rPr b="1" lang="en-US" sz="1800" u="none" cap="none" strike="noStrike">
                          <a:solidFill>
                            <a:srgbClr val="00B0F0"/>
                          </a:solidFill>
                        </a:rPr>
                        <a:t>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255.255.255.</a:t>
                      </a:r>
                      <a:r>
                        <a:rPr b="1" lang="en-US" sz="1600" u="none" cap="none" strike="noStrike">
                          <a:solidFill>
                            <a:srgbClr val="00B050"/>
                          </a:solidFill>
                        </a:rPr>
                        <a:t>252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b="0" lang="en-US" sz="1600" u="none" cap="none" strike="noStrike">
                          <a:solidFill>
                            <a:srgbClr val="00B050"/>
                          </a:solidFill>
                        </a:rPr>
                        <a:t>252=</a:t>
                      </a:r>
                      <a:r>
                        <a:rPr b="0" lang="en-US" sz="1600" u="none" cap="none" strike="noStrike">
                          <a:solidFill>
                            <a:schemeClr val="accent6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13.65.143.</a:t>
                      </a:r>
                      <a:r>
                        <a:rPr b="0" lang="en-US" sz="1800" u="none" cap="none" strike="noStrike">
                          <a:solidFill>
                            <a:srgbClr val="00B0F0"/>
                          </a:solidFill>
                        </a:rPr>
                        <a:t>12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+4=13.65.143.16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10" name="Google Shape;310;p17"/>
          <p:cNvSpPr txBox="1"/>
          <p:nvPr/>
        </p:nvSpPr>
        <p:spPr>
          <a:xfrm>
            <a:off x="4003964" y="61423"/>
            <a:ext cx="59282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00001101.01000001.10001000.00000000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7"/>
          <p:cNvSpPr txBox="1"/>
          <p:nvPr/>
        </p:nvSpPr>
        <p:spPr>
          <a:xfrm>
            <a:off x="2105891" y="523088"/>
            <a:ext cx="72635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Net1024: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00001101.01000001.100010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00.00000000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7"/>
          <p:cNvSpPr txBox="1"/>
          <p:nvPr/>
        </p:nvSpPr>
        <p:spPr>
          <a:xfrm>
            <a:off x="2105891" y="1010939"/>
            <a:ext cx="72619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Net512:  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00001101.01000001.1000100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0.00000000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3" name="Google Shape;313;p17"/>
          <p:cNvCxnSpPr/>
          <p:nvPr/>
        </p:nvCxnSpPr>
        <p:spPr>
          <a:xfrm>
            <a:off x="7439891" y="461533"/>
            <a:ext cx="0" cy="595745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17"/>
          <p:cNvCxnSpPr/>
          <p:nvPr/>
        </p:nvCxnSpPr>
        <p:spPr>
          <a:xfrm>
            <a:off x="7606146" y="970898"/>
            <a:ext cx="0" cy="595745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17"/>
          <p:cNvSpPr txBox="1"/>
          <p:nvPr/>
        </p:nvSpPr>
        <p:spPr>
          <a:xfrm>
            <a:off x="2105891" y="1460031"/>
            <a:ext cx="72619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Net128:  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00001101.01000001.10001000.0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7"/>
          <p:cNvSpPr txBox="1"/>
          <p:nvPr/>
        </p:nvSpPr>
        <p:spPr>
          <a:xfrm>
            <a:off x="2102685" y="1867679"/>
            <a:ext cx="725871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Net8:      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00001101.01000001.10001000.00000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7"/>
          <p:cNvSpPr txBox="1"/>
          <p:nvPr/>
        </p:nvSpPr>
        <p:spPr>
          <a:xfrm>
            <a:off x="2102685" y="2253436"/>
            <a:ext cx="725871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Net4:      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00001101.01000001.10001000.000000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p17"/>
          <p:cNvCxnSpPr/>
          <p:nvPr/>
        </p:nvCxnSpPr>
        <p:spPr>
          <a:xfrm>
            <a:off x="8035637" y="1400997"/>
            <a:ext cx="0" cy="595745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9" name="Google Shape;319;p17"/>
          <p:cNvCxnSpPr/>
          <p:nvPr/>
        </p:nvCxnSpPr>
        <p:spPr>
          <a:xfrm>
            <a:off x="8714510" y="1781544"/>
            <a:ext cx="0" cy="595745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17"/>
          <p:cNvCxnSpPr/>
          <p:nvPr/>
        </p:nvCxnSpPr>
        <p:spPr>
          <a:xfrm>
            <a:off x="8866910" y="2186395"/>
            <a:ext cx="0" cy="595745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17"/>
          <p:cNvSpPr/>
          <p:nvPr/>
        </p:nvSpPr>
        <p:spPr>
          <a:xfrm>
            <a:off x="5235677" y="5427406"/>
            <a:ext cx="2020529" cy="294968"/>
          </a:xfrm>
          <a:prstGeom prst="rect">
            <a:avLst/>
          </a:prstGeom>
          <a:solidFill>
            <a:schemeClr val="accent4">
              <a:alpha val="34118"/>
            </a:schemeClr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7391016" y="5427429"/>
            <a:ext cx="1610700" cy="2949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"/>
          <p:cNvSpPr txBox="1"/>
          <p:nvPr>
            <p:ph type="title"/>
          </p:nvPr>
        </p:nvSpPr>
        <p:spPr>
          <a:xfrm>
            <a:off x="1484310" y="145472"/>
            <a:ext cx="10018713" cy="12261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Teach Yourself</a:t>
            </a:r>
            <a:endParaRPr/>
          </a:p>
        </p:txBody>
      </p:sp>
      <p:sp>
        <p:nvSpPr>
          <p:cNvPr id="328" name="Google Shape;328;p19"/>
          <p:cNvSpPr txBox="1"/>
          <p:nvPr>
            <p:ph idx="1" type="body"/>
          </p:nvPr>
        </p:nvSpPr>
        <p:spPr>
          <a:xfrm>
            <a:off x="1484310" y="1565565"/>
            <a:ext cx="10018713" cy="4225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company has been allocated the IP block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2.128.0.0/10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for its internal network.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Allocate addresses to five departments with different host requirements.</a:t>
            </a:r>
            <a:endParaRPr/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Network A: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40,000 hosts</a:t>
            </a:r>
            <a:endParaRPr/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Network B: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35 hosts</a:t>
            </a:r>
            <a:endParaRPr/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Network C: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2 hosts </a:t>
            </a:r>
            <a:endParaRPr/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Network D: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1,00,000 hosts </a:t>
            </a:r>
            <a:endParaRPr/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Network E: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1,000 hosts</a:t>
            </a:r>
            <a:endParaRPr/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Find the network IP addresses of each network in the most efficient way.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9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  <p:graphicFrame>
        <p:nvGraphicFramePr>
          <p:cNvPr id="334" name="Google Shape;334;p39"/>
          <p:cNvGraphicFramePr/>
          <p:nvPr/>
        </p:nvGraphicFramePr>
        <p:xfrm>
          <a:off x="0" y="28184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{7CBE76C7-80C6-4663-8FD5-0E8C5C449355}</a:tableStyleId>
              </a:tblPr>
              <a:tblGrid>
                <a:gridCol w="955975"/>
                <a:gridCol w="914400"/>
                <a:gridCol w="1183725"/>
                <a:gridCol w="1225300"/>
                <a:gridCol w="791175"/>
                <a:gridCol w="3848675"/>
                <a:gridCol w="1826000"/>
                <a:gridCol w="1446750"/>
              </a:tblGrid>
              <a:tr h="131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lt1"/>
                          </a:solidFill>
                        </a:rPr>
                        <a:t>Hosts, H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lt1"/>
                          </a:solidFill>
                        </a:rPr>
                        <a:t>H2=Host+2,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No. of host bits: Hb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lt1"/>
                          </a:solidFill>
                        </a:rPr>
                        <a:t>No. of net bits, Nb=32-Hb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lt1"/>
                          </a:solidFill>
                        </a:rPr>
                        <a:t>(prefix length)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lt1"/>
                          </a:solidFill>
                        </a:rPr>
                        <a:t>Network IP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lt1"/>
                          </a:solidFill>
                        </a:rPr>
                        <a:t>SM</a:t>
                      </a:r>
                      <a:endParaRPr b="0"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lt1"/>
                          </a:solidFill>
                        </a:rPr>
                        <a:t>For next subnet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7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100000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100002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131072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2.</a:t>
                      </a:r>
                      <a:r>
                        <a:rPr b="0" lang="en-US" sz="1800" u="none" cap="none" strike="noStrike">
                          <a:solidFill>
                            <a:srgbClr val="00B0F0"/>
                          </a:solidFill>
                        </a:rPr>
                        <a:t>128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.0.0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255.</a:t>
                      </a:r>
                      <a:r>
                        <a:rPr b="0" lang="en-US" sz="1600" u="none" cap="none" strike="noStrike">
                          <a:solidFill>
                            <a:srgbClr val="00B050"/>
                          </a:solidFill>
                        </a:rPr>
                        <a:t>254</a:t>
                      </a: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.0.0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b="0" lang="en-US" sz="1600" u="none" cap="none" strike="noStrike">
                          <a:solidFill>
                            <a:srgbClr val="00B050"/>
                          </a:solidFill>
                        </a:rPr>
                        <a:t>254</a:t>
                      </a: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b="0" lang="en-US" sz="1600" u="none" cap="none" strike="noStrike">
                          <a:solidFill>
                            <a:schemeClr val="accent6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7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40000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40002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65536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2.</a:t>
                      </a:r>
                      <a:r>
                        <a:rPr b="1" lang="en-US" sz="1800" u="none" cap="none" strike="noStrike">
                          <a:solidFill>
                            <a:srgbClr val="00B0F0"/>
                          </a:solidFill>
                        </a:rPr>
                        <a:t>128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b="1" lang="en-US" sz="1800" u="none" cap="none" strike="noStrike">
                          <a:solidFill>
                            <a:schemeClr val="accent6"/>
                          </a:solidFill>
                        </a:rPr>
                        <a:t>2.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0.0=2.</a:t>
                      </a:r>
                      <a:r>
                        <a:rPr b="0" lang="en-US" sz="1800" u="none" cap="none" strike="noStrike">
                          <a:solidFill>
                            <a:srgbClr val="00B0F0"/>
                          </a:solidFill>
                        </a:rPr>
                        <a:t>130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.0.0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255.</a:t>
                      </a:r>
                      <a:r>
                        <a:rPr b="0" lang="en-US" sz="1600" u="none" cap="none" strike="noStrike">
                          <a:solidFill>
                            <a:srgbClr val="00B050"/>
                          </a:solidFill>
                        </a:rPr>
                        <a:t>255</a:t>
                      </a: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.0.0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b="0" lang="en-US" sz="1600" u="none" cap="none" strike="noStrike">
                          <a:solidFill>
                            <a:srgbClr val="00B050"/>
                          </a:solidFill>
                        </a:rPr>
                        <a:t>255</a:t>
                      </a: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b="0" lang="en-US" sz="1600" u="none" cap="none" strike="noStrike">
                          <a:solidFill>
                            <a:schemeClr val="accent6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1002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1024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2.</a:t>
                      </a:r>
                      <a:r>
                        <a:rPr b="0" lang="en-US" sz="1800" u="none" cap="none" strike="noStrike">
                          <a:solidFill>
                            <a:srgbClr val="00B0F0"/>
                          </a:solidFill>
                        </a:rPr>
                        <a:t>130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b="0" lang="en-US" sz="1800" u="none" cap="none" strike="noStrike">
                          <a:solidFill>
                            <a:schemeClr val="accent6"/>
                          </a:solidFill>
                        </a:rPr>
                        <a:t>1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.0.0=2.131.</a:t>
                      </a:r>
                      <a:r>
                        <a:rPr b="0" lang="en-US" sz="1800" u="none" cap="none" strike="noStrike">
                          <a:solidFill>
                            <a:srgbClr val="00B0F0"/>
                          </a:solidFill>
                        </a:rPr>
                        <a:t>0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.0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255.255.</a:t>
                      </a:r>
                      <a:r>
                        <a:rPr b="0" lang="en-US" sz="1600" u="none" cap="none" strike="noStrike">
                          <a:solidFill>
                            <a:srgbClr val="00B050"/>
                          </a:solidFill>
                        </a:rPr>
                        <a:t>252</a:t>
                      </a: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.0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b="0" lang="en-US" sz="1600" u="none" cap="none" strike="noStrike">
                          <a:solidFill>
                            <a:srgbClr val="00B050"/>
                          </a:solidFill>
                        </a:rPr>
                        <a:t>252</a:t>
                      </a: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b="0" lang="en-US" sz="1600" u="none" cap="none" strike="noStrike">
                          <a:solidFill>
                            <a:schemeClr val="accent6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35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37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64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2.131.</a:t>
                      </a:r>
                      <a:r>
                        <a:rPr b="0" lang="en-US" sz="1800" u="none" cap="none" strike="noStrike">
                          <a:solidFill>
                            <a:srgbClr val="00B0F0"/>
                          </a:solidFill>
                        </a:rPr>
                        <a:t>0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b="0" lang="en-US" sz="1800" u="none" cap="none" strike="noStrike">
                          <a:solidFill>
                            <a:schemeClr val="accent6"/>
                          </a:solidFill>
                        </a:rPr>
                        <a:t>4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.0=2.131.4.</a:t>
                      </a:r>
                      <a:r>
                        <a:rPr b="0" lang="en-US" sz="1800" u="none" cap="none" strike="noStrike">
                          <a:solidFill>
                            <a:srgbClr val="00B0F0"/>
                          </a:solidFill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255.255.255.</a:t>
                      </a:r>
                      <a:r>
                        <a:rPr b="0" lang="en-US" sz="1600" u="none" cap="none" strike="noStrike">
                          <a:solidFill>
                            <a:srgbClr val="00B050"/>
                          </a:solidFill>
                        </a:rPr>
                        <a:t>192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b="0" lang="en-US" sz="1600" u="none" cap="none" strike="noStrike">
                          <a:solidFill>
                            <a:srgbClr val="00B050"/>
                          </a:solidFill>
                        </a:rPr>
                        <a:t>192</a:t>
                      </a: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b="0" lang="en-US" sz="1600" u="none" cap="none" strike="noStrike">
                          <a:solidFill>
                            <a:schemeClr val="accent6"/>
                          </a:solidFill>
                        </a:rPr>
                        <a:t>64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30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2.131.4.</a:t>
                      </a:r>
                      <a:r>
                        <a:rPr b="0" lang="en-US" sz="1800" u="none" cap="none" strike="noStrike">
                          <a:solidFill>
                            <a:srgbClr val="00B0F0"/>
                          </a:solidFill>
                        </a:rPr>
                        <a:t>0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b="0" lang="en-US" sz="1800" u="none" cap="none" strike="noStrike">
                          <a:solidFill>
                            <a:schemeClr val="accent6"/>
                          </a:solidFill>
                        </a:rPr>
                        <a:t>64</a:t>
                      </a: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=2.131.4.64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255.255.255.252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35" name="Google Shape;335;p39"/>
          <p:cNvSpPr/>
          <p:nvPr/>
        </p:nvSpPr>
        <p:spPr>
          <a:xfrm>
            <a:off x="1724934" y="52800"/>
            <a:ext cx="173156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2.128.0.0/10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9"/>
          <p:cNvSpPr txBox="1"/>
          <p:nvPr/>
        </p:nvSpPr>
        <p:spPr>
          <a:xfrm>
            <a:off x="3896453" y="13186"/>
            <a:ext cx="59282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00000010.10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000000.000000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00.00000000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9"/>
          <p:cNvSpPr txBox="1"/>
          <p:nvPr/>
        </p:nvSpPr>
        <p:spPr>
          <a:xfrm>
            <a:off x="2292715" y="553794"/>
            <a:ext cx="76065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Net131072: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00000010.1000000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0.000000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00.00000000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" name="Google Shape;338;p39"/>
          <p:cNvCxnSpPr/>
          <p:nvPr/>
        </p:nvCxnSpPr>
        <p:spPr>
          <a:xfrm>
            <a:off x="6677891" y="474851"/>
            <a:ext cx="0" cy="595745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39"/>
          <p:cNvSpPr txBox="1"/>
          <p:nvPr/>
        </p:nvSpPr>
        <p:spPr>
          <a:xfrm>
            <a:off x="2292715" y="997527"/>
            <a:ext cx="76049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Net65536:  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00000010.10000000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.000000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00.00000000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39"/>
          <p:cNvCxnSpPr/>
          <p:nvPr/>
        </p:nvCxnSpPr>
        <p:spPr>
          <a:xfrm>
            <a:off x="6874421" y="930486"/>
            <a:ext cx="0" cy="595745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p39"/>
          <p:cNvSpPr txBox="1"/>
          <p:nvPr/>
        </p:nvSpPr>
        <p:spPr>
          <a:xfrm>
            <a:off x="2292715" y="1434700"/>
            <a:ext cx="76033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Net1024:    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00000010.10000000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000000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00.00000000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39"/>
          <p:cNvCxnSpPr/>
          <p:nvPr/>
        </p:nvCxnSpPr>
        <p:spPr>
          <a:xfrm>
            <a:off x="7968929" y="1314475"/>
            <a:ext cx="0" cy="595745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39"/>
          <p:cNvSpPr txBox="1"/>
          <p:nvPr/>
        </p:nvSpPr>
        <p:spPr>
          <a:xfrm>
            <a:off x="2292714" y="1835200"/>
            <a:ext cx="777167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Net64:        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00000010.10000000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00000000.00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39"/>
          <p:cNvCxnSpPr/>
          <p:nvPr/>
        </p:nvCxnSpPr>
        <p:spPr>
          <a:xfrm>
            <a:off x="8717074" y="1740449"/>
            <a:ext cx="0" cy="595745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5" name="Google Shape;345;p39"/>
          <p:cNvSpPr txBox="1"/>
          <p:nvPr/>
        </p:nvSpPr>
        <p:spPr>
          <a:xfrm>
            <a:off x="2299129" y="2225589"/>
            <a:ext cx="75985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Net4:          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00000010.10000000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00000000.000000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9"/>
          <p:cNvCxnSpPr/>
          <p:nvPr/>
        </p:nvCxnSpPr>
        <p:spPr>
          <a:xfrm>
            <a:off x="9409801" y="2158548"/>
            <a:ext cx="0" cy="595745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"/>
          <p:cNvSpPr txBox="1"/>
          <p:nvPr>
            <p:ph type="title"/>
          </p:nvPr>
        </p:nvSpPr>
        <p:spPr>
          <a:xfrm>
            <a:off x="1346360" y="1665470"/>
            <a:ext cx="10018800" cy="38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The End</a:t>
            </a:r>
            <a:endParaRPr/>
          </a:p>
        </p:txBody>
      </p:sp>
      <p:pic>
        <p:nvPicPr>
          <p:cNvPr id="352" name="Google Shape;35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