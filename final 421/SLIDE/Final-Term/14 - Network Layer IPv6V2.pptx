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embeddedFontLst>
    <p:embeddedFont>
      <p:font typeface="Calibri" panose="020F0502020204030204" pitchFamily="34" charset="0"/>
      <p:regular r:id="rId34"/>
      <p:bold r:id="rId35"/>
      <p:italic r:id="rId36"/>
      <p:boldItalic r:id="rId37"/>
    </p:embeddedFont>
    <p:embeddedFont>
      <p:font typeface="Corbel" panose="020B0503020204020204" pitchFamily="34" charset="0"/>
      <p:regular r:id="rId38"/>
      <p:bold r:id="rId39"/>
      <p:italic r:id="rId40"/>
      <p:boldItalic r:id="rId41"/>
    </p:embeddedFont>
    <p:embeddedFont>
      <p:font typeface="Helvetica Neue" panose="020B0604020202020204" charset="0"/>
      <p:regular r:id="rId42"/>
      <p:bold r:id="rId43"/>
      <p:italic r:id="rId44"/>
      <p:boldItalic r:id="rId45"/>
    </p:embeddedFont>
    <p:embeddedFont>
      <p:font typeface="Tahoma" panose="020B0604030504040204" pitchFamily="34" charset="0"/>
      <p:regular r:id="rId46"/>
      <p:bold r:id="rId47"/>
    </p:embeddedFont>
    <p:embeddedFont>
      <p:font typeface="Times" panose="02020603050405020304" pitchFamily="18" charset="0"/>
      <p:regular r:id="rId48"/>
      <p:bold r:id="rId49"/>
      <p:italic r:id="rId50"/>
      <p:bold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hAd5+7yUuxWo8OnrYmjPWS7UHn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50" Type="http://schemas.openxmlformats.org/officeDocument/2006/relationships/font" Target="fonts/font17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52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font" Target="fonts/font15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1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20" Type="http://schemas.openxmlformats.org/officeDocument/2006/relationships/slide" Target="slides/slide19.xml"/><Relationship Id="rId41" Type="http://schemas.openxmlformats.org/officeDocument/2006/relationships/font" Target="fonts/font8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8" name="Google Shape;1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5" name="Google Shape;15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0" name="Google Shape;170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7" name="Google Shape;18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6" name="Google Shape;19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9588" y="631825"/>
            <a:ext cx="3078162" cy="17319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p11:notes"/>
          <p:cNvSpPr txBox="1">
            <a:spLocks noGrp="1"/>
          </p:cNvSpPr>
          <p:nvPr>
            <p:ph type="body" idx="1"/>
          </p:nvPr>
        </p:nvSpPr>
        <p:spPr>
          <a:xfrm>
            <a:off x="455613" y="2513013"/>
            <a:ext cx="5946775" cy="5483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925" tIns="42950" rIns="85925" bIns="429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5" name="Google Shape;245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2" name="Google Shape;25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1" name="Google Shape;26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0" name="Google Shape;31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7" name="Google Shape;31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4" name="Google Shape;32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2" name="Google Shape;33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1" name="Google Shape;34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9" name="Google Shape;34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7" name="Google Shape;35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5" name="Google Shape;36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2" name="Google Shape;37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0" name="Google Shape;380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8" name="Google Shape;388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6" name="Google Shape;39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3" name="Google Shape;403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58:notes"/>
          <p:cNvSpPr txBox="1"/>
          <p:nvPr/>
        </p:nvSpPr>
        <p:spPr>
          <a:xfrm>
            <a:off x="919163" y="685800"/>
            <a:ext cx="5018087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58:notes"/>
          <p:cNvSpPr txBox="1">
            <a:spLocks noGrp="1"/>
          </p:cNvSpPr>
          <p:nvPr>
            <p:ph type="body" idx="1"/>
          </p:nvPr>
        </p:nvSpPr>
        <p:spPr>
          <a:xfrm>
            <a:off x="915988" y="4343400"/>
            <a:ext cx="5026025" cy="4119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IETF Transition mechanisms come under V6ops charter (was NGTrans working group until feb03)‏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http://www.ietf.org/html.charters/v6ops-charter.html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This should be a big topic, but I keep shortening it: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Summary is: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IPv6 traffic generally has to traverse IPv4 world or talk to IPv4 devices.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options: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Encapsulate it in IPv4 packets and route between two known end points.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Use tunnels such as 6to4 or Teredo for endpoints OR use compatible addresses OR mapped addresses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RFC1933 </a:t>
            </a:r>
            <a:r>
              <a:rPr lang="en-US" sz="1000">
                <a:latin typeface="Courier New"/>
                <a:ea typeface="Courier New"/>
                <a:cs typeface="Courier New"/>
                <a:sym typeface="Courier New"/>
              </a:rPr>
              <a:t>Transition Mechanisms for IPv6 Hosts and Routers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Rfc2766 NAT-pt </a:t>
            </a:r>
            <a:r>
              <a:rPr lang="en-US" sz="1000">
                <a:latin typeface="Courier New"/>
                <a:ea typeface="Courier New"/>
                <a:cs typeface="Courier New"/>
                <a:sym typeface="Courier New"/>
              </a:rPr>
              <a:t>Network Address Translation - Protocol Translation (NAT-PT)‏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r>
              <a:rPr lang="en-US" sz="1000">
                <a:latin typeface="Courier New"/>
                <a:ea typeface="Courier New"/>
                <a:cs typeface="Courier New"/>
                <a:sym typeface="Courier New"/>
              </a:rPr>
              <a:t>NOTE: [should make this a slide]: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r>
              <a:rPr lang="en-US" sz="1000">
                <a:latin typeface="Times"/>
                <a:ea typeface="Times"/>
                <a:cs typeface="Times"/>
                <a:sym typeface="Times"/>
              </a:rPr>
              <a:t>Dual stack node (host and router) does not mean having both IPv4 and IPv6 applications.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r>
              <a:rPr lang="en-US" sz="1000">
                <a:latin typeface="Times"/>
                <a:ea typeface="Times"/>
                <a:cs typeface="Times"/>
                <a:sym typeface="Times"/>
              </a:rPr>
              <a:t>DNS name resolution doesn’t specify (IPv4/v6) version of peer application!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r>
              <a:rPr lang="en-US" sz="1000">
                <a:latin typeface="Times"/>
                <a:ea typeface="Times"/>
                <a:cs typeface="Times"/>
                <a:sym typeface="Times"/>
              </a:rPr>
              <a:t>Dns lookup of ip6streamer.example.org  may return IPv4 OR IPv6 OR BOTH v4&amp;v6 addresses.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r>
              <a:rPr lang="en-US" sz="1000">
                <a:latin typeface="Times"/>
                <a:ea typeface="Times"/>
                <a:cs typeface="Times"/>
                <a:sym typeface="Times"/>
              </a:rPr>
              <a:t>Can have various versions of an application. [e.g.: ssh tries IPv6 first and then if that times out drops back to IPv4).</a:t>
            </a:r>
            <a:endParaRPr/>
          </a:p>
        </p:txBody>
      </p:sp>
      <p:sp>
        <p:nvSpPr>
          <p:cNvPr id="411" name="Google Shape;411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8" name="Google Shape;418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8" name="Google Shape;428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8" name="Google Shape;448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8" name="Google Shape;458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8" name="Google Shape;468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6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68"/>
            <p:cNvSpPr/>
            <p:nvPr/>
          </p:nvSpPr>
          <p:spPr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l" t="t" r="r" b="b"/>
              <a:pathLst>
                <a:path w="670" h="1753" extrusionOk="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68"/>
            <p:cNvSpPr/>
            <p:nvPr/>
          </p:nvSpPr>
          <p:spPr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l" t="t" r="r" b="b"/>
              <a:pathLst>
                <a:path w="652" h="1684" extrusionOk="0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68"/>
            <p:cNvSpPr/>
            <p:nvPr/>
          </p:nvSpPr>
          <p:spPr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l" t="t" r="r" b="b"/>
              <a:pathLst>
                <a:path w="1697" h="2693" extrusionOk="0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68"/>
            <p:cNvSpPr/>
            <p:nvPr/>
          </p:nvSpPr>
          <p:spPr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l" t="t" r="r" b="b"/>
              <a:pathLst>
                <a:path w="2099" h="2624" extrusionOk="0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68"/>
            <p:cNvSpPr/>
            <p:nvPr/>
          </p:nvSpPr>
          <p:spPr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l" t="t" r="r" b="b"/>
              <a:pathLst>
                <a:path w="2883" h="2627" extrusionOk="0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68"/>
            <p:cNvSpPr/>
            <p:nvPr/>
          </p:nvSpPr>
          <p:spPr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l" t="t" r="r" b="b"/>
              <a:pathLst>
                <a:path w="2258" h="2696" extrusionOk="0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0" name="Google Shape;30;p68"/>
          <p:cNvSpPr txBox="1"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8"/>
          <p:cNvSpPr txBox="1"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68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8"/>
          <p:cNvSpPr txBox="1">
            <a:spLocks noGrp="1"/>
          </p:cNvSpPr>
          <p:nvPr>
            <p:ph type="ftr" idx="11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8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9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9"/>
          <p:cNvSpPr txBox="1"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9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9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9"/>
          <p:cNvSpPr txBox="1">
            <a:spLocks noGrp="1"/>
          </p:cNvSpPr>
          <p:nvPr>
            <p:ph type="sldNum" idx="12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1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1"/>
          <p:cNvSpPr txBox="1">
            <a:spLocks noGrp="1"/>
          </p:cNvSpPr>
          <p:nvPr>
            <p:ph type="body" idx="1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marL="914400" lvl="1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marL="1371600" lvl="2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marL="1828800" lvl="3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marL="2286000" lvl="4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marL="2743200" lvl="5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marL="3200400" lvl="6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marL="3657600" lvl="7" indent="-33909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marL="4114800" lvl="8" indent="-33909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>
            <a:endParaRPr/>
          </a:p>
        </p:txBody>
      </p:sp>
      <p:sp>
        <p:nvSpPr>
          <p:cNvPr id="44" name="Google Shape;44;p71"/>
          <p:cNvSpPr txBox="1">
            <a:spLocks noGrp="1"/>
          </p:cNvSpPr>
          <p:nvPr>
            <p:ph type="body" idx="2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marL="914400" lvl="1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marL="1371600" lvl="2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marL="1828800" lvl="3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marL="2286000" lvl="4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marL="2743200" lvl="5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marL="3200400" lvl="6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marL="3657600" lvl="7" indent="-33909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marL="4114800" lvl="8" indent="-33909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>
            <a:endParaRPr/>
          </a:p>
        </p:txBody>
      </p:sp>
      <p:sp>
        <p:nvSpPr>
          <p:cNvPr id="45" name="Google Shape;45;p71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1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1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0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0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0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0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2"/>
          <p:cNvSpPr txBox="1">
            <a:spLocks noGrp="1"/>
          </p:cNvSpPr>
          <p:nvPr>
            <p:ph type="title"/>
          </p:nvPr>
        </p:nvSpPr>
        <p:spPr>
          <a:xfrm>
            <a:off x="203200" y="152400"/>
            <a:ext cx="11785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2"/>
          <p:cNvSpPr txBox="1">
            <a:spLocks noGrp="1"/>
          </p:cNvSpPr>
          <p:nvPr>
            <p:ph type="body" idx="1"/>
          </p:nvPr>
        </p:nvSpPr>
        <p:spPr>
          <a:xfrm>
            <a:off x="203200" y="1371600"/>
            <a:ext cx="57912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72"/>
          <p:cNvSpPr txBox="1">
            <a:spLocks noGrp="1"/>
          </p:cNvSpPr>
          <p:nvPr>
            <p:ph type="body" idx="2"/>
          </p:nvPr>
        </p:nvSpPr>
        <p:spPr>
          <a:xfrm>
            <a:off x="6197600" y="1371600"/>
            <a:ext cx="57912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3"/>
          <p:cNvSpPr txBox="1"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sz="40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3"/>
          <p:cNvSpPr txBox="1"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73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73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73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4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74"/>
          <p:cNvSpPr txBox="1"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sz="2800" b="0">
                <a:solidFill>
                  <a:srgbClr val="1186C3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sz="1600" b="1"/>
            </a:lvl9pPr>
          </a:lstStyle>
          <a:p>
            <a:endParaRPr/>
          </a:p>
        </p:txBody>
      </p:sp>
      <p:sp>
        <p:nvSpPr>
          <p:cNvPr id="66" name="Google Shape;66;p74"/>
          <p:cNvSpPr txBox="1">
            <a:spLocks noGrp="1"/>
          </p:cNvSpPr>
          <p:nvPr>
            <p:ph type="body" idx="2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marL="914400" lvl="1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marL="1371600" lvl="2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marL="1828800" lvl="3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marL="2286000" lvl="4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marL="2743200" lvl="5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marL="3200400" lvl="6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marL="3657600" lvl="7" indent="-33909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marL="4114800" lvl="8" indent="-33909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>
            <a:endParaRPr/>
          </a:p>
        </p:txBody>
      </p:sp>
      <p:sp>
        <p:nvSpPr>
          <p:cNvPr id="67" name="Google Shape;67;p74"/>
          <p:cNvSpPr txBox="1">
            <a:spLocks noGrp="1"/>
          </p:cNvSpPr>
          <p:nvPr>
            <p:ph type="body" idx="3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sz="2800" b="0">
                <a:solidFill>
                  <a:srgbClr val="1186C3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sz="1600" b="1"/>
            </a:lvl9pPr>
          </a:lstStyle>
          <a:p>
            <a:endParaRPr/>
          </a:p>
        </p:txBody>
      </p:sp>
      <p:sp>
        <p:nvSpPr>
          <p:cNvPr id="68" name="Google Shape;68;p74"/>
          <p:cNvSpPr txBox="1">
            <a:spLocks noGrp="1"/>
          </p:cNvSpPr>
          <p:nvPr>
            <p:ph type="body" idx="4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marL="914400" lvl="1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marL="1371600" lvl="2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marL="1828800" lvl="3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marL="2286000" lvl="4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marL="2743200" lvl="5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marL="3200400" lvl="6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marL="3657600" lvl="7" indent="-33909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marL="4114800" lvl="8" indent="-33909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>
            <a:endParaRPr/>
          </a:p>
        </p:txBody>
      </p:sp>
      <p:sp>
        <p:nvSpPr>
          <p:cNvPr id="69" name="Google Shape;69;p74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74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74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5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75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75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6"/>
          <p:cNvSpPr txBox="1"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76"/>
          <p:cNvSpPr txBox="1">
            <a:spLocks noGrp="1"/>
          </p:cNvSpPr>
          <p:nvPr>
            <p:ph type="body" idx="1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4127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marL="1371600" lvl="2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marL="1828800" lvl="3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marL="2286000" lvl="4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marL="2743200" lvl="5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marL="3200400" lvl="6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marL="3657600" lvl="7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marL="4114800" lvl="8" indent="-35750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>
            <a:endParaRPr/>
          </a:p>
        </p:txBody>
      </p:sp>
      <p:sp>
        <p:nvSpPr>
          <p:cNvPr id="79" name="Google Shape;79;p76"/>
          <p:cNvSpPr txBox="1">
            <a:spLocks noGrp="1"/>
          </p:cNvSpPr>
          <p:nvPr>
            <p:ph type="body" idx="2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>
            <a:endParaRPr/>
          </a:p>
        </p:txBody>
      </p:sp>
      <p:sp>
        <p:nvSpPr>
          <p:cNvPr id="80" name="Google Shape;80;p76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76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76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7"/>
          <p:cNvSpPr txBox="1"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sz="28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77"/>
          <p:cNvSpPr>
            <a:spLocks noGrp="1"/>
          </p:cNvSpPr>
          <p:nvPr>
            <p:ph type="pic" idx="2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77"/>
          <p:cNvSpPr txBox="1">
            <a:spLocks noGrp="1"/>
          </p:cNvSpPr>
          <p:nvPr>
            <p:ph type="body" idx="1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>
            <a:endParaRPr/>
          </a:p>
        </p:txBody>
      </p:sp>
      <p:sp>
        <p:nvSpPr>
          <p:cNvPr id="87" name="Google Shape;87;p77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77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77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8"/>
          <p:cNvSpPr txBox="1"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78"/>
          <p:cNvSpPr>
            <a:spLocks noGrp="1"/>
          </p:cNvSpPr>
          <p:nvPr>
            <p:ph type="pic" idx="2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78"/>
          <p:cNvSpPr txBox="1">
            <a:spLocks noGrp="1"/>
          </p:cNvSpPr>
          <p:nvPr>
            <p:ph type="body" idx="1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>
            <a:endParaRPr/>
          </a:p>
        </p:txBody>
      </p:sp>
      <p:sp>
        <p:nvSpPr>
          <p:cNvPr id="94" name="Google Shape;94;p78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78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78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9"/>
          <p:cNvSpPr txBox="1"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79"/>
          <p:cNvSpPr txBox="1"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0" name="Google Shape;100;p79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79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79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0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80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80"/>
          <p:cNvSpPr txBox="1"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80"/>
          <p:cNvSpPr txBox="1">
            <a:spLocks noGrp="1"/>
          </p:cNvSpPr>
          <p:nvPr>
            <p:ph type="body" idx="1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80"/>
          <p:cNvSpPr txBox="1">
            <a:spLocks noGrp="1"/>
          </p:cNvSpPr>
          <p:nvPr>
            <p:ph type="body" idx="2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80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80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80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1"/>
          <p:cNvSpPr txBox="1"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81"/>
          <p:cNvSpPr txBox="1"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81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81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81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2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82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82"/>
          <p:cNvSpPr txBox="1"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82"/>
          <p:cNvSpPr txBox="1">
            <a:spLocks noGrp="1"/>
          </p:cNvSpPr>
          <p:nvPr>
            <p:ph type="body" idx="1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sz="2400" b="0" cap="none">
                <a:solidFill>
                  <a:schemeClr val="dk1"/>
                </a:solidFill>
              </a:defRPr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82"/>
          <p:cNvSpPr txBox="1">
            <a:spLocks noGrp="1"/>
          </p:cNvSpPr>
          <p:nvPr>
            <p:ph type="body" idx="2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4" name="Google Shape;124;p82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82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82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3"/>
          <p:cNvSpPr txBox="1"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83"/>
          <p:cNvSpPr txBox="1">
            <a:spLocks noGrp="1"/>
          </p:cNvSpPr>
          <p:nvPr>
            <p:ph type="body" idx="1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sz="2800" b="0" cap="none">
                <a:solidFill>
                  <a:schemeClr val="dk1"/>
                </a:solidFill>
              </a:defRPr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83"/>
          <p:cNvSpPr txBox="1">
            <a:spLocks noGrp="1"/>
          </p:cNvSpPr>
          <p:nvPr>
            <p:ph type="body" idx="2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31" name="Google Shape;131;p83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83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83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4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84"/>
          <p:cNvSpPr txBox="1">
            <a:spLocks noGrp="1"/>
          </p:cNvSpPr>
          <p:nvPr>
            <p:ph type="body" idx="1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84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84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84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5"/>
          <p:cNvSpPr txBox="1">
            <a:spLocks noGrp="1"/>
          </p:cNvSpPr>
          <p:nvPr>
            <p:ph type="title"/>
          </p:nvPr>
        </p:nvSpPr>
        <p:spPr>
          <a:xfrm rot="5400000">
            <a:off x="8065140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85"/>
          <p:cNvSpPr txBox="1">
            <a:spLocks noGrp="1"/>
          </p:cNvSpPr>
          <p:nvPr>
            <p:ph type="body" idx="1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85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85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85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0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67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67"/>
            <p:cNvSpPr/>
            <p:nvPr/>
          </p:nvSpPr>
          <p:spPr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l" t="t" r="r" b="b"/>
              <a:pathLst>
                <a:path w="707" h="3357" extrusionOk="0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67"/>
            <p:cNvSpPr/>
            <p:nvPr/>
          </p:nvSpPr>
          <p:spPr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l" t="t" r="r" b="b"/>
              <a:pathLst>
                <a:path w="704" h="3324" extrusionOk="0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67"/>
            <p:cNvSpPr/>
            <p:nvPr/>
          </p:nvSpPr>
          <p:spPr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l" t="t" r="r" b="b"/>
              <a:pathLst>
                <a:path w="774" h="1020" extrusionOk="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67"/>
            <p:cNvSpPr/>
            <p:nvPr/>
          </p:nvSpPr>
          <p:spPr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l" t="t" r="r" b="b"/>
              <a:pathLst>
                <a:path w="942" h="987" extrusionOk="0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67"/>
            <p:cNvSpPr/>
            <p:nvPr/>
          </p:nvSpPr>
          <p:spPr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l" t="t" r="r" b="b"/>
              <a:pathLst>
                <a:path w="1342" h="990" extrusionOk="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67"/>
            <p:cNvSpPr/>
            <p:nvPr/>
          </p:nvSpPr>
          <p:spPr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l" t="t" r="r" b="b"/>
              <a:pathLst>
                <a:path w="1068" h="1020" extrusionOk="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67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sz="4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67"/>
          <p:cNvSpPr txBox="1"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44958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marR="0" lvl="1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marR="0" lvl="2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marR="0" lvl="3" indent="-37591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marR="0" lvl="4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marR="0" lvl="5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57504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9" name="Google Shape;19;p67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20" name="Google Shape;20;p67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21" name="Google Shape;21;p67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"/>
          <p:cNvSpPr txBox="1"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Network Layer:</a:t>
            </a:r>
            <a:br>
              <a:rPr lang="en-US"/>
            </a:br>
            <a:r>
              <a:rPr lang="en-US" sz="4000">
                <a:latin typeface="Tahoma"/>
                <a:ea typeface="Tahoma"/>
                <a:cs typeface="Tahoma"/>
                <a:sym typeface="Tahoma"/>
              </a:rPr>
              <a:t>Internet Protocol, Version 6 (IPv6)</a:t>
            </a:r>
            <a:endParaRPr sz="4000"/>
          </a:p>
        </p:txBody>
      </p:sp>
      <p:sp>
        <p:nvSpPr>
          <p:cNvPr id="151" name="Google Shape;151;p1"/>
          <p:cNvSpPr txBox="1"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14 | CSE421 – Computer Networks</a:t>
            </a:r>
            <a:endParaRPr/>
          </a:p>
          <a:p>
            <a:pPr marL="0" lvl="0" indent="0" algn="r" rtl="0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  <a:p>
            <a:pPr marL="0" lvl="0" indent="0" algn="r" rtl="0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949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IPv6</a:t>
            </a:r>
            <a:endParaRPr/>
          </a:p>
        </p:txBody>
      </p:sp>
      <p:sp>
        <p:nvSpPr>
          <p:cNvPr id="158" name="Google Shape;158;p2"/>
          <p:cNvSpPr txBox="1">
            <a:spLocks noGrp="1"/>
          </p:cNvSpPr>
          <p:nvPr>
            <p:ph type="body" idx="1"/>
          </p:nvPr>
        </p:nvSpPr>
        <p:spPr>
          <a:xfrm>
            <a:off x="1484310" y="1854559"/>
            <a:ext cx="10018713" cy="3936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946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solidFill>
                  <a:srgbClr val="990099"/>
                </a:solidFill>
              </a:rPr>
              <a:t>Initial motivation:</a:t>
            </a:r>
            <a:r>
              <a:rPr lang="en-US" sz="3200" i="1"/>
              <a:t>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32-bit address space soon to be completely allocated. 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None/>
            </a:pPr>
            <a:endParaRPr sz="3200"/>
          </a:p>
          <a:p>
            <a:pPr marL="285750" lvl="0" indent="-294640" algn="l" rtl="0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solidFill>
                  <a:srgbClr val="990099"/>
                </a:solidFill>
              </a:rPr>
              <a:t>Additional motivation: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Simpler header format helps speed processing/forwarding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header changes to facilitate QoS </a:t>
            </a:r>
            <a:endParaRPr/>
          </a:p>
          <a:p>
            <a:pPr marL="285750" lvl="0" indent="0" algn="l" rtl="0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None/>
            </a:pPr>
            <a:endParaRPr sz="3200"/>
          </a:p>
        </p:txBody>
      </p:sp>
      <p:sp>
        <p:nvSpPr>
          <p:cNvPr id="159" name="Google Shape;159;p2"/>
          <p:cNvSpPr txBox="1">
            <a:spLocks noGrp="1"/>
          </p:cNvSpPr>
          <p:nvPr>
            <p:ph type="sldNum" idx="12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833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Reasons for using IPv6</a:t>
            </a:r>
            <a:endParaRPr/>
          </a:p>
        </p:txBody>
      </p:sp>
      <p:sp>
        <p:nvSpPr>
          <p:cNvPr id="165" name="Google Shape;165;p5"/>
          <p:cNvSpPr txBox="1">
            <a:spLocks noGrp="1"/>
          </p:cNvSpPr>
          <p:nvPr>
            <p:ph type="body" idx="1"/>
          </p:nvPr>
        </p:nvSpPr>
        <p:spPr>
          <a:xfrm>
            <a:off x="1484310" y="1661375"/>
            <a:ext cx="10018713" cy="412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lang="en-US" sz="3200">
                <a:solidFill>
                  <a:srgbClr val="7030A0"/>
                </a:solidFill>
              </a:rPr>
              <a:t>Address Availability: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952"/>
              </a:spcBef>
              <a:spcAft>
                <a:spcPts val="0"/>
              </a:spcAft>
              <a:buSzPct val="145000"/>
              <a:buChar char="•"/>
            </a:pPr>
            <a:r>
              <a:rPr lang="en-US" sz="3200">
                <a:solidFill>
                  <a:srgbClr val="C00000"/>
                </a:solidFill>
              </a:rPr>
              <a:t>IPv4:      </a:t>
            </a:r>
            <a:r>
              <a:rPr lang="en-US" sz="3200"/>
              <a:t>4 octets   -  32 bits</a:t>
            </a:r>
            <a:endParaRPr/>
          </a:p>
          <a:p>
            <a:pPr marL="1200150" lvl="2" indent="-285842" algn="l" rtl="0">
              <a:lnSpc>
                <a:spcPct val="100000"/>
              </a:lnSpc>
              <a:spcBef>
                <a:spcPts val="919"/>
              </a:spcBef>
              <a:spcAft>
                <a:spcPts val="0"/>
              </a:spcAft>
              <a:buSzPct val="145000"/>
              <a:buChar char="•"/>
            </a:pPr>
            <a:r>
              <a:rPr lang="en-US" sz="2900"/>
              <a:t>2^32   </a:t>
            </a:r>
            <a:r>
              <a:rPr lang="en-US" sz="2900">
                <a:solidFill>
                  <a:srgbClr val="C00000"/>
                </a:solidFill>
              </a:rPr>
              <a:t>or   4,294,467,295   </a:t>
            </a:r>
            <a:r>
              <a:rPr lang="en-US" sz="2900"/>
              <a:t>IP Addresses.</a:t>
            </a:r>
            <a:endParaRPr/>
          </a:p>
          <a:p>
            <a:pPr marL="1200150" lvl="2" indent="-230044" algn="l" rtl="0">
              <a:lnSpc>
                <a:spcPct val="100000"/>
              </a:lnSpc>
              <a:spcBef>
                <a:spcPts val="721"/>
              </a:spcBef>
              <a:spcAft>
                <a:spcPts val="0"/>
              </a:spcAft>
              <a:buSzPct val="145000"/>
              <a:buNone/>
            </a:pPr>
            <a:endParaRPr sz="1100"/>
          </a:p>
          <a:p>
            <a:pPr marL="742950" lvl="1" indent="-123697" algn="l" rtl="0">
              <a:lnSpc>
                <a:spcPct val="100000"/>
              </a:lnSpc>
              <a:spcBef>
                <a:spcPts val="952"/>
              </a:spcBef>
              <a:spcAft>
                <a:spcPts val="0"/>
              </a:spcAft>
              <a:buSzPct val="145000"/>
              <a:buNone/>
            </a:pPr>
            <a:endParaRPr sz="3200">
              <a:solidFill>
                <a:srgbClr val="C00000"/>
              </a:solidFill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952"/>
              </a:spcBef>
              <a:spcAft>
                <a:spcPts val="0"/>
              </a:spcAft>
              <a:buSzPct val="145000"/>
              <a:buChar char="•"/>
            </a:pPr>
            <a:r>
              <a:rPr lang="en-US" sz="3200">
                <a:solidFill>
                  <a:srgbClr val="C00000"/>
                </a:solidFill>
              </a:rPr>
              <a:t>IPv6:</a:t>
            </a:r>
            <a:r>
              <a:rPr lang="en-US" sz="3200"/>
              <a:t>    16 octets   -   128 bits</a:t>
            </a:r>
            <a:endParaRPr/>
          </a:p>
          <a:p>
            <a:pPr marL="1200150" lvl="2" indent="-285842" algn="l" rtl="0">
              <a:lnSpc>
                <a:spcPct val="100000"/>
              </a:lnSpc>
              <a:spcBef>
                <a:spcPts val="919"/>
              </a:spcBef>
              <a:spcAft>
                <a:spcPts val="0"/>
              </a:spcAft>
              <a:buSzPct val="145000"/>
              <a:buChar char="•"/>
            </a:pPr>
            <a:r>
              <a:rPr lang="en-US" sz="2900"/>
              <a:t>3.4 x 10^38  or</a:t>
            </a:r>
            <a:endParaRPr sz="2900">
              <a:solidFill>
                <a:srgbClr val="FFFF00"/>
              </a:solidFill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952"/>
              </a:spcBef>
              <a:spcAft>
                <a:spcPts val="0"/>
              </a:spcAft>
              <a:buSzPct val="145000"/>
              <a:buFont typeface="Corbel"/>
              <a:buNone/>
            </a:pPr>
            <a:r>
              <a:rPr lang="en-US" sz="3200">
                <a:solidFill>
                  <a:srgbClr val="C00000"/>
                </a:solidFill>
              </a:rPr>
              <a:t>340,282,366,920,938,463,463,374,607,431,768,211,456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952"/>
              </a:spcBef>
              <a:spcAft>
                <a:spcPts val="0"/>
              </a:spcAft>
              <a:buSzPct val="145000"/>
              <a:buFont typeface="Corbel"/>
              <a:buNone/>
            </a:pPr>
            <a:r>
              <a:rPr lang="en-US" sz="3200"/>
              <a:t>			 (340 undecillion)</a:t>
            </a:r>
            <a:r>
              <a:rPr lang="en-US" sz="3200">
                <a:solidFill>
                  <a:srgbClr val="FFFF00"/>
                </a:solidFill>
              </a:rPr>
              <a:t> </a:t>
            </a:r>
            <a:r>
              <a:rPr lang="en-US" sz="3200"/>
              <a:t>IP Addresses.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721"/>
              </a:spcBef>
              <a:spcAft>
                <a:spcPts val="0"/>
              </a:spcAft>
              <a:buSzPct val="145000"/>
              <a:buFont typeface="Corbel"/>
              <a:buNone/>
            </a:pPr>
            <a:endParaRPr sz="1100"/>
          </a:p>
          <a:p>
            <a:pPr marL="742950" lvl="1" indent="-285750" algn="l" rtl="0">
              <a:lnSpc>
                <a:spcPct val="100000"/>
              </a:lnSpc>
              <a:spcBef>
                <a:spcPts val="952"/>
              </a:spcBef>
              <a:spcAft>
                <a:spcPts val="0"/>
              </a:spcAft>
              <a:buSzPct val="145000"/>
              <a:buChar char="•"/>
            </a:pPr>
            <a:r>
              <a:rPr lang="en-US" sz="3200" i="1">
                <a:solidFill>
                  <a:srgbClr val="C00000"/>
                </a:solidFill>
              </a:rPr>
              <a:t>Every atom of every person on Earth </a:t>
            </a:r>
            <a:r>
              <a:rPr lang="en-US" sz="3200" i="1"/>
              <a:t>could be assigned </a:t>
            </a:r>
            <a:r>
              <a:rPr lang="en-US" sz="3200" i="1">
                <a:solidFill>
                  <a:srgbClr val="990099"/>
                </a:solidFill>
              </a:rPr>
              <a:t>7</a:t>
            </a:r>
            <a:r>
              <a:rPr lang="en-US" sz="3200" i="1">
                <a:solidFill>
                  <a:srgbClr val="FFFF00"/>
                </a:solidFill>
              </a:rPr>
              <a:t> </a:t>
            </a:r>
            <a:r>
              <a:rPr lang="en-US" sz="3200" i="1">
                <a:solidFill>
                  <a:srgbClr val="990099"/>
                </a:solidFill>
              </a:rPr>
              <a:t>unique addresses with </a:t>
            </a:r>
            <a:r>
              <a:rPr lang="en-US" sz="3200" i="1"/>
              <a:t>some to spare</a:t>
            </a:r>
            <a:r>
              <a:rPr lang="en-US" sz="3200" i="1">
                <a:solidFill>
                  <a:srgbClr val="66FF66"/>
                </a:solidFill>
              </a:rPr>
              <a:t> </a:t>
            </a:r>
            <a:r>
              <a:rPr lang="en-US" sz="3200" i="1"/>
              <a:t>(assuming</a:t>
            </a:r>
            <a:br>
              <a:rPr lang="en-US" sz="2900" i="1"/>
            </a:br>
            <a:r>
              <a:rPr lang="en-US" sz="2900" i="1"/>
              <a:t>7 × 10</a:t>
            </a:r>
            <a:r>
              <a:rPr lang="en-US" sz="2900" i="1" baseline="30000"/>
              <a:t>27</a:t>
            </a:r>
            <a:r>
              <a:rPr lang="en-US" sz="2900" i="1"/>
              <a:t> atoms per human x 6.5 Billion)</a:t>
            </a:r>
            <a:r>
              <a:rPr lang="en-US" sz="2900"/>
              <a:t>.</a:t>
            </a:r>
            <a:endParaRPr sz="2900" i="1"/>
          </a:p>
          <a:p>
            <a:pPr marL="0" lvl="0" indent="0" algn="l" rtl="0">
              <a:lnSpc>
                <a:spcPct val="100000"/>
              </a:lnSpc>
              <a:spcBef>
                <a:spcPts val="864"/>
              </a:spcBef>
              <a:spcAft>
                <a:spcPts val="0"/>
              </a:spcAft>
              <a:buSzPct val="145000"/>
              <a:buNone/>
            </a:pPr>
            <a:endParaRPr/>
          </a:p>
        </p:txBody>
      </p:sp>
      <p:sp>
        <p:nvSpPr>
          <p:cNvPr id="166" name="Google Shape;166;p5"/>
          <p:cNvSpPr txBox="1">
            <a:spLocks noGrp="1"/>
          </p:cNvSpPr>
          <p:nvPr>
            <p:ph type="sldNum" idx="12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"/>
          <p:cNvSpPr txBox="1">
            <a:spLocks noGrp="1"/>
          </p:cNvSpPr>
          <p:nvPr>
            <p:ph type="title"/>
          </p:nvPr>
        </p:nvSpPr>
        <p:spPr>
          <a:xfrm>
            <a:off x="1484311" y="685801"/>
            <a:ext cx="10018713" cy="705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Reasons for Using IPv6 </a:t>
            </a:r>
            <a:endParaRPr/>
          </a:p>
        </p:txBody>
      </p:sp>
      <p:sp>
        <p:nvSpPr>
          <p:cNvPr id="173" name="Google Shape;173;p6"/>
          <p:cNvSpPr txBox="1">
            <a:spLocks noGrp="1"/>
          </p:cNvSpPr>
          <p:nvPr>
            <p:ph type="body" idx="1"/>
          </p:nvPr>
        </p:nvSpPr>
        <p:spPr>
          <a:xfrm>
            <a:off x="1484312" y="1648497"/>
            <a:ext cx="4895055" cy="4142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10"/>
              <a:buChar char="•"/>
            </a:pPr>
            <a:r>
              <a:rPr lang="en-US">
                <a:solidFill>
                  <a:srgbClr val="7030A0"/>
                </a:solidFill>
              </a:rPr>
              <a:t>IPv6 Features: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2320"/>
              <a:buChar char="•"/>
            </a:pPr>
            <a:r>
              <a:rPr lang="en-US"/>
              <a:t>fixed-length 40 byte header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2320"/>
              <a:buChar char="•"/>
            </a:pPr>
            <a:r>
              <a:rPr lang="en-US"/>
              <a:t>no fragmentation allowed</a:t>
            </a:r>
            <a:endParaRPr/>
          </a:p>
          <a:p>
            <a:pPr marL="457200" lvl="1" indent="0" algn="l" rtl="0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2320"/>
              <a:buNone/>
            </a:pPr>
            <a:endParaRPr i="1"/>
          </a:p>
          <a:p>
            <a:pPr marL="0" lvl="0" indent="0" algn="l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2610"/>
              <a:buNone/>
            </a:pPr>
            <a:endParaRPr/>
          </a:p>
        </p:txBody>
      </p:sp>
      <p:sp>
        <p:nvSpPr>
          <p:cNvPr id="174" name="Google Shape;174;p6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75" name="Google Shape;175;p6" descr="ips50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34750" y="3006144"/>
            <a:ext cx="4068763" cy="26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6" descr="ips51.jpg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6929805" y="1648497"/>
            <a:ext cx="3679564" cy="414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"/>
          <p:cNvSpPr txBox="1">
            <a:spLocks noGrp="1"/>
          </p:cNvSpPr>
          <p:nvPr>
            <p:ph type="title"/>
          </p:nvPr>
        </p:nvSpPr>
        <p:spPr>
          <a:xfrm>
            <a:off x="1832041" y="258512"/>
            <a:ext cx="10018713" cy="1130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IPv6 Datagram</a:t>
            </a:r>
            <a:endParaRPr/>
          </a:p>
        </p:txBody>
      </p:sp>
      <p:pic>
        <p:nvPicPr>
          <p:cNvPr id="182" name="Google Shape;182;p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395470" y="2060619"/>
            <a:ext cx="6722772" cy="3601792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3921"/>
              </a:srgbClr>
            </a:outerShdw>
          </a:effectLst>
        </p:spPr>
      </p:pic>
      <p:sp>
        <p:nvSpPr>
          <p:cNvPr id="183" name="Google Shape;183;p7"/>
          <p:cNvSpPr/>
          <p:nvPr/>
        </p:nvSpPr>
        <p:spPr>
          <a:xfrm>
            <a:off x="2395470" y="1388634"/>
            <a:ext cx="196137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40 Octets, 8 fields</a:t>
            </a:r>
            <a:endParaRPr sz="1800" b="0" i="0" u="none" strike="noStrike" cap="none">
              <a:solidFill>
                <a:schemeClr val="dk2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84" name="Google Shape;184;p7"/>
          <p:cNvSpPr txBox="1">
            <a:spLocks noGrp="1"/>
          </p:cNvSpPr>
          <p:nvPr>
            <p:ph type="sldNum" idx="12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"/>
          <p:cNvSpPr txBox="1">
            <a:spLocks noGrp="1"/>
          </p:cNvSpPr>
          <p:nvPr>
            <p:ph type="title"/>
          </p:nvPr>
        </p:nvSpPr>
        <p:spPr>
          <a:xfrm>
            <a:off x="1574462" y="467483"/>
            <a:ext cx="10018713" cy="756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Extension Headers</a:t>
            </a:r>
            <a:endParaRPr/>
          </a:p>
        </p:txBody>
      </p:sp>
      <p:pic>
        <p:nvPicPr>
          <p:cNvPr id="190" name="Google Shape;190;p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477938" y="1640156"/>
            <a:ext cx="4369468" cy="1006601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1960"/>
              </a:srgbClr>
            </a:outerShdw>
          </a:effectLst>
        </p:spPr>
      </p:pic>
      <p:sp>
        <p:nvSpPr>
          <p:cNvPr id="191" name="Google Shape;191;p9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92" name="Google Shape;192;p9" descr="http://www.cisco.com/en/US/technologies/tk648/tk872/images/technologies_white_paper0900aecd8054d37d-04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73806" y="1558345"/>
            <a:ext cx="5745769" cy="4209020"/>
          </a:xfrm>
          <a:prstGeom prst="rect">
            <a:avLst/>
          </a:prstGeom>
          <a:solidFill>
            <a:srgbClr val="ECECEC"/>
          </a:solidFill>
          <a:ln w="889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93" name="Google Shape;193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23072" y="2759222"/>
            <a:ext cx="4879200" cy="3008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"/>
          <p:cNvSpPr txBox="1">
            <a:spLocks noGrp="1"/>
          </p:cNvSpPr>
          <p:nvPr>
            <p:ph type="title"/>
          </p:nvPr>
        </p:nvSpPr>
        <p:spPr>
          <a:xfrm>
            <a:off x="1484311" y="685801"/>
            <a:ext cx="10018713" cy="795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Extension Headers</a:t>
            </a:r>
            <a:endParaRPr/>
          </a:p>
        </p:txBody>
      </p:sp>
      <p:sp>
        <p:nvSpPr>
          <p:cNvPr id="199" name="Google Shape;199;p10"/>
          <p:cNvSpPr txBox="1">
            <a:spLocks noGrp="1"/>
          </p:cNvSpPr>
          <p:nvPr>
            <p:ph type="body" idx="1"/>
          </p:nvPr>
        </p:nvSpPr>
        <p:spPr>
          <a:xfrm>
            <a:off x="1484310" y="1557002"/>
            <a:ext cx="10018713" cy="431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38138" lvl="0" indent="-3381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lang="en-US" sz="2000" dirty="0"/>
              <a:t>Basic header simplified for ease of processing</a:t>
            </a:r>
            <a:endParaRPr dirty="0"/>
          </a:p>
          <a:p>
            <a:pPr marL="338138" lvl="0" indent="-181610" algn="l" rtl="0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SzPct val="145000"/>
              <a:buNone/>
            </a:pPr>
            <a:endParaRPr sz="2000" dirty="0"/>
          </a:p>
          <a:p>
            <a:pPr marL="338138" lvl="0" indent="-338138" algn="l" rtl="0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SzPct val="145000"/>
              <a:buChar char="•"/>
            </a:pPr>
            <a:r>
              <a:rPr lang="en-US" sz="2000" dirty="0"/>
              <a:t>Additional information carried in extension headers</a:t>
            </a:r>
            <a:endParaRPr dirty="0"/>
          </a:p>
          <a:p>
            <a:pPr marL="738188" lvl="1" indent="-280988" algn="l" rtl="0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SzPct val="145000"/>
              <a:buChar char="•"/>
            </a:pPr>
            <a:r>
              <a:rPr lang="en-US" sz="1800" dirty="0"/>
              <a:t>Hop-by-hop options (0)</a:t>
            </a:r>
            <a:endParaRPr dirty="0"/>
          </a:p>
          <a:p>
            <a:pPr marL="738188" lvl="1" indent="-280988" algn="l" rtl="0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SzPct val="145000"/>
              <a:buChar char="•"/>
            </a:pPr>
            <a:r>
              <a:rPr lang="en-US" sz="1800" dirty="0"/>
              <a:t>Routing header (43)</a:t>
            </a:r>
            <a:endParaRPr dirty="0"/>
          </a:p>
          <a:p>
            <a:pPr marL="738188" lvl="1" indent="-280988" algn="l" rtl="0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SzPct val="145000"/>
              <a:buChar char="•"/>
            </a:pPr>
            <a:r>
              <a:rPr lang="en-US" sz="1800" dirty="0"/>
              <a:t>Fragment header (44) </a:t>
            </a:r>
            <a:endParaRPr dirty="0"/>
          </a:p>
          <a:p>
            <a:pPr marL="738188" lvl="1" indent="-280988" algn="l" rtl="0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SzPct val="145000"/>
              <a:buChar char="•"/>
            </a:pPr>
            <a:r>
              <a:rPr lang="en-US" sz="1800" dirty="0"/>
              <a:t>Destination options header (60)</a:t>
            </a:r>
            <a:endParaRPr dirty="0"/>
          </a:p>
          <a:p>
            <a:pPr marL="738188" lvl="1" indent="-280988" algn="l" rtl="0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SzPct val="145000"/>
              <a:buChar char="•"/>
            </a:pPr>
            <a:r>
              <a:rPr lang="en-US" sz="1800" dirty="0"/>
              <a:t>Authentication header (AH)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‏ (51)</a:t>
            </a:r>
            <a:endParaRPr sz="1800" dirty="0"/>
          </a:p>
          <a:p>
            <a:pPr marL="738188" lvl="1" indent="-280988" algn="l" rtl="0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SzPct val="145000"/>
              <a:buChar char="•"/>
            </a:pPr>
            <a:r>
              <a:rPr lang="en-US" sz="1800" dirty="0"/>
              <a:t>Encrypted security payload (ESP) header (50)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SzPct val="145000"/>
              <a:buNone/>
            </a:pPr>
            <a:endParaRPr sz="2000" dirty="0"/>
          </a:p>
          <a:p>
            <a:pPr marL="338138" lvl="0" indent="-338138" algn="l" rtl="0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SzPct val="145000"/>
              <a:buChar char="•"/>
            </a:pPr>
            <a:r>
              <a:rPr lang="en-US" sz="2000" dirty="0"/>
              <a:t>Next Header field says what type of header follows</a:t>
            </a:r>
            <a:endParaRPr dirty="0"/>
          </a:p>
          <a:p>
            <a:pPr marL="738188" lvl="1" indent="-280988" algn="l" rtl="0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SzPct val="145000"/>
              <a:buChar char="•"/>
            </a:pPr>
            <a:r>
              <a:rPr lang="en-US" sz="1800" dirty="0"/>
              <a:t>E.g. Fragment Header, TCP, ICMP, etc.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008"/>
              </a:spcBef>
              <a:spcAft>
                <a:spcPts val="0"/>
              </a:spcAft>
              <a:buSzPct val="145000"/>
              <a:buNone/>
            </a:pPr>
            <a:endParaRPr dirty="0"/>
          </a:p>
        </p:txBody>
      </p:sp>
      <p:sp>
        <p:nvSpPr>
          <p:cNvPr id="200" name="Google Shape;200;p10"/>
          <p:cNvSpPr txBox="1">
            <a:spLocks noGrp="1"/>
          </p:cNvSpPr>
          <p:nvPr>
            <p:ph type="sldNum" idx="12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201" name="Google Shape;201;p10"/>
          <p:cNvPicPr preferRelativeResize="0"/>
          <p:nvPr/>
        </p:nvPicPr>
        <p:blipFill rotWithShape="1">
          <a:blip r:embed="rId3">
            <a:alphaModFix/>
          </a:blip>
          <a:srcRect l="3842" t="50683" r="4445" b="7655"/>
          <a:stretch/>
        </p:blipFill>
        <p:spPr>
          <a:xfrm>
            <a:off x="5952736" y="2651760"/>
            <a:ext cx="5550287" cy="1554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"/>
          <p:cNvSpPr/>
          <p:nvPr/>
        </p:nvSpPr>
        <p:spPr>
          <a:xfrm rot="-5400000">
            <a:off x="4007644" y="-354012"/>
            <a:ext cx="4306888" cy="8364538"/>
          </a:xfrm>
          <a:prstGeom prst="rect">
            <a:avLst/>
          </a:prstGeom>
          <a:gradFill>
            <a:gsLst>
              <a:gs pos="0">
                <a:srgbClr val="278EC3"/>
              </a:gs>
              <a:gs pos="50000">
                <a:schemeClr val="accent1"/>
              </a:gs>
              <a:gs pos="100000">
                <a:srgbClr val="278EC3"/>
              </a:gs>
            </a:gsLst>
            <a:lin ang="2700000" scaled="0"/>
          </a:gradFill>
          <a:ln w="12700" cap="flat" cmpd="sng">
            <a:solidFill>
              <a:schemeClr val="folHlink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1"/>
          <p:cNvSpPr txBox="1"/>
          <p:nvPr/>
        </p:nvSpPr>
        <p:spPr>
          <a:xfrm>
            <a:off x="1978800" y="1674825"/>
            <a:ext cx="8364538" cy="430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2209800" y="2112964"/>
            <a:ext cx="7772400" cy="360203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11"/>
          <p:cNvCxnSpPr/>
          <p:nvPr/>
        </p:nvCxnSpPr>
        <p:spPr>
          <a:xfrm>
            <a:off x="2209800" y="2819400"/>
            <a:ext cx="77724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11"/>
          <p:cNvSpPr/>
          <p:nvPr/>
        </p:nvSpPr>
        <p:spPr>
          <a:xfrm>
            <a:off x="2209800" y="1676401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9601200" y="1676401"/>
            <a:ext cx="4381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3" name="Google Shape;213;p11"/>
          <p:cNvCxnSpPr/>
          <p:nvPr/>
        </p:nvCxnSpPr>
        <p:spPr>
          <a:xfrm>
            <a:off x="3352800" y="2057400"/>
            <a:ext cx="0" cy="762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4" name="Google Shape;214;p11"/>
          <p:cNvCxnSpPr/>
          <p:nvPr/>
        </p:nvCxnSpPr>
        <p:spPr>
          <a:xfrm>
            <a:off x="2209800" y="3429000"/>
            <a:ext cx="77724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5" name="Google Shape;215;p11"/>
          <p:cNvCxnSpPr/>
          <p:nvPr/>
        </p:nvCxnSpPr>
        <p:spPr>
          <a:xfrm>
            <a:off x="6019800" y="2057400"/>
            <a:ext cx="0" cy="1905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6" name="Google Shape;216;p11"/>
          <p:cNvCxnSpPr/>
          <p:nvPr/>
        </p:nvCxnSpPr>
        <p:spPr>
          <a:xfrm>
            <a:off x="7086600" y="2819400"/>
            <a:ext cx="0" cy="6096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7" name="Google Shape;217;p11"/>
          <p:cNvCxnSpPr/>
          <p:nvPr/>
        </p:nvCxnSpPr>
        <p:spPr>
          <a:xfrm>
            <a:off x="2209800" y="4495800"/>
            <a:ext cx="77724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8" name="Google Shape;218;p11"/>
          <p:cNvSpPr/>
          <p:nvPr/>
        </p:nvSpPr>
        <p:spPr>
          <a:xfrm>
            <a:off x="2514600" y="2286001"/>
            <a:ext cx="615950" cy="3667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3581400" y="2286001"/>
            <a:ext cx="552450" cy="366713"/>
          </a:xfrm>
          <a:prstGeom prst="rect">
            <a:avLst/>
          </a:prstGeom>
          <a:solidFill>
            <a:srgbClr val="990099"/>
          </a:solidFill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IHL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7216775" y="2286001"/>
            <a:ext cx="1555750" cy="3667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Total Length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2590800" y="2971801"/>
            <a:ext cx="2927350" cy="366713"/>
          </a:xfrm>
          <a:prstGeom prst="rect">
            <a:avLst/>
          </a:prstGeom>
          <a:solidFill>
            <a:srgbClr val="990099"/>
          </a:solidFill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Identifier	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6172200" y="2971801"/>
            <a:ext cx="781050" cy="366713"/>
          </a:xfrm>
          <a:prstGeom prst="rect">
            <a:avLst/>
          </a:prstGeom>
          <a:solidFill>
            <a:srgbClr val="990099"/>
          </a:solidFill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Flags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7467600" y="2971801"/>
            <a:ext cx="2203450" cy="366713"/>
          </a:xfrm>
          <a:prstGeom prst="rect">
            <a:avLst/>
          </a:prstGeom>
          <a:solidFill>
            <a:srgbClr val="990099"/>
          </a:solidFill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Fragment Offset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4873625" y="4049713"/>
            <a:ext cx="2590800" cy="36671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32 bit Source Address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4654550" y="4629151"/>
            <a:ext cx="3060700" cy="3667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32 bit Destination Address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3276600" y="1676401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4191000" y="1676401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7688263" y="1676401"/>
            <a:ext cx="4381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5722938" y="1676401"/>
            <a:ext cx="4381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4419600" y="2286001"/>
            <a:ext cx="1593850" cy="3667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Service Type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1" name="Google Shape;231;p11"/>
          <p:cNvCxnSpPr/>
          <p:nvPr/>
        </p:nvCxnSpPr>
        <p:spPr>
          <a:xfrm>
            <a:off x="2209800" y="5105400"/>
            <a:ext cx="77724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2" name="Google Shape;232;p11"/>
          <p:cNvSpPr/>
          <p:nvPr/>
        </p:nvSpPr>
        <p:spPr>
          <a:xfrm>
            <a:off x="2819400" y="5181601"/>
            <a:ext cx="6584950" cy="366713"/>
          </a:xfrm>
          <a:prstGeom prst="rect">
            <a:avLst/>
          </a:prstGeom>
          <a:solidFill>
            <a:srgbClr val="990099"/>
          </a:solidFill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Options and Padding			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3" name="Google Shape;233;p11"/>
          <p:cNvCxnSpPr/>
          <p:nvPr/>
        </p:nvCxnSpPr>
        <p:spPr>
          <a:xfrm>
            <a:off x="2209800" y="3962400"/>
            <a:ext cx="77724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4" name="Google Shape;234;p11"/>
          <p:cNvCxnSpPr/>
          <p:nvPr/>
        </p:nvCxnSpPr>
        <p:spPr>
          <a:xfrm>
            <a:off x="4343400" y="3429000"/>
            <a:ext cx="0" cy="533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5" name="Google Shape;235;p11"/>
          <p:cNvSpPr/>
          <p:nvPr/>
        </p:nvSpPr>
        <p:spPr>
          <a:xfrm>
            <a:off x="2746376" y="3486151"/>
            <a:ext cx="1514475" cy="3667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Time to Live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6781800" y="3505201"/>
            <a:ext cx="2559050" cy="366713"/>
          </a:xfrm>
          <a:prstGeom prst="rect">
            <a:avLst/>
          </a:prstGeom>
          <a:solidFill>
            <a:srgbClr val="990099"/>
          </a:solidFill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Header Checksum   </a:t>
            </a:r>
            <a:endParaRPr sz="2000" b="1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4710113" y="3486151"/>
            <a:ext cx="1111250" cy="3667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Protocol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8" name="Google Shape;238;p11"/>
          <p:cNvCxnSpPr/>
          <p:nvPr/>
        </p:nvCxnSpPr>
        <p:spPr>
          <a:xfrm>
            <a:off x="4343400" y="2057400"/>
            <a:ext cx="0" cy="762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9" name="Google Shape;239;p11"/>
          <p:cNvSpPr txBox="1">
            <a:spLocks noGrp="1"/>
          </p:cNvSpPr>
          <p:nvPr>
            <p:ph type="title"/>
          </p:nvPr>
        </p:nvSpPr>
        <p:spPr>
          <a:xfrm>
            <a:off x="1905001" y="304800"/>
            <a:ext cx="8570913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The IPv4 Header</a:t>
            </a:r>
            <a:r>
              <a:rPr lang="en-US" sz="3600"/>
              <a:t> </a:t>
            </a:r>
            <a:br>
              <a:rPr lang="en-US" sz="3600"/>
            </a:br>
            <a:endParaRPr sz="2000" b="1">
              <a:solidFill>
                <a:schemeClr val="lt2"/>
              </a:solidFill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2109934" y="6119141"/>
            <a:ext cx="8224837" cy="381000"/>
          </a:xfrm>
          <a:prstGeom prst="rect">
            <a:avLst/>
          </a:prstGeom>
          <a:solidFill>
            <a:srgbClr val="990099"/>
          </a:solidFill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288925" marR="0" lvl="0" indent="-288925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5C5FF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rPr>
              <a:t>shaded fields are absent from IPv6 header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1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"/>
          <p:cNvSpPr txBox="1">
            <a:spLocks noGrp="1"/>
          </p:cNvSpPr>
          <p:nvPr>
            <p:ph type="title"/>
          </p:nvPr>
        </p:nvSpPr>
        <p:spPr>
          <a:xfrm>
            <a:off x="1484311" y="685801"/>
            <a:ext cx="10018713" cy="936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Header Changes between IPv4 and IPv6</a:t>
            </a:r>
            <a:endParaRPr/>
          </a:p>
        </p:txBody>
      </p:sp>
      <p:sp>
        <p:nvSpPr>
          <p:cNvPr id="248" name="Google Shape;248;p12"/>
          <p:cNvSpPr txBox="1">
            <a:spLocks noGrp="1"/>
          </p:cNvSpPr>
          <p:nvPr>
            <p:ph type="body" idx="1"/>
          </p:nvPr>
        </p:nvSpPr>
        <p:spPr>
          <a:xfrm>
            <a:off x="1484310" y="1622739"/>
            <a:ext cx="10018713" cy="4168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285750" lvl="0" indent="-252603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lang="en-US">
                <a:solidFill>
                  <a:schemeClr val="dk2"/>
                </a:solidFill>
              </a:rPr>
              <a:t>Revised</a:t>
            </a:r>
            <a:endParaRPr/>
          </a:p>
          <a:p>
            <a:pPr marL="742950" lvl="1" indent="-254317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990099"/>
              </a:buClr>
              <a:buSzPct val="110000"/>
              <a:buFont typeface="Corbel"/>
              <a:buChar char="•"/>
            </a:pPr>
            <a:r>
              <a:rPr lang="en-US" sz="3000"/>
              <a:t> Time to Live (Hop Limit)</a:t>
            </a:r>
            <a:endParaRPr/>
          </a:p>
          <a:p>
            <a:pPr marL="742950" lvl="1" indent="-254317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990099"/>
              </a:buClr>
              <a:buSzPct val="110000"/>
              <a:buFont typeface="Corbel"/>
              <a:buChar char="•"/>
            </a:pPr>
            <a:r>
              <a:rPr lang="en-US" sz="3000"/>
              <a:t> Addresses increased from 32 bits to 128 bits</a:t>
            </a:r>
            <a:endParaRPr sz="3000"/>
          </a:p>
          <a:p>
            <a:pPr marL="742950" lvl="1" indent="-254317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990099"/>
              </a:buClr>
              <a:buSzPct val="110000"/>
              <a:buFont typeface="Corbel"/>
              <a:buChar char="•"/>
            </a:pPr>
            <a:r>
              <a:rPr lang="en-US" sz="3000"/>
              <a:t> Protocol (Next Header)</a:t>
            </a:r>
            <a:endParaRPr sz="3000"/>
          </a:p>
          <a:p>
            <a:pPr marL="742950" lvl="1" indent="-254317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990099"/>
              </a:buClr>
              <a:buSzPct val="110000"/>
              <a:buFont typeface="Corbel"/>
              <a:buChar char="•"/>
            </a:pPr>
            <a:r>
              <a:rPr lang="en-US" sz="3000"/>
              <a:t> Precedence &amp; TOS (Traffic Class)</a:t>
            </a:r>
            <a:endParaRPr sz="3000"/>
          </a:p>
          <a:p>
            <a:pPr marL="285750" lvl="0" indent="-252603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ct val="145000"/>
              <a:buChar char="•"/>
            </a:pPr>
            <a:r>
              <a:rPr lang="en-US">
                <a:solidFill>
                  <a:schemeClr val="dk2"/>
                </a:solidFill>
              </a:rPr>
              <a:t>Extended</a:t>
            </a:r>
            <a:endParaRPr/>
          </a:p>
          <a:p>
            <a:pPr marL="742950" lvl="1" indent="-254317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990099"/>
              </a:buClr>
              <a:buSzPct val="110000"/>
              <a:buFont typeface="Corbel"/>
              <a:buChar char="•"/>
            </a:pPr>
            <a:r>
              <a:rPr lang="en-US" sz="3000"/>
              <a:t> Flow Label field added (Recommended read: Page 676 of Forouzan’s Book)</a:t>
            </a:r>
            <a:endParaRPr/>
          </a:p>
          <a:p>
            <a:pPr marL="285750" lvl="0" indent="-6477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ct val="145000"/>
              <a:buNone/>
            </a:pPr>
            <a:endParaRPr/>
          </a:p>
        </p:txBody>
      </p:sp>
      <p:sp>
        <p:nvSpPr>
          <p:cNvPr id="249" name="Google Shape;249;p12"/>
          <p:cNvSpPr txBox="1">
            <a:spLocks noGrp="1"/>
          </p:cNvSpPr>
          <p:nvPr>
            <p:ph type="sldNum" idx="12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885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IPv6 Address</a:t>
            </a:r>
            <a:endParaRPr/>
          </a:p>
        </p:txBody>
      </p:sp>
      <p:sp>
        <p:nvSpPr>
          <p:cNvPr id="255" name="Google Shape;255;p15"/>
          <p:cNvSpPr txBox="1">
            <a:spLocks noGrp="1"/>
          </p:cNvSpPr>
          <p:nvPr>
            <p:ph type="body" idx="1"/>
          </p:nvPr>
        </p:nvSpPr>
        <p:spPr>
          <a:xfrm>
            <a:off x="1484310" y="1725769"/>
            <a:ext cx="10018713" cy="4288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6756"/>
              <a:buChar char="•"/>
            </a:pPr>
            <a:r>
              <a:rPr lang="en-US" sz="2800"/>
              <a:t>128 bits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ct val="156756"/>
              <a:buChar char="•"/>
            </a:pPr>
            <a:r>
              <a:rPr lang="en-US" sz="2800"/>
              <a:t>given below is a 128 bit IPv6 address represented in binary format and divided into eight 16-bits blocks</a:t>
            </a:r>
            <a:endParaRPr/>
          </a:p>
          <a:p>
            <a:pPr marL="285750" lvl="0" indent="0" algn="l" rtl="0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ct val="156756"/>
              <a:buNone/>
            </a:pPr>
            <a:endParaRPr sz="3200"/>
          </a:p>
          <a:p>
            <a:pPr marL="285750" lvl="0" indent="-27940" algn="l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ct val="156756"/>
              <a:buNone/>
            </a:pPr>
            <a:endParaRPr sz="2800"/>
          </a:p>
          <a:p>
            <a:pPr marL="285750" lvl="0" indent="-285750" algn="l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ct val="156756"/>
              <a:buChar char="•"/>
            </a:pPr>
            <a:r>
              <a:rPr lang="en-US" sz="2800"/>
              <a:t>Each block is then converted into Hexadecimal and separated by ‘:’ symbol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ct val="156756"/>
              <a:buNone/>
            </a:pPr>
            <a:endParaRPr sz="2800"/>
          </a:p>
          <a:p>
            <a:pPr marL="285750" lvl="0" indent="-285750" algn="l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ct val="156756"/>
              <a:buFont typeface="Arial"/>
              <a:buChar char="•"/>
            </a:pPr>
            <a:r>
              <a:rPr lang="en-US" sz="2800"/>
              <a:t>Called </a:t>
            </a:r>
            <a:r>
              <a:rPr lang="en-US" sz="2800" b="1"/>
              <a:t>string notation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ct val="156756"/>
              <a:buNone/>
            </a:pPr>
            <a:endParaRPr sz="2800"/>
          </a:p>
          <a:p>
            <a:pPr marL="0" lvl="0" indent="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ct val="156756"/>
              <a:buNone/>
            </a:pPr>
            <a:endParaRPr/>
          </a:p>
        </p:txBody>
      </p:sp>
      <p:sp>
        <p:nvSpPr>
          <p:cNvPr id="256" name="Google Shape;256;p15"/>
          <p:cNvSpPr txBox="1">
            <a:spLocks noGrp="1"/>
          </p:cNvSpPr>
          <p:nvPr>
            <p:ph type="sldNum" idx="12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257" name="Google Shape;25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5276" y="3063265"/>
            <a:ext cx="11286404" cy="73147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3921"/>
              </a:srgbClr>
            </a:outerShdw>
          </a:effectLst>
        </p:spPr>
      </p:pic>
      <p:pic>
        <p:nvPicPr>
          <p:cNvPr id="258" name="Google Shape;258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1053" y="4884906"/>
            <a:ext cx="11790947" cy="4946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3921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0"/>
          <p:cNvSpPr txBox="1">
            <a:spLocks noGrp="1"/>
          </p:cNvSpPr>
          <p:nvPr>
            <p:ph type="title"/>
          </p:nvPr>
        </p:nvSpPr>
        <p:spPr>
          <a:xfrm>
            <a:off x="1981200" y="1524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Types of IPv6 addresses</a:t>
            </a:r>
            <a:endParaRPr/>
          </a:p>
        </p:txBody>
      </p:sp>
      <p:sp>
        <p:nvSpPr>
          <p:cNvPr id="264" name="Google Shape;264;p20"/>
          <p:cNvSpPr txBox="1">
            <a:spLocks noGrp="1"/>
          </p:cNvSpPr>
          <p:nvPr>
            <p:ph type="body" idx="1"/>
          </p:nvPr>
        </p:nvSpPr>
        <p:spPr>
          <a:xfrm>
            <a:off x="1981200" y="1371600"/>
            <a:ext cx="8229600" cy="3276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b="1"/>
              <a:t>unicast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communicate specified 1 computer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b="1"/>
              <a:t>multicast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communicate group of computers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b="1"/>
              <a:t>anycast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send group address that can receive multiple computers, but receive 1 computer</a:t>
            </a:r>
            <a:endParaRPr/>
          </a:p>
          <a:p>
            <a:pPr marL="742950" lvl="1" indent="-64769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 sz="2400"/>
          </a:p>
        </p:txBody>
      </p:sp>
      <p:cxnSp>
        <p:nvCxnSpPr>
          <p:cNvPr id="265" name="Google Shape;265;p20"/>
          <p:cNvCxnSpPr/>
          <p:nvPr/>
        </p:nvCxnSpPr>
        <p:spPr>
          <a:xfrm>
            <a:off x="2895600" y="5257800"/>
            <a:ext cx="609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66" name="Google Shape;266;p20"/>
          <p:cNvGrpSpPr/>
          <p:nvPr/>
        </p:nvGrpSpPr>
        <p:grpSpPr>
          <a:xfrm>
            <a:off x="2286000" y="4953000"/>
            <a:ext cx="762000" cy="457200"/>
            <a:chOff x="528" y="2928"/>
            <a:chExt cx="480" cy="288"/>
          </a:xfrm>
        </p:grpSpPr>
        <p:sp>
          <p:nvSpPr>
            <p:cNvPr id="267" name="Google Shape;267;p20"/>
            <p:cNvSpPr/>
            <p:nvPr/>
          </p:nvSpPr>
          <p:spPr>
            <a:xfrm>
              <a:off x="528" y="2976"/>
              <a:ext cx="384" cy="24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8" name="Google Shape;268;p20"/>
            <p:cNvSpPr txBox="1"/>
            <p:nvPr/>
          </p:nvSpPr>
          <p:spPr>
            <a:xfrm>
              <a:off x="624" y="2928"/>
              <a:ext cx="384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9" name="Google Shape;269;p20"/>
          <p:cNvGrpSpPr/>
          <p:nvPr/>
        </p:nvGrpSpPr>
        <p:grpSpPr>
          <a:xfrm>
            <a:off x="5867400" y="4648200"/>
            <a:ext cx="762000" cy="457200"/>
            <a:chOff x="528" y="2928"/>
            <a:chExt cx="480" cy="288"/>
          </a:xfrm>
        </p:grpSpPr>
        <p:sp>
          <p:nvSpPr>
            <p:cNvPr id="270" name="Google Shape;270;p20"/>
            <p:cNvSpPr/>
            <p:nvPr/>
          </p:nvSpPr>
          <p:spPr>
            <a:xfrm>
              <a:off x="528" y="2976"/>
              <a:ext cx="384" cy="24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1" name="Google Shape;271;p20"/>
            <p:cNvSpPr txBox="1"/>
            <p:nvPr/>
          </p:nvSpPr>
          <p:spPr>
            <a:xfrm>
              <a:off x="624" y="2928"/>
              <a:ext cx="384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2" name="Google Shape;272;p20"/>
          <p:cNvGrpSpPr/>
          <p:nvPr/>
        </p:nvGrpSpPr>
        <p:grpSpPr>
          <a:xfrm>
            <a:off x="5867400" y="5105400"/>
            <a:ext cx="762000" cy="457200"/>
            <a:chOff x="528" y="2928"/>
            <a:chExt cx="480" cy="288"/>
          </a:xfrm>
        </p:grpSpPr>
        <p:sp>
          <p:nvSpPr>
            <p:cNvPr id="273" name="Google Shape;273;p20"/>
            <p:cNvSpPr/>
            <p:nvPr/>
          </p:nvSpPr>
          <p:spPr>
            <a:xfrm>
              <a:off x="528" y="2976"/>
              <a:ext cx="384" cy="24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4" name="Google Shape;274;p20"/>
            <p:cNvSpPr txBox="1"/>
            <p:nvPr/>
          </p:nvSpPr>
          <p:spPr>
            <a:xfrm>
              <a:off x="624" y="2928"/>
              <a:ext cx="384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5" name="Google Shape;275;p20"/>
          <p:cNvGrpSpPr/>
          <p:nvPr/>
        </p:nvGrpSpPr>
        <p:grpSpPr>
          <a:xfrm>
            <a:off x="3505200" y="4953000"/>
            <a:ext cx="762000" cy="457200"/>
            <a:chOff x="528" y="2928"/>
            <a:chExt cx="480" cy="288"/>
          </a:xfrm>
        </p:grpSpPr>
        <p:sp>
          <p:nvSpPr>
            <p:cNvPr id="276" name="Google Shape;276;p20"/>
            <p:cNvSpPr/>
            <p:nvPr/>
          </p:nvSpPr>
          <p:spPr>
            <a:xfrm>
              <a:off x="528" y="2976"/>
              <a:ext cx="384" cy="24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7" name="Google Shape;277;p20"/>
            <p:cNvSpPr txBox="1"/>
            <p:nvPr/>
          </p:nvSpPr>
          <p:spPr>
            <a:xfrm>
              <a:off x="624" y="2928"/>
              <a:ext cx="384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8" name="Google Shape;278;p20"/>
          <p:cNvGrpSpPr/>
          <p:nvPr/>
        </p:nvGrpSpPr>
        <p:grpSpPr>
          <a:xfrm>
            <a:off x="4495800" y="4953000"/>
            <a:ext cx="762000" cy="457200"/>
            <a:chOff x="528" y="2928"/>
            <a:chExt cx="480" cy="288"/>
          </a:xfrm>
        </p:grpSpPr>
        <p:sp>
          <p:nvSpPr>
            <p:cNvPr id="279" name="Google Shape;279;p20"/>
            <p:cNvSpPr/>
            <p:nvPr/>
          </p:nvSpPr>
          <p:spPr>
            <a:xfrm>
              <a:off x="528" y="2976"/>
              <a:ext cx="384" cy="24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0" name="Google Shape;280;p20"/>
            <p:cNvSpPr txBox="1"/>
            <p:nvPr/>
          </p:nvSpPr>
          <p:spPr>
            <a:xfrm>
              <a:off x="624" y="2928"/>
              <a:ext cx="384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1" name="Google Shape;281;p20"/>
          <p:cNvGrpSpPr/>
          <p:nvPr/>
        </p:nvGrpSpPr>
        <p:grpSpPr>
          <a:xfrm>
            <a:off x="5867400" y="5638800"/>
            <a:ext cx="762000" cy="457200"/>
            <a:chOff x="528" y="2928"/>
            <a:chExt cx="480" cy="288"/>
          </a:xfrm>
        </p:grpSpPr>
        <p:sp>
          <p:nvSpPr>
            <p:cNvPr id="282" name="Google Shape;282;p20"/>
            <p:cNvSpPr/>
            <p:nvPr/>
          </p:nvSpPr>
          <p:spPr>
            <a:xfrm>
              <a:off x="528" y="2976"/>
              <a:ext cx="384" cy="24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3" name="Google Shape;283;p20"/>
            <p:cNvSpPr txBox="1"/>
            <p:nvPr/>
          </p:nvSpPr>
          <p:spPr>
            <a:xfrm>
              <a:off x="624" y="2928"/>
              <a:ext cx="384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84" name="Google Shape;284;p20"/>
          <p:cNvCxnSpPr/>
          <p:nvPr/>
        </p:nvCxnSpPr>
        <p:spPr>
          <a:xfrm rot="10800000" flipH="1">
            <a:off x="5410200" y="5029200"/>
            <a:ext cx="457200" cy="152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5" name="Google Shape;285;p20"/>
          <p:cNvCxnSpPr/>
          <p:nvPr/>
        </p:nvCxnSpPr>
        <p:spPr>
          <a:xfrm>
            <a:off x="5410200" y="5181600"/>
            <a:ext cx="457200" cy="60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6" name="Google Shape;286;p20"/>
          <p:cNvCxnSpPr/>
          <p:nvPr/>
        </p:nvCxnSpPr>
        <p:spPr>
          <a:xfrm>
            <a:off x="5410200" y="5181600"/>
            <a:ext cx="457200" cy="152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7" name="Google Shape;287;p20"/>
          <p:cNvCxnSpPr/>
          <p:nvPr/>
        </p:nvCxnSpPr>
        <p:spPr>
          <a:xfrm>
            <a:off x="5105400" y="5181600"/>
            <a:ext cx="381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8" name="Google Shape;288;p20"/>
          <p:cNvGrpSpPr/>
          <p:nvPr/>
        </p:nvGrpSpPr>
        <p:grpSpPr>
          <a:xfrm>
            <a:off x="8382000" y="4648200"/>
            <a:ext cx="762000" cy="457200"/>
            <a:chOff x="528" y="2928"/>
            <a:chExt cx="480" cy="288"/>
          </a:xfrm>
        </p:grpSpPr>
        <p:sp>
          <p:nvSpPr>
            <p:cNvPr id="289" name="Google Shape;289;p20"/>
            <p:cNvSpPr/>
            <p:nvPr/>
          </p:nvSpPr>
          <p:spPr>
            <a:xfrm>
              <a:off x="528" y="2976"/>
              <a:ext cx="384" cy="24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0" name="Google Shape;290;p20"/>
            <p:cNvSpPr txBox="1"/>
            <p:nvPr/>
          </p:nvSpPr>
          <p:spPr>
            <a:xfrm>
              <a:off x="624" y="2928"/>
              <a:ext cx="384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1" name="Google Shape;291;p20"/>
          <p:cNvGrpSpPr/>
          <p:nvPr/>
        </p:nvGrpSpPr>
        <p:grpSpPr>
          <a:xfrm>
            <a:off x="8382000" y="5105400"/>
            <a:ext cx="762000" cy="457200"/>
            <a:chOff x="528" y="2928"/>
            <a:chExt cx="480" cy="288"/>
          </a:xfrm>
        </p:grpSpPr>
        <p:sp>
          <p:nvSpPr>
            <p:cNvPr id="292" name="Google Shape;292;p20"/>
            <p:cNvSpPr/>
            <p:nvPr/>
          </p:nvSpPr>
          <p:spPr>
            <a:xfrm>
              <a:off x="528" y="2976"/>
              <a:ext cx="384" cy="24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3" name="Google Shape;293;p20"/>
            <p:cNvSpPr txBox="1"/>
            <p:nvPr/>
          </p:nvSpPr>
          <p:spPr>
            <a:xfrm>
              <a:off x="624" y="2928"/>
              <a:ext cx="384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4" name="Google Shape;294;p20"/>
          <p:cNvGrpSpPr/>
          <p:nvPr/>
        </p:nvGrpSpPr>
        <p:grpSpPr>
          <a:xfrm>
            <a:off x="7010400" y="4953000"/>
            <a:ext cx="762000" cy="457200"/>
            <a:chOff x="528" y="2928"/>
            <a:chExt cx="480" cy="288"/>
          </a:xfrm>
        </p:grpSpPr>
        <p:sp>
          <p:nvSpPr>
            <p:cNvPr id="295" name="Google Shape;295;p20"/>
            <p:cNvSpPr/>
            <p:nvPr/>
          </p:nvSpPr>
          <p:spPr>
            <a:xfrm>
              <a:off x="528" y="2976"/>
              <a:ext cx="384" cy="24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6" name="Google Shape;296;p20"/>
            <p:cNvSpPr txBox="1"/>
            <p:nvPr/>
          </p:nvSpPr>
          <p:spPr>
            <a:xfrm>
              <a:off x="624" y="2928"/>
              <a:ext cx="384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7" name="Google Shape;297;p20"/>
          <p:cNvGrpSpPr/>
          <p:nvPr/>
        </p:nvGrpSpPr>
        <p:grpSpPr>
          <a:xfrm>
            <a:off x="8382000" y="5638800"/>
            <a:ext cx="762000" cy="457200"/>
            <a:chOff x="528" y="2928"/>
            <a:chExt cx="480" cy="288"/>
          </a:xfrm>
        </p:grpSpPr>
        <p:sp>
          <p:nvSpPr>
            <p:cNvPr id="298" name="Google Shape;298;p20"/>
            <p:cNvSpPr/>
            <p:nvPr/>
          </p:nvSpPr>
          <p:spPr>
            <a:xfrm>
              <a:off x="528" y="2976"/>
              <a:ext cx="384" cy="24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9" name="Google Shape;299;p20"/>
            <p:cNvSpPr txBox="1"/>
            <p:nvPr/>
          </p:nvSpPr>
          <p:spPr>
            <a:xfrm>
              <a:off x="624" y="2928"/>
              <a:ext cx="384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00" name="Google Shape;300;p20"/>
          <p:cNvCxnSpPr/>
          <p:nvPr/>
        </p:nvCxnSpPr>
        <p:spPr>
          <a:xfrm rot="10800000" flipH="1">
            <a:off x="7924800" y="4876800"/>
            <a:ext cx="533400" cy="304800"/>
          </a:xfrm>
          <a:prstGeom prst="straightConnector1">
            <a:avLst/>
          </a:prstGeom>
          <a:noFill/>
          <a:ln w="9525" cap="rnd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01" name="Google Shape;301;p20"/>
          <p:cNvCxnSpPr/>
          <p:nvPr/>
        </p:nvCxnSpPr>
        <p:spPr>
          <a:xfrm>
            <a:off x="7924800" y="5181600"/>
            <a:ext cx="457200" cy="152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02" name="Google Shape;302;p20"/>
          <p:cNvCxnSpPr/>
          <p:nvPr/>
        </p:nvCxnSpPr>
        <p:spPr>
          <a:xfrm>
            <a:off x="7620000" y="5181600"/>
            <a:ext cx="381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03" name="Google Shape;303;p20"/>
          <p:cNvCxnSpPr/>
          <p:nvPr/>
        </p:nvCxnSpPr>
        <p:spPr>
          <a:xfrm rot="10800000">
            <a:off x="7924800" y="5181600"/>
            <a:ext cx="457200" cy="609600"/>
          </a:xfrm>
          <a:prstGeom prst="straightConnector1">
            <a:avLst/>
          </a:prstGeom>
          <a:noFill/>
          <a:ln w="9525" cap="rnd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304" name="Google Shape;304;p20"/>
          <p:cNvSpPr txBox="1"/>
          <p:nvPr/>
        </p:nvSpPr>
        <p:spPr>
          <a:xfrm>
            <a:off x="2362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unicast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0"/>
          <p:cNvSpPr txBox="1"/>
          <p:nvPr/>
        </p:nvSpPr>
        <p:spPr>
          <a:xfrm>
            <a:off x="70866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anycast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0"/>
          <p:cNvSpPr txBox="1"/>
          <p:nvPr/>
        </p:nvSpPr>
        <p:spPr>
          <a:xfrm>
            <a:off x="47244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multicast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0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20</a:t>
            </a:r>
            <a:endParaRPr sz="10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1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975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Types of IPv6 addresses </a:t>
            </a:r>
            <a:endParaRPr/>
          </a:p>
        </p:txBody>
      </p:sp>
      <p:sp>
        <p:nvSpPr>
          <p:cNvPr id="313" name="Google Shape;313;p21"/>
          <p:cNvSpPr txBox="1">
            <a:spLocks noGrp="1"/>
          </p:cNvSpPr>
          <p:nvPr>
            <p:ph type="body" idx="1"/>
          </p:nvPr>
        </p:nvSpPr>
        <p:spPr>
          <a:xfrm>
            <a:off x="1484310" y="1906073"/>
            <a:ext cx="10018713" cy="3885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Char char="•"/>
            </a:pPr>
            <a:r>
              <a:rPr lang="en-US" sz="4000"/>
              <a:t>Unlike IPv4, there is</a:t>
            </a:r>
            <a:r>
              <a:rPr lang="en-US" sz="4000">
                <a:solidFill>
                  <a:srgbClr val="FFFF00"/>
                </a:solidFill>
              </a:rPr>
              <a:t> </a:t>
            </a:r>
            <a:r>
              <a:rPr lang="en-US" sz="4000">
                <a:solidFill>
                  <a:srgbClr val="7030A0"/>
                </a:solidFill>
              </a:rPr>
              <a:t>no broadcast address.</a:t>
            </a:r>
            <a:endParaRPr/>
          </a:p>
          <a:p>
            <a:pPr marL="285750" lvl="0" indent="-3683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5800"/>
              <a:buChar char="•"/>
            </a:pPr>
            <a:r>
              <a:rPr lang="en-US" sz="4000"/>
              <a:t>There is an </a:t>
            </a:r>
            <a:r>
              <a:rPr lang="en-US" sz="4000">
                <a:solidFill>
                  <a:srgbClr val="7030A0"/>
                </a:solidFill>
              </a:rPr>
              <a:t>“all nodes multicast” </a:t>
            </a:r>
            <a:r>
              <a:rPr lang="en-US" sz="4000"/>
              <a:t>which serves the same purpose.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/>
          </a:p>
        </p:txBody>
      </p:sp>
      <p:sp>
        <p:nvSpPr>
          <p:cNvPr id="314" name="Google Shape;314;p21"/>
          <p:cNvSpPr txBox="1">
            <a:spLocks noGrp="1"/>
          </p:cNvSpPr>
          <p:nvPr>
            <p:ph type="sldNum" idx="12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2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885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Unicast Global Addresses</a:t>
            </a:r>
            <a:endParaRPr/>
          </a:p>
        </p:txBody>
      </p:sp>
      <p:sp>
        <p:nvSpPr>
          <p:cNvPr id="320" name="Google Shape;320;p22"/>
          <p:cNvSpPr txBox="1">
            <a:spLocks noGrp="1"/>
          </p:cNvSpPr>
          <p:nvPr>
            <p:ph type="body" idx="1"/>
          </p:nvPr>
        </p:nvSpPr>
        <p:spPr>
          <a:xfrm>
            <a:off x="1484310" y="1803043"/>
            <a:ext cx="10018713" cy="3988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946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solidFill>
                  <a:srgbClr val="000000"/>
                </a:solidFill>
              </a:rPr>
              <a:t>These are assigned by the IANA and used on </a:t>
            </a:r>
            <a:r>
              <a:rPr lang="en-US" sz="3200">
                <a:solidFill>
                  <a:srgbClr val="7030A0"/>
                </a:solidFill>
              </a:rPr>
              <a:t>public networks</a:t>
            </a:r>
            <a:r>
              <a:rPr lang="en-US" sz="3200">
                <a:solidFill>
                  <a:srgbClr val="000000"/>
                </a:solidFill>
              </a:rPr>
              <a:t>. </a:t>
            </a:r>
            <a:endParaRPr/>
          </a:p>
          <a:p>
            <a:pPr marL="285750" lvl="0" indent="-294640" algn="l" rtl="0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solidFill>
                  <a:srgbClr val="000000"/>
                </a:solidFill>
              </a:rPr>
              <a:t>They are equivalent to IPv4 global (sometimes called public) addresses.</a:t>
            </a:r>
            <a:endParaRPr/>
          </a:p>
          <a:p>
            <a:pPr marL="285750" lvl="0" indent="-294640" algn="l" rtl="0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solidFill>
                  <a:srgbClr val="000000"/>
                </a:solidFill>
              </a:rPr>
              <a:t>Typically they start at </a:t>
            </a:r>
            <a:r>
              <a:rPr lang="en-US" sz="3200"/>
              <a:t>2000::/3</a:t>
            </a:r>
            <a:endParaRPr sz="32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/>
          </a:p>
        </p:txBody>
      </p:sp>
      <p:sp>
        <p:nvSpPr>
          <p:cNvPr id="321" name="Google Shape;321;p22"/>
          <p:cNvSpPr txBox="1">
            <a:spLocks noGrp="1"/>
          </p:cNvSpPr>
          <p:nvPr>
            <p:ph type="sldNum" idx="12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3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975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Unicast addresses </a:t>
            </a:r>
            <a:endParaRPr/>
          </a:p>
        </p:txBody>
      </p:sp>
      <p:sp>
        <p:nvSpPr>
          <p:cNvPr id="327" name="Google Shape;327;p23"/>
          <p:cNvSpPr txBox="1">
            <a:spLocks noGrp="1"/>
          </p:cNvSpPr>
          <p:nvPr>
            <p:ph type="body" idx="1"/>
          </p:nvPr>
        </p:nvSpPr>
        <p:spPr>
          <a:xfrm>
            <a:off x="1484310" y="1906073"/>
            <a:ext cx="10018713" cy="3885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Noto Sans Symbols"/>
              <a:buChar char="■"/>
            </a:pPr>
            <a:r>
              <a:rPr lang="en-US" sz="3200"/>
              <a:t>A </a:t>
            </a:r>
            <a:r>
              <a:rPr lang="en-US" sz="3200">
                <a:solidFill>
                  <a:srgbClr val="7030A0"/>
                </a:solidFill>
              </a:rPr>
              <a:t>unicast address </a:t>
            </a:r>
            <a:r>
              <a:rPr lang="en-US" sz="3200"/>
              <a:t>is an address that identifies a </a:t>
            </a:r>
            <a:r>
              <a:rPr lang="en-US" sz="3200">
                <a:solidFill>
                  <a:srgbClr val="7030A0"/>
                </a:solidFill>
              </a:rPr>
              <a:t>single device</a:t>
            </a:r>
            <a:r>
              <a:rPr lang="en-US" sz="3200"/>
              <a:t>.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Types of Unicast Addresses: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/>
          </a:p>
        </p:txBody>
      </p:sp>
      <p:sp>
        <p:nvSpPr>
          <p:cNvPr id="328" name="Google Shape;328;p23"/>
          <p:cNvSpPr txBox="1">
            <a:spLocks noGrp="1"/>
          </p:cNvSpPr>
          <p:nvPr>
            <p:ph type="sldNum" idx="12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329" name="Google Shape;329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12546" y="3873906"/>
            <a:ext cx="10162229" cy="213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24" descr="ips53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54200" y="1320800"/>
            <a:ext cx="8813800" cy="111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4"/>
          <p:cNvSpPr txBox="1">
            <a:spLocks noGrp="1"/>
          </p:cNvSpPr>
          <p:nvPr>
            <p:ph type="body" idx="1"/>
          </p:nvPr>
        </p:nvSpPr>
        <p:spPr>
          <a:xfrm>
            <a:off x="1752600" y="2651617"/>
            <a:ext cx="8991600" cy="37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host portion of the address is called the </a:t>
            </a:r>
            <a:r>
              <a:rPr lang="en-US">
                <a:solidFill>
                  <a:srgbClr val="7030A0"/>
                </a:solidFill>
              </a:rPr>
              <a:t>Interface ID.</a:t>
            </a:r>
            <a:endParaRPr/>
          </a:p>
          <a:p>
            <a:pPr marL="742950" lvl="1" indent="-294640" algn="l" rtl="0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Can contain:</a:t>
            </a:r>
            <a:endParaRPr/>
          </a:p>
          <a:p>
            <a:pPr marL="1200150" lvl="2" indent="-285750" algn="l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The interface’s </a:t>
            </a:r>
            <a:r>
              <a:rPr lang="en-US" sz="2800">
                <a:solidFill>
                  <a:srgbClr val="7030A0"/>
                </a:solidFill>
              </a:rPr>
              <a:t>48-bit</a:t>
            </a:r>
            <a:r>
              <a:rPr lang="en-US" sz="2800"/>
              <a:t> MAC Address.</a:t>
            </a:r>
            <a:endParaRPr/>
          </a:p>
          <a:p>
            <a:pPr marL="1200150" lvl="2" indent="-285750" algn="l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An identifier derived from the EUI-64 Address </a:t>
            </a:r>
            <a:br>
              <a:rPr lang="en-US" sz="2800"/>
            </a:br>
            <a:r>
              <a:rPr lang="en-US" sz="2800"/>
              <a:t>(more later).</a:t>
            </a:r>
            <a:endParaRPr/>
          </a:p>
          <a:p>
            <a:pPr marL="1200150" lvl="2" indent="-285750" algn="l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A manually configured address.</a:t>
            </a:r>
            <a:endParaRPr sz="2800" i="1">
              <a:solidFill>
                <a:srgbClr val="66FF66"/>
              </a:solidFill>
            </a:endParaRPr>
          </a:p>
          <a:p>
            <a:pPr marL="742950" lvl="1" indent="-101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None/>
            </a:pPr>
            <a:endParaRPr i="1">
              <a:solidFill>
                <a:srgbClr val="66FF66"/>
              </a:solidFill>
            </a:endParaRPr>
          </a:p>
          <a:p>
            <a:pPr marL="742950" lvl="1" indent="-101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None/>
            </a:pPr>
            <a:endParaRPr>
              <a:solidFill>
                <a:srgbClr val="FFFF00"/>
              </a:solidFill>
            </a:endParaRPr>
          </a:p>
        </p:txBody>
      </p:sp>
      <p:sp>
        <p:nvSpPr>
          <p:cNvPr id="336" name="Google Shape;336;p24"/>
          <p:cNvSpPr/>
          <p:nvPr/>
        </p:nvSpPr>
        <p:spPr>
          <a:xfrm>
            <a:off x="6261100" y="1835597"/>
            <a:ext cx="4343400" cy="4572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100" dir="2700000" algn="tl" rotWithShape="0">
              <a:srgbClr val="000000">
                <a:alpha val="3882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4"/>
          <p:cNvSpPr txBox="1"/>
          <p:nvPr/>
        </p:nvSpPr>
        <p:spPr>
          <a:xfrm>
            <a:off x="1752600" y="193541"/>
            <a:ext cx="8229600" cy="914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Unicast Global Addresses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4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24</a:t>
            </a:r>
            <a:endParaRPr sz="10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9"/>
          <p:cNvSpPr txBox="1">
            <a:spLocks noGrp="1"/>
          </p:cNvSpPr>
          <p:nvPr>
            <p:ph type="title"/>
          </p:nvPr>
        </p:nvSpPr>
        <p:spPr>
          <a:xfrm>
            <a:off x="1432794" y="466010"/>
            <a:ext cx="10018713" cy="949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Special Addresses</a:t>
            </a:r>
            <a:endParaRPr/>
          </a:p>
        </p:txBody>
      </p:sp>
      <p:pic>
        <p:nvPicPr>
          <p:cNvPr id="344" name="Google Shape;344;p2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69232" y="1955386"/>
            <a:ext cx="6123943" cy="3182098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9"/>
          <p:cNvSpPr txBox="1">
            <a:spLocks noGrp="1"/>
          </p:cNvSpPr>
          <p:nvPr>
            <p:ph type="body" idx="2"/>
          </p:nvPr>
        </p:nvSpPr>
        <p:spPr>
          <a:xfrm>
            <a:off x="6493667" y="1558344"/>
            <a:ext cx="4895056" cy="4224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lang="en-US" sz="2600" b="1"/>
              <a:t>Unspecified Address: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964"/>
              </a:spcBef>
              <a:spcAft>
                <a:spcPts val="0"/>
              </a:spcAft>
              <a:buSzPct val="145000"/>
              <a:buChar char="•"/>
            </a:pPr>
            <a:r>
              <a:rPr lang="en-US" sz="2600"/>
              <a:t>::/128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964"/>
              </a:spcBef>
              <a:spcAft>
                <a:spcPts val="0"/>
              </a:spcAft>
              <a:buSzPct val="145000"/>
              <a:buChar char="•"/>
            </a:pPr>
            <a:r>
              <a:rPr lang="en-US" sz="2600"/>
              <a:t>In a host, it refers to the host itself, and is used when a device does not know its own address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964"/>
              </a:spcBef>
              <a:spcAft>
                <a:spcPts val="0"/>
              </a:spcAft>
              <a:buSzPct val="145000"/>
              <a:buChar char="•"/>
            </a:pPr>
            <a:r>
              <a:rPr lang="en-US" sz="2600"/>
              <a:t>For addressing purposes within a software. 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964"/>
              </a:spcBef>
              <a:spcAft>
                <a:spcPts val="0"/>
              </a:spcAft>
              <a:buSzPct val="145000"/>
              <a:buChar char="•"/>
            </a:pPr>
            <a:r>
              <a:rPr lang="en-US" sz="2600" b="1"/>
              <a:t>Loopback Address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964"/>
              </a:spcBef>
              <a:spcAft>
                <a:spcPts val="0"/>
              </a:spcAft>
              <a:buSzPct val="145000"/>
              <a:buChar char="•"/>
            </a:pPr>
            <a:r>
              <a:rPr lang="en-US" sz="2600"/>
              <a:t>::1/128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964"/>
              </a:spcBef>
              <a:spcAft>
                <a:spcPts val="0"/>
              </a:spcAft>
              <a:buSzPct val="145000"/>
              <a:buChar char="•"/>
            </a:pPr>
            <a:r>
              <a:rPr lang="en-US" sz="2600"/>
              <a:t>loopback  (same as 127.0.0.1 in many IPv4 implementations)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964"/>
              </a:spcBef>
              <a:spcAft>
                <a:spcPts val="0"/>
              </a:spcAft>
              <a:buSzPct val="145000"/>
              <a:buChar char="•"/>
            </a:pPr>
            <a:r>
              <a:rPr lang="en-US" sz="2600"/>
              <a:t>In IPv6 there is just one address, not a whole block, for this function.</a:t>
            </a:r>
            <a:endParaRPr/>
          </a:p>
          <a:p>
            <a:pPr marL="285750" lvl="0" indent="-169735" algn="l" rtl="0">
              <a:lnSpc>
                <a:spcPct val="100000"/>
              </a:lnSpc>
              <a:spcBef>
                <a:spcPts val="852"/>
              </a:spcBef>
              <a:spcAft>
                <a:spcPts val="0"/>
              </a:spcAft>
              <a:buSzPct val="145000"/>
              <a:buNone/>
            </a:pPr>
            <a:endParaRPr/>
          </a:p>
        </p:txBody>
      </p:sp>
      <p:sp>
        <p:nvSpPr>
          <p:cNvPr id="346" name="Google Shape;346;p29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0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975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Unique Local Unicast Address</a:t>
            </a:r>
            <a:endParaRPr/>
          </a:p>
        </p:txBody>
      </p:sp>
      <p:sp>
        <p:nvSpPr>
          <p:cNvPr id="352" name="Google Shape;352;p30"/>
          <p:cNvSpPr txBox="1">
            <a:spLocks noGrp="1"/>
          </p:cNvSpPr>
          <p:nvPr>
            <p:ph type="sldNum" idx="12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353" name="Google Shape;353;p30"/>
          <p:cNvSpPr txBox="1">
            <a:spLocks noGrp="1"/>
          </p:cNvSpPr>
          <p:nvPr>
            <p:ph type="body" idx="1"/>
          </p:nvPr>
        </p:nvSpPr>
        <p:spPr>
          <a:xfrm>
            <a:off x="1484313" y="1906588"/>
            <a:ext cx="10018712" cy="388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b="1">
                <a:solidFill>
                  <a:srgbClr val="7030A0"/>
                </a:solidFill>
              </a:rPr>
              <a:t>FC00::/7</a:t>
            </a:r>
            <a:endParaRPr>
              <a:solidFill>
                <a:srgbClr val="7030A0"/>
              </a:solidFill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Globally unique,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But it should be used in local communication. </a:t>
            </a:r>
            <a:endParaRPr/>
          </a:p>
        </p:txBody>
      </p:sp>
      <p:pic>
        <p:nvPicPr>
          <p:cNvPr id="354" name="Google Shape;354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1301" y="3848894"/>
            <a:ext cx="8002117" cy="11050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407A495-2701-430F-B91F-BC711E65DEA2}"/>
              </a:ext>
            </a:extLst>
          </p:cNvPr>
          <p:cNvCxnSpPr/>
          <p:nvPr/>
        </p:nvCxnSpPr>
        <p:spPr>
          <a:xfrm>
            <a:off x="2816942" y="5088194"/>
            <a:ext cx="280219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340113A-6A2D-48D3-B877-936CE3775FAD}"/>
              </a:ext>
            </a:extLst>
          </p:cNvPr>
          <p:cNvSpPr txBox="1"/>
          <p:nvPr/>
        </p:nvSpPr>
        <p:spPr>
          <a:xfrm>
            <a:off x="3805084" y="5383161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Global ID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1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833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Link Local Unicast Address</a:t>
            </a:r>
            <a:endParaRPr/>
          </a:p>
        </p:txBody>
      </p:sp>
      <p:sp>
        <p:nvSpPr>
          <p:cNvPr id="360" name="Google Shape;360;p31"/>
          <p:cNvSpPr txBox="1">
            <a:spLocks noGrp="1"/>
          </p:cNvSpPr>
          <p:nvPr>
            <p:ph type="body" idx="1"/>
          </p:nvPr>
        </p:nvSpPr>
        <p:spPr>
          <a:xfrm>
            <a:off x="1484310" y="1661375"/>
            <a:ext cx="10018713" cy="3885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b="1">
                <a:solidFill>
                  <a:srgbClr val="7030A0"/>
                </a:solidFill>
              </a:rPr>
              <a:t>FE80::/10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These addresses refer </a:t>
            </a:r>
            <a:r>
              <a:rPr lang="en-US">
                <a:solidFill>
                  <a:srgbClr val="7030A0"/>
                </a:solidFill>
              </a:rPr>
              <a:t>only to a particular physical network.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>
                <a:solidFill>
                  <a:srgbClr val="7030A0"/>
                </a:solidFill>
              </a:rPr>
              <a:t>Routers do not forward </a:t>
            </a:r>
            <a:r>
              <a:rPr lang="en-US"/>
              <a:t>datagrams using link-local addresses.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They are only for </a:t>
            </a:r>
            <a:r>
              <a:rPr lang="en-US">
                <a:solidFill>
                  <a:srgbClr val="7030A0"/>
                </a:solidFill>
              </a:rPr>
              <a:t>local communication </a:t>
            </a:r>
            <a:r>
              <a:rPr lang="en-US"/>
              <a:t>on a particular physical </a:t>
            </a:r>
            <a:r>
              <a:rPr lang="en-US">
                <a:solidFill>
                  <a:srgbClr val="7030A0"/>
                </a:solidFill>
              </a:rPr>
              <a:t>network segment</a:t>
            </a:r>
            <a:r>
              <a:rPr lang="en-US"/>
              <a:t>.</a:t>
            </a:r>
            <a:endParaRPr/>
          </a:p>
          <a:p>
            <a:pPr marL="1543050" lvl="3" indent="-171450" algn="l" rtl="0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2320"/>
              <a:buChar char="•"/>
            </a:pPr>
            <a:r>
              <a:rPr lang="en-US"/>
              <a:t>Automatic address configuration.</a:t>
            </a:r>
            <a:endParaRPr/>
          </a:p>
          <a:p>
            <a:pPr marL="1543050" lvl="3" indent="-171450" algn="l" rtl="0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2320"/>
              <a:buChar char="•"/>
            </a:pPr>
            <a:r>
              <a:rPr lang="en-US"/>
              <a:t>Neighbor discovery.</a:t>
            </a:r>
            <a:endParaRPr/>
          </a:p>
          <a:p>
            <a:pPr marL="1543050" lvl="3" indent="-171450" algn="l" rtl="0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2320"/>
              <a:buChar char="•"/>
            </a:pPr>
            <a:r>
              <a:rPr lang="en-US"/>
              <a:t>Router discovery. etc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/>
          </a:p>
        </p:txBody>
      </p:sp>
      <p:sp>
        <p:nvSpPr>
          <p:cNvPr id="361" name="Google Shape;361;p31"/>
          <p:cNvSpPr txBox="1">
            <a:spLocks noGrp="1"/>
          </p:cNvSpPr>
          <p:nvPr>
            <p:ph type="sldNum" idx="12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31153" y="5103372"/>
            <a:ext cx="8776693" cy="640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2"/>
          <p:cNvSpPr txBox="1">
            <a:spLocks noGrp="1"/>
          </p:cNvSpPr>
          <p:nvPr>
            <p:ph type="title"/>
          </p:nvPr>
        </p:nvSpPr>
        <p:spPr>
          <a:xfrm>
            <a:off x="1484310" y="505496"/>
            <a:ext cx="10018713" cy="975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Scope of IPv6 Unicast Addresses</a:t>
            </a:r>
            <a:endParaRPr/>
          </a:p>
        </p:txBody>
      </p:sp>
      <p:pic>
        <p:nvPicPr>
          <p:cNvPr id="368" name="Google Shape;368;p3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945446" y="1982519"/>
            <a:ext cx="6297955" cy="3884612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2"/>
          <p:cNvSpPr txBox="1">
            <a:spLocks noGrp="1"/>
          </p:cNvSpPr>
          <p:nvPr>
            <p:ph type="sldNum" idx="12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3"/>
          <p:cNvSpPr txBox="1">
            <a:spLocks noGrp="1"/>
          </p:cNvSpPr>
          <p:nvPr>
            <p:ph type="title"/>
          </p:nvPr>
        </p:nvSpPr>
        <p:spPr>
          <a:xfrm>
            <a:off x="1664615" y="441101"/>
            <a:ext cx="10018713" cy="859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Multicast Addresses</a:t>
            </a:r>
            <a:endParaRPr/>
          </a:p>
        </p:txBody>
      </p:sp>
      <p:sp>
        <p:nvSpPr>
          <p:cNvPr id="375" name="Google Shape;375;p33"/>
          <p:cNvSpPr txBox="1">
            <a:spLocks noGrp="1"/>
          </p:cNvSpPr>
          <p:nvPr>
            <p:ph type="body" idx="1"/>
          </p:nvPr>
        </p:nvSpPr>
        <p:spPr>
          <a:xfrm>
            <a:off x="1938338" y="1545465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Consisting of all addresses that begin with “</a:t>
            </a:r>
            <a:r>
              <a:rPr lang="en-US">
                <a:solidFill>
                  <a:srgbClr val="7030A0"/>
                </a:solidFill>
              </a:rPr>
              <a:t>1111 1111</a:t>
            </a:r>
            <a:r>
              <a:rPr lang="en-US"/>
              <a:t>” i.e “</a:t>
            </a:r>
            <a:r>
              <a:rPr lang="en-US">
                <a:solidFill>
                  <a:srgbClr val="7030A0"/>
                </a:solidFill>
              </a:rPr>
              <a:t>FF</a:t>
            </a:r>
            <a:r>
              <a:rPr lang="en-US"/>
              <a:t>”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/>
          </a:p>
        </p:txBody>
      </p:sp>
      <p:pic>
        <p:nvPicPr>
          <p:cNvPr id="376" name="Google Shape;376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14600" y="2517048"/>
            <a:ext cx="7077075" cy="2976563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3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33</a:t>
            </a:r>
            <a:endParaRPr sz="10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4"/>
          <p:cNvSpPr txBox="1">
            <a:spLocks noGrp="1"/>
          </p:cNvSpPr>
          <p:nvPr>
            <p:ph type="title"/>
          </p:nvPr>
        </p:nvSpPr>
        <p:spPr>
          <a:xfrm>
            <a:off x="1690373" y="394936"/>
            <a:ext cx="10018713" cy="885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Multicast Addresses</a:t>
            </a:r>
            <a:endParaRPr/>
          </a:p>
        </p:txBody>
      </p:sp>
      <p:sp>
        <p:nvSpPr>
          <p:cNvPr id="383" name="Google Shape;383;p34"/>
          <p:cNvSpPr txBox="1">
            <a:spLocks noGrp="1"/>
          </p:cNvSpPr>
          <p:nvPr>
            <p:ph type="body" idx="1"/>
          </p:nvPr>
        </p:nvSpPr>
        <p:spPr>
          <a:xfrm>
            <a:off x="1484310" y="1571223"/>
            <a:ext cx="10018713" cy="4219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dirty="0"/>
              <a:t>Multicast addresses are used to send data to a number of devices on an internetwork simultaneously. </a:t>
            </a:r>
            <a:endParaRPr dirty="0"/>
          </a:p>
          <a:p>
            <a:pPr marL="285750" lvl="0" indent="-285750" algn="l" rtl="0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dirty="0"/>
              <a:t>Each multicast address can be specified for a variety of </a:t>
            </a:r>
            <a:r>
              <a:rPr lang="en-US" dirty="0">
                <a:solidFill>
                  <a:srgbClr val="7030A0"/>
                </a:solidFill>
              </a:rPr>
              <a:t>different </a:t>
            </a:r>
            <a:r>
              <a:rPr lang="en-US" i="1" dirty="0">
                <a:solidFill>
                  <a:srgbClr val="7030A0"/>
                </a:solidFill>
              </a:rPr>
              <a:t>scopes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dirty="0"/>
              <a:t>allowing a transmission to be targeted to either a wide or narrow audience of recipient devices.</a:t>
            </a:r>
            <a:endParaRPr dirty="0"/>
          </a:p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97467" y="3804649"/>
            <a:ext cx="7725853" cy="1695687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34</a:t>
            </a:r>
            <a:endParaRPr sz="10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571E79-D770-4C24-83B8-A926C600CC43}"/>
              </a:ext>
            </a:extLst>
          </p:cNvPr>
          <p:cNvSpPr/>
          <p:nvPr/>
        </p:nvSpPr>
        <p:spPr>
          <a:xfrm>
            <a:off x="1929254" y="6001399"/>
            <a:ext cx="102627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ff02::1 — All Nodes on the local link.ff02::2 — All Routers on the local link.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6"/>
          <p:cNvSpPr txBox="1">
            <a:spLocks noGrp="1"/>
          </p:cNvSpPr>
          <p:nvPr>
            <p:ph type="title"/>
          </p:nvPr>
        </p:nvSpPr>
        <p:spPr>
          <a:xfrm>
            <a:off x="1484311" y="685801"/>
            <a:ext cx="10018713" cy="846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Anycast Addresses</a:t>
            </a:r>
            <a:endParaRPr/>
          </a:p>
        </p:txBody>
      </p:sp>
      <p:sp>
        <p:nvSpPr>
          <p:cNvPr id="391" name="Google Shape;391;p36"/>
          <p:cNvSpPr txBox="1">
            <a:spLocks noGrp="1"/>
          </p:cNvSpPr>
          <p:nvPr>
            <p:ph type="body" idx="1"/>
          </p:nvPr>
        </p:nvSpPr>
        <p:spPr>
          <a:xfrm>
            <a:off x="1484311" y="1629179"/>
            <a:ext cx="10018713" cy="4258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To provide flexibility in situations where we need a service that is provided by a number of different servers or routers but don't really care which one provides it. 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In routing, anycast allows datagrams to be sent to </a:t>
            </a:r>
            <a:r>
              <a:rPr lang="en-US" sz="2800">
                <a:solidFill>
                  <a:srgbClr val="7030A0"/>
                </a:solidFill>
              </a:rPr>
              <a:t>whichever router in a group of equivalent routers is closest</a:t>
            </a:r>
            <a:endParaRPr sz="2800"/>
          </a:p>
        </p:txBody>
      </p:sp>
      <p:sp>
        <p:nvSpPr>
          <p:cNvPr id="392" name="Google Shape;392;p36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36</a:t>
            </a:r>
            <a:endParaRPr sz="10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393" name="Google Shape;393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72152" y="4469851"/>
            <a:ext cx="3334215" cy="21720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7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104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Anycast Addresses</a:t>
            </a:r>
            <a:endParaRPr/>
          </a:p>
        </p:txBody>
      </p:sp>
      <p:sp>
        <p:nvSpPr>
          <p:cNvPr id="399" name="Google Shape;399;p37"/>
          <p:cNvSpPr txBox="1">
            <a:spLocks noGrp="1"/>
          </p:cNvSpPr>
          <p:nvPr>
            <p:ph type="body" idx="1"/>
          </p:nvPr>
        </p:nvSpPr>
        <p:spPr>
          <a:xfrm>
            <a:off x="1484311" y="1790163"/>
            <a:ext cx="10018713" cy="4091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3314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20"/>
              <a:buChar char="•"/>
            </a:pPr>
            <a:r>
              <a:rPr lang="en-US" sz="3600"/>
              <a:t>There is no special anycast addressing scheme: </a:t>
            </a:r>
            <a:r>
              <a:rPr lang="en-US" sz="3600">
                <a:solidFill>
                  <a:srgbClr val="7030A0"/>
                </a:solidFill>
              </a:rPr>
              <a:t>anycast addresses are the same as unicast addresses. </a:t>
            </a:r>
            <a:endParaRPr/>
          </a:p>
          <a:p>
            <a:pPr marL="285750" lvl="0" indent="-331470" algn="l" rtl="0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SzPts val="5220"/>
              <a:buChar char="•"/>
            </a:pPr>
            <a:r>
              <a:rPr lang="en-US" sz="3600"/>
              <a:t>An anycast address is created “automatically” when a unicast address is assigned to more than one interface.</a:t>
            </a:r>
            <a:endParaRPr sz="3600"/>
          </a:p>
        </p:txBody>
      </p:sp>
      <p:sp>
        <p:nvSpPr>
          <p:cNvPr id="400" name="Google Shape;400;p37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37</a:t>
            </a:r>
            <a:endParaRPr sz="10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7"/>
          <p:cNvSpPr txBox="1"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rbel"/>
              <a:buNone/>
            </a:pPr>
            <a:r>
              <a:rPr lang="en-US" sz="5400"/>
              <a:t>Transition from IPv4 to IPv6</a:t>
            </a:r>
            <a:endParaRPr/>
          </a:p>
        </p:txBody>
      </p:sp>
      <p:sp>
        <p:nvSpPr>
          <p:cNvPr id="406" name="Google Shape;406;p57"/>
          <p:cNvSpPr txBox="1"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49580" algn="r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</a:pP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8"/>
          <p:cNvSpPr txBox="1">
            <a:spLocks noGrp="1"/>
          </p:cNvSpPr>
          <p:nvPr>
            <p:ph type="title"/>
          </p:nvPr>
        </p:nvSpPr>
        <p:spPr>
          <a:xfrm>
            <a:off x="1981200" y="457200"/>
            <a:ext cx="8231188" cy="1373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IPv4 to IPv6 Transition</a:t>
            </a:r>
            <a:endParaRPr/>
          </a:p>
        </p:txBody>
      </p:sp>
      <p:sp>
        <p:nvSpPr>
          <p:cNvPr id="414" name="Google Shape;414;p58"/>
          <p:cNvSpPr txBox="1">
            <a:spLocks noGrp="1"/>
          </p:cNvSpPr>
          <p:nvPr>
            <p:ph type="body" idx="1"/>
          </p:nvPr>
        </p:nvSpPr>
        <p:spPr>
          <a:xfrm>
            <a:off x="1981200" y="1981200"/>
            <a:ext cx="8231188" cy="3887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341313" lvl="0" indent="-3413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rPr lang="en-US" b="1">
                <a:solidFill>
                  <a:schemeClr val="accent6"/>
                </a:solidFill>
              </a:rPr>
              <a:t>Strategies and mechanisms:</a:t>
            </a:r>
            <a:endParaRPr/>
          </a:p>
          <a:p>
            <a:pPr marL="341313" lvl="0" indent="-341313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IPv4 to IPv6 transition is gradual</a:t>
            </a:r>
            <a:endParaRPr/>
          </a:p>
          <a:p>
            <a:pPr marL="341313" lvl="0" indent="-341313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IPv6 devices need to communicate to IPv4</a:t>
            </a:r>
            <a:endParaRPr/>
          </a:p>
          <a:p>
            <a:pPr marL="341313" lvl="0" indent="-341313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IPv6 needs to communicate over IPv4 links</a:t>
            </a:r>
            <a:endParaRPr/>
          </a:p>
        </p:txBody>
      </p:sp>
      <p:sp>
        <p:nvSpPr>
          <p:cNvPr id="415" name="Google Shape;415;p58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58</a:t>
            </a:r>
            <a:endParaRPr sz="10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9"/>
          <p:cNvSpPr txBox="1">
            <a:spLocks noGrp="1"/>
          </p:cNvSpPr>
          <p:nvPr>
            <p:ph type="title"/>
          </p:nvPr>
        </p:nvSpPr>
        <p:spPr>
          <a:xfrm>
            <a:off x="1565276" y="188711"/>
            <a:ext cx="8229600" cy="974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Transition Techniques</a:t>
            </a:r>
            <a:endParaRPr/>
          </a:p>
        </p:txBody>
      </p:sp>
      <p:sp>
        <p:nvSpPr>
          <p:cNvPr id="421" name="Google Shape;421;p59"/>
          <p:cNvSpPr txBox="1">
            <a:spLocks noGrp="1"/>
          </p:cNvSpPr>
          <p:nvPr>
            <p:ph type="body" idx="1"/>
          </p:nvPr>
        </p:nvSpPr>
        <p:spPr>
          <a:xfrm>
            <a:off x="1565276" y="1027090"/>
            <a:ext cx="35814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None/>
            </a:pPr>
            <a:r>
              <a:rPr lang="en-US" sz="2800" b="1">
                <a:solidFill>
                  <a:srgbClr val="7030A0"/>
                </a:solidFill>
              </a:rPr>
              <a:t>Three categories</a:t>
            </a:r>
            <a:r>
              <a:rPr lang="en-US" sz="2800"/>
              <a:t>:</a:t>
            </a:r>
            <a:endParaRPr/>
          </a:p>
          <a:p>
            <a:pPr marL="574675" lvl="0" indent="-517525" algn="l" rtl="0">
              <a:lnSpc>
                <a:spcPct val="90000"/>
              </a:lnSpc>
              <a:spcBef>
                <a:spcPts val="2280"/>
              </a:spcBef>
              <a:spcAft>
                <a:spcPts val="0"/>
              </a:spcAft>
              <a:buSzPts val="4060"/>
              <a:buChar char="•"/>
            </a:pPr>
            <a:r>
              <a:rPr lang="en-US" sz="2800" b="1">
                <a:solidFill>
                  <a:srgbClr val="1186C3"/>
                </a:solidFill>
              </a:rPr>
              <a:t>Dual-stack techniques</a:t>
            </a:r>
            <a:endParaRPr/>
          </a:p>
          <a:p>
            <a:pPr marL="574675" lvl="0" indent="-517525" algn="l" rtl="0">
              <a:lnSpc>
                <a:spcPct val="90000"/>
              </a:lnSpc>
              <a:spcBef>
                <a:spcPts val="2280"/>
              </a:spcBef>
              <a:spcAft>
                <a:spcPts val="0"/>
              </a:spcAft>
              <a:buSzPts val="4060"/>
              <a:buChar char="•"/>
            </a:pPr>
            <a:r>
              <a:rPr lang="en-US" sz="2800" b="1">
                <a:solidFill>
                  <a:srgbClr val="1186C3"/>
                </a:solidFill>
              </a:rPr>
              <a:t>Tunneling Techniques</a:t>
            </a:r>
            <a:endParaRPr/>
          </a:p>
          <a:p>
            <a:pPr marL="574675" lvl="0" indent="-517525" algn="l" rtl="0">
              <a:lnSpc>
                <a:spcPct val="90000"/>
              </a:lnSpc>
              <a:spcBef>
                <a:spcPts val="2280"/>
              </a:spcBef>
              <a:spcAft>
                <a:spcPts val="0"/>
              </a:spcAft>
              <a:buSzPts val="4060"/>
              <a:buChar char="•"/>
            </a:pPr>
            <a:r>
              <a:rPr lang="en-US" sz="2800" b="1">
                <a:solidFill>
                  <a:srgbClr val="1186C3"/>
                </a:solidFill>
              </a:rPr>
              <a:t>Translation techniques</a:t>
            </a:r>
            <a:endParaRPr/>
          </a:p>
        </p:txBody>
      </p:sp>
      <p:pic>
        <p:nvPicPr>
          <p:cNvPr id="422" name="Google Shape;422;p59" descr="http://www.tutorialspoint.com/ipv6/images/dual_stack_router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26176" y="831358"/>
            <a:ext cx="4254500" cy="205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59" descr="http://www.tutorialspoint.com/ipv6/images/tunneling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46676" y="3014864"/>
            <a:ext cx="5334000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59" descr="http://www.tutorialspoint.com/ipv6/images/nat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56301" y="4197776"/>
            <a:ext cx="4524375" cy="1704975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59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59</a:t>
            </a:r>
            <a:endParaRPr sz="10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60"/>
          <p:cNvSpPr txBox="1">
            <a:spLocks noGrp="1"/>
          </p:cNvSpPr>
          <p:nvPr>
            <p:ph type="body" idx="1"/>
          </p:nvPr>
        </p:nvSpPr>
        <p:spPr>
          <a:xfrm>
            <a:off x="1828800" y="1371601"/>
            <a:ext cx="8229600" cy="2440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Method in which a node has implementation and connectivity to </a:t>
            </a:r>
            <a:r>
              <a:rPr lang="en-US">
                <a:solidFill>
                  <a:srgbClr val="7030A0"/>
                </a:solidFill>
              </a:rPr>
              <a:t>both an IPv4 and IPv6 </a:t>
            </a:r>
            <a:r>
              <a:rPr lang="en-US"/>
              <a:t>network.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</a:t>
            </a:r>
            <a:r>
              <a:rPr lang="en-US">
                <a:solidFill>
                  <a:srgbClr val="FFFF00"/>
                </a:solidFill>
              </a:rPr>
              <a:t> </a:t>
            </a:r>
            <a:r>
              <a:rPr lang="en-US">
                <a:solidFill>
                  <a:srgbClr val="7030A0"/>
                </a:solidFill>
              </a:rPr>
              <a:t>recommended</a:t>
            </a:r>
            <a:r>
              <a:rPr lang="en-US"/>
              <a:t> option.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Involves running IPv4 and IPv6 at the same time</a:t>
            </a:r>
            <a:r>
              <a:rPr lang="en-US">
                <a:solidFill>
                  <a:srgbClr val="FFFF00"/>
                </a:solidFill>
              </a:rPr>
              <a:t>.</a:t>
            </a:r>
            <a:endParaRPr/>
          </a:p>
        </p:txBody>
      </p:sp>
      <p:sp>
        <p:nvSpPr>
          <p:cNvPr id="431" name="Google Shape;431;p60"/>
          <p:cNvSpPr txBox="1">
            <a:spLocks noGrp="1"/>
          </p:cNvSpPr>
          <p:nvPr>
            <p:ph type="title"/>
          </p:nvPr>
        </p:nvSpPr>
        <p:spPr>
          <a:xfrm>
            <a:off x="1981200" y="304800"/>
            <a:ext cx="8231188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Dual Stack</a:t>
            </a:r>
            <a:endParaRPr/>
          </a:p>
        </p:txBody>
      </p:sp>
      <p:sp>
        <p:nvSpPr>
          <p:cNvPr id="432" name="Google Shape;432;p60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60</a:t>
            </a:r>
            <a:endParaRPr sz="10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433" name="Google Shape;433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42136" y="3607352"/>
            <a:ext cx="5943600" cy="28696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3"/>
          <p:cNvSpPr txBox="1">
            <a:spLocks noGrp="1"/>
          </p:cNvSpPr>
          <p:nvPr>
            <p:ph type="title"/>
          </p:nvPr>
        </p:nvSpPr>
        <p:spPr>
          <a:xfrm>
            <a:off x="203200" y="152400"/>
            <a:ext cx="11785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IPv6 Tunneling</a:t>
            </a:r>
            <a:endParaRPr/>
          </a:p>
        </p:txBody>
      </p:sp>
      <p:sp>
        <p:nvSpPr>
          <p:cNvPr id="439" name="Google Shape;439;p63"/>
          <p:cNvSpPr txBox="1">
            <a:spLocks noGrp="1"/>
          </p:cNvSpPr>
          <p:nvPr>
            <p:ph type="body" idx="1"/>
          </p:nvPr>
        </p:nvSpPr>
        <p:spPr>
          <a:xfrm>
            <a:off x="1752600" y="4297364"/>
            <a:ext cx="87630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Tunneling is an integration method where an </a:t>
            </a:r>
            <a:r>
              <a:rPr lang="en-US" sz="2800">
                <a:solidFill>
                  <a:srgbClr val="7030A0"/>
                </a:solidFill>
              </a:rPr>
              <a:t>IPv6 packet is encapsulated within another protocol. 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Tunneling encapsulates the IPv6 packet in the IPv4 packet. </a:t>
            </a:r>
            <a:endParaRPr/>
          </a:p>
        </p:txBody>
      </p:sp>
      <p:pic>
        <p:nvPicPr>
          <p:cNvPr id="440" name="Google Shape;440;p63" descr="ips66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2600" y="1295401"/>
            <a:ext cx="8686800" cy="30019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1" name="Google Shape;441;p63"/>
          <p:cNvCxnSpPr/>
          <p:nvPr/>
        </p:nvCxnSpPr>
        <p:spPr>
          <a:xfrm rot="-5400000" flipH="1">
            <a:off x="3314700" y="1866900"/>
            <a:ext cx="1752600" cy="1676400"/>
          </a:xfrm>
          <a:prstGeom prst="straightConnector1">
            <a:avLst/>
          </a:prstGeom>
          <a:noFill/>
          <a:ln w="5080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63500" dist="38100" dir="2700000" algn="tl" rotWithShape="0">
              <a:srgbClr val="000000">
                <a:alpha val="76862"/>
              </a:srgbClr>
            </a:outerShdw>
          </a:effectLst>
        </p:spPr>
      </p:cxnSp>
      <p:cxnSp>
        <p:nvCxnSpPr>
          <p:cNvPr id="442" name="Google Shape;442;p63"/>
          <p:cNvCxnSpPr/>
          <p:nvPr/>
        </p:nvCxnSpPr>
        <p:spPr>
          <a:xfrm>
            <a:off x="5181600" y="3581400"/>
            <a:ext cx="1524000" cy="0"/>
          </a:xfrm>
          <a:prstGeom prst="straightConnector1">
            <a:avLst/>
          </a:prstGeom>
          <a:noFill/>
          <a:ln w="5080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63500" dist="38100" dir="2700000" algn="tl" rotWithShape="0">
              <a:srgbClr val="000000">
                <a:alpha val="76862"/>
              </a:srgbClr>
            </a:outerShdw>
          </a:effectLst>
        </p:spPr>
      </p:cxnSp>
      <p:cxnSp>
        <p:nvCxnSpPr>
          <p:cNvPr id="443" name="Google Shape;443;p63"/>
          <p:cNvCxnSpPr/>
          <p:nvPr/>
        </p:nvCxnSpPr>
        <p:spPr>
          <a:xfrm rot="-5400000">
            <a:off x="6667500" y="2019300"/>
            <a:ext cx="1828800" cy="1295400"/>
          </a:xfrm>
          <a:prstGeom prst="straightConnector1">
            <a:avLst/>
          </a:prstGeom>
          <a:noFill/>
          <a:ln w="5080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63500" dist="38100" dir="2700000" algn="tl" rotWithShape="0">
              <a:srgbClr val="000000">
                <a:alpha val="76862"/>
              </a:srgbClr>
            </a:outerShdw>
          </a:effectLst>
        </p:spPr>
      </p:cxnSp>
      <p:cxnSp>
        <p:nvCxnSpPr>
          <p:cNvPr id="444" name="Google Shape;444;p63"/>
          <p:cNvCxnSpPr/>
          <p:nvPr/>
        </p:nvCxnSpPr>
        <p:spPr>
          <a:xfrm>
            <a:off x="5410200" y="1905000"/>
            <a:ext cx="1295400" cy="0"/>
          </a:xfrm>
          <a:prstGeom prst="straightConnector1">
            <a:avLst/>
          </a:prstGeom>
          <a:noFill/>
          <a:ln w="50800" cap="flat" cmpd="sng">
            <a:solidFill>
              <a:srgbClr val="002060"/>
            </a:solidFill>
            <a:prstDash val="solid"/>
            <a:round/>
            <a:headEnd type="triangle" w="med" len="med"/>
            <a:tailEnd type="triangle" w="med" len="med"/>
          </a:ln>
          <a:effectLst>
            <a:outerShdw blurRad="63500" dist="38100" dir="2700000" algn="tl" rotWithShape="0">
              <a:srgbClr val="000000">
                <a:alpha val="76862"/>
              </a:srgbClr>
            </a:outerShdw>
          </a:effectLst>
        </p:spPr>
      </p:cxnSp>
      <p:sp>
        <p:nvSpPr>
          <p:cNvPr id="445" name="Google Shape;445;p63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63</a:t>
            </a:r>
            <a:endParaRPr sz="10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64"/>
          <p:cNvSpPr txBox="1">
            <a:spLocks noGrp="1"/>
          </p:cNvSpPr>
          <p:nvPr>
            <p:ph type="title"/>
          </p:nvPr>
        </p:nvSpPr>
        <p:spPr>
          <a:xfrm>
            <a:off x="203200" y="152400"/>
            <a:ext cx="11785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IPv6 Tunneling</a:t>
            </a:r>
            <a:endParaRPr/>
          </a:p>
        </p:txBody>
      </p:sp>
      <p:sp>
        <p:nvSpPr>
          <p:cNvPr id="451" name="Google Shape;451;p64"/>
          <p:cNvSpPr txBox="1">
            <a:spLocks noGrp="1"/>
          </p:cNvSpPr>
          <p:nvPr>
            <p:ph type="body" idx="1"/>
          </p:nvPr>
        </p:nvSpPr>
        <p:spPr>
          <a:xfrm>
            <a:off x="1676400" y="4343400"/>
            <a:ext cx="87630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20000"/>
          </a:bodyPr>
          <a:lstStyle/>
          <a:p>
            <a:pPr marL="285750" lvl="0" indent="-28574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lang="en-US" sz="2800"/>
              <a:t>When IPv4 is used to encapsulate the IPv6 packet: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 sz="2400"/>
              <a:t>Protocol type of </a:t>
            </a:r>
            <a:r>
              <a:rPr lang="en-US" sz="2400">
                <a:solidFill>
                  <a:srgbClr val="7030A0"/>
                </a:solidFill>
              </a:rPr>
              <a:t>41.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 sz="2400">
                <a:solidFill>
                  <a:srgbClr val="7030A0"/>
                </a:solidFill>
              </a:rPr>
              <a:t>20-byte IPv4 header </a:t>
            </a:r>
            <a:r>
              <a:rPr lang="en-US" sz="2400"/>
              <a:t>with no options.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 sz="2400"/>
              <a:t>IPv6 header and payload.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 sz="2400"/>
              <a:t>Requires </a:t>
            </a:r>
            <a:r>
              <a:rPr lang="en-US" sz="2400">
                <a:solidFill>
                  <a:srgbClr val="7030A0"/>
                </a:solidFill>
              </a:rPr>
              <a:t>dual stacked </a:t>
            </a:r>
            <a:r>
              <a:rPr lang="en-US" sz="2400"/>
              <a:t>routers.</a:t>
            </a:r>
            <a:endParaRPr/>
          </a:p>
        </p:txBody>
      </p:sp>
      <p:pic>
        <p:nvPicPr>
          <p:cNvPr id="452" name="Google Shape;452;p64" descr="ips66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2600" y="1295401"/>
            <a:ext cx="8686800" cy="30019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3" name="Google Shape;453;p64"/>
          <p:cNvCxnSpPr/>
          <p:nvPr/>
        </p:nvCxnSpPr>
        <p:spPr>
          <a:xfrm>
            <a:off x="5410200" y="1905000"/>
            <a:ext cx="1295400" cy="0"/>
          </a:xfrm>
          <a:prstGeom prst="straightConnector1">
            <a:avLst/>
          </a:prstGeom>
          <a:noFill/>
          <a:ln w="50800" cap="flat" cmpd="sng">
            <a:solidFill>
              <a:srgbClr val="002060"/>
            </a:solidFill>
            <a:prstDash val="solid"/>
            <a:round/>
            <a:headEnd type="triangle" w="med" len="med"/>
            <a:tailEnd type="triangle" w="med" len="med"/>
          </a:ln>
          <a:effectLst>
            <a:outerShdw blurRad="63500" dist="38100" dir="2700000" algn="tl" rotWithShape="0">
              <a:srgbClr val="000000">
                <a:alpha val="76862"/>
              </a:srgbClr>
            </a:outerShdw>
          </a:effectLst>
        </p:spPr>
      </p:cxnSp>
      <p:sp>
        <p:nvSpPr>
          <p:cNvPr id="454" name="Google Shape;454;p64"/>
          <p:cNvSpPr/>
          <p:nvPr/>
        </p:nvSpPr>
        <p:spPr>
          <a:xfrm>
            <a:off x="3962400" y="3733800"/>
            <a:ext cx="3962400" cy="5334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100" dir="2700000" algn="tl" rotWithShape="0">
              <a:srgbClr val="000000">
                <a:alpha val="3882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64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64</a:t>
            </a:r>
            <a:endParaRPr sz="10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5"/>
          <p:cNvSpPr txBox="1">
            <a:spLocks noGrp="1"/>
          </p:cNvSpPr>
          <p:nvPr>
            <p:ph type="title"/>
          </p:nvPr>
        </p:nvSpPr>
        <p:spPr>
          <a:xfrm>
            <a:off x="1587500" y="672922"/>
            <a:ext cx="10018713" cy="782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br>
              <a:rPr lang="en-US"/>
            </a:br>
            <a:r>
              <a:rPr lang="en-US">
                <a:solidFill>
                  <a:srgbClr val="000000"/>
                </a:solidFill>
              </a:rPr>
              <a:t>NAT Protocol Translation</a:t>
            </a:r>
            <a:br>
              <a:rPr lang="en-US"/>
            </a:br>
            <a:endParaRPr/>
          </a:p>
        </p:txBody>
      </p:sp>
      <p:sp>
        <p:nvSpPr>
          <p:cNvPr id="461" name="Google Shape;461;p65"/>
          <p:cNvSpPr txBox="1">
            <a:spLocks noGrp="1"/>
          </p:cNvSpPr>
          <p:nvPr>
            <p:ph type="body" idx="1"/>
          </p:nvPr>
        </p:nvSpPr>
        <p:spPr>
          <a:xfrm>
            <a:off x="1587500" y="1612184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Important method of transition to IPv6 by means of a NAT-PT (Network Address Translation – Protocol Translation) enabled device.</a:t>
            </a:r>
            <a:endParaRPr/>
          </a:p>
        </p:txBody>
      </p:sp>
      <p:sp>
        <p:nvSpPr>
          <p:cNvPr id="462" name="Google Shape;462;p65" descr="File:6to4.svg"/>
          <p:cNvSpPr/>
          <p:nvPr/>
        </p:nvSpPr>
        <p:spPr>
          <a:xfrm>
            <a:off x="1587500" y="-136525"/>
            <a:ext cx="7620000" cy="503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3" name="Google Shape;463;p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10050" y="2448661"/>
            <a:ext cx="6126480" cy="230362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65"/>
          <p:cNvSpPr/>
          <p:nvPr/>
        </p:nvSpPr>
        <p:spPr>
          <a:xfrm>
            <a:off x="1954023" y="4762833"/>
            <a:ext cx="8452834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When the IPv4 host sends a request packet to the IPv6 server, the NAT-PT device/router strips down the IPv4 packet, removes IPv4 header, and adds IPv6 header and passes it through the Internet. When a response from the IPv6 server comes for the IPv4 host, the router does vice versa.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65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65</a:t>
            </a:r>
            <a:endParaRPr sz="10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6"/>
          <p:cNvSpPr txBox="1"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THE END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1327</Words>
  <Application>Microsoft Office PowerPoint</Application>
  <PresentationFormat>Widescreen</PresentationFormat>
  <Paragraphs>230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1" baseType="lpstr">
      <vt:lpstr>Noto Sans Symbols</vt:lpstr>
      <vt:lpstr>Times</vt:lpstr>
      <vt:lpstr>Times New Roman</vt:lpstr>
      <vt:lpstr>Corbel</vt:lpstr>
      <vt:lpstr>Tahoma</vt:lpstr>
      <vt:lpstr>Arial</vt:lpstr>
      <vt:lpstr>Calibri</vt:lpstr>
      <vt:lpstr>Helvetica Neue</vt:lpstr>
      <vt:lpstr>Courier New</vt:lpstr>
      <vt:lpstr>Parallax</vt:lpstr>
      <vt:lpstr>Network Layer: Internet Protocol, Version 6 (IPv6)</vt:lpstr>
      <vt:lpstr>IPv6</vt:lpstr>
      <vt:lpstr>Reasons for using IPv6</vt:lpstr>
      <vt:lpstr>Reasons for Using IPv6 </vt:lpstr>
      <vt:lpstr>IPv6 Datagram</vt:lpstr>
      <vt:lpstr>Extension Headers</vt:lpstr>
      <vt:lpstr>Extension Headers</vt:lpstr>
      <vt:lpstr>The IPv4 Header  </vt:lpstr>
      <vt:lpstr>Header Changes between IPv4 and IPv6</vt:lpstr>
      <vt:lpstr>IPv6 Address</vt:lpstr>
      <vt:lpstr>Types of IPv6 addresses</vt:lpstr>
      <vt:lpstr>Types of IPv6 addresses </vt:lpstr>
      <vt:lpstr>Unicast Global Addresses</vt:lpstr>
      <vt:lpstr>Unicast addresses </vt:lpstr>
      <vt:lpstr>PowerPoint Presentation</vt:lpstr>
      <vt:lpstr>Special Addresses</vt:lpstr>
      <vt:lpstr>Unique Local Unicast Address</vt:lpstr>
      <vt:lpstr>Link Local Unicast Address</vt:lpstr>
      <vt:lpstr>Scope of IPv6 Unicast Addresses</vt:lpstr>
      <vt:lpstr>Multicast Addresses</vt:lpstr>
      <vt:lpstr>Multicast Addresses</vt:lpstr>
      <vt:lpstr>Anycast Addresses</vt:lpstr>
      <vt:lpstr>Anycast Addresses</vt:lpstr>
      <vt:lpstr>Transition from IPv4 to IPv6</vt:lpstr>
      <vt:lpstr>IPv4 to IPv6 Transition</vt:lpstr>
      <vt:lpstr>Transition Techniques</vt:lpstr>
      <vt:lpstr>Dual Stack</vt:lpstr>
      <vt:lpstr>IPv6 Tunneling</vt:lpstr>
      <vt:lpstr>IPv6 Tunneling</vt:lpstr>
      <vt:lpstr> NAT Protocol Translation 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Layer: Internet Protocol, Version 6 (IPv6)</dc:title>
  <dc:creator>Mehnaz</dc:creator>
  <cp:lastModifiedBy>Md. Sakir Hossain</cp:lastModifiedBy>
  <cp:revision>7</cp:revision>
  <dcterms:created xsi:type="dcterms:W3CDTF">2020-08-26T05:29:28Z</dcterms:created>
  <dcterms:modified xsi:type="dcterms:W3CDTF">2026-04-24T11:27:56Z</dcterms:modified>
</cp:coreProperties>
</file>