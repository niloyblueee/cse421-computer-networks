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300" r:id="rId11"/>
    <p:sldId id="301" r:id="rId12"/>
    <p:sldId id="299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4" r:id="rId26"/>
    <p:sldId id="277" r:id="rId27"/>
    <p:sldId id="278" r:id="rId28"/>
    <p:sldId id="282" r:id="rId29"/>
    <p:sldId id="283" r:id="rId30"/>
    <p:sldId id="284" r:id="rId31"/>
    <p:sldId id="285" r:id="rId32"/>
    <p:sldId id="287" r:id="rId33"/>
    <p:sldId id="288" r:id="rId34"/>
    <p:sldId id="289" r:id="rId35"/>
    <p:sldId id="298" r:id="rId36"/>
    <p:sldId id="302" r:id="rId37"/>
    <p:sldId id="303" r:id="rId38"/>
    <p:sldId id="304" r:id="rId39"/>
    <p:sldId id="305" r:id="rId40"/>
    <p:sldId id="306" r:id="rId41"/>
    <p:sldId id="307" r:id="rId42"/>
    <p:sldId id="290" r:id="rId43"/>
  </p:sldIdLst>
  <p:sldSz cx="12192000" cy="6858000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Corbel" panose="020B0503020204020204" pitchFamily="34" charset="0"/>
      <p:regular r:id="rId49"/>
      <p:bold r:id="rId50"/>
      <p:italic r:id="rId51"/>
      <p:boldItalic r:id="rId52"/>
    </p:embeddedFont>
    <p:embeddedFont>
      <p:font typeface="Lustria" panose="020B0604020202020204" charset="0"/>
      <p:regular r:id="rId53"/>
    </p:embeddedFont>
    <p:embeddedFont>
      <p:font typeface="Tahoma" panose="020B0604030504040204" pitchFamily="34" charset="0"/>
      <p:regular r:id="rId54"/>
      <p:bold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cTYl/Nm0ja83b6nm46WW75nIP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4CB6B7-6801-417A-B22A-5FBE8912F3F3}">
  <a:tblStyle styleId="{DE4CB6B7-6801-417A-B22A-5FBE8912F3F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tcBdr/>
        <a:fill>
          <a:solidFill>
            <a:srgbClr val="CCE2F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CE2F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6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54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6" name="Google Shape;156;p54:notes"/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9269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3604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r>
              <a:rPr lang="en-US"/>
              <a:t>If there is no dynamic routing protocols</a:t>
            </a:r>
            <a:endParaRPr/>
          </a:p>
        </p:txBody>
      </p:sp>
      <p:sp>
        <p:nvSpPr>
          <p:cNvPr id="191" name="Google Shape;191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3232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56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9" name="Google Shape;199;p56:notes"/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 of static routing</a:t>
            </a:r>
            <a:endParaRPr/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most secure way of routing, since no information is shared with other routers.</a:t>
            </a:r>
            <a:endParaRPr/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puts no overhead on resources such as CPU or memory.</a:t>
            </a:r>
            <a:endParaRPr/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routing algorithm or update mechanisms are required. Therefore, extra resources (CPU and memory) are not required.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easy to implement.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13986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57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7" name="Google Shape;207;p57:notes"/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8801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57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86175" y="-11798300"/>
            <a:ext cx="20975638" cy="11799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7" name="Google Shape;207;p57:notes"/>
          <p:cNvSpPr txBox="1">
            <a:spLocks noGrp="1"/>
          </p:cNvSpPr>
          <p:nvPr>
            <p:ph type="body" idx="1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867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2619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2655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92275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0000"/>
                </a:solidFill>
              </a:rPr>
              <a:t>Inefficient:</a:t>
            </a:r>
            <a:r>
              <a:rPr lang="en-US"/>
              <a:t>   Updates consume bandwidth and router CPU resources.</a:t>
            </a:r>
            <a:endParaRPr/>
          </a:p>
          <a:p>
            <a:pPr marL="1692275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Periodic updates are </a:t>
            </a:r>
            <a:r>
              <a:rPr lang="en-US">
                <a:solidFill>
                  <a:srgbClr val="FF0000"/>
                </a:solidFill>
              </a:rPr>
              <a:t>always sent</a:t>
            </a:r>
            <a:r>
              <a:rPr lang="en-US"/>
              <a:t> even there have been no changes for weeks or months.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10.1.0.0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out the </a:t>
            </a:r>
            <a:r>
              <a:rPr lang="en-US">
                <a:solidFill>
                  <a:srgbClr val="FF0000"/>
                </a:solidFill>
              </a:rPr>
              <a:t>Serial 0/0/0</a:t>
            </a:r>
            <a:r>
              <a:rPr lang="en-US"/>
              <a:t> interface with a metric of 1.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10.2.0.0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out the </a:t>
            </a:r>
            <a:r>
              <a:rPr lang="en-US">
                <a:solidFill>
                  <a:srgbClr val="FF0000"/>
                </a:solidFill>
              </a:rPr>
              <a:t>Fa0/0</a:t>
            </a:r>
            <a:r>
              <a:rPr lang="en-US"/>
              <a:t>  interface with a metric of 1.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10.4.0.0</a:t>
            </a:r>
            <a:r>
              <a:rPr lang="en-US"/>
              <a:t> out the </a:t>
            </a:r>
            <a:r>
              <a:rPr lang="en-US">
                <a:solidFill>
                  <a:srgbClr val="FFFF00"/>
                </a:solidFill>
              </a:rPr>
              <a:t>S0/0/0</a:t>
            </a:r>
            <a:r>
              <a:rPr lang="en-US"/>
              <a:t> interface with a metric of 1.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10.3.0.0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Fa0/0 </a:t>
            </a:r>
            <a:r>
              <a:rPr lang="en-US"/>
              <a:t>interface with a metric of 1.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10.1.0.0</a:t>
            </a:r>
            <a:r>
              <a:rPr lang="en-US"/>
              <a:t> out the S0/0/0 interface with a metric of 1  -  </a:t>
            </a:r>
            <a:r>
              <a:rPr lang="en-US">
                <a:solidFill>
                  <a:srgbClr val="FF0000"/>
                </a:solidFill>
              </a:rPr>
              <a:t>AGAIN!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rgbClr val="00B050"/>
                </a:solidFill>
              </a:rPr>
              <a:t>When R2 receives the update</a:t>
            </a:r>
            <a:r>
              <a:rPr lang="en-US"/>
              <a:t>, there is </a:t>
            </a:r>
            <a:r>
              <a:rPr lang="en-US">
                <a:solidFill>
                  <a:srgbClr val="FF0000"/>
                </a:solidFill>
              </a:rPr>
              <a:t>no change</a:t>
            </a:r>
            <a:r>
              <a:rPr lang="en-US"/>
              <a:t> in information so the update is ignored.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9" name="Google Shape;54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Sends an update about networks </a:t>
            </a:r>
            <a:r>
              <a:rPr lang="en-US" sz="1200">
                <a:solidFill>
                  <a:srgbClr val="FF0000"/>
                </a:solidFill>
              </a:rPr>
              <a:t>10.3.0.0</a:t>
            </a:r>
            <a:r>
              <a:rPr lang="en-US" sz="1200"/>
              <a:t> with a metric of 1 and </a:t>
            </a:r>
            <a:r>
              <a:rPr lang="en-US" sz="1200">
                <a:solidFill>
                  <a:srgbClr val="FF0000"/>
                </a:solidFill>
              </a:rPr>
              <a:t>10.4.0.0</a:t>
            </a:r>
            <a:r>
              <a:rPr lang="en-US" sz="1200"/>
              <a:t> with a metric of 2 out the </a:t>
            </a:r>
            <a:r>
              <a:rPr lang="en-US" sz="1200">
                <a:solidFill>
                  <a:srgbClr val="FF0000"/>
                </a:solidFill>
              </a:rPr>
              <a:t>Serial 0/0/0</a:t>
            </a:r>
            <a:r>
              <a:rPr lang="en-US" sz="1200"/>
              <a:t> interface.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Similarly sends updates about networks </a:t>
            </a:r>
            <a:r>
              <a:rPr lang="en-US" sz="1200">
                <a:solidFill>
                  <a:srgbClr val="FF0000"/>
                </a:solidFill>
              </a:rPr>
              <a:t>10.1.0.0</a:t>
            </a:r>
            <a:r>
              <a:rPr lang="en-US" sz="1200"/>
              <a:t> with a metric of 2 and </a:t>
            </a:r>
            <a:r>
              <a:rPr lang="en-US" sz="1200">
                <a:solidFill>
                  <a:srgbClr val="FF0000"/>
                </a:solidFill>
              </a:rPr>
              <a:t>10.2.0.0</a:t>
            </a:r>
            <a:r>
              <a:rPr lang="en-US" sz="1200"/>
              <a:t> with a metric of 1 out the </a:t>
            </a:r>
            <a:r>
              <a:rPr lang="en-US" sz="1200">
                <a:solidFill>
                  <a:srgbClr val="FF0000"/>
                </a:solidFill>
              </a:rPr>
              <a:t>Serial 0/0/1</a:t>
            </a:r>
            <a:r>
              <a:rPr lang="en-US" sz="1200"/>
              <a:t> interface.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9" name="Google Shape;5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Therefore, network administrators </a:t>
            </a:r>
            <a:r>
              <a:rPr lang="en-US" b="1"/>
              <a:t>prefer routing protocols with faster convergence</a:t>
            </a:r>
            <a:r>
              <a:rPr lang="en-US"/>
              <a:t>.</a:t>
            </a:r>
            <a:endParaRPr/>
          </a:p>
        </p:txBody>
      </p:sp>
      <p:sp>
        <p:nvSpPr>
          <p:cNvPr id="672" name="Google Shape;67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Therefore, network administrators </a:t>
            </a:r>
            <a:r>
              <a:rPr lang="en-US" b="1"/>
              <a:t>prefer routing protocols with faster convergence</a:t>
            </a:r>
            <a:r>
              <a:rPr lang="en-US"/>
              <a:t>.</a:t>
            </a:r>
            <a:endParaRPr/>
          </a:p>
        </p:txBody>
      </p:sp>
      <p:sp>
        <p:nvSpPr>
          <p:cNvPr id="680" name="Google Shape;6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As you see in this graph, there is only one link between A and the other parts of the network.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 Now imagine that the link between A and B is cut.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 At this time, B corrects its table.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2" name="Google Shape;74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5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45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45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45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45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45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45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45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5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5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6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6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5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1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51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2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3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53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4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4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4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5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5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6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6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56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5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7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5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8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8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58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5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5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9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59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59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5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0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0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6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1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1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6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4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44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4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4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4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44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44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4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5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4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g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g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12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 txBox="1">
            <a:spLocks noGrp="1"/>
          </p:cNvSpPr>
          <p:nvPr>
            <p:ph type="ctrTitle"/>
          </p:nvPr>
        </p:nvSpPr>
        <p:spPr>
          <a:xfrm>
            <a:off x="2928400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 dirty="0"/>
              <a:t>Network Layer</a:t>
            </a:r>
            <a:br>
              <a:rPr lang="en-US" dirty="0"/>
            </a:br>
            <a:r>
              <a:rPr lang="en-US" sz="3200" dirty="0"/>
              <a:t>Routing and Routing Algorithms</a:t>
            </a:r>
            <a:br>
              <a:rPr lang="en-US" sz="2800" dirty="0"/>
            </a:br>
            <a:r>
              <a:rPr lang="en-US" sz="2400" b="1" i="1" dirty="0"/>
              <a:t>Distance Vector Routing</a:t>
            </a:r>
            <a:endParaRPr sz="54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>
            <a:spLocks noGrp="1"/>
          </p:cNvSpPr>
          <p:nvPr>
            <p:ph type="title"/>
          </p:nvPr>
        </p:nvSpPr>
        <p:spPr>
          <a:xfrm>
            <a:off x="1591925" y="54553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44" name="Google Shape;144;p2"/>
          <p:cNvSpPr txBox="1">
            <a:spLocks noGrp="1"/>
          </p:cNvSpPr>
          <p:nvPr>
            <p:ph type="body" idx="1"/>
          </p:nvPr>
        </p:nvSpPr>
        <p:spPr>
          <a:xfrm>
            <a:off x="1433578" y="1612335"/>
            <a:ext cx="10018713" cy="475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359093">
              <a:spcBef>
                <a:spcPts val="0"/>
              </a:spcBef>
              <a:buSzPts val="5655"/>
            </a:pPr>
            <a:r>
              <a:rPr lang="en-US" sz="3900" dirty="0"/>
              <a:t>How routers learn routes</a:t>
            </a:r>
          </a:p>
          <a:p>
            <a:pPr marL="285750" lvl="0" indent="-359093">
              <a:spcBef>
                <a:spcPts val="0"/>
              </a:spcBef>
              <a:buSzPts val="5655"/>
            </a:pPr>
            <a:endParaRPr lang="en-US" sz="3900" dirty="0"/>
          </a:p>
          <a:p>
            <a:pPr marL="285750" lvl="0" indent="-359093">
              <a:spcBef>
                <a:spcPts val="0"/>
              </a:spcBef>
              <a:buSzPts val="5655"/>
            </a:pPr>
            <a:r>
              <a:rPr lang="en-US" sz="3900" dirty="0"/>
              <a:t>Static routing</a:t>
            </a:r>
          </a:p>
          <a:p>
            <a:pPr marL="285750" lvl="0" indent="-359093">
              <a:spcBef>
                <a:spcPts val="0"/>
              </a:spcBef>
              <a:buSzPts val="5655"/>
            </a:pPr>
            <a:endParaRPr lang="en-US" sz="3900" dirty="0"/>
          </a:p>
          <a:p>
            <a:pPr marL="285750" lvl="0" indent="-359093">
              <a:spcBef>
                <a:spcPts val="0"/>
              </a:spcBef>
              <a:buSzPts val="5655"/>
            </a:pPr>
            <a:r>
              <a:rPr lang="en-US" sz="3900" dirty="0"/>
              <a:t>Dynamic routing</a:t>
            </a:r>
          </a:p>
          <a:p>
            <a:pPr marL="742950" lvl="1" indent="-359093">
              <a:spcBef>
                <a:spcPts val="0"/>
              </a:spcBef>
              <a:buSzPts val="5655"/>
            </a:pPr>
            <a:endParaRPr lang="en-US" sz="3500" dirty="0"/>
          </a:p>
          <a:p>
            <a:pPr marL="742950" lvl="1" indent="-359093">
              <a:spcBef>
                <a:spcPts val="0"/>
              </a:spcBef>
              <a:buSzPts val="5655"/>
            </a:pPr>
            <a:r>
              <a:rPr lang="en-US" sz="3500" dirty="0"/>
              <a:t>Distance Vector routing</a:t>
            </a:r>
          </a:p>
          <a:p>
            <a:pPr marL="742950" lvl="1" indent="-359093">
              <a:spcBef>
                <a:spcPts val="0"/>
              </a:spcBef>
              <a:buSzPts val="5655"/>
            </a:pPr>
            <a:r>
              <a:rPr lang="en-US" sz="3500" dirty="0"/>
              <a:t>How routers exchange routing information</a:t>
            </a:r>
          </a:p>
          <a:p>
            <a:pPr marL="742950" lvl="1" indent="-359093">
              <a:spcBef>
                <a:spcPts val="0"/>
              </a:spcBef>
              <a:buSzPts val="5655"/>
            </a:pPr>
            <a:r>
              <a:rPr lang="en-US" sz="3500" dirty="0"/>
              <a:t>Understand convergence and routing loops</a:t>
            </a:r>
            <a:endParaRPr dirty="0"/>
          </a:p>
        </p:txBody>
      </p:sp>
      <p:sp>
        <p:nvSpPr>
          <p:cNvPr id="145" name="Google Shape;145;p2"/>
          <p:cNvSpPr txBox="1">
            <a:spLocks noGrp="1"/>
          </p:cNvSpPr>
          <p:nvPr>
            <p:ph type="sldNum" idx="12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 txBox="1"/>
          <p:nvPr/>
        </p:nvSpPr>
        <p:spPr>
          <a:xfrm>
            <a:off x="1624987" y="1283677"/>
            <a:ext cx="9954482" cy="4333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075" tIns="41025" rIns="82075" bIns="41025" anchor="t" anchorCtr="0">
            <a:noAutofit/>
          </a:bodyPr>
          <a:lstStyle/>
          <a:p>
            <a:pPr marL="460375" marR="0" lvl="0" indent="-341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 router can learn about remote networks in one of two ways:</a:t>
            </a:r>
            <a:endParaRPr sz="18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60375" marR="0" lvl="0" indent="-341313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lang="en-US" sz="3600" b="0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Manually</a:t>
            </a:r>
            <a:r>
              <a:rPr lang="en-US" sz="3600" b="0" i="0" u="none" strike="noStrike" cap="none">
                <a:solidFill>
                  <a:schemeClr val="accent4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- Remote networks are manually entered into the route table using static routes.</a:t>
            </a:r>
            <a:endParaRPr sz="18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60375" marR="0" lvl="0" indent="-341313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lang="en-US" sz="3600" b="0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Dynamically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- Remote networks are automatically learned using a dynamic routing protocol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Learning About Networks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8879908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86826" y="1230349"/>
            <a:ext cx="10245722" cy="5081954"/>
            <a:chOff x="1086826" y="1230349"/>
            <a:chExt cx="10245722" cy="5081954"/>
          </a:xfrm>
        </p:grpSpPr>
        <p:grpSp>
          <p:nvGrpSpPr>
            <p:cNvPr id="164" name="Google Shape;164;p3"/>
            <p:cNvGrpSpPr/>
            <p:nvPr/>
          </p:nvGrpSpPr>
          <p:grpSpPr>
            <a:xfrm>
              <a:off x="1086826" y="1230349"/>
              <a:ext cx="10245722" cy="5081954"/>
              <a:chOff x="1086826" y="1230349"/>
              <a:chExt cx="10245722" cy="5081954"/>
            </a:xfrm>
          </p:grpSpPr>
          <p:sp>
            <p:nvSpPr>
              <p:cNvPr id="166" name="Google Shape;166;p3"/>
              <p:cNvSpPr txBox="1"/>
              <p:nvPr/>
            </p:nvSpPr>
            <p:spPr>
              <a:xfrm>
                <a:off x="7703403" y="1451597"/>
                <a:ext cx="168946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220.20.20.0/30</a:t>
                </a:r>
                <a:endParaRPr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5" name="Google Shape;165;p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86826" y="1230349"/>
                <a:ext cx="10245722" cy="50819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6" name="Google Shape;176;p3"/>
            <p:cNvSpPr txBox="1"/>
            <p:nvPr/>
          </p:nvSpPr>
          <p:spPr>
            <a:xfrm>
              <a:off x="6210600" y="4651483"/>
              <a:ext cx="8176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S0/0/0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6619443" y="3554589"/>
              <a:ext cx="8176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/>
                <a:t>G0/2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Learning About Networks</a:t>
            </a:r>
            <a:endParaRPr/>
          </a:p>
        </p:txBody>
      </p:sp>
      <p:pic>
        <p:nvPicPr>
          <p:cNvPr id="168" name="Google Shape;16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3"/>
          <p:cNvGrpSpPr/>
          <p:nvPr/>
        </p:nvGrpSpPr>
        <p:grpSpPr>
          <a:xfrm>
            <a:off x="3598902" y="1351349"/>
            <a:ext cx="1485250" cy="877603"/>
            <a:chOff x="3598902" y="1351349"/>
            <a:chExt cx="1485250" cy="877603"/>
          </a:xfrm>
        </p:grpSpPr>
        <p:sp>
          <p:nvSpPr>
            <p:cNvPr id="172" name="Google Shape;172;p3"/>
            <p:cNvSpPr txBox="1"/>
            <p:nvPr/>
          </p:nvSpPr>
          <p:spPr>
            <a:xfrm>
              <a:off x="3815741" y="1586174"/>
              <a:ext cx="12684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Directly connected </a:t>
              </a:r>
              <a:endParaRPr sz="1200" b="1" i="0" u="none" strike="noStrike" cap="none" dirty="0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3598902" y="1351349"/>
              <a:ext cx="232996" cy="877603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"/>
          <p:cNvSpPr txBox="1"/>
          <p:nvPr/>
        </p:nvSpPr>
        <p:spPr>
          <a:xfrm>
            <a:off x="7437128" y="2060936"/>
            <a:ext cx="12684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Directly connected </a:t>
            </a:r>
            <a:endParaRPr sz="1200" b="1" i="0" u="none" strike="noStrike" cap="none" dirty="0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7169948" y="1683210"/>
            <a:ext cx="287460" cy="115498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112114" y="1036945"/>
            <a:ext cx="2065225" cy="2623249"/>
            <a:chOff x="5112114" y="1036945"/>
            <a:chExt cx="2065225" cy="2623249"/>
          </a:xfrm>
        </p:grpSpPr>
        <p:graphicFrame>
          <p:nvGraphicFramePr>
            <p:cNvPr id="170" name="Google Shape;170;p3"/>
            <p:cNvGraphicFramePr/>
            <p:nvPr>
              <p:extLst>
                <p:ext uri="{D42A27DB-BD31-4B8C-83A1-F6EECF244321}">
                  <p14:modId xmlns:p14="http://schemas.microsoft.com/office/powerpoint/2010/main" val="2010106657"/>
                </p:ext>
              </p:extLst>
            </p:nvPr>
          </p:nvGraphicFramePr>
          <p:xfrm>
            <a:off x="5112114" y="1338994"/>
            <a:ext cx="2065225" cy="2321200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4040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61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31600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lang="en-US" sz="1000" u="none" strike="noStrike" cap="none"/>
                          <a:t>Network</a:t>
                        </a:r>
                        <a:endParaRPr sz="100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lang="en-US" sz="1000" u="none" strike="noStrike" cap="none"/>
                          <a:t>Exit Int</a:t>
                        </a:r>
                        <a:endParaRPr sz="100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10.1.1.0/24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G0/0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10.1.2.0/24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G0/1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209.165.200.224/30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S0/0/0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b="0" u="none" strike="noStrike" cap="none"/>
                          <a:t>220.20.20.0/30</a:t>
                        </a: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b="0" u="none" strike="noStrike" cap="none"/>
                          <a:t>G0/2</a:t>
                        </a: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179" name="Google Shape;179;p3"/>
            <p:cNvSpPr txBox="1"/>
            <p:nvPr/>
          </p:nvSpPr>
          <p:spPr>
            <a:xfrm>
              <a:off x="5632008" y="1036945"/>
              <a:ext cx="12684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rPr>
                <a:t>Table of R2</a:t>
              </a:r>
              <a:endParaRPr sz="1200" b="1" i="0" u="none" strike="noStrike" cap="none" dirty="0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3"/>
          <p:cNvSpPr txBox="1"/>
          <p:nvPr/>
        </p:nvSpPr>
        <p:spPr>
          <a:xfrm>
            <a:off x="1653309" y="2352856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10.1.1.0/24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2891266" y="2334005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1669502" y="2670542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10.1.2.0/24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2891266" y="2685931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5224783" y="3041713"/>
            <a:ext cx="130210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192.168.10.0/24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6554849" y="3030020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5228062" y="3350992"/>
            <a:ext cx="129882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192.168.11.0/24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554849" y="3292979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501011" y="698010"/>
            <a:ext cx="2065225" cy="2290152"/>
            <a:chOff x="1501011" y="698010"/>
            <a:chExt cx="2065225" cy="2290152"/>
          </a:xfrm>
        </p:grpSpPr>
        <p:graphicFrame>
          <p:nvGraphicFramePr>
            <p:cNvPr id="169" name="Google Shape;169;p3"/>
            <p:cNvGraphicFramePr/>
            <p:nvPr>
              <p:extLst>
                <p:ext uri="{D42A27DB-BD31-4B8C-83A1-F6EECF244321}">
                  <p14:modId xmlns:p14="http://schemas.microsoft.com/office/powerpoint/2010/main" val="3396776853"/>
                </p:ext>
              </p:extLst>
            </p:nvPr>
          </p:nvGraphicFramePr>
          <p:xfrm>
            <a:off x="1501011" y="998562"/>
            <a:ext cx="2065225" cy="1989600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4040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61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31600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lang="en-US" sz="1000" u="none" strike="noStrike" cap="none"/>
                          <a:t>Network</a:t>
                        </a:r>
                        <a:endParaRPr sz="100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lang="en-US" sz="1000" u="none" strike="noStrike" cap="none"/>
                          <a:t>Exit Int</a:t>
                        </a:r>
                        <a:endParaRPr sz="100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192.168.10.0/24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G0/0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192.168.11.0/24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G0/1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209.165.200.224/30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S0/0/0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1" u="none" strike="noStrike" cap="none" dirty="0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178" name="Google Shape;178;p3"/>
            <p:cNvSpPr txBox="1"/>
            <p:nvPr/>
          </p:nvSpPr>
          <p:spPr>
            <a:xfrm>
              <a:off x="1987589" y="698010"/>
              <a:ext cx="12684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Table of R1</a:t>
              </a:r>
              <a:endParaRPr sz="12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018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5"/>
          <p:cNvSpPr txBox="1">
            <a:spLocks noGrp="1"/>
          </p:cNvSpPr>
          <p:nvPr>
            <p:ph type="body" idx="1"/>
          </p:nvPr>
        </p:nvSpPr>
        <p:spPr>
          <a:xfrm>
            <a:off x="1369216" y="1339361"/>
            <a:ext cx="10248900" cy="439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Manually configured route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to reach networks not directly connected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Does not update automatically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Changes must be applied manually</a:t>
            </a:r>
            <a:endParaRPr/>
          </a:p>
        </p:txBody>
      </p:sp>
      <p:sp>
        <p:nvSpPr>
          <p:cNvPr id="194" name="Google Shape;194;p5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7503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6"/>
          <p:cNvSpPr txBox="1"/>
          <p:nvPr/>
        </p:nvSpPr>
        <p:spPr>
          <a:xfrm>
            <a:off x="1484310" y="1332346"/>
            <a:ext cx="10449072" cy="307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075" tIns="41025" rIns="82075" bIns="41025" anchor="t" anchorCtr="0">
            <a:noAutofit/>
          </a:bodyPr>
          <a:lstStyle/>
          <a:p>
            <a:pPr marL="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Simple and predictable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secure (not advertised)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 CPU/memory usage</a:t>
            </a: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5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 Advantages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3118214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7"/>
          <p:cNvSpPr txBox="1"/>
          <p:nvPr/>
        </p:nvSpPr>
        <p:spPr>
          <a:xfrm>
            <a:off x="1605665" y="1490066"/>
            <a:ext cx="9384288" cy="412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075" tIns="41025" rIns="82075" bIns="41025" anchor="t" anchorCtr="0">
            <a:noAutofit/>
          </a:bodyPr>
          <a:lstStyle/>
          <a:p>
            <a:pPr marL="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Time-consuming to configure</a:t>
            </a:r>
            <a:endParaRPr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Not scalable for large networks</a:t>
            </a:r>
            <a:endParaRPr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automatic failover</a:t>
            </a:r>
            <a:endParaRPr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Requires full network knowledge</a:t>
            </a:r>
            <a:endParaRPr sz="1200" dirty="0"/>
          </a:p>
          <a:p>
            <a:pPr marL="234950" marR="0" lvl="0" indent="-2349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7"/>
          <p:cNvSpPr txBox="1"/>
          <p:nvPr/>
        </p:nvSpPr>
        <p:spPr>
          <a:xfrm>
            <a:off x="1086643" y="449941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Static Route Disadvantages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16199" y="5822152"/>
            <a:ext cx="62504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chemeClr val="dk1"/>
              </a:buClr>
              <a:buSzPts val="4000"/>
            </a:pPr>
            <a:r>
              <a:rPr lang="en-US" sz="4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Solution :  </a:t>
            </a:r>
            <a:r>
              <a:rPr lang="en-US" sz="4000" b="1" dirty="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Dynamic Routing</a:t>
            </a:r>
          </a:p>
        </p:txBody>
      </p:sp>
    </p:spTree>
    <p:extLst>
      <p:ext uri="{BB962C8B-B14F-4D97-AF65-F5344CB8AC3E}">
        <p14:creationId xmlns:p14="http://schemas.microsoft.com/office/powerpoint/2010/main" val="1903217813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7"/>
          <p:cNvSpPr txBox="1"/>
          <p:nvPr/>
        </p:nvSpPr>
        <p:spPr>
          <a:xfrm>
            <a:off x="1339229" y="1161201"/>
            <a:ext cx="10748938" cy="531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075" tIns="41025" rIns="82075" bIns="41025" anchor="t" anchorCtr="0">
            <a:noAutofit/>
          </a:bodyPr>
          <a:lstStyle/>
          <a:p>
            <a:r>
              <a:rPr lang="en-US" sz="3600" dirty="0"/>
              <a:t>Imagine a large network.</a:t>
            </a:r>
          </a:p>
          <a:p>
            <a:pPr marL="571500" indent="-571500"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200" dirty="0"/>
              <a:t>Many routers </a:t>
            </a:r>
          </a:p>
          <a:p>
            <a:pPr marL="571500" indent="-571500"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200" dirty="0"/>
              <a:t>Many networks </a:t>
            </a:r>
          </a:p>
          <a:p>
            <a:pPr marL="571500" indent="-571500"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200" dirty="0"/>
              <a:t>Links can fail </a:t>
            </a:r>
          </a:p>
          <a:p>
            <a:pPr marL="571500" indent="-571500">
              <a:buClr>
                <a:srgbClr val="0070C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200" dirty="0"/>
              <a:t>Networks can change</a:t>
            </a:r>
          </a:p>
          <a:p>
            <a:pPr>
              <a:buClr>
                <a:srgbClr val="0070C0"/>
              </a:buClr>
              <a:buSzPct val="150000"/>
            </a:pPr>
            <a:r>
              <a:rPr lang="en-US" sz="3200" dirty="0"/>
              <a:t> 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With static routing:</a:t>
            </a:r>
            <a:br>
              <a:rPr lang="en-US" sz="3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3600" dirty="0"/>
              <a:t>The administrator must change routes manually.</a:t>
            </a:r>
          </a:p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With dynamic routing:</a:t>
            </a:r>
            <a:br>
              <a:rPr lang="en-US" sz="3600" dirty="0"/>
            </a:br>
            <a:r>
              <a:rPr lang="en-US" sz="3600" dirty="0"/>
              <a:t>Routers can learn routes automatically.</a:t>
            </a:r>
          </a:p>
        </p:txBody>
      </p:sp>
      <p:sp>
        <p:nvSpPr>
          <p:cNvPr id="210" name="Google Shape;210;p57"/>
          <p:cNvSpPr txBox="1"/>
          <p:nvPr/>
        </p:nvSpPr>
        <p:spPr>
          <a:xfrm>
            <a:off x="704805" y="419796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chemeClr val="dk1"/>
              </a:buClr>
              <a:buSzPts val="4000"/>
            </a:pPr>
            <a:r>
              <a:rPr lang="en-US" sz="4000" dirty="0"/>
              <a:t>Why Do We Need Dynamic Routing?</a:t>
            </a:r>
            <a:endParaRPr sz="40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60763434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86826" y="1230349"/>
            <a:ext cx="10245722" cy="5081954"/>
            <a:chOff x="1086826" y="1230349"/>
            <a:chExt cx="10245722" cy="5081954"/>
          </a:xfrm>
        </p:grpSpPr>
        <p:grpSp>
          <p:nvGrpSpPr>
            <p:cNvPr id="164" name="Google Shape;164;p3"/>
            <p:cNvGrpSpPr/>
            <p:nvPr/>
          </p:nvGrpSpPr>
          <p:grpSpPr>
            <a:xfrm>
              <a:off x="1086826" y="1230349"/>
              <a:ext cx="10245722" cy="5081954"/>
              <a:chOff x="1086826" y="1230349"/>
              <a:chExt cx="10245722" cy="5081954"/>
            </a:xfrm>
          </p:grpSpPr>
          <p:sp>
            <p:nvSpPr>
              <p:cNvPr id="166" name="Google Shape;166;p3"/>
              <p:cNvSpPr txBox="1"/>
              <p:nvPr/>
            </p:nvSpPr>
            <p:spPr>
              <a:xfrm>
                <a:off x="7703403" y="1451597"/>
                <a:ext cx="168946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220.20.20.0/30</a:t>
                </a:r>
                <a:endParaRPr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5" name="Google Shape;165;p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86826" y="1230349"/>
                <a:ext cx="10245722" cy="50819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6" name="Google Shape;176;p3"/>
            <p:cNvSpPr txBox="1"/>
            <p:nvPr/>
          </p:nvSpPr>
          <p:spPr>
            <a:xfrm>
              <a:off x="6210600" y="4651483"/>
              <a:ext cx="8176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S0/0/0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6619443" y="3554589"/>
              <a:ext cx="8176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/>
                <a:t>G0/2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Learning About Networks</a:t>
            </a:r>
            <a:endParaRPr/>
          </a:p>
        </p:txBody>
      </p:sp>
      <p:pic>
        <p:nvPicPr>
          <p:cNvPr id="168" name="Google Shape;16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3"/>
          <p:cNvGrpSpPr/>
          <p:nvPr/>
        </p:nvGrpSpPr>
        <p:grpSpPr>
          <a:xfrm>
            <a:off x="3598902" y="1351349"/>
            <a:ext cx="1485250" cy="877603"/>
            <a:chOff x="3598902" y="1351349"/>
            <a:chExt cx="1485250" cy="877603"/>
          </a:xfrm>
        </p:grpSpPr>
        <p:sp>
          <p:nvSpPr>
            <p:cNvPr id="172" name="Google Shape;172;p3"/>
            <p:cNvSpPr txBox="1"/>
            <p:nvPr/>
          </p:nvSpPr>
          <p:spPr>
            <a:xfrm>
              <a:off x="3815741" y="1586174"/>
              <a:ext cx="12684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Directly connected </a:t>
              </a:r>
              <a:endParaRPr sz="1200" b="1" i="0" u="none" strike="noStrike" cap="none" dirty="0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3598902" y="1351349"/>
              <a:ext cx="232996" cy="877603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"/>
          <p:cNvSpPr txBox="1"/>
          <p:nvPr/>
        </p:nvSpPr>
        <p:spPr>
          <a:xfrm>
            <a:off x="7437128" y="2060936"/>
            <a:ext cx="12684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Directly connected </a:t>
            </a:r>
            <a:endParaRPr sz="1200" b="1" i="0" u="none" strike="noStrike" cap="none" dirty="0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7169948" y="1683210"/>
            <a:ext cx="287460" cy="115498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112114" y="1036945"/>
            <a:ext cx="2065225" cy="2623249"/>
            <a:chOff x="5112114" y="1036945"/>
            <a:chExt cx="2065225" cy="2623249"/>
          </a:xfrm>
        </p:grpSpPr>
        <p:graphicFrame>
          <p:nvGraphicFramePr>
            <p:cNvPr id="170" name="Google Shape;170;p3"/>
            <p:cNvGraphicFramePr/>
            <p:nvPr/>
          </p:nvGraphicFramePr>
          <p:xfrm>
            <a:off x="5112114" y="1338994"/>
            <a:ext cx="2065225" cy="2321200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4040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61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31600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lang="en-US" sz="1000" u="none" strike="noStrike" cap="none"/>
                          <a:t>Network</a:t>
                        </a:r>
                        <a:endParaRPr sz="100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lang="en-US" sz="1000" u="none" strike="noStrike" cap="none"/>
                          <a:t>Exit Int</a:t>
                        </a:r>
                        <a:endParaRPr sz="100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10.1.1.0/24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G0/0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10.1.2.0/24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G0/1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209.165.200.224/30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S0/0/0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b="0" u="none" strike="noStrike" cap="none"/>
                          <a:t>220.20.20.0/30</a:t>
                        </a: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b="0" u="none" strike="noStrike" cap="none"/>
                          <a:t>G0/2</a:t>
                        </a: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0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179" name="Google Shape;179;p3"/>
            <p:cNvSpPr txBox="1"/>
            <p:nvPr/>
          </p:nvSpPr>
          <p:spPr>
            <a:xfrm>
              <a:off x="5632008" y="1036945"/>
              <a:ext cx="12684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rPr>
                <a:t>Table of R2</a:t>
              </a:r>
              <a:endParaRPr sz="1200" b="1" i="0" u="none" strike="noStrike" cap="none" dirty="0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3"/>
          <p:cNvSpPr txBox="1"/>
          <p:nvPr/>
        </p:nvSpPr>
        <p:spPr>
          <a:xfrm>
            <a:off x="1653309" y="2352856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10.1.1.0/24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2891266" y="2334005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1669502" y="2670542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10.1.2.0/24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2891266" y="2685931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5224783" y="3041713"/>
            <a:ext cx="130210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192.168.10.0/24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6554849" y="3030020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5228062" y="3350992"/>
            <a:ext cx="129882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192.168.11.0/24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554849" y="3292979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501011" y="698010"/>
            <a:ext cx="2065225" cy="2290152"/>
            <a:chOff x="1501011" y="698010"/>
            <a:chExt cx="2065225" cy="2290152"/>
          </a:xfrm>
        </p:grpSpPr>
        <p:graphicFrame>
          <p:nvGraphicFramePr>
            <p:cNvPr id="169" name="Google Shape;169;p3"/>
            <p:cNvGraphicFramePr/>
            <p:nvPr/>
          </p:nvGraphicFramePr>
          <p:xfrm>
            <a:off x="1501011" y="998562"/>
            <a:ext cx="2065225" cy="1989600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4040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61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31600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lang="en-US" sz="1000" u="none" strike="noStrike" cap="none"/>
                          <a:t>Network</a:t>
                        </a:r>
                        <a:endParaRPr sz="100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lang="en-US" sz="1000" u="none" strike="noStrike" cap="none"/>
                          <a:t>Exit Int</a:t>
                        </a:r>
                        <a:endParaRPr sz="100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192.168.10.0/24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G0/0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192.168.11.0/24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G0/1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209.165.200.224/30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r>
                          <a:rPr lang="en-US" sz="1050" u="none" strike="noStrike" cap="none"/>
                          <a:t>S0/0/0</a:t>
                        </a: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316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1" u="none" strike="noStrike" cap="none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50"/>
                          <a:buFont typeface="Arial"/>
                          <a:buNone/>
                        </a:pPr>
                        <a:endParaRPr sz="1050" b="1" u="none" strike="noStrike" cap="none" dirty="0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178" name="Google Shape;178;p3"/>
            <p:cNvSpPr txBox="1"/>
            <p:nvPr/>
          </p:nvSpPr>
          <p:spPr>
            <a:xfrm>
              <a:off x="1987589" y="698010"/>
              <a:ext cx="12684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Table of R1</a:t>
              </a:r>
              <a:endParaRPr sz="12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286250" y="4343400"/>
            <a:ext cx="445770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6982406" y="4362710"/>
            <a:ext cx="445770" cy="3077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81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3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91 -0.00278 L -0.03229 0.03727 C -0.04505 0.0463 -0.06419 0.05116 -0.08425 0.05116 C -0.10703 0.05116 -0.12539 0.0463 -0.13815 0.03727 L -0.19922 -0.00278 " pathEditMode="relative" rAng="0" ptsTypes="AAAAA">
                                      <p:cBhvr>
                                        <p:cTn id="4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06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30" grpId="0" animBg="1"/>
      <p:bldP spid="30" grpId="1" animBg="1"/>
      <p:bldP spid="30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56032"/>
            <a:ext cx="10332720" cy="749808"/>
          </a:xfrm>
        </p:spPr>
        <p:txBody>
          <a:bodyPr>
            <a:normAutofit/>
          </a:bodyPr>
          <a:lstStyle/>
          <a:p>
            <a:r>
              <a:rPr dirty="0"/>
              <a:t>Autonomous Systems (AS)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5899" y="1005840"/>
            <a:ext cx="10332720" cy="5120640"/>
          </a:xfrm>
        </p:spPr>
        <p:txBody>
          <a:bodyPr wrap="square">
            <a:normAutofit/>
          </a:bodyPr>
          <a:lstStyle/>
          <a:p>
            <a:pPr algn="l">
              <a:spcAft>
                <a:spcPts val="1400"/>
              </a:spcAft>
            </a:pPr>
            <a:r>
              <a:rPr sz="2800" dirty="0">
                <a:solidFill>
                  <a:srgbClr val="222222"/>
                </a:solidFill>
              </a:rPr>
              <a:t>An Autonomous System (AS) is a group of networks and routers under the administrative control of a single organization (e.g. a university, ISP, or company).</a:t>
            </a:r>
          </a:p>
          <a:p>
            <a:pPr algn="l">
              <a:spcAft>
                <a:spcPts val="1400"/>
              </a:spcAft>
            </a:pPr>
            <a:r>
              <a:rPr dirty="0">
                <a:solidFill>
                  <a:srgbClr val="222222"/>
                </a:solidFill>
              </a:rPr>
              <a:t>Each AS is assigned a unique 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Autonomous System Number (ASN) </a:t>
            </a:r>
            <a:r>
              <a:rPr dirty="0">
                <a:solidFill>
                  <a:srgbClr val="222222"/>
                </a:solidFill>
              </a:rPr>
              <a:t>by a regional internet registry.</a:t>
            </a:r>
          </a:p>
          <a:p>
            <a:pPr algn="l">
              <a:spcAft>
                <a:spcPts val="1400"/>
              </a:spcAft>
            </a:pPr>
            <a:r>
              <a:rPr dirty="0">
                <a:solidFill>
                  <a:srgbClr val="222222"/>
                </a:solidFill>
              </a:rPr>
              <a:t>Routing inside an AS → </a:t>
            </a:r>
            <a:r>
              <a:rPr b="1" dirty="0">
                <a:solidFill>
                  <a:srgbClr val="0070C0"/>
                </a:solidFill>
              </a:rPr>
              <a:t>intra-domain routing</a:t>
            </a:r>
          </a:p>
          <a:p>
            <a:pPr lvl="1" algn="l">
              <a:spcAft>
                <a:spcPts val="1400"/>
              </a:spcAft>
            </a:pPr>
            <a:r>
              <a:rPr i="1" dirty="0">
                <a:solidFill>
                  <a:srgbClr val="444444"/>
                </a:solidFill>
              </a:rPr>
              <a:t>Uses an Interior Gateway Protocol (IGP) — e.g. RIP, OSPF, EIGRP</a:t>
            </a:r>
          </a:p>
          <a:p>
            <a:pPr algn="l">
              <a:spcAft>
                <a:spcPts val="1400"/>
              </a:spcAft>
            </a:pPr>
            <a:r>
              <a:rPr dirty="0">
                <a:solidFill>
                  <a:srgbClr val="222222"/>
                </a:solidFill>
              </a:rPr>
              <a:t>Routing between different AS</a:t>
            </a:r>
            <a:r>
              <a:rPr lang="en-IN" dirty="0">
                <a:solidFill>
                  <a:srgbClr val="222222"/>
                </a:solidFill>
              </a:rPr>
              <a:t> </a:t>
            </a:r>
            <a:r>
              <a:rPr dirty="0" err="1">
                <a:solidFill>
                  <a:srgbClr val="222222"/>
                </a:solidFill>
              </a:rPr>
              <a:t>es</a:t>
            </a:r>
            <a:r>
              <a:rPr dirty="0">
                <a:solidFill>
                  <a:srgbClr val="222222"/>
                </a:solidFill>
              </a:rPr>
              <a:t> → </a:t>
            </a:r>
            <a:r>
              <a:rPr b="1" dirty="0">
                <a:solidFill>
                  <a:srgbClr val="0070C0"/>
                </a:solidFill>
              </a:rPr>
              <a:t>inter-domain routing</a:t>
            </a:r>
          </a:p>
          <a:p>
            <a:pPr lvl="1" algn="l">
              <a:spcAft>
                <a:spcPts val="1400"/>
              </a:spcAft>
            </a:pPr>
            <a:r>
              <a:rPr i="1" dirty="0">
                <a:solidFill>
                  <a:srgbClr val="444444"/>
                </a:solidFill>
              </a:rPr>
              <a:t>Uses an Exterior Gateway Protocol (EGP) — in practice, BGP</a:t>
            </a:r>
          </a:p>
        </p:txBody>
      </p:sp>
    </p:spTree>
    <p:extLst>
      <p:ext uri="{BB962C8B-B14F-4D97-AF65-F5344CB8AC3E}">
        <p14:creationId xmlns:p14="http://schemas.microsoft.com/office/powerpoint/2010/main" val="3402215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1168"/>
            <a:ext cx="10332720" cy="658368"/>
          </a:xfrm>
        </p:spPr>
        <p:txBody>
          <a:bodyPr/>
          <a:lstStyle/>
          <a:p>
            <a:r>
              <a:rPr sz="3000"/>
              <a:t>Autonomous Systems — Example</a:t>
            </a:r>
          </a:p>
        </p:txBody>
      </p:sp>
      <p:sp>
        <p:nvSpPr>
          <p:cNvPr id="3" name="Cloud 2"/>
          <p:cNvSpPr/>
          <p:nvPr/>
        </p:nvSpPr>
        <p:spPr>
          <a:xfrm>
            <a:off x="320040" y="1600200"/>
            <a:ext cx="3246120" cy="2286000"/>
          </a:xfrm>
          <a:prstGeom prst="cloud">
            <a:avLst/>
          </a:prstGeom>
          <a:solidFill>
            <a:srgbClr val="E3EFFC"/>
          </a:solidFill>
          <a:ln w="25400">
            <a:solidFill>
              <a:srgbClr val="1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B3A66"/>
                </a:solidFill>
              </a:rPr>
              <a:t>AS 100</a:t>
            </a:r>
          </a:p>
          <a:p>
            <a:pPr algn="ctr"/>
            <a:r>
              <a:rPr sz="1200" b="1" i="1" dirty="0">
                <a:solidFill>
                  <a:srgbClr val="3085ED"/>
                </a:solidFill>
              </a:rPr>
              <a:t>Uses </a:t>
            </a:r>
            <a:r>
              <a:rPr lang="en-IN" sz="1200" b="1" i="1" dirty="0">
                <a:solidFill>
                  <a:srgbClr val="3085ED"/>
                </a:solidFill>
              </a:rPr>
              <a:t>IGP</a:t>
            </a:r>
            <a:endParaRPr sz="1200" b="1" i="1" dirty="0">
              <a:solidFill>
                <a:srgbClr val="3085ED"/>
              </a:solidFill>
            </a:endParaRPr>
          </a:p>
        </p:txBody>
      </p:sp>
      <p:sp>
        <p:nvSpPr>
          <p:cNvPr id="4" name="Cloud 3"/>
          <p:cNvSpPr/>
          <p:nvPr/>
        </p:nvSpPr>
        <p:spPr>
          <a:xfrm>
            <a:off x="4480560" y="1600200"/>
            <a:ext cx="3246120" cy="2286000"/>
          </a:xfrm>
          <a:prstGeom prst="cloud">
            <a:avLst/>
          </a:prstGeom>
          <a:solidFill>
            <a:srgbClr val="E3EFFC"/>
          </a:solidFill>
          <a:ln w="25400">
            <a:solidFill>
              <a:srgbClr val="1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B3A66"/>
                </a:solidFill>
              </a:rPr>
              <a:t>AS 200</a:t>
            </a:r>
          </a:p>
          <a:p>
            <a:pPr algn="ctr"/>
            <a:r>
              <a:rPr sz="1200" b="1" i="1" dirty="0">
                <a:solidFill>
                  <a:srgbClr val="3085ED"/>
                </a:solidFill>
              </a:rPr>
              <a:t>Uses </a:t>
            </a:r>
            <a:r>
              <a:rPr lang="en-IN" sz="1200" b="1" i="1" dirty="0">
                <a:solidFill>
                  <a:srgbClr val="3085ED"/>
                </a:solidFill>
              </a:rPr>
              <a:t>IGP</a:t>
            </a:r>
            <a:endParaRPr sz="1200" b="1" i="1" dirty="0">
              <a:solidFill>
                <a:srgbClr val="3085ED"/>
              </a:solidFill>
            </a:endParaRPr>
          </a:p>
        </p:txBody>
      </p:sp>
      <p:sp>
        <p:nvSpPr>
          <p:cNvPr id="5" name="Cloud 4"/>
          <p:cNvSpPr/>
          <p:nvPr/>
        </p:nvSpPr>
        <p:spPr>
          <a:xfrm>
            <a:off x="8641080" y="1600200"/>
            <a:ext cx="3246120" cy="2286000"/>
          </a:xfrm>
          <a:prstGeom prst="cloud">
            <a:avLst/>
          </a:prstGeom>
          <a:solidFill>
            <a:srgbClr val="E3EFFC"/>
          </a:solidFill>
          <a:ln w="25400">
            <a:solidFill>
              <a:srgbClr val="1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B3A66"/>
                </a:solidFill>
              </a:rPr>
              <a:t>AS 300</a:t>
            </a:r>
          </a:p>
          <a:p>
            <a:pPr algn="ctr"/>
            <a:r>
              <a:rPr sz="1200" b="1" i="1" dirty="0">
                <a:solidFill>
                  <a:srgbClr val="3085ED"/>
                </a:solidFill>
              </a:rPr>
              <a:t>Uses </a:t>
            </a:r>
            <a:r>
              <a:rPr lang="en-IN" sz="1200" b="1" i="1" dirty="0">
                <a:solidFill>
                  <a:srgbClr val="3085ED"/>
                </a:solidFill>
              </a:rPr>
              <a:t>IGP</a:t>
            </a:r>
            <a:endParaRPr sz="1200" b="1" i="1" dirty="0">
              <a:solidFill>
                <a:srgbClr val="3085ED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188719" y="3063240"/>
            <a:ext cx="1691641" cy="0"/>
          </a:xfrm>
          <a:prstGeom prst="line">
            <a:avLst/>
          </a:prstGeom>
          <a:ln w="31750">
            <a:solidFill>
              <a:srgbClr val="308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166360" y="3063240"/>
            <a:ext cx="1874519" cy="0"/>
          </a:xfrm>
          <a:prstGeom prst="line">
            <a:avLst/>
          </a:prstGeom>
          <a:ln w="31750">
            <a:solidFill>
              <a:srgbClr val="308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0" y="3063240"/>
            <a:ext cx="1691640" cy="0"/>
          </a:xfrm>
          <a:prstGeom prst="line">
            <a:avLst/>
          </a:prstGeom>
          <a:ln w="31750">
            <a:solidFill>
              <a:srgbClr val="308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80360" y="3063240"/>
            <a:ext cx="2286000" cy="0"/>
          </a:xfrm>
          <a:prstGeom prst="line">
            <a:avLst/>
          </a:prstGeom>
          <a:ln w="34925">
            <a:solidFill>
              <a:srgbClr val="D64A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79" y="3063240"/>
            <a:ext cx="2286001" cy="0"/>
          </a:xfrm>
          <a:prstGeom prst="line">
            <a:avLst/>
          </a:prstGeom>
          <a:ln w="34925">
            <a:solidFill>
              <a:srgbClr val="D64A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96695" y="2871216"/>
            <a:ext cx="384048" cy="384048"/>
          </a:xfrm>
          <a:prstGeom prst="ellipse">
            <a:avLst/>
          </a:prstGeom>
          <a:solidFill>
            <a:srgbClr val="1B3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R1</a:t>
            </a:r>
          </a:p>
        </p:txBody>
      </p:sp>
      <p:sp>
        <p:nvSpPr>
          <p:cNvPr id="12" name="Oval 11"/>
          <p:cNvSpPr/>
          <p:nvPr/>
        </p:nvSpPr>
        <p:spPr>
          <a:xfrm>
            <a:off x="2688336" y="2871216"/>
            <a:ext cx="384048" cy="384048"/>
          </a:xfrm>
          <a:prstGeom prst="ellipse">
            <a:avLst/>
          </a:prstGeom>
          <a:solidFill>
            <a:srgbClr val="1B3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13" name="Oval 12"/>
          <p:cNvSpPr/>
          <p:nvPr/>
        </p:nvSpPr>
        <p:spPr>
          <a:xfrm>
            <a:off x="4974336" y="2871216"/>
            <a:ext cx="384048" cy="384048"/>
          </a:xfrm>
          <a:prstGeom prst="ellipse">
            <a:avLst/>
          </a:prstGeom>
          <a:solidFill>
            <a:srgbClr val="1B3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R</a:t>
            </a:r>
            <a:r>
              <a:rPr lang="en-IN" sz="1000" b="1" dirty="0">
                <a:solidFill>
                  <a:srgbClr val="FFFFFF"/>
                </a:solidFill>
              </a:rPr>
              <a:t>5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48855" y="2871216"/>
            <a:ext cx="384048" cy="384048"/>
          </a:xfrm>
          <a:prstGeom prst="ellipse">
            <a:avLst/>
          </a:prstGeom>
          <a:solidFill>
            <a:srgbClr val="1B3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R</a:t>
            </a:r>
            <a:r>
              <a:rPr lang="en-IN" sz="1000" b="1" dirty="0">
                <a:solidFill>
                  <a:srgbClr val="FFFFFF"/>
                </a:solidFill>
              </a:rPr>
              <a:t>6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134855" y="2871216"/>
            <a:ext cx="384048" cy="384048"/>
          </a:xfrm>
          <a:prstGeom prst="ellipse">
            <a:avLst/>
          </a:prstGeom>
          <a:solidFill>
            <a:srgbClr val="1B3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IN" sz="1000" b="1" dirty="0">
                <a:solidFill>
                  <a:srgbClr val="FFFFFF"/>
                </a:solidFill>
              </a:rPr>
              <a:t>R7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826496" y="2871216"/>
            <a:ext cx="384048" cy="384048"/>
          </a:xfrm>
          <a:prstGeom prst="ellipse">
            <a:avLst/>
          </a:prstGeom>
          <a:solidFill>
            <a:srgbClr val="1B3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R</a:t>
            </a:r>
            <a:r>
              <a:rPr lang="en-IN" sz="1000" b="1" dirty="0">
                <a:solidFill>
                  <a:srgbClr val="FFFFFF"/>
                </a:solidFill>
              </a:rPr>
              <a:t>8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81948" y="2496312"/>
            <a:ext cx="48282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100" b="1" dirty="0">
                <a:solidFill>
                  <a:srgbClr val="D64A3B"/>
                </a:solidFill>
              </a:rPr>
              <a:t>E</a:t>
            </a:r>
            <a:r>
              <a:rPr sz="1100" b="1" dirty="0">
                <a:solidFill>
                  <a:srgbClr val="D64A3B"/>
                </a:solidFill>
              </a:rPr>
              <a:t>GP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2467" y="2496312"/>
            <a:ext cx="48282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100" b="1" dirty="0">
                <a:solidFill>
                  <a:srgbClr val="D64A3B"/>
                </a:solidFill>
              </a:rPr>
              <a:t>E</a:t>
            </a:r>
            <a:r>
              <a:rPr sz="1100" b="1" dirty="0">
                <a:solidFill>
                  <a:srgbClr val="D64A3B"/>
                </a:solidFill>
              </a:rPr>
              <a:t>GP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19" y="5449825"/>
            <a:ext cx="594360" cy="0"/>
          </a:xfrm>
          <a:prstGeom prst="line">
            <a:avLst/>
          </a:prstGeom>
          <a:ln w="31750">
            <a:solidFill>
              <a:srgbClr val="308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43099" y="5266945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222222"/>
                </a:solidFill>
              </a:rPr>
              <a:t>Intra-domain (within an AS) — IGP: OSPF, RIP, EIGRP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92340" y="5432542"/>
            <a:ext cx="594359" cy="0"/>
          </a:xfrm>
          <a:prstGeom prst="line">
            <a:avLst/>
          </a:prstGeom>
          <a:ln w="34925">
            <a:solidFill>
              <a:srgbClr val="D64A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18583" y="532170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222222"/>
                </a:solidFill>
              </a:rPr>
              <a:t>Inter-domain — EGP: BGP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2072322"/>
            <a:ext cx="384048" cy="384048"/>
          </a:xfrm>
          <a:prstGeom prst="ellipse">
            <a:avLst/>
          </a:prstGeom>
          <a:solidFill>
            <a:srgbClr val="1B3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R</a:t>
            </a:r>
            <a:r>
              <a:rPr lang="en-IN" sz="1000" b="1" dirty="0">
                <a:solidFill>
                  <a:srgbClr val="FFFFFF"/>
                </a:solidFill>
              </a:rPr>
              <a:t>3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362267" y="2002536"/>
            <a:ext cx="384048" cy="384048"/>
          </a:xfrm>
          <a:prstGeom prst="ellipse">
            <a:avLst/>
          </a:prstGeom>
          <a:solidFill>
            <a:srgbClr val="1B3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R</a:t>
            </a:r>
            <a:r>
              <a:rPr lang="en-IN" sz="1000" b="1" dirty="0">
                <a:solidFill>
                  <a:srgbClr val="FFFFFF"/>
                </a:solidFill>
              </a:rPr>
              <a:t>4</a:t>
            </a:r>
            <a:endParaRPr sz="1000" b="1" dirty="0">
              <a:solidFill>
                <a:srgbClr val="FFFFFF"/>
              </a:solidFill>
            </a:endParaRPr>
          </a:p>
        </p:txBody>
      </p:sp>
      <p:cxnSp>
        <p:nvCxnSpPr>
          <p:cNvPr id="25" name="Connector 5"/>
          <p:cNvCxnSpPr>
            <a:stCxn id="11" idx="0"/>
            <a:endCxn id="23" idx="4"/>
          </p:cNvCxnSpPr>
          <p:nvPr/>
        </p:nvCxnSpPr>
        <p:spPr>
          <a:xfrm flipV="1">
            <a:off x="1188719" y="2456370"/>
            <a:ext cx="54865" cy="414846"/>
          </a:xfrm>
          <a:prstGeom prst="line">
            <a:avLst/>
          </a:prstGeom>
          <a:ln w="31750">
            <a:solidFill>
              <a:srgbClr val="308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5"/>
          <p:cNvCxnSpPr>
            <a:stCxn id="23" idx="7"/>
            <a:endCxn id="24" idx="2"/>
          </p:cNvCxnSpPr>
          <p:nvPr/>
        </p:nvCxnSpPr>
        <p:spPr>
          <a:xfrm>
            <a:off x="1379365" y="2128565"/>
            <a:ext cx="982902" cy="65995"/>
          </a:xfrm>
          <a:prstGeom prst="line">
            <a:avLst/>
          </a:prstGeom>
          <a:ln w="31750">
            <a:solidFill>
              <a:srgbClr val="308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936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>
            <a:spLocks noGrp="1"/>
          </p:cNvSpPr>
          <p:nvPr>
            <p:ph type="title"/>
          </p:nvPr>
        </p:nvSpPr>
        <p:spPr>
          <a:xfrm>
            <a:off x="1591925" y="128309"/>
            <a:ext cx="10018713" cy="93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Popular Routing Protocols</a:t>
            </a:r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sldNum" idx="12"/>
          </p:nvPr>
        </p:nvSpPr>
        <p:spPr>
          <a:xfrm>
            <a:off x="11290174" y="612355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Routing protocols can be categorized into two broad categories: Interior  Gateway Protocols (IGP) and Exterior Gateway Protocols (EGP). IGPs are used  to exchange routing information within a single… | TEJASVI 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341" y="1903322"/>
            <a:ext cx="9047452" cy="458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39921" y="1041219"/>
            <a:ext cx="2592475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Routing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5252" y="2052381"/>
            <a:ext cx="2773345" cy="49990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Static Routing</a:t>
            </a:r>
          </a:p>
        </p:txBody>
      </p:sp>
      <p:cxnSp>
        <p:nvCxnSpPr>
          <p:cNvPr id="6" name="Straight Connector 5"/>
          <p:cNvCxnSpPr>
            <a:stCxn id="3" idx="2"/>
          </p:cNvCxnSpPr>
          <p:nvPr/>
        </p:nvCxnSpPr>
        <p:spPr>
          <a:xfrm flipH="1">
            <a:off x="5436158" y="1348996"/>
            <a:ext cx="1" cy="2721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26866" y="1621125"/>
            <a:ext cx="61797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426866" y="1621125"/>
            <a:ext cx="0" cy="43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06602" y="1621125"/>
            <a:ext cx="0" cy="43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55572" y="6537616"/>
            <a:ext cx="3742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 err="1"/>
              <a:t>Source:https</a:t>
            </a:r>
            <a:r>
              <a:rPr lang="en-IN" sz="700" dirty="0"/>
              <a:t>://www.linkedin.com/posts/tejasvi-t_routing-protocols-can-be-categorized-into-activity-7126294906330910721-Psre/</a:t>
            </a:r>
          </a:p>
        </p:txBody>
      </p:sp>
    </p:spTree>
    <p:extLst>
      <p:ext uri="{BB962C8B-B14F-4D97-AF65-F5344CB8AC3E}">
        <p14:creationId xmlns:p14="http://schemas.microsoft.com/office/powerpoint/2010/main" val="329590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>
            <a:spLocks noGrp="1"/>
          </p:cNvSpPr>
          <p:nvPr>
            <p:ph type="title"/>
          </p:nvPr>
        </p:nvSpPr>
        <p:spPr>
          <a:xfrm>
            <a:off x="1433578" y="0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Algorithms</a:t>
            </a:r>
            <a:endParaRPr/>
          </a:p>
        </p:txBody>
      </p:sp>
      <p:sp>
        <p:nvSpPr>
          <p:cNvPr id="178" name="Google Shape;178;p6"/>
          <p:cNvSpPr txBox="1">
            <a:spLocks noGrp="1"/>
          </p:cNvSpPr>
          <p:nvPr>
            <p:ph type="body" idx="1"/>
          </p:nvPr>
        </p:nvSpPr>
        <p:spPr>
          <a:xfrm>
            <a:off x="755903" y="1572896"/>
            <a:ext cx="7016497" cy="427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85750" lvl="0" indent="-33146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3600" dirty="0"/>
              <a:t>Given a set of routers and links connecting the routers.</a:t>
            </a:r>
            <a:endParaRPr dirty="0"/>
          </a:p>
          <a:p>
            <a:pPr marL="285750" lvl="0" indent="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endParaRPr sz="3600" dirty="0"/>
          </a:p>
          <a:p>
            <a:pPr marL="285750" lvl="0" indent="-331468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 dirty="0"/>
              <a:t>Routing algorithm finds a “</a:t>
            </a:r>
            <a:r>
              <a:rPr lang="en-US" sz="3600" dirty="0">
                <a:solidFill>
                  <a:srgbClr val="FF0000"/>
                </a:solidFill>
              </a:rPr>
              <a:t>good</a:t>
            </a:r>
            <a:r>
              <a:rPr lang="en-US" sz="3600" dirty="0"/>
              <a:t>” path from the source to destination router.</a:t>
            </a:r>
            <a:endParaRPr dirty="0"/>
          </a:p>
          <a:p>
            <a:pPr marL="285750" lvl="0" indent="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endParaRPr sz="3600" dirty="0"/>
          </a:p>
          <a:p>
            <a:pPr marL="285750" lvl="0" indent="-331468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 dirty="0"/>
              <a:t>Good path = a path with the lowest total cost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endParaRPr dirty="0"/>
          </a:p>
        </p:txBody>
      </p:sp>
      <p:sp>
        <p:nvSpPr>
          <p:cNvPr id="179" name="Google Shape;179;p6"/>
          <p:cNvSpPr txBox="1">
            <a:spLocks noGrp="1"/>
          </p:cNvSpPr>
          <p:nvPr>
            <p:ph type="sldNum" idx="12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80" name="Google Shape;18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314375"/>
            <a:ext cx="4171668" cy="27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>
            <a:spLocks noGrp="1"/>
          </p:cNvSpPr>
          <p:nvPr>
            <p:ph type="title"/>
          </p:nvPr>
        </p:nvSpPr>
        <p:spPr>
          <a:xfrm>
            <a:off x="1157995" y="14016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 classification</a:t>
            </a:r>
            <a:endParaRPr/>
          </a:p>
        </p:txBody>
      </p:sp>
      <p:sp>
        <p:nvSpPr>
          <p:cNvPr id="188" name="Google Shape;188;p8"/>
          <p:cNvSpPr txBox="1">
            <a:spLocks noGrp="1"/>
          </p:cNvSpPr>
          <p:nvPr>
            <p:ph type="body" idx="1"/>
          </p:nvPr>
        </p:nvSpPr>
        <p:spPr>
          <a:xfrm>
            <a:off x="1310045" y="1346052"/>
            <a:ext cx="10018800" cy="551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45000"/>
              <a:buFont typeface="Arial"/>
              <a:buNone/>
            </a:pPr>
            <a:r>
              <a:rPr lang="en-US" sz="3900" b="1" dirty="0">
                <a:solidFill>
                  <a:srgbClr val="7D28CD"/>
                </a:solidFill>
              </a:rPr>
              <a:t>Global:</a:t>
            </a:r>
            <a:endParaRPr dirty="0"/>
          </a:p>
          <a:p>
            <a:pPr marL="457200" lvl="0" indent="-394373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/>
              <a:t>Every router knows the whole network (all nodes, all links, and their costs).</a:t>
            </a:r>
            <a:endParaRPr sz="3800" dirty="0"/>
          </a:p>
          <a:p>
            <a:pPr marL="457200" lvl="0" indent="-21835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endParaRPr sz="3300" dirty="0"/>
          </a:p>
          <a:p>
            <a:pPr marL="457200" lvl="0" indent="-394373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/>
              <a:t>Each router builds a complete map (topology).</a:t>
            </a:r>
            <a:endParaRPr sz="3800" dirty="0"/>
          </a:p>
          <a:p>
            <a:pPr marL="457200" lvl="0" indent="-218352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endParaRPr sz="3300" dirty="0"/>
          </a:p>
          <a:p>
            <a:pPr marL="457200" lvl="0" indent="-394373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/>
              <a:t>Uses </a:t>
            </a:r>
            <a:r>
              <a:rPr lang="en-US" sz="3300" b="1" dirty="0">
                <a:solidFill>
                  <a:srgbClr val="1186C3"/>
                </a:solidFill>
              </a:rPr>
              <a:t>link state algorithms </a:t>
            </a:r>
            <a:r>
              <a:rPr lang="en-US" sz="3300" dirty="0"/>
              <a:t>(like </a:t>
            </a:r>
            <a:r>
              <a:rPr lang="en-US" sz="3300" dirty="0" err="1"/>
              <a:t>Dijkstra’s</a:t>
            </a:r>
            <a:r>
              <a:rPr lang="en-US" sz="3300" dirty="0"/>
              <a:t> shortest path).</a:t>
            </a:r>
            <a:endParaRPr sz="3800" dirty="0"/>
          </a:p>
          <a:p>
            <a:pPr marL="62864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0000"/>
              <a:buNone/>
            </a:pPr>
            <a:br>
              <a:rPr lang="en-US" sz="3200" dirty="0"/>
            </a:br>
            <a:r>
              <a:rPr lang="en-US" sz="3900" b="1" dirty="0">
                <a:solidFill>
                  <a:srgbClr val="7D28CD"/>
                </a:solidFill>
              </a:rPr>
              <a:t>Decentralized:</a:t>
            </a:r>
            <a:r>
              <a:rPr lang="en-US" sz="2600" b="1" dirty="0">
                <a:solidFill>
                  <a:srgbClr val="7D28CD"/>
                </a:solidFill>
              </a:rPr>
              <a:t> </a:t>
            </a:r>
            <a:endParaRPr sz="3000" b="1" dirty="0">
              <a:solidFill>
                <a:srgbClr val="7D28CD"/>
              </a:solidFill>
            </a:endParaRPr>
          </a:p>
          <a:p>
            <a:pPr marL="457200" lvl="0" indent="-39437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/>
              <a:t>Each router only knows about its neighbors and the cost to reach them.</a:t>
            </a:r>
            <a:endParaRPr sz="3800" dirty="0"/>
          </a:p>
          <a:p>
            <a:pPr marL="457200" lvl="0" indent="-21835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endParaRPr sz="3300" dirty="0"/>
          </a:p>
          <a:p>
            <a:pPr marL="457200" lvl="0" indent="-39437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/>
              <a:t>Routers share information with neighbors and update step by step.</a:t>
            </a:r>
            <a:endParaRPr sz="3800" dirty="0"/>
          </a:p>
          <a:p>
            <a:pPr marL="457200" lvl="0" indent="-21835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None/>
            </a:pPr>
            <a:endParaRPr sz="3300" dirty="0"/>
          </a:p>
          <a:p>
            <a:pPr marL="457200" lvl="0" indent="-39437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 dirty="0"/>
              <a:t>Uses </a:t>
            </a:r>
            <a:r>
              <a:rPr lang="en-US" sz="3300" b="1" dirty="0">
                <a:solidFill>
                  <a:srgbClr val="1186C3"/>
                </a:solidFill>
              </a:rPr>
              <a:t>distance vector algorithms</a:t>
            </a:r>
            <a:r>
              <a:rPr lang="en-US" sz="3300" dirty="0"/>
              <a:t> (like Bellman-Ford).</a:t>
            </a:r>
            <a:endParaRPr sz="3800" dirty="0"/>
          </a:p>
          <a:p>
            <a:pPr marL="62864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41"/>
              <a:buNone/>
            </a:pPr>
            <a:br>
              <a:rPr lang="en-US" sz="3200" dirty="0"/>
            </a:br>
            <a:endParaRPr b="1" dirty="0">
              <a:solidFill>
                <a:srgbClr val="1186C3"/>
              </a:solidFill>
            </a:endParaRPr>
          </a:p>
        </p:txBody>
      </p:sp>
      <p:sp>
        <p:nvSpPr>
          <p:cNvPr id="189" name="Google Shape;189;p8"/>
          <p:cNvSpPr txBox="1">
            <a:spLocks noGrp="1"/>
          </p:cNvSpPr>
          <p:nvPr>
            <p:ph type="sldNum" idx="12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 descr="Decentralized - Free business icons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Distance Vector Algorithm</a:t>
            </a:r>
            <a:endParaRPr/>
          </a:p>
        </p:txBody>
      </p:sp>
      <p:sp>
        <p:nvSpPr>
          <p:cNvPr id="197" name="Google Shape;197;p12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>
            <a:spLocks noGrp="1"/>
          </p:cNvSpPr>
          <p:nvPr>
            <p:ph type="title" idx="4294967295"/>
          </p:nvPr>
        </p:nvSpPr>
        <p:spPr>
          <a:xfrm>
            <a:off x="1484310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400"/>
              <a:t>Distance vector algorithm </a:t>
            </a:r>
            <a:endParaRPr sz="4400"/>
          </a:p>
        </p:txBody>
      </p:sp>
      <p:sp>
        <p:nvSpPr>
          <p:cNvPr id="204" name="Google Shape;204;p7"/>
          <p:cNvSpPr txBox="1">
            <a:spLocks noGrp="1"/>
          </p:cNvSpPr>
          <p:nvPr>
            <p:ph type="body" idx="4294967295"/>
          </p:nvPr>
        </p:nvSpPr>
        <p:spPr>
          <a:xfrm>
            <a:off x="1126653" y="1066088"/>
            <a:ext cx="10376369" cy="560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Based on </a:t>
            </a:r>
            <a:r>
              <a:rPr lang="en-US" sz="3600" b="1" dirty="0"/>
              <a:t>Bellman-Ford Algorithm</a:t>
            </a:r>
            <a:r>
              <a:rPr lang="en-US" sz="3600" dirty="0"/>
              <a:t>.</a:t>
            </a:r>
            <a:endParaRPr dirty="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Each router finds </a:t>
            </a:r>
            <a:r>
              <a:rPr lang="en-US" sz="3600" b="1" dirty="0"/>
              <a:t>shortest paths</a:t>
            </a:r>
            <a:r>
              <a:rPr lang="en-US" sz="3600" dirty="0"/>
              <a:t> to all destinations.</a:t>
            </a:r>
            <a:endParaRPr dirty="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Shortest path cost can be:</a:t>
            </a:r>
            <a:endParaRPr dirty="0"/>
          </a:p>
          <a:p>
            <a:pPr marL="742950" lvl="1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 dirty="0"/>
              <a:t>Hop count</a:t>
            </a:r>
            <a:endParaRPr dirty="0"/>
          </a:p>
          <a:p>
            <a:pPr marL="742950" lvl="1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 dirty="0"/>
              <a:t>Link </a:t>
            </a:r>
            <a:r>
              <a:rPr lang="en-IN" sz="3200" dirty="0"/>
              <a:t>Cost</a:t>
            </a:r>
            <a:endParaRPr dirty="0"/>
          </a:p>
          <a:p>
            <a:pPr marL="742950" lvl="1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 dirty="0"/>
              <a:t>Delay</a:t>
            </a:r>
          </a:p>
          <a:p>
            <a:pPr marL="742950" lvl="1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 dirty="0"/>
              <a:t>Other metrics</a:t>
            </a:r>
            <a:endParaRPr sz="3200" dirty="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Uses a </a:t>
            </a:r>
            <a:r>
              <a:rPr lang="en-US" sz="3600" b="1" dirty="0"/>
              <a:t>weighted network (topology)</a:t>
            </a:r>
            <a:r>
              <a:rPr lang="en-US" sz="3600" dirty="0"/>
              <a:t>.</a:t>
            </a:r>
            <a:endParaRPr dirty="0"/>
          </a:p>
          <a:p>
            <a:pPr marL="285750" lvl="0" indent="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endParaRPr dirty="0"/>
          </a:p>
        </p:txBody>
      </p:sp>
      <p:sp>
        <p:nvSpPr>
          <p:cNvPr id="205" name="Google Shape;205;p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06" name="Google Shape;206;p7" descr="Distance Vector Routing Algorithm | Example | Gate Vidyala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9557" y="2677386"/>
            <a:ext cx="3593465" cy="280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>
            <a:spLocks noGrp="1"/>
          </p:cNvSpPr>
          <p:nvPr>
            <p:ph type="title" idx="4294967295"/>
          </p:nvPr>
        </p:nvSpPr>
        <p:spPr>
          <a:xfrm>
            <a:off x="1366745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How Does It Work?</a:t>
            </a:r>
            <a:endParaRPr/>
          </a:p>
        </p:txBody>
      </p:sp>
      <p:sp>
        <p:nvSpPr>
          <p:cNvPr id="213" name="Google Shape;213;p9"/>
          <p:cNvSpPr txBox="1">
            <a:spLocks noGrp="1"/>
          </p:cNvSpPr>
          <p:nvPr>
            <p:ph type="body" idx="4294967295"/>
          </p:nvPr>
        </p:nvSpPr>
        <p:spPr>
          <a:xfrm>
            <a:off x="880985" y="1358856"/>
            <a:ext cx="9825202" cy="4281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Each router keeps a </a:t>
            </a:r>
            <a:r>
              <a:rPr lang="en-US" sz="3600" b="1" dirty="0">
                <a:solidFill>
                  <a:srgbClr val="1186C3"/>
                </a:solidFill>
              </a:rPr>
              <a:t>Distance Vector (table)</a:t>
            </a:r>
            <a:r>
              <a:rPr lang="en-US" sz="3600" dirty="0"/>
              <a:t>.</a:t>
            </a:r>
            <a:endParaRPr dirty="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Router </a:t>
            </a:r>
            <a:r>
              <a:rPr lang="en-US" sz="3600" b="1" dirty="0">
                <a:solidFill>
                  <a:srgbClr val="1186C3"/>
                </a:solidFill>
              </a:rPr>
              <a:t>shares its table</a:t>
            </a:r>
            <a:r>
              <a:rPr lang="en-US" sz="3600" dirty="0">
                <a:solidFill>
                  <a:srgbClr val="1186C3"/>
                </a:solidFill>
              </a:rPr>
              <a:t> </a:t>
            </a:r>
            <a:r>
              <a:rPr lang="en-US" sz="3600" dirty="0"/>
              <a:t>with neighbors regularly.</a:t>
            </a:r>
            <a:endParaRPr dirty="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When a router gets a table from a neighbor, it </a:t>
            </a:r>
            <a:r>
              <a:rPr lang="en-US" sz="3600" b="1" dirty="0">
                <a:solidFill>
                  <a:srgbClr val="1186C3"/>
                </a:solidFill>
              </a:rPr>
              <a:t>updates its own table</a:t>
            </a:r>
            <a:r>
              <a:rPr lang="en-US" sz="3600" dirty="0">
                <a:solidFill>
                  <a:srgbClr val="1186C3"/>
                </a:solidFill>
              </a:rPr>
              <a:t> </a:t>
            </a:r>
            <a:r>
              <a:rPr lang="en-US" sz="3600" dirty="0"/>
              <a:t>using the Bellman-Ford rule.</a:t>
            </a:r>
            <a:endParaRPr dirty="0"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 dirty="0"/>
              <a:t>Repeat until routing information stabilizes.</a:t>
            </a:r>
            <a:endParaRPr sz="3600" dirty="0"/>
          </a:p>
        </p:txBody>
      </p:sp>
      <p:sp>
        <p:nvSpPr>
          <p:cNvPr id="214" name="Google Shape;214;p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0" name="Google Shape;220;p10" descr="Distance Vector Routing (DVR) Protocol ...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10" descr="Distance Vector Routing Algorithm | Example | Gate Vidyala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6310" y="952508"/>
            <a:ext cx="3593465" cy="28073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10"/>
          <p:cNvGraphicFramePr/>
          <p:nvPr/>
        </p:nvGraphicFramePr>
        <p:xfrm>
          <a:off x="1259242" y="997543"/>
          <a:ext cx="1939100" cy="1766910"/>
        </p:xfrm>
        <a:graphic>
          <a:graphicData uri="http://schemas.openxmlformats.org/drawingml/2006/table">
            <a:tbl>
              <a:tblPr firstRow="1" bandRow="1">
                <a:noFill/>
                <a:tableStyleId>{DE4CB6B7-6801-417A-B22A-5FBE8912F3F3}</a:tableStyleId>
              </a:tblPr>
              <a:tblGrid>
                <a:gridCol w="93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Node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Distance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3" name="Google Shape;223;p10"/>
          <p:cNvSpPr txBox="1"/>
          <p:nvPr/>
        </p:nvSpPr>
        <p:spPr>
          <a:xfrm>
            <a:off x="1483360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D Table</a:t>
            </a:r>
            <a:endParaRPr sz="16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" name="Google Shape;224;p10"/>
          <p:cNvGraphicFramePr/>
          <p:nvPr/>
        </p:nvGraphicFramePr>
        <p:xfrm>
          <a:off x="7162476" y="967185"/>
          <a:ext cx="1939100" cy="1827625"/>
        </p:xfrm>
        <a:graphic>
          <a:graphicData uri="http://schemas.openxmlformats.org/drawingml/2006/table">
            <a:tbl>
              <a:tblPr firstRow="1" bandRow="1">
                <a:noFill/>
                <a:tableStyleId>{DE4CB6B7-6801-417A-B22A-5FBE8912F3F3}</a:tableStyleId>
              </a:tblPr>
              <a:tblGrid>
                <a:gridCol w="96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Node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Distance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No Info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5" name="Google Shape;225;p10"/>
          <p:cNvSpPr txBox="1"/>
          <p:nvPr/>
        </p:nvSpPr>
        <p:spPr>
          <a:xfrm>
            <a:off x="7306163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C Table</a:t>
            </a:r>
            <a:endParaRPr sz="16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088250" y="1369345"/>
            <a:ext cx="483577" cy="289641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91044" y="5174585"/>
            <a:ext cx="96776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Cost to a destination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==cost(to neighbor) + neighbor’s cost(to destination)</a:t>
            </a:r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7006961" y="3054863"/>
            <a:ext cx="4966771" cy="567830"/>
            <a:chOff x="7006961" y="3054863"/>
            <a:chExt cx="4966771" cy="567830"/>
          </a:xfrm>
        </p:grpSpPr>
        <p:sp>
          <p:nvSpPr>
            <p:cNvPr id="228" name="Google Shape;228;p10"/>
            <p:cNvSpPr/>
            <p:nvPr/>
          </p:nvSpPr>
          <p:spPr>
            <a:xfrm>
              <a:off x="7006961" y="3054863"/>
              <a:ext cx="4966771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7D28CD"/>
                  </a:solidFill>
                  <a:latin typeface="Corbel"/>
                  <a:ea typeface="Corbel"/>
                  <a:cs typeface="Corbel"/>
                  <a:sym typeface="Corbel"/>
                </a:rPr>
                <a:t>Cost to A </a:t>
              </a:r>
              <a:r>
                <a:rPr lang="en-US" sz="1400" b="1" i="0" u="none" strike="noStrike" cap="none" dirty="0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= cost(to neighbor) + neighbor’s cost(to destination)</a:t>
              </a:r>
              <a:endParaRPr sz="1400" b="1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8250770" y="3284139"/>
              <a:ext cx="9781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5E9934"/>
                  </a:solidFill>
                  <a:latin typeface="Corbel"/>
                  <a:ea typeface="Corbel"/>
                  <a:cs typeface="Corbel"/>
                  <a:sym typeface="Corbel"/>
                </a:rPr>
                <a:t>D Router</a:t>
              </a:r>
              <a:endParaRPr sz="1600" b="0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10"/>
          <p:cNvSpPr/>
          <p:nvPr/>
        </p:nvSpPr>
        <p:spPr>
          <a:xfrm>
            <a:off x="9523090" y="3284139"/>
            <a:ext cx="2299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A93023"/>
                </a:solidFill>
                <a:latin typeface="Corbel"/>
                <a:ea typeface="Corbel"/>
                <a:cs typeface="Corbel"/>
                <a:sym typeface="Corbel"/>
              </a:rPr>
              <a:t>Cost to A from D Router</a:t>
            </a:r>
            <a:endParaRPr sz="1600" b="0" i="0" u="none" strike="noStrike" cap="non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430064" y="3592868"/>
            <a:ext cx="38664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11</a:t>
            </a:r>
            <a:endParaRPr sz="1600" b="0" i="0" u="none" strike="noStrike" cap="non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10154066" y="3630755"/>
            <a:ext cx="2856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A93023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600" b="0" i="0" u="none" strike="noStrike" cap="non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9155049" y="3606814"/>
            <a:ext cx="29367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+</a:t>
            </a:r>
            <a:endParaRPr sz="1600" b="0" i="0" u="none" strike="noStrike" cap="non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294172" y="1369345"/>
            <a:ext cx="663717" cy="289641"/>
          </a:xfrm>
          <a:prstGeom prst="rect">
            <a:avLst/>
          </a:prstGeom>
          <a:solidFill>
            <a:srgbClr val="CCE2F8"/>
          </a:solidFill>
          <a:ln w="25400" cap="flat" cmpd="sng">
            <a:solidFill>
              <a:srgbClr val="CCE2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483360" y="1369345"/>
            <a:ext cx="1651726" cy="378773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22712" y="4572490"/>
            <a:ext cx="37994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Distance Vector Algorithm:</a:t>
            </a:r>
            <a:endParaRPr sz="24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33333E-6 L 0.15299 -0.00578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43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26" grpId="1" animBg="1"/>
      <p:bldP spid="226" grpId="2" animBg="1"/>
      <p:bldP spid="227" grpId="0"/>
      <p:bldP spid="235" grpId="0" animBg="1"/>
      <p:bldP spid="2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>
            <a:spLocks noGrp="1"/>
          </p:cNvSpPr>
          <p:nvPr>
            <p:ph type="title" idx="4294967295"/>
          </p:nvPr>
        </p:nvSpPr>
        <p:spPr>
          <a:xfrm>
            <a:off x="1327556" y="398419"/>
            <a:ext cx="10018713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Periodic Updates of Distance Vector</a:t>
            </a:r>
            <a:endParaRPr/>
          </a:p>
        </p:txBody>
      </p:sp>
      <p:sp>
        <p:nvSpPr>
          <p:cNvPr id="243" name="Google Shape;243;p2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44" name="Google Shape;244;p26"/>
          <p:cNvSpPr/>
          <p:nvPr/>
        </p:nvSpPr>
        <p:spPr>
          <a:xfrm>
            <a:off x="1539991" y="1617324"/>
            <a:ext cx="9599064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Routers regularly send their </a:t>
            </a:r>
            <a:r>
              <a:rPr lang="en-US" sz="3600" b="1" i="0" u="none" strike="noStrike" cap="none" dirty="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entire routing table</a:t>
            </a:r>
            <a:r>
              <a:rPr lang="en-US" sz="3600" b="0" i="0" u="none" strike="noStrike" cap="none" dirty="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to neighbors.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endParaRPr sz="3600" b="0" i="0" u="none" strike="noStrike" cap="none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These updates are sent even when there </a:t>
            </a:r>
            <a:r>
              <a:rPr lang="en-US" sz="3600" b="1" i="0" u="none" strike="noStrike" cap="none" dirty="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is no change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in the network.</a:t>
            </a:r>
            <a:endParaRPr sz="3600" b="0" i="0" u="none" strike="noStrike" cap="none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1625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This is </a:t>
            </a:r>
            <a:r>
              <a:rPr lang="en-US" sz="3600" b="1" i="0" u="none" strike="noStrike" cap="none" dirty="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simple but inefficient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1625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7" descr="dv0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1905001"/>
            <a:ext cx="7747000" cy="429736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 txBox="1">
            <a:spLocks noGrp="1"/>
          </p:cNvSpPr>
          <p:nvPr>
            <p:ph type="title" idx="4294967295"/>
          </p:nvPr>
        </p:nvSpPr>
        <p:spPr>
          <a:xfrm>
            <a:off x="1552550" y="547041"/>
            <a:ext cx="10018713" cy="413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Operation of Distance Vector</a:t>
            </a:r>
            <a:endParaRPr/>
          </a:p>
        </p:txBody>
      </p:sp>
      <p:sp>
        <p:nvSpPr>
          <p:cNvPr id="251" name="Google Shape;251;p27"/>
          <p:cNvSpPr txBox="1">
            <a:spLocks noGrp="1"/>
          </p:cNvSpPr>
          <p:nvPr>
            <p:ph type="body" idx="4294967295"/>
          </p:nvPr>
        </p:nvSpPr>
        <p:spPr>
          <a:xfrm>
            <a:off x="1676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>
                <a:solidFill>
                  <a:srgbClr val="FF0000"/>
                </a:solidFill>
              </a:rPr>
              <a:t>Periodic Updates: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>
              <a:solidFill>
                <a:srgbClr val="FF0000"/>
              </a:solidFill>
            </a:endParaRPr>
          </a:p>
        </p:txBody>
      </p:sp>
      <p:grpSp>
        <p:nvGrpSpPr>
          <p:cNvPr id="252" name="Google Shape;252;p27"/>
          <p:cNvGrpSpPr/>
          <p:nvPr/>
        </p:nvGrpSpPr>
        <p:grpSpPr>
          <a:xfrm>
            <a:off x="2895600" y="1295400"/>
            <a:ext cx="5715000" cy="1067082"/>
            <a:chOff x="1371600" y="1295400"/>
            <a:chExt cx="5715000" cy="1067082"/>
          </a:xfrm>
        </p:grpSpPr>
        <p:cxnSp>
          <p:nvCxnSpPr>
            <p:cNvPr id="253" name="Google Shape;253;p27"/>
            <p:cNvCxnSpPr>
              <a:stCxn id="254" idx="1"/>
            </p:cNvCxnSpPr>
            <p:nvPr/>
          </p:nvCxnSpPr>
          <p:spPr>
            <a:xfrm flipH="1">
              <a:off x="1371600" y="1526382"/>
              <a:ext cx="1981200" cy="8361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54" name="Google Shape;254;p27"/>
            <p:cNvSpPr txBox="1"/>
            <p:nvPr/>
          </p:nvSpPr>
          <p:spPr>
            <a:xfrm>
              <a:off x="3352800" y="1295400"/>
              <a:ext cx="3733800" cy="461963"/>
            </a:xfrm>
            <a:prstGeom prst="rect">
              <a:avLst/>
            </a:prstGeom>
            <a:solidFill>
              <a:srgbClr val="80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Update Timer expires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" name="Google Shape;255;p27"/>
          <p:cNvGrpSpPr/>
          <p:nvPr/>
        </p:nvGrpSpPr>
        <p:grpSpPr>
          <a:xfrm>
            <a:off x="2438400" y="1828801"/>
            <a:ext cx="7467600" cy="4729163"/>
            <a:chOff x="914400" y="1828800"/>
            <a:chExt cx="7467600" cy="4728865"/>
          </a:xfrm>
        </p:grpSpPr>
        <p:sp>
          <p:nvSpPr>
            <p:cNvPr id="256" name="Google Shape;256;p27"/>
            <p:cNvSpPr txBox="1"/>
            <p:nvPr/>
          </p:nvSpPr>
          <p:spPr>
            <a:xfrm>
              <a:off x="5943600" y="1828800"/>
              <a:ext cx="2438400" cy="461934"/>
            </a:xfrm>
            <a:prstGeom prst="rect">
              <a:avLst/>
            </a:prstGeom>
            <a:solidFill>
              <a:srgbClr val="003300"/>
            </a:solidFill>
            <a:ln w="25400" cap="flat" cmpd="sng">
              <a:solidFill>
                <a:srgbClr val="66FF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7"/>
            <p:cNvSpPr txBox="1"/>
            <p:nvPr/>
          </p:nvSpPr>
          <p:spPr>
            <a:xfrm>
              <a:off x="914400" y="6095731"/>
              <a:ext cx="2438400" cy="461934"/>
            </a:xfrm>
            <a:prstGeom prst="rect">
              <a:avLst/>
            </a:prstGeom>
            <a:solidFill>
              <a:srgbClr val="003300"/>
            </a:solidFill>
            <a:ln w="25400" cap="flat" cmpd="sng">
              <a:solidFill>
                <a:srgbClr val="66FF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27"/>
          <p:cNvGrpSpPr/>
          <p:nvPr/>
        </p:nvGrpSpPr>
        <p:grpSpPr>
          <a:xfrm>
            <a:off x="4343400" y="3200400"/>
            <a:ext cx="4191000" cy="2743200"/>
            <a:chOff x="2819400" y="3200400"/>
            <a:chExt cx="4191000" cy="2743200"/>
          </a:xfrm>
        </p:grpSpPr>
        <p:sp>
          <p:nvSpPr>
            <p:cNvPr id="259" name="Google Shape;259;p27"/>
            <p:cNvSpPr/>
            <p:nvPr/>
          </p:nvSpPr>
          <p:spPr>
            <a:xfrm rot="-5400000">
              <a:off x="4419600" y="3962400"/>
              <a:ext cx="381000" cy="3581400"/>
            </a:xfrm>
            <a:prstGeom prst="rect">
              <a:avLst/>
            </a:prstGeom>
            <a:solidFill>
              <a:srgbClr val="99CC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6705600" y="3200400"/>
              <a:ext cx="304800" cy="2057400"/>
            </a:xfrm>
            <a:prstGeom prst="rect">
              <a:avLst/>
            </a:prstGeom>
            <a:solidFill>
              <a:srgbClr val="99CC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7"/>
            <p:cNvSpPr txBox="1"/>
            <p:nvPr/>
          </p:nvSpPr>
          <p:spPr>
            <a:xfrm>
              <a:off x="3505200" y="3733800"/>
              <a:ext cx="2971800" cy="830263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99C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is unaware of R3 and its networks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" name="Google Shape;262;p27"/>
          <p:cNvGrpSpPr/>
          <p:nvPr/>
        </p:nvGrpSpPr>
        <p:grpSpPr>
          <a:xfrm>
            <a:off x="1423987" y="2755899"/>
            <a:ext cx="4343400" cy="2055813"/>
            <a:chOff x="152400" y="2590800"/>
            <a:chExt cx="4343400" cy="2056606"/>
          </a:xfrm>
        </p:grpSpPr>
        <p:cxnSp>
          <p:nvCxnSpPr>
            <p:cNvPr id="263" name="Google Shape;263;p27"/>
            <p:cNvCxnSpPr/>
            <p:nvPr/>
          </p:nvCxnSpPr>
          <p:spPr>
            <a:xfrm>
              <a:off x="2819400" y="3124200"/>
              <a:ext cx="16764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4" name="Google Shape;264;p27"/>
            <p:cNvCxnSpPr/>
            <p:nvPr/>
          </p:nvCxnSpPr>
          <p:spPr>
            <a:xfrm rot="5400000">
              <a:off x="1981994" y="3961606"/>
              <a:ext cx="1370806" cy="794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65" name="Google Shape;265;p27"/>
            <p:cNvSpPr txBox="1"/>
            <p:nvPr/>
          </p:nvSpPr>
          <p:spPr>
            <a:xfrm>
              <a:off x="152400" y="2971947"/>
              <a:ext cx="1828800" cy="1200613"/>
            </a:xfrm>
            <a:prstGeom prst="rect">
              <a:avLst/>
            </a:prstGeom>
            <a:solidFill>
              <a:srgbClr val="80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Updates sent.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Broadcast!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6" name="Google Shape;266;p27" descr="dv05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05200" y="25908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27" descr="dv05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28800" y="35052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8" name="Google Shape;268;p2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>
            <a:spLocks noGrp="1"/>
          </p:cNvSpPr>
          <p:nvPr>
            <p:ph type="title" idx="4294967295"/>
          </p:nvPr>
        </p:nvSpPr>
        <p:spPr>
          <a:xfrm>
            <a:off x="1484311" y="685800"/>
            <a:ext cx="10018713" cy="106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dirty="0"/>
              <a:t>Distance Vector Routing Protocols - RIP</a:t>
            </a:r>
            <a:endParaRPr dirty="0"/>
          </a:p>
        </p:txBody>
      </p:sp>
      <p:sp>
        <p:nvSpPr>
          <p:cNvPr id="274" name="Google Shape;274;p28"/>
          <p:cNvSpPr/>
          <p:nvPr/>
        </p:nvSpPr>
        <p:spPr>
          <a:xfrm>
            <a:off x="2438400" y="1447800"/>
            <a:ext cx="74676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Network Discovery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28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2971800"/>
            <a:ext cx="7880350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>
            <a:spLocks noGrp="1"/>
          </p:cNvSpPr>
          <p:nvPr>
            <p:ph type="title" idx="4294967295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282" name="Google Shape;282;p29"/>
          <p:cNvSpPr txBox="1">
            <a:spLocks noGrp="1"/>
          </p:cNvSpPr>
          <p:nvPr>
            <p:ph type="body" idx="4294967295"/>
          </p:nvPr>
        </p:nvSpPr>
        <p:spPr>
          <a:xfrm>
            <a:off x="1676400" y="3048000"/>
            <a:ext cx="8839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>
                <a:solidFill>
                  <a:srgbClr val="7D28CD"/>
                </a:solidFill>
              </a:rPr>
              <a:t>Network Discovery:</a:t>
            </a:r>
            <a:endParaRPr sz="2800" b="1">
              <a:solidFill>
                <a:srgbClr val="7D28CD"/>
              </a:solidFill>
            </a:endParaRPr>
          </a:p>
          <a:p>
            <a:pPr marL="855663" lvl="1" indent="-288925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Is part of the process of the routing protocol algorithm that enables routers to </a:t>
            </a:r>
            <a:r>
              <a:rPr lang="en-US" sz="2800">
                <a:solidFill>
                  <a:srgbClr val="1186C3"/>
                </a:solidFill>
              </a:rPr>
              <a:t>learn about remote networks for the first time.</a:t>
            </a:r>
            <a:endParaRPr>
              <a:solidFill>
                <a:srgbClr val="1186C3"/>
              </a:solidFill>
            </a:endParaRPr>
          </a:p>
        </p:txBody>
      </p:sp>
      <p:pic>
        <p:nvPicPr>
          <p:cNvPr id="283" name="Google Shape;283;p29" descr="dv1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0"/>
            <a:ext cx="883920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 txBox="1">
            <a:spLocks noGrp="1"/>
          </p:cNvSpPr>
          <p:nvPr>
            <p:ph type="title" idx="4294967295"/>
          </p:nvPr>
        </p:nvSpPr>
        <p:spPr>
          <a:xfrm>
            <a:off x="1543843" y="381001"/>
            <a:ext cx="10018713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291" name="Google Shape;291;p30"/>
          <p:cNvSpPr txBox="1">
            <a:spLocks noGrp="1"/>
          </p:cNvSpPr>
          <p:nvPr>
            <p:ph type="body" idx="4294967295"/>
          </p:nvPr>
        </p:nvSpPr>
        <p:spPr>
          <a:xfrm>
            <a:off x="1676400" y="4800600"/>
            <a:ext cx="9275456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285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3636"/>
              <a:buNone/>
            </a:pPr>
            <a:endParaRPr>
              <a:solidFill>
                <a:srgbClr val="FF0000"/>
              </a:solidFill>
            </a:endParaRPr>
          </a:p>
          <a:p>
            <a:pPr marL="285750" lvl="0" indent="-238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800" b="1">
                <a:solidFill>
                  <a:srgbClr val="7D28CD"/>
                </a:solidFill>
              </a:rPr>
              <a:t>When a router powers up: </a:t>
            </a:r>
            <a:endParaRPr sz="2800" b="1">
              <a:solidFill>
                <a:srgbClr val="7D28CD"/>
              </a:solidFill>
            </a:endParaRPr>
          </a:p>
          <a:p>
            <a:pPr marL="855663" lvl="1" indent="-2214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nothing about the network topology.</a:t>
            </a:r>
            <a:endParaRPr sz="2600"/>
          </a:p>
          <a:p>
            <a:pPr marL="855663" lvl="1" indent="-2214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only the information saved in NVRAM.</a:t>
            </a:r>
            <a:endParaRPr sz="2600"/>
          </a:p>
          <a:p>
            <a:pPr marL="855663" lvl="1" indent="-2214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Sends updates about its known networks out all ports. </a:t>
            </a:r>
            <a:endParaRPr sz="26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endParaRPr/>
          </a:p>
        </p:txBody>
      </p:sp>
      <p:grpSp>
        <p:nvGrpSpPr>
          <p:cNvPr id="292" name="Google Shape;292;p30"/>
          <p:cNvGrpSpPr/>
          <p:nvPr/>
        </p:nvGrpSpPr>
        <p:grpSpPr>
          <a:xfrm>
            <a:off x="2057400" y="3505200"/>
            <a:ext cx="2438400" cy="182880"/>
            <a:chOff x="533400" y="3505200"/>
            <a:chExt cx="2438400" cy="182880"/>
          </a:xfrm>
        </p:grpSpPr>
        <p:sp>
          <p:nvSpPr>
            <p:cNvPr id="293" name="Google Shape;29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30"/>
          <p:cNvGrpSpPr/>
          <p:nvPr/>
        </p:nvGrpSpPr>
        <p:grpSpPr>
          <a:xfrm>
            <a:off x="2057400" y="3733800"/>
            <a:ext cx="2438400" cy="210312"/>
            <a:chOff x="533400" y="3505200"/>
            <a:chExt cx="2438400" cy="182880"/>
          </a:xfrm>
        </p:grpSpPr>
        <p:sp>
          <p:nvSpPr>
            <p:cNvPr id="297" name="Google Shape;29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30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301" name="Google Shape;301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30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305" name="Google Shape;305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4876800" y="3505200"/>
            <a:ext cx="2438400" cy="182880"/>
            <a:chOff x="533400" y="3505200"/>
            <a:chExt cx="2438400" cy="182880"/>
          </a:xfrm>
        </p:grpSpPr>
        <p:sp>
          <p:nvSpPr>
            <p:cNvPr id="309" name="Google Shape;309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30"/>
          <p:cNvGrpSpPr/>
          <p:nvPr/>
        </p:nvGrpSpPr>
        <p:grpSpPr>
          <a:xfrm>
            <a:off x="4876800" y="3733800"/>
            <a:ext cx="2438400" cy="210312"/>
            <a:chOff x="533400" y="3505200"/>
            <a:chExt cx="2438400" cy="182880"/>
          </a:xfrm>
        </p:grpSpPr>
        <p:sp>
          <p:nvSpPr>
            <p:cNvPr id="313" name="Google Shape;31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30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17" name="Google Shape;31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30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21" name="Google Shape;321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30"/>
          <p:cNvGrpSpPr/>
          <p:nvPr/>
        </p:nvGrpSpPr>
        <p:grpSpPr>
          <a:xfrm>
            <a:off x="7772400" y="3505200"/>
            <a:ext cx="2438400" cy="182880"/>
            <a:chOff x="533400" y="3505200"/>
            <a:chExt cx="2438400" cy="182880"/>
          </a:xfrm>
        </p:grpSpPr>
        <p:sp>
          <p:nvSpPr>
            <p:cNvPr id="325" name="Google Shape;325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30"/>
          <p:cNvGrpSpPr/>
          <p:nvPr/>
        </p:nvGrpSpPr>
        <p:grpSpPr>
          <a:xfrm>
            <a:off x="7772400" y="3733800"/>
            <a:ext cx="2438400" cy="210312"/>
            <a:chOff x="533400" y="3505200"/>
            <a:chExt cx="2438400" cy="182880"/>
          </a:xfrm>
        </p:grpSpPr>
        <p:sp>
          <p:nvSpPr>
            <p:cNvPr id="329" name="Google Shape;329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" name="Google Shape;332;p30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33" name="Google Shape;33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30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37" name="Google Shape;337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30"/>
          <p:cNvGrpSpPr/>
          <p:nvPr/>
        </p:nvGrpSpPr>
        <p:grpSpPr>
          <a:xfrm>
            <a:off x="1981200" y="1981200"/>
            <a:ext cx="8229600" cy="838200"/>
            <a:chOff x="457200" y="1981200"/>
            <a:chExt cx="8229600" cy="838200"/>
          </a:xfrm>
        </p:grpSpPr>
        <p:sp>
          <p:nvSpPr>
            <p:cNvPr id="341" name="Google Shape;341;p30"/>
            <p:cNvSpPr/>
            <p:nvPr/>
          </p:nvSpPr>
          <p:spPr>
            <a:xfrm>
              <a:off x="914400" y="1981200"/>
              <a:ext cx="1066800" cy="838200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2" name="Google Shape;342;p30"/>
            <p:cNvCxnSpPr/>
            <p:nvPr/>
          </p:nvCxnSpPr>
          <p:spPr>
            <a:xfrm>
              <a:off x="1981200" y="2057400"/>
              <a:ext cx="9906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3" name="Google Shape;343;p30"/>
            <p:cNvCxnSpPr/>
            <p:nvPr/>
          </p:nvCxnSpPr>
          <p:spPr>
            <a:xfrm rot="10800000">
              <a:off x="457200" y="2057400"/>
              <a:ext cx="4572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44" name="Google Shape;344;p30"/>
            <p:cNvSpPr/>
            <p:nvPr/>
          </p:nvSpPr>
          <p:spPr>
            <a:xfrm>
              <a:off x="4038600" y="1981200"/>
              <a:ext cx="990600" cy="838200"/>
            </a:xfrm>
            <a:prstGeom prst="ellipse">
              <a:avLst/>
            </a:prstGeom>
            <a:noFill/>
            <a:ln w="38100" cap="flat" cmpd="sng">
              <a:solidFill>
                <a:srgbClr val="531A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5" name="Google Shape;345;p30"/>
            <p:cNvCxnSpPr/>
            <p:nvPr/>
          </p:nvCxnSpPr>
          <p:spPr>
            <a:xfrm>
              <a:off x="5105400" y="2743200"/>
              <a:ext cx="990600" cy="1588"/>
            </a:xfrm>
            <a:prstGeom prst="straightConnector1">
              <a:avLst/>
            </a:prstGeom>
            <a:noFill/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6" name="Google Shape;346;p30"/>
            <p:cNvCxnSpPr/>
            <p:nvPr/>
          </p:nvCxnSpPr>
          <p:spPr>
            <a:xfrm rot="10800000">
              <a:off x="2819400" y="2743200"/>
              <a:ext cx="1066800" cy="1588"/>
            </a:xfrm>
            <a:prstGeom prst="straightConnector1">
              <a:avLst/>
            </a:prstGeom>
            <a:noFill/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47" name="Google Shape;347;p30"/>
            <p:cNvSpPr/>
            <p:nvPr/>
          </p:nvSpPr>
          <p:spPr>
            <a:xfrm>
              <a:off x="7162800" y="1981200"/>
              <a:ext cx="990600" cy="838200"/>
            </a:xfrm>
            <a:prstGeom prst="ellipse">
              <a:avLst/>
            </a:pr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30"/>
            <p:cNvCxnSpPr/>
            <p:nvPr/>
          </p:nvCxnSpPr>
          <p:spPr>
            <a:xfrm>
              <a:off x="8305800" y="2057400"/>
              <a:ext cx="381000" cy="1588"/>
            </a:xfrm>
            <a:prstGeom prst="straightConnector1">
              <a:avLst/>
            </a:prstGeom>
            <a:noFill/>
            <a:ln w="50800" cap="flat" cmpd="sng">
              <a:solidFill>
                <a:srgbClr val="008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9" name="Google Shape;349;p30"/>
            <p:cNvCxnSpPr/>
            <p:nvPr/>
          </p:nvCxnSpPr>
          <p:spPr>
            <a:xfrm rot="10800000">
              <a:off x="6019800" y="2057400"/>
              <a:ext cx="1143000" cy="1588"/>
            </a:xfrm>
            <a:prstGeom prst="straightConnector1">
              <a:avLst/>
            </a:prstGeom>
            <a:noFill/>
            <a:ln w="50800" cap="flat" cmpd="sng">
              <a:solidFill>
                <a:srgbClr val="008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350" name="Google Shape;350;p3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 txBox="1">
            <a:spLocks noGrp="1"/>
          </p:cNvSpPr>
          <p:nvPr>
            <p:ph type="title" idx="4294967295"/>
          </p:nvPr>
        </p:nvSpPr>
        <p:spPr>
          <a:xfrm>
            <a:off x="1594513" y="457200"/>
            <a:ext cx="10018713" cy="48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 dirty="0"/>
              <a:t>Knowing it’s own connected networks</a:t>
            </a:r>
            <a:endParaRPr dirty="0"/>
          </a:p>
        </p:txBody>
      </p:sp>
      <p:grpSp>
        <p:nvGrpSpPr>
          <p:cNvPr id="357" name="Google Shape;357;p31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358" name="Google Shape;358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" name="Google Shape;361;p31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362" name="Google Shape;362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31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66" name="Google Shape;366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70" name="Google Shape;370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3" name="Google Shape;373;p31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74" name="Google Shape;374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31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78" name="Google Shape;378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3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3"/>
          <p:cNvSpPr txBox="1">
            <a:spLocks noGrp="1"/>
          </p:cNvSpPr>
          <p:nvPr>
            <p:ph type="title" idx="4294967295"/>
          </p:nvPr>
        </p:nvSpPr>
        <p:spPr>
          <a:xfrm>
            <a:off x="1484311" y="685801"/>
            <a:ext cx="10018713" cy="91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cxnSp>
        <p:nvCxnSpPr>
          <p:cNvPr id="434" name="Google Shape;434;p33"/>
          <p:cNvCxnSpPr/>
          <p:nvPr/>
        </p:nvCxnSpPr>
        <p:spPr>
          <a:xfrm>
            <a:off x="9753600" y="2133600"/>
            <a:ext cx="457200" cy="1588"/>
          </a:xfrm>
          <a:prstGeom prst="straightConnector1">
            <a:avLst/>
          </a:prstGeom>
          <a:noFill/>
          <a:ln w="50800" cap="flat" cmpd="sng">
            <a:solidFill>
              <a:srgbClr val="008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35" name="Google Shape;435;p33"/>
          <p:cNvGrpSpPr/>
          <p:nvPr/>
        </p:nvGrpSpPr>
        <p:grpSpPr>
          <a:xfrm>
            <a:off x="1676400" y="2184401"/>
            <a:ext cx="8839200" cy="3432175"/>
            <a:chOff x="96" y="816"/>
            <a:chExt cx="5568" cy="2162"/>
          </a:xfrm>
        </p:grpSpPr>
        <p:pic>
          <p:nvPicPr>
            <p:cNvPr id="436" name="Google Shape;436;p33" descr="dv10.jp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6" y="816"/>
              <a:ext cx="5568" cy="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7" name="Google Shape;437;p33"/>
            <p:cNvGrpSpPr/>
            <p:nvPr/>
          </p:nvGrpSpPr>
          <p:grpSpPr>
            <a:xfrm>
              <a:off x="3936" y="2736"/>
              <a:ext cx="1536" cy="96"/>
              <a:chOff x="533400" y="4267200"/>
              <a:chExt cx="2438400" cy="152400"/>
            </a:xfrm>
          </p:grpSpPr>
          <p:sp>
            <p:nvSpPr>
              <p:cNvPr id="438" name="Google Shape;438;p33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3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3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3"/>
            <p:cNvGrpSpPr/>
            <p:nvPr/>
          </p:nvGrpSpPr>
          <p:grpSpPr>
            <a:xfrm>
              <a:off x="336" y="1248"/>
              <a:ext cx="5136" cy="1584"/>
              <a:chOff x="336" y="1248"/>
              <a:chExt cx="5136" cy="1584"/>
            </a:xfrm>
          </p:grpSpPr>
          <p:grpSp>
            <p:nvGrpSpPr>
              <p:cNvPr id="442" name="Google Shape;442;p33"/>
              <p:cNvGrpSpPr/>
              <p:nvPr/>
            </p:nvGrpSpPr>
            <p:grpSpPr>
              <a:xfrm>
                <a:off x="336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43" name="Google Shape;443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6" name="Google Shape;446;p33"/>
              <p:cNvGrpSpPr/>
              <p:nvPr/>
            </p:nvGrpSpPr>
            <p:grpSpPr>
              <a:xfrm>
                <a:off x="336" y="2736"/>
                <a:ext cx="1536" cy="96"/>
                <a:chOff x="533400" y="4267200"/>
                <a:chExt cx="2438400" cy="152400"/>
              </a:xfrm>
            </p:grpSpPr>
            <p:sp>
              <p:nvSpPr>
                <p:cNvPr id="447" name="Google Shape;447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0" name="Google Shape;450;p33"/>
              <p:cNvGrpSpPr/>
              <p:nvPr/>
            </p:nvGrpSpPr>
            <p:grpSpPr>
              <a:xfrm>
                <a:off x="2112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51" name="Google Shape;451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4" name="Google Shape;454;p33"/>
              <p:cNvGrpSpPr/>
              <p:nvPr/>
            </p:nvGrpSpPr>
            <p:grpSpPr>
              <a:xfrm>
                <a:off x="2112" y="2736"/>
                <a:ext cx="1536" cy="96"/>
                <a:chOff x="533400" y="4267200"/>
                <a:chExt cx="2438400" cy="152400"/>
              </a:xfrm>
            </p:grpSpPr>
            <p:sp>
              <p:nvSpPr>
                <p:cNvPr id="455" name="Google Shape;455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" name="Google Shape;456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" name="Google Shape;458;p33"/>
              <p:cNvGrpSpPr/>
              <p:nvPr/>
            </p:nvGrpSpPr>
            <p:grpSpPr>
              <a:xfrm>
                <a:off x="3936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59" name="Google Shape;459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" name="Google Shape;461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w="381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2" name="Google Shape;462;p33"/>
              <p:cNvSpPr/>
              <p:nvPr/>
            </p:nvSpPr>
            <p:spPr>
              <a:xfrm>
                <a:off x="4464" y="1248"/>
                <a:ext cx="720" cy="528"/>
              </a:xfrm>
              <a:prstGeom prst="ellipse">
                <a:avLst/>
              </a:prstGeom>
              <a:noFill/>
              <a:ln w="38100" cap="flat" cmpd="sng">
                <a:solidFill>
                  <a:srgbClr val="008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3" name="Google Shape;463;p33"/>
              <p:cNvGrpSpPr/>
              <p:nvPr/>
            </p:nvGrpSpPr>
            <p:grpSpPr>
              <a:xfrm>
                <a:off x="1296" y="1249"/>
                <a:ext cx="816" cy="194"/>
                <a:chOff x="2057400" y="1981201"/>
                <a:chExt cx="1219200" cy="307777"/>
              </a:xfrm>
            </p:grpSpPr>
            <p:cxnSp>
              <p:nvCxnSpPr>
                <p:cNvPr id="464" name="Google Shape;464;p33"/>
                <p:cNvCxnSpPr/>
                <p:nvPr/>
              </p:nvCxnSpPr>
              <p:spPr>
                <a:xfrm>
                  <a:off x="2057400" y="2133600"/>
                  <a:ext cx="1219200" cy="1588"/>
                </a:xfrm>
                <a:prstGeom prst="straightConnector1">
                  <a:avLst/>
                </a:prstGeom>
                <a:noFill/>
                <a:ln w="50800" cap="flat" cmpd="sng">
                  <a:solidFill>
                    <a:srgbClr val="FF0000">
                      <a:alpha val="48627"/>
                    </a:srgbClr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465" name="Google Shape;465;p33"/>
                <p:cNvSpPr txBox="1"/>
                <p:nvPr/>
              </p:nvSpPr>
              <p:spPr>
                <a:xfrm>
                  <a:off x="2209799" y="1981201"/>
                  <a:ext cx="838200" cy="307777"/>
                </a:xfrm>
                <a:prstGeom prst="rect">
                  <a:avLst/>
                </a:prstGeom>
                <a:solidFill>
                  <a:srgbClr val="800000">
                    <a:alpha val="48627"/>
                  </a:srgbClr>
                </a:solidFill>
                <a:ln w="25400" cap="flat" cmpd="sng">
                  <a:solidFill>
                    <a:srgbClr val="FF0000">
                      <a:alpha val="48627"/>
                    </a:srgb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 dirty="0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10.1.0.0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6" name="Google Shape;466;p33"/>
              <p:cNvGrpSpPr/>
              <p:nvPr/>
            </p:nvGrpSpPr>
            <p:grpSpPr>
              <a:xfrm>
                <a:off x="1488" y="1681"/>
                <a:ext cx="864" cy="194"/>
                <a:chOff x="2438400" y="2590800"/>
                <a:chExt cx="1295400" cy="307777"/>
              </a:xfrm>
            </p:grpSpPr>
            <p:cxnSp>
              <p:nvCxnSpPr>
                <p:cNvPr id="467" name="Google Shape;467;p33"/>
                <p:cNvCxnSpPr/>
                <p:nvPr/>
              </p:nvCxnSpPr>
              <p:spPr>
                <a:xfrm rot="10800000">
                  <a:off x="2438400" y="2743200"/>
                  <a:ext cx="1295400" cy="1588"/>
                </a:xfrm>
                <a:prstGeom prst="straightConnector1">
                  <a:avLst/>
                </a:prstGeom>
                <a:noFill/>
                <a:ln w="50800" cap="flat" cmpd="sng">
                  <a:solidFill>
                    <a:srgbClr val="00B0F0">
                      <a:alpha val="48627"/>
                    </a:srgbClr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468" name="Google Shape;468;p33"/>
                <p:cNvSpPr txBox="1"/>
                <p:nvPr/>
              </p:nvSpPr>
              <p:spPr>
                <a:xfrm>
                  <a:off x="2742759" y="2590800"/>
                  <a:ext cx="838111" cy="307777"/>
                </a:xfrm>
                <a:prstGeom prst="rect">
                  <a:avLst/>
                </a:prstGeom>
                <a:solidFill>
                  <a:srgbClr val="531A88">
                    <a:alpha val="48627"/>
                  </a:srgbClr>
                </a:solidFill>
                <a:ln w="25400" cap="flat" cmpd="sng">
                  <a:solidFill>
                    <a:srgbClr val="00B0F0">
                      <a:alpha val="48627"/>
                    </a:srgb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 dirty="0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10.3.0.0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9" name="Google Shape;469;p33"/>
              <p:cNvGrpSpPr/>
              <p:nvPr/>
            </p:nvGrpSpPr>
            <p:grpSpPr>
              <a:xfrm>
                <a:off x="3312" y="1681"/>
                <a:ext cx="912" cy="194"/>
                <a:chOff x="5257799" y="2590800"/>
                <a:chExt cx="1295400" cy="307777"/>
              </a:xfrm>
            </p:grpSpPr>
            <p:cxnSp>
              <p:nvCxnSpPr>
                <p:cNvPr id="470" name="Google Shape;470;p33"/>
                <p:cNvCxnSpPr/>
                <p:nvPr/>
              </p:nvCxnSpPr>
              <p:spPr>
                <a:xfrm>
                  <a:off x="5257799" y="2743200"/>
                  <a:ext cx="1295400" cy="1588"/>
                </a:xfrm>
                <a:prstGeom prst="straightConnector1">
                  <a:avLst/>
                </a:prstGeom>
                <a:noFill/>
                <a:ln w="50800" cap="flat" cmpd="sng">
                  <a:solidFill>
                    <a:srgbClr val="531A88">
                      <a:alpha val="48627"/>
                    </a:srgbClr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471" name="Google Shape;471;p33"/>
                <p:cNvSpPr txBox="1"/>
                <p:nvPr/>
              </p:nvSpPr>
              <p:spPr>
                <a:xfrm>
                  <a:off x="5486483" y="2590800"/>
                  <a:ext cx="838033" cy="307777"/>
                </a:xfrm>
                <a:prstGeom prst="rect">
                  <a:avLst/>
                </a:prstGeom>
                <a:solidFill>
                  <a:srgbClr val="531A88">
                    <a:alpha val="48627"/>
                  </a:srgbClr>
                </a:solidFill>
                <a:ln w="25400" cap="flat" cmpd="sng">
                  <a:solidFill>
                    <a:srgbClr val="00B0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 dirty="0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10.2.0.0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2" name="Google Shape;472;p33"/>
              <p:cNvGrpSpPr/>
              <p:nvPr/>
            </p:nvGrpSpPr>
            <p:grpSpPr>
              <a:xfrm>
                <a:off x="3600" y="1249"/>
                <a:ext cx="960" cy="194"/>
                <a:chOff x="5715000" y="1981200"/>
                <a:chExt cx="1295400" cy="307777"/>
              </a:xfrm>
            </p:grpSpPr>
            <p:cxnSp>
              <p:nvCxnSpPr>
                <p:cNvPr id="473" name="Google Shape;473;p33"/>
                <p:cNvCxnSpPr/>
                <p:nvPr/>
              </p:nvCxnSpPr>
              <p:spPr>
                <a:xfrm rot="10800000">
                  <a:off x="5715000" y="2133600"/>
                  <a:ext cx="1295400" cy="1588"/>
                </a:xfrm>
                <a:prstGeom prst="straightConnector1">
                  <a:avLst/>
                </a:prstGeom>
                <a:noFill/>
                <a:ln w="50800" cap="flat" cmpd="sng">
                  <a:solidFill>
                    <a:srgbClr val="008000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  <p:sp>
              <p:nvSpPr>
                <p:cNvPr id="474" name="Google Shape;474;p33"/>
                <p:cNvSpPr txBox="1"/>
                <p:nvPr/>
              </p:nvSpPr>
              <p:spPr>
                <a:xfrm>
                  <a:off x="6019958" y="1981200"/>
                  <a:ext cx="837962" cy="307777"/>
                </a:xfrm>
                <a:prstGeom prst="rect">
                  <a:avLst/>
                </a:prstGeom>
                <a:solidFill>
                  <a:srgbClr val="008000"/>
                </a:solidFill>
                <a:ln w="25400" cap="flat" cmpd="sng">
                  <a:solidFill>
                    <a:srgbClr val="66FF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 dirty="0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10.4.0.0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75" name="Google Shape;475;p3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cxnSp>
        <p:nvCxnSpPr>
          <p:cNvPr id="45" name="Google Shape;464;p33"/>
          <p:cNvCxnSpPr/>
          <p:nvPr/>
        </p:nvCxnSpPr>
        <p:spPr>
          <a:xfrm>
            <a:off x="3581400" y="2724504"/>
            <a:ext cx="1295400" cy="1589"/>
          </a:xfrm>
          <a:prstGeom prst="straightConnector1">
            <a:avLst/>
          </a:prstGeom>
          <a:noFill/>
          <a:ln w="50800" cap="flat" cmpd="sng">
            <a:solidFill>
              <a:srgbClr val="FF0000">
                <a:alpha val="48627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" name="Google Shape;465;p33"/>
          <p:cNvSpPr txBox="1"/>
          <p:nvPr/>
        </p:nvSpPr>
        <p:spPr>
          <a:xfrm>
            <a:off x="3743324" y="2572007"/>
            <a:ext cx="890588" cy="307975"/>
          </a:xfrm>
          <a:prstGeom prst="rect">
            <a:avLst/>
          </a:prstGeom>
          <a:solidFill>
            <a:srgbClr val="800000">
              <a:alpha val="48627"/>
            </a:srgbClr>
          </a:solidFill>
          <a:ln w="25400" cap="flat" cmpd="sng">
            <a:solidFill>
              <a:srgbClr val="FF0000">
                <a:alpha val="48627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10.2.0.0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67;p33"/>
          <p:cNvCxnSpPr/>
          <p:nvPr/>
        </p:nvCxnSpPr>
        <p:spPr>
          <a:xfrm rot="10800000">
            <a:off x="3886200" y="3998981"/>
            <a:ext cx="1371600" cy="1589"/>
          </a:xfrm>
          <a:prstGeom prst="straightConnector1">
            <a:avLst/>
          </a:prstGeom>
          <a:noFill/>
          <a:ln w="50800" cap="flat" cmpd="sng">
            <a:solidFill>
              <a:srgbClr val="00B0F0">
                <a:alpha val="48627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" name="Google Shape;468;p33"/>
          <p:cNvSpPr txBox="1"/>
          <p:nvPr/>
        </p:nvSpPr>
        <p:spPr>
          <a:xfrm>
            <a:off x="4208462" y="3846483"/>
            <a:ext cx="887412" cy="307975"/>
          </a:xfrm>
          <a:prstGeom prst="rect">
            <a:avLst/>
          </a:prstGeom>
          <a:solidFill>
            <a:srgbClr val="531A88">
              <a:alpha val="48627"/>
            </a:srgbClr>
          </a:solidFill>
          <a:ln w="25400" cap="flat" cmpd="sng">
            <a:solidFill>
              <a:srgbClr val="00B0F0">
                <a:alpha val="48627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10.2.0.0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70;p33"/>
          <p:cNvCxnSpPr/>
          <p:nvPr/>
        </p:nvCxnSpPr>
        <p:spPr>
          <a:xfrm>
            <a:off x="6781800" y="4005867"/>
            <a:ext cx="1447800" cy="1589"/>
          </a:xfrm>
          <a:prstGeom prst="straightConnector1">
            <a:avLst/>
          </a:prstGeom>
          <a:noFill/>
          <a:ln w="50800" cap="flat" cmpd="sng">
            <a:solidFill>
              <a:srgbClr val="531A88">
                <a:alpha val="48627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" name="Google Shape;471;p33"/>
          <p:cNvSpPr txBox="1"/>
          <p:nvPr/>
        </p:nvSpPr>
        <p:spPr>
          <a:xfrm>
            <a:off x="7037388" y="3853369"/>
            <a:ext cx="936625" cy="307975"/>
          </a:xfrm>
          <a:prstGeom prst="rect">
            <a:avLst/>
          </a:prstGeom>
          <a:solidFill>
            <a:srgbClr val="531A88">
              <a:alpha val="48627"/>
            </a:srgbClr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10.3.0.0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473;p33"/>
          <p:cNvCxnSpPr/>
          <p:nvPr/>
        </p:nvCxnSpPr>
        <p:spPr>
          <a:xfrm rot="10800000">
            <a:off x="7239000" y="2697438"/>
            <a:ext cx="1524000" cy="1589"/>
          </a:xfrm>
          <a:prstGeom prst="straightConnector1">
            <a:avLst/>
          </a:prstGeom>
          <a:noFill/>
          <a:ln w="50800" cap="flat" cmpd="sng">
            <a:solidFill>
              <a:srgbClr val="008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" name="Google Shape;474;p33"/>
          <p:cNvSpPr txBox="1"/>
          <p:nvPr/>
        </p:nvSpPr>
        <p:spPr>
          <a:xfrm>
            <a:off x="7597774" y="2544940"/>
            <a:ext cx="985838" cy="307975"/>
          </a:xfrm>
          <a:prstGeom prst="rect">
            <a:avLst/>
          </a:prstGeom>
          <a:solidFill>
            <a:srgbClr val="008000"/>
          </a:solidFill>
          <a:ln w="25400" cap="flat" cmpd="sng">
            <a:solidFill>
              <a:srgbClr val="66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10.3.0.0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36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6"/>
          <p:cNvSpPr txBox="1">
            <a:spLocks noGrp="1"/>
          </p:cNvSpPr>
          <p:nvPr>
            <p:ph type="title" idx="4294967295"/>
          </p:nvPr>
        </p:nvSpPr>
        <p:spPr>
          <a:xfrm>
            <a:off x="1638300" y="457200"/>
            <a:ext cx="10018713" cy="68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 dirty="0"/>
              <a:t>Exchange of Routing Information</a:t>
            </a:r>
            <a:endParaRPr dirty="0"/>
          </a:p>
        </p:txBody>
      </p:sp>
      <p:sp>
        <p:nvSpPr>
          <p:cNvPr id="553" name="Google Shape;553;p36"/>
          <p:cNvSpPr txBox="1">
            <a:spLocks noGrp="1"/>
          </p:cNvSpPr>
          <p:nvPr>
            <p:ph type="body" idx="4294967295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grpSp>
        <p:nvGrpSpPr>
          <p:cNvPr id="554" name="Google Shape;554;p36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55" name="Google Shape;555;p36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8" name="Google Shape;558;p36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59" name="Google Shape;559;p36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6" name="Google Shape;566;p3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37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7"/>
          <p:cNvSpPr txBox="1">
            <a:spLocks noGrp="1"/>
          </p:cNvSpPr>
          <p:nvPr>
            <p:ph type="title" idx="4294967295"/>
          </p:nvPr>
        </p:nvSpPr>
        <p:spPr>
          <a:xfrm>
            <a:off x="1620043" y="497229"/>
            <a:ext cx="1001871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573" name="Google Shape;573;p37"/>
          <p:cNvSpPr txBox="1">
            <a:spLocks noGrp="1"/>
          </p:cNvSpPr>
          <p:nvPr>
            <p:ph type="body" idx="4294967295"/>
          </p:nvPr>
        </p:nvSpPr>
        <p:spPr>
          <a:xfrm>
            <a:off x="1676400" y="5006975"/>
            <a:ext cx="8839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endParaRPr/>
          </a:p>
        </p:txBody>
      </p:sp>
      <p:grpSp>
        <p:nvGrpSpPr>
          <p:cNvPr id="574" name="Google Shape;574;p37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75" name="Google Shape;575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8" name="Google Shape;578;p37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79" name="Google Shape;579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p37"/>
          <p:cNvSpPr/>
          <p:nvPr/>
        </p:nvSpPr>
        <p:spPr>
          <a:xfrm>
            <a:off x="5486400" y="1981200"/>
            <a:ext cx="1143000" cy="838200"/>
          </a:xfrm>
          <a:prstGeom prst="ellipse">
            <a:avLst/>
          </a:prstGeom>
          <a:noFill/>
          <a:ln w="38100" cap="flat" cmpd="sng">
            <a:solidFill>
              <a:srgbClr val="531A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3" name="Google Shape;583;p37"/>
          <p:cNvGrpSpPr/>
          <p:nvPr/>
        </p:nvGrpSpPr>
        <p:grpSpPr>
          <a:xfrm>
            <a:off x="4648200" y="2743201"/>
            <a:ext cx="1371600" cy="307777"/>
            <a:chOff x="1981200" y="2667000"/>
            <a:chExt cx="1295400" cy="307777"/>
          </a:xfrm>
        </p:grpSpPr>
        <p:cxnSp>
          <p:nvCxnSpPr>
            <p:cNvPr id="584" name="Google Shape;584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85" name="Google Shape;585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" name="Google Shape;586;p37"/>
          <p:cNvGrpSpPr/>
          <p:nvPr/>
        </p:nvGrpSpPr>
        <p:grpSpPr>
          <a:xfrm>
            <a:off x="3352800" y="2743201"/>
            <a:ext cx="1371600" cy="307777"/>
            <a:chOff x="1981200" y="2667000"/>
            <a:chExt cx="1295400" cy="307777"/>
          </a:xfrm>
        </p:grpSpPr>
        <p:cxnSp>
          <p:nvCxnSpPr>
            <p:cNvPr id="587" name="Google Shape;587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88" name="Google Shape;588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9" name="Google Shape;589;p37"/>
          <p:cNvGrpSpPr/>
          <p:nvPr/>
        </p:nvGrpSpPr>
        <p:grpSpPr>
          <a:xfrm>
            <a:off x="6096000" y="2743201"/>
            <a:ext cx="2743200" cy="307777"/>
            <a:chOff x="4724400" y="2743200"/>
            <a:chExt cx="2590800" cy="307777"/>
          </a:xfrm>
        </p:grpSpPr>
        <p:grpSp>
          <p:nvGrpSpPr>
            <p:cNvPr id="590" name="Google Shape;590;p37"/>
            <p:cNvGrpSpPr/>
            <p:nvPr/>
          </p:nvGrpSpPr>
          <p:grpSpPr>
            <a:xfrm>
              <a:off x="60198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91" name="Google Shape;591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w="50800" cap="flat" cmpd="sng">
                <a:solidFill>
                  <a:srgbClr val="531A88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592" name="Google Shape;592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w="25400" cap="flat" cmpd="sng">
                <a:solidFill>
                  <a:srgbClr val="00B0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3" name="Google Shape;593;p37"/>
            <p:cNvGrpSpPr/>
            <p:nvPr/>
          </p:nvGrpSpPr>
          <p:grpSpPr>
            <a:xfrm>
              <a:off x="47244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94" name="Google Shape;594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w="50800" cap="flat" cmpd="sng">
                <a:solidFill>
                  <a:srgbClr val="531A88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595" name="Google Shape;595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w="25400" cap="flat" cmpd="sng">
                <a:solidFill>
                  <a:srgbClr val="00B0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10.1.0.0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6" name="Google Shape;596;p37"/>
          <p:cNvGrpSpPr/>
          <p:nvPr/>
        </p:nvGrpSpPr>
        <p:grpSpPr>
          <a:xfrm>
            <a:off x="3581400" y="1752600"/>
            <a:ext cx="4876800" cy="1068388"/>
            <a:chOff x="2057400" y="1752600"/>
            <a:chExt cx="4876800" cy="1067594"/>
          </a:xfrm>
        </p:grpSpPr>
        <p:cxnSp>
          <p:nvCxnSpPr>
            <p:cNvPr id="597" name="Google Shape;597;p37"/>
            <p:cNvCxnSpPr/>
            <p:nvPr/>
          </p:nvCxnSpPr>
          <p:spPr>
            <a:xfrm rot="-5400000" flipH="1">
              <a:off x="2894806" y="2134394"/>
              <a:ext cx="686594" cy="685006"/>
            </a:xfrm>
            <a:prstGeom prst="straightConnector1">
              <a:avLst/>
            </a:prstGeom>
            <a:noFill/>
            <a:ln w="50800" cap="flat" cmpd="sng">
              <a:solidFill>
                <a:srgbClr val="99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98" name="Google Shape;598;p37"/>
            <p:cNvSpPr txBox="1"/>
            <p:nvPr/>
          </p:nvSpPr>
          <p:spPr>
            <a:xfrm>
              <a:off x="2057400" y="1752600"/>
              <a:ext cx="914400" cy="399813"/>
            </a:xfrm>
            <a:prstGeom prst="rect">
              <a:avLst/>
            </a:prstGeom>
            <a:solidFill>
              <a:srgbClr val="660033"/>
            </a:solidFill>
            <a:ln w="25400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9" name="Google Shape;599;p37"/>
            <p:cNvCxnSpPr/>
            <p:nvPr/>
          </p:nvCxnSpPr>
          <p:spPr>
            <a:xfrm rot="5400000">
              <a:off x="5524500" y="2247900"/>
              <a:ext cx="609600" cy="533400"/>
            </a:xfrm>
            <a:prstGeom prst="straightConnector1">
              <a:avLst/>
            </a:prstGeom>
            <a:noFill/>
            <a:ln w="50800" cap="flat" cmpd="sng">
              <a:solidFill>
                <a:srgbClr val="9900FF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600" name="Google Shape;600;p37"/>
            <p:cNvSpPr txBox="1"/>
            <p:nvPr/>
          </p:nvSpPr>
          <p:spPr>
            <a:xfrm>
              <a:off x="6019800" y="1828743"/>
              <a:ext cx="914400" cy="399813"/>
            </a:xfrm>
            <a:prstGeom prst="rect">
              <a:avLst/>
            </a:prstGeom>
            <a:solidFill>
              <a:srgbClr val="660033"/>
            </a:solidFill>
            <a:ln w="25400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1" name="Google Shape;601;p3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41" descr="dv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4859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1"/>
          <p:cNvSpPr txBox="1">
            <a:spLocks noGrp="1"/>
          </p:cNvSpPr>
          <p:nvPr>
            <p:ph type="title" idx="4294967295"/>
          </p:nvPr>
        </p:nvSpPr>
        <p:spPr>
          <a:xfrm>
            <a:off x="1676400" y="571500"/>
            <a:ext cx="10018713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668" name="Google Shape;668;p41"/>
          <p:cNvSpPr txBox="1">
            <a:spLocks noGrp="1"/>
          </p:cNvSpPr>
          <p:nvPr>
            <p:ph type="body" idx="4294967295"/>
          </p:nvPr>
        </p:nvSpPr>
        <p:spPr>
          <a:xfrm>
            <a:off x="1558835" y="5175252"/>
            <a:ext cx="9609908" cy="13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 sz="2400"/>
              <a:t>The network has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lang="en-US" sz="2400" b="1">
                <a:solidFill>
                  <a:srgbClr val="FF0000"/>
                </a:solidFill>
              </a:rPr>
              <a:t>CONVERGED!</a:t>
            </a:r>
            <a:endParaRPr sz="2400" b="1"/>
          </a:p>
          <a:p>
            <a:pPr marL="796925" lvl="2" indent="-3429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Font typeface="Tahoma"/>
              <a:buChar char="•"/>
            </a:pPr>
            <a:r>
              <a:rPr lang="en-US" sz="2400"/>
              <a:t>All routers now know about all of the networks attached to all of their neighbouring routers.</a:t>
            </a:r>
            <a:endParaRPr sz="24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sp>
        <p:nvSpPr>
          <p:cNvPr id="669" name="Google Shape;669;p4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2"/>
          <p:cNvSpPr txBox="1">
            <a:spLocks noGrp="1"/>
          </p:cNvSpPr>
          <p:nvPr>
            <p:ph type="title" idx="4294967295"/>
          </p:nvPr>
        </p:nvSpPr>
        <p:spPr>
          <a:xfrm>
            <a:off x="1655761" y="485775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Convergence</a:t>
            </a:r>
            <a:endParaRPr/>
          </a:p>
        </p:txBody>
      </p:sp>
      <p:sp>
        <p:nvSpPr>
          <p:cNvPr id="675" name="Google Shape;675;p42"/>
          <p:cNvSpPr txBox="1">
            <a:spLocks noGrp="1"/>
          </p:cNvSpPr>
          <p:nvPr>
            <p:ph type="body" idx="4294967295"/>
          </p:nvPr>
        </p:nvSpPr>
        <p:spPr>
          <a:xfrm>
            <a:off x="1362075" y="971551"/>
            <a:ext cx="5346455" cy="535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Convergence</a:t>
            </a:r>
            <a:r>
              <a:rPr lang="en-US"/>
              <a:t> is the time a network takes to reach a </a:t>
            </a:r>
            <a:r>
              <a:rPr lang="en-US" b="1">
                <a:solidFill>
                  <a:srgbClr val="7D28CD"/>
                </a:solidFill>
              </a:rPr>
              <a:t>stable routing state</a:t>
            </a:r>
            <a:r>
              <a:rPr lang="en-US"/>
              <a:t> after a change (e.g., link failure).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 general, </a:t>
            </a:r>
            <a:r>
              <a:rPr lang="en-US" b="1">
                <a:solidFill>
                  <a:srgbClr val="7D28CD"/>
                </a:solidFill>
              </a:rPr>
              <a:t>larger networks </a:t>
            </a:r>
            <a:r>
              <a:rPr lang="en-US" b="1"/>
              <a:t>take </a:t>
            </a:r>
            <a:r>
              <a:rPr lang="en-US" b="1">
                <a:solidFill>
                  <a:srgbClr val="0070C0"/>
                </a:solidFill>
              </a:rPr>
              <a:t>longer to converge</a:t>
            </a:r>
            <a:r>
              <a:rPr lang="en-US" b="1"/>
              <a:t>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Routing protocols are compared based on </a:t>
            </a:r>
            <a:r>
              <a:rPr lang="en-US" b="1"/>
              <a:t>how fast they spread routing updates</a:t>
            </a:r>
            <a:br>
              <a:rPr lang="en-US"/>
            </a:br>
            <a:r>
              <a:rPr lang="en-US" b="1">
                <a:solidFill>
                  <a:srgbClr val="FF0000"/>
                </a:solidFill>
              </a:rPr>
              <a:t>→</a:t>
            </a:r>
            <a:r>
              <a:rPr lang="en-US"/>
              <a:t> this is called </a:t>
            </a:r>
            <a:r>
              <a:rPr lang="en-US" b="1">
                <a:solidFill>
                  <a:srgbClr val="FF0000"/>
                </a:solidFill>
              </a:rPr>
              <a:t>speed of convergence</a:t>
            </a:r>
            <a:r>
              <a:rPr lang="en-US">
                <a:solidFill>
                  <a:srgbClr val="FF0000"/>
                </a:solidFill>
              </a:rPr>
              <a:t>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 network </a:t>
            </a:r>
            <a:r>
              <a:rPr lang="en-US" b="1">
                <a:solidFill>
                  <a:srgbClr val="7D28CD"/>
                </a:solidFill>
              </a:rPr>
              <a:t>cannot forward traffic correctly</a:t>
            </a:r>
            <a:r>
              <a:rPr lang="en-US">
                <a:solidFill>
                  <a:srgbClr val="7D28CD"/>
                </a:solidFill>
              </a:rPr>
              <a:t> </a:t>
            </a:r>
            <a:r>
              <a:rPr lang="en-US"/>
              <a:t>until convergence is complete.</a:t>
            </a:r>
            <a:endParaRPr/>
          </a:p>
        </p:txBody>
      </p:sp>
      <p:pic>
        <p:nvPicPr>
          <p:cNvPr id="676" name="Google Shape;676;p42" descr="dv1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9832" y="1718897"/>
            <a:ext cx="4957763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"/>
          <p:cNvSpPr txBox="1">
            <a:spLocks noGrp="1"/>
          </p:cNvSpPr>
          <p:nvPr>
            <p:ph type="title" idx="4294967295"/>
          </p:nvPr>
        </p:nvSpPr>
        <p:spPr>
          <a:xfrm>
            <a:off x="1655761" y="485775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Disadvantages</a:t>
            </a:r>
            <a:endParaRPr/>
          </a:p>
        </p:txBody>
      </p:sp>
      <p:sp>
        <p:nvSpPr>
          <p:cNvPr id="683" name="Google Shape;683;p11"/>
          <p:cNvSpPr txBox="1">
            <a:spLocks noGrp="1"/>
          </p:cNvSpPr>
          <p:nvPr>
            <p:ph type="body" idx="4294967295"/>
          </p:nvPr>
        </p:nvSpPr>
        <p:spPr>
          <a:xfrm>
            <a:off x="1362075" y="971551"/>
            <a:ext cx="10709852" cy="535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Routers have </a:t>
            </a:r>
            <a:r>
              <a:rPr lang="en-US" sz="28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only local knowledge</a:t>
            </a:r>
            <a:r>
              <a:rPr lang="en-US" sz="28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(they know information only from neighbors).</a:t>
            </a:r>
            <a:endParaRPr/>
          </a:p>
          <a:p>
            <a:pPr marL="34290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Routers </a:t>
            </a:r>
            <a:r>
              <a:rPr lang="en-US" sz="2800" b="1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trust information received from neighbors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even if it is outdated or incorrect.</a:t>
            </a:r>
            <a:endParaRPr/>
          </a:p>
          <a:p>
            <a:pPr marL="34290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endParaRPr sz="28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Routing updates are </a:t>
            </a:r>
            <a:r>
              <a:rPr lang="en-US" sz="2800" b="1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slow to converge</a:t>
            </a:r>
            <a:r>
              <a:rPr lang="en-US" sz="28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after a link failure.</a:t>
            </a:r>
            <a:endParaRPr/>
          </a:p>
          <a:p>
            <a:pPr marL="34290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Incorrect routing information can </a:t>
            </a:r>
            <a:r>
              <a:rPr lang="en-US" sz="28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spread from one router to another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marL="34290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None/>
            </a:pP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can create </a:t>
            </a:r>
            <a:r>
              <a:rPr lang="en-US" sz="2800" b="1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routing loops</a:t>
            </a:r>
            <a:r>
              <a:rPr lang="en-US" sz="28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</p:txBody>
      </p:sp>
      <p:sp>
        <p:nvSpPr>
          <p:cNvPr id="684" name="Google Shape;684;p1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691" name="Google Shape;69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0543" y="2117114"/>
            <a:ext cx="70485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2827" y="3775930"/>
            <a:ext cx="5223137" cy="1956655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13" descr="Network Device Status Icons, Jon Fuller's Portfolio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4" name="Google Shape;694;p13" descr="2+ Hundred Computer Network Outage Icon Royalty-Free Images, Stock Photos &amp;  Pictures | Shutterstoc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07667" y="2242039"/>
            <a:ext cx="641838" cy="641838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13"/>
          <p:cNvSpPr txBox="1"/>
          <p:nvPr/>
        </p:nvSpPr>
        <p:spPr>
          <a:xfrm>
            <a:off x="5564684" y="4246684"/>
            <a:ext cx="651478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∞, 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  <a:endParaRPr sz="1800" b="1" i="0" u="none" strike="noStrike" cap="none" dirty="0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696" name="Google Shape;696;p13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Count to infinity Problem :: Routing Loops</a:t>
            </a:r>
            <a:endParaRPr sz="36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311FB-8A84-4397-8C98-47FB80951F5F}"/>
              </a:ext>
            </a:extLst>
          </p:cNvPr>
          <p:cNvSpPr txBox="1"/>
          <p:nvPr/>
        </p:nvSpPr>
        <p:spPr>
          <a:xfrm>
            <a:off x="7043911" y="4566902"/>
            <a:ext cx="33214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E7DF7-FEE7-4F69-B8FB-5B236E9C6C15}"/>
              </a:ext>
            </a:extLst>
          </p:cNvPr>
          <p:cNvSpPr txBox="1"/>
          <p:nvPr/>
        </p:nvSpPr>
        <p:spPr>
          <a:xfrm>
            <a:off x="8025095" y="4562915"/>
            <a:ext cx="33214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708" name="Google Shape;708;p14" descr="enter image description he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4760" y="2417884"/>
            <a:ext cx="6291880" cy="36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4"/>
          <p:cNvSpPr txBox="1"/>
          <p:nvPr/>
        </p:nvSpPr>
        <p:spPr>
          <a:xfrm>
            <a:off x="7936523" y="1403837"/>
            <a:ext cx="4047392" cy="5084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After a specific amount of time, B receives C's routing table.</a:t>
            </a:r>
            <a:endParaRPr dirty="0"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Since C does not know that the link between A and B is down, it assumes a path to A with cost 2 (1 from C to B and 1 from B to A). </a:t>
            </a:r>
            <a:endParaRPr dirty="0"/>
          </a:p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 receives C’s table and assumes there is an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alternate path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400" b="1" i="0" u="none" strike="noStrike" cap="none" dirty="0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to A via C</a:t>
            </a:r>
            <a:endParaRPr dirty="0"/>
          </a:p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 it updates its distance to A from infinity to 3 (1 from B to C + 2 from C to A)</a:t>
            </a:r>
            <a:endParaRPr dirty="0"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70588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Once again, routers exchange their tables.</a:t>
            </a:r>
            <a:endParaRPr dirty="0"/>
          </a:p>
        </p:txBody>
      </p:sp>
      <p:pic>
        <p:nvPicPr>
          <p:cNvPr id="710" name="Google Shape;71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1119" y="1296956"/>
            <a:ext cx="5728188" cy="874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14" descr="2+ Hundred Computer Network Outage Icon Royalty-Free Images, Stock Photos &amp;  Pictures | Shutterstoc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37228" y="1403837"/>
            <a:ext cx="521610" cy="52161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14"/>
          <p:cNvSpPr/>
          <p:nvPr/>
        </p:nvSpPr>
        <p:spPr>
          <a:xfrm>
            <a:off x="1714500" y="3734837"/>
            <a:ext cx="5934807" cy="226841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4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Count to infinity Problem :: Routing Loops</a:t>
            </a:r>
            <a:endParaRPr sz="36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4" name="Google Shape;714;p14"/>
          <p:cNvSpPr txBox="1"/>
          <p:nvPr/>
        </p:nvSpPr>
        <p:spPr>
          <a:xfrm>
            <a:off x="4930531" y="1242519"/>
            <a:ext cx="889000" cy="430847"/>
          </a:xfrm>
          <a:prstGeom prst="rect">
            <a:avLst/>
          </a:prstGeom>
          <a:solidFill>
            <a:srgbClr val="531A88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C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5819532" y="2858018"/>
            <a:ext cx="618214" cy="448599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4842270" y="3268955"/>
            <a:ext cx="618214" cy="448599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77556E-17 L -0.12305 0.0314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59" y="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722" name="Google Shape;722;p15" descr="enter image description he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4760" y="2417884"/>
            <a:ext cx="6291880" cy="36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5"/>
          <p:cNvSpPr txBox="1"/>
          <p:nvPr/>
        </p:nvSpPr>
        <p:spPr>
          <a:xfrm>
            <a:off x="7936522" y="1403837"/>
            <a:ext cx="4108939" cy="46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7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C receives B's routing table, it sees that B has changed the weight of its link to A from 1 to 3.</a:t>
            </a:r>
            <a:endParaRPr dirty="0"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7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7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 C updates its table and changes the weight of the link to A to 4 (1 for C to B, and 3 for B to A, as B said).</a:t>
            </a:r>
            <a:endParaRPr dirty="0"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7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ct val="156757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process loops until all nodes find out that the weight of link to A is infinity.</a:t>
            </a:r>
            <a:endParaRPr dirty="0"/>
          </a:p>
        </p:txBody>
      </p:sp>
      <p:pic>
        <p:nvPicPr>
          <p:cNvPr id="724" name="Google Shape;72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1119" y="1278913"/>
            <a:ext cx="5728188" cy="874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15" descr="2+ Hundred Computer Network Outage Icon Royalty-Free Images, Stock Photos &amp;  Pictures | Shutterstoc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37228" y="1403837"/>
            <a:ext cx="521610" cy="52161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15"/>
          <p:cNvSpPr/>
          <p:nvPr/>
        </p:nvSpPr>
        <p:spPr>
          <a:xfrm>
            <a:off x="1714500" y="4097215"/>
            <a:ext cx="5934807" cy="190603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5"/>
          <p:cNvSpPr/>
          <p:nvPr/>
        </p:nvSpPr>
        <p:spPr>
          <a:xfrm>
            <a:off x="1730325" y="3746562"/>
            <a:ext cx="5934807" cy="35065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5"/>
          <p:cNvSpPr txBox="1"/>
          <p:nvPr/>
        </p:nvSpPr>
        <p:spPr>
          <a:xfrm>
            <a:off x="3358838" y="1162344"/>
            <a:ext cx="889000" cy="430847"/>
          </a:xfrm>
          <a:prstGeom prst="rect">
            <a:avLst/>
          </a:prstGeom>
          <a:solidFill>
            <a:srgbClr val="531A88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5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Count to infinity Problem :: Routing Loops</a:t>
            </a:r>
            <a:endParaRPr sz="36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695;p13"/>
          <p:cNvSpPr txBox="1"/>
          <p:nvPr/>
        </p:nvSpPr>
        <p:spPr>
          <a:xfrm>
            <a:off x="3516724" y="3316708"/>
            <a:ext cx="1181005" cy="2769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Lustria"/>
                <a:ea typeface="Lustria"/>
                <a:cs typeface="Lustria"/>
                <a:sym typeface="Lustria"/>
              </a:rPr>
              <a:t>2</a:t>
            </a:r>
            <a:r>
              <a:rPr lang="en-US" sz="1200" b="1" baseline="30000" dirty="0">
                <a:latin typeface="Lustria"/>
                <a:ea typeface="Lustria"/>
                <a:cs typeface="Lustria"/>
                <a:sym typeface="Lustria"/>
              </a:rPr>
              <a:t>nd</a:t>
            </a:r>
            <a:r>
              <a:rPr lang="en-US" sz="1200" b="1" dirty="0">
                <a:latin typeface="Lustria"/>
                <a:ea typeface="Lustria"/>
                <a:cs typeface="Lustria"/>
                <a:sym typeface="Lustria"/>
              </a:rPr>
              <a:t> updating</a:t>
            </a:r>
            <a:endParaRPr sz="1800" b="1" i="0" u="none" strike="noStrike" cap="none" dirty="0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0.13242 0.033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15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735" name="Google Shape;735;p16"/>
          <p:cNvSpPr txBox="1"/>
          <p:nvPr/>
        </p:nvSpPr>
        <p:spPr>
          <a:xfrm>
            <a:off x="1098684" y="2839893"/>
            <a:ext cx="10326254" cy="304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One way to solve this problem is that a router does not advertise a route back out the interface on which it was learned.</a:t>
            </a:r>
            <a:endParaRPr/>
          </a:p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 “Poison reverse”: advertise that route back to the neighbor with an infinite metric.</a:t>
            </a: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 this case, C shouldn't send any information to B about A, because B is the only way to A.</a:t>
            </a: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36" name="Google Shape;73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1119" y="1296956"/>
            <a:ext cx="5728188" cy="874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16" descr="2+ Hundred Computer Network Outage Icon Royalty-Free Images, Stock Photos &amp;  Pictures | Shuttersto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7228" y="1403837"/>
            <a:ext cx="521610" cy="52161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16"/>
          <p:cNvSpPr txBox="1"/>
          <p:nvPr/>
        </p:nvSpPr>
        <p:spPr>
          <a:xfrm>
            <a:off x="1484310" y="468190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Solution One: Split Horizon Rule</a:t>
            </a:r>
            <a:endParaRPr sz="36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9" name="Google Shape;739;p16"/>
          <p:cNvSpPr txBox="1"/>
          <p:nvPr/>
        </p:nvSpPr>
        <p:spPr>
          <a:xfrm>
            <a:off x="4930530" y="1242519"/>
            <a:ext cx="1128525" cy="600124"/>
          </a:xfrm>
          <a:prstGeom prst="rect">
            <a:avLst/>
          </a:prstGeom>
          <a:solidFill>
            <a:srgbClr val="531A88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Routing Table of C, No info of A Network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56032"/>
            <a:ext cx="10332720" cy="749808"/>
          </a:xfrm>
        </p:spPr>
        <p:txBody>
          <a:bodyPr/>
          <a:lstStyle/>
          <a:p>
            <a:r>
              <a:rPr sz="3200"/>
              <a:t>Static vs. Dynamic Routing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38251"/>
              </p:ext>
            </p:extLst>
          </p:nvPr>
        </p:nvGraphicFramePr>
        <p:xfrm>
          <a:off x="457200" y="1143000"/>
          <a:ext cx="11274552" cy="476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6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Corbel" panose="020B0503020204020204" pitchFamily="34" charset="0"/>
                        </a:rPr>
                        <a:t>Aspect</a:t>
                      </a:r>
                    </a:p>
                  </a:txBody>
                  <a:tcPr marT="27432" marB="27432" anchor="ctr"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Corbel" panose="020B0503020204020204" pitchFamily="34" charset="0"/>
                        </a:rPr>
                        <a:t>Static Routing</a:t>
                      </a:r>
                    </a:p>
                  </a:txBody>
                  <a:tcPr marT="27432" marB="27432" anchor="ctr"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Corbel" panose="020B0503020204020204" pitchFamily="34" charset="0"/>
                        </a:rPr>
                        <a:t>Dynamic Routing</a:t>
                      </a:r>
                    </a:p>
                  </a:txBody>
                  <a:tcPr marT="27432" marB="27432" anchor="ctr">
                    <a:solidFill>
                      <a:srgbClr val="1B3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1B3A66"/>
                          </a:solidFill>
                          <a:latin typeface="Corbel" panose="020B0503020204020204" pitchFamily="34" charset="0"/>
                        </a:rPr>
                        <a:t>Definition</a:t>
                      </a:r>
                    </a:p>
                  </a:txBody>
                  <a:tcPr marT="27432" marB="27432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Routes manually configured by the admin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Routes learned and updated automatically via a routing protocol</a:t>
                      </a:r>
                    </a:p>
                  </a:txBody>
                  <a:tcPr marT="27432" marB="27432" anchor="ctr">
                    <a:solidFill>
                      <a:srgbClr val="F3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B3A66"/>
                          </a:solidFill>
                          <a:latin typeface="Corbel" panose="020B0503020204020204" pitchFamily="34" charset="0"/>
                        </a:rPr>
                        <a:t>Configuration</a:t>
                      </a:r>
                    </a:p>
                  </a:txBody>
                  <a:tcPr marT="27432" marB="27432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Manual, on each router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Automatic, routers exchange info</a:t>
                      </a:r>
                    </a:p>
                  </a:txBody>
                  <a:tcPr marT="27432" marB="27432" anchor="ctr">
                    <a:solidFill>
                      <a:srgbClr val="F3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B3A66"/>
                          </a:solidFill>
                          <a:latin typeface="Corbel" panose="020B0503020204020204" pitchFamily="34" charset="0"/>
                        </a:rPr>
                        <a:t>Resource Usage</a:t>
                      </a:r>
                    </a:p>
                  </a:txBody>
                  <a:tcPr marT="27432" marB="27432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Low CPU, low bandwidth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Higher CPU, more bandwidth</a:t>
                      </a:r>
                    </a:p>
                  </a:txBody>
                  <a:tcPr marT="27432" marB="27432" anchor="ctr">
                    <a:solidFill>
                      <a:srgbClr val="F3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B3A66"/>
                          </a:solidFill>
                          <a:latin typeface="Corbel" panose="020B0503020204020204" pitchFamily="34" charset="0"/>
                        </a:rPr>
                        <a:t>Scalability</a:t>
                      </a:r>
                    </a:p>
                  </a:txBody>
                  <a:tcPr marT="27432" marB="27432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Not scalable for large networks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Highly scalable for large networks</a:t>
                      </a:r>
                    </a:p>
                  </a:txBody>
                  <a:tcPr marT="27432" marB="27432" anchor="ctr">
                    <a:solidFill>
                      <a:srgbClr val="F3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B3A66"/>
                          </a:solidFill>
                          <a:latin typeface="Corbel" panose="020B0503020204020204" pitchFamily="34" charset="0"/>
                        </a:rPr>
                        <a:t>Fault Tolerance</a:t>
                      </a:r>
                    </a:p>
                  </a:txBody>
                  <a:tcPr marT="27432" marB="27432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No automatic backup; manual changes needed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Automatically finds alternate paths on link failure</a:t>
                      </a:r>
                    </a:p>
                  </a:txBody>
                  <a:tcPr marT="27432" marB="27432" anchor="ctr">
                    <a:solidFill>
                      <a:srgbClr val="F3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B3A66"/>
                          </a:solidFill>
                          <a:latin typeface="Corbel" panose="020B0503020204020204" pitchFamily="34" charset="0"/>
                        </a:rPr>
                        <a:t>Security</a:t>
                      </a:r>
                    </a:p>
                  </a:txBody>
                  <a:tcPr marT="27432" marB="27432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More secure (no updates advertised)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Less secure (routing updates are sent between routers)</a:t>
                      </a:r>
                    </a:p>
                  </a:txBody>
                  <a:tcPr marT="27432" marB="27432" anchor="ctr">
                    <a:solidFill>
                      <a:srgbClr val="F3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B3A66"/>
                          </a:solidFill>
                          <a:latin typeface="Corbel" panose="020B0503020204020204" pitchFamily="34" charset="0"/>
                        </a:rPr>
                        <a:t>Best For</a:t>
                      </a:r>
                    </a:p>
                  </a:txBody>
                  <a:tcPr marT="27432" marB="27432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Small networks with stable topology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222222"/>
                          </a:solidFill>
                          <a:latin typeface="Corbel" panose="020B0503020204020204" pitchFamily="34" charset="0"/>
                        </a:rPr>
                        <a:t>Large networks with frequent changes</a:t>
                      </a:r>
                    </a:p>
                  </a:txBody>
                  <a:tcPr marT="27432" marB="27432" anchor="ctr">
                    <a:solidFill>
                      <a:srgbClr val="F3F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821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12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 txBox="1">
            <a:spLocks noGrp="1"/>
          </p:cNvSpPr>
          <p:nvPr>
            <p:ph type="ctrTitle"/>
          </p:nvPr>
        </p:nvSpPr>
        <p:spPr>
          <a:xfrm>
            <a:off x="2928400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</a:t>
            </a:r>
            <a:br>
              <a:rPr lang="en-US"/>
            </a:br>
            <a:r>
              <a:rPr lang="en-US" sz="3200"/>
              <a:t>Routing Algorithm</a:t>
            </a:r>
            <a:br>
              <a:rPr lang="en-US" sz="2800"/>
            </a:br>
            <a:r>
              <a:rPr lang="en-US" sz="2400" b="1" i="1"/>
              <a:t>Distance Vector Routing</a:t>
            </a:r>
            <a:endParaRPr sz="5400" b="1" i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75798-92C0-42EA-8DC8-6B57ABA98E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292F71-85C6-4E52-8BC8-B9360035A33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1440" y="378507"/>
            <a:ext cx="12192000" cy="9071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ED6F81-5077-473B-ACAE-8D4248483EAA}"/>
              </a:ext>
            </a:extLst>
          </p:cNvPr>
          <p:cNvSpPr txBox="1"/>
          <p:nvPr/>
        </p:nvSpPr>
        <p:spPr>
          <a:xfrm>
            <a:off x="350297" y="2066544"/>
            <a:ext cx="118417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Does not maintain a list o neighbours with their states (Up/down) and last heard time</a:t>
            </a:r>
          </a:p>
          <a:p>
            <a:endParaRPr lang="en-IN" sz="1600" dirty="0"/>
          </a:p>
          <a:p>
            <a:r>
              <a:rPr lang="en-IN" sz="1600" dirty="0"/>
              <a:t>Just maintains a timer. If the timer exceeds 180 sec, the router is considered as dead and all routes learned from it are removed.</a:t>
            </a:r>
          </a:p>
          <a:p>
            <a:r>
              <a:rPr lang="en-IN" sz="1600" dirty="0"/>
              <a:t>The revised routing table is instantly sent to all other </a:t>
            </a:r>
            <a:r>
              <a:rPr lang="en-IN" sz="1600" dirty="0" err="1"/>
              <a:t>neghbors</a:t>
            </a:r>
            <a:r>
              <a:rPr lang="en-IN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235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8824AC-E2A1-4DD0-8B2B-15791CE45D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96A78B-DEB4-45F8-8B2D-077CA975A4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029200" y="0"/>
            <a:ext cx="7162800" cy="4237149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0847879-577A-45A4-B135-5E780FDB114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83360" y="5008202"/>
          <a:ext cx="4112766" cy="3867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461">
                  <a:extLst>
                    <a:ext uri="{9D8B030D-6E8A-4147-A177-3AD203B41FA5}">
                      <a16:colId xmlns:a16="http://schemas.microsoft.com/office/drawing/2014/main" val="2410062301"/>
                    </a:ext>
                  </a:extLst>
                </a:gridCol>
                <a:gridCol w="685461">
                  <a:extLst>
                    <a:ext uri="{9D8B030D-6E8A-4147-A177-3AD203B41FA5}">
                      <a16:colId xmlns:a16="http://schemas.microsoft.com/office/drawing/2014/main" val="1305567956"/>
                    </a:ext>
                  </a:extLst>
                </a:gridCol>
                <a:gridCol w="685461">
                  <a:extLst>
                    <a:ext uri="{9D8B030D-6E8A-4147-A177-3AD203B41FA5}">
                      <a16:colId xmlns:a16="http://schemas.microsoft.com/office/drawing/2014/main" val="281117734"/>
                    </a:ext>
                  </a:extLst>
                </a:gridCol>
                <a:gridCol w="685461">
                  <a:extLst>
                    <a:ext uri="{9D8B030D-6E8A-4147-A177-3AD203B41FA5}">
                      <a16:colId xmlns:a16="http://schemas.microsoft.com/office/drawing/2014/main" val="1534215781"/>
                    </a:ext>
                  </a:extLst>
                </a:gridCol>
                <a:gridCol w="685461">
                  <a:extLst>
                    <a:ext uri="{9D8B030D-6E8A-4147-A177-3AD203B41FA5}">
                      <a16:colId xmlns:a16="http://schemas.microsoft.com/office/drawing/2014/main" val="59719609"/>
                    </a:ext>
                  </a:extLst>
                </a:gridCol>
                <a:gridCol w="685461">
                  <a:extLst>
                    <a:ext uri="{9D8B030D-6E8A-4147-A177-3AD203B41FA5}">
                      <a16:colId xmlns:a16="http://schemas.microsoft.com/office/drawing/2014/main" val="1653742988"/>
                    </a:ext>
                  </a:extLst>
                </a:gridCol>
              </a:tblGrid>
              <a:tr h="386758"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7474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37EFFB-967D-40CD-B3CC-808558272E33}"/>
              </a:ext>
            </a:extLst>
          </p:cNvPr>
          <p:cNvSpPr txBox="1"/>
          <p:nvPr/>
        </p:nvSpPr>
        <p:spPr>
          <a:xfrm>
            <a:off x="1298448" y="4507992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A’s distance vector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A454E-6C49-45B1-80E4-1E85E40842CF}"/>
              </a:ext>
            </a:extLst>
          </p:cNvPr>
          <p:cNvSpPr txBox="1"/>
          <p:nvPr/>
        </p:nvSpPr>
        <p:spPr>
          <a:xfrm>
            <a:off x="1609344" y="504769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31D46-4442-45E2-B305-E8A4B4AACDE2}"/>
              </a:ext>
            </a:extLst>
          </p:cNvPr>
          <p:cNvSpPr txBox="1"/>
          <p:nvPr/>
        </p:nvSpPr>
        <p:spPr>
          <a:xfrm>
            <a:off x="2300437" y="505105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05651-985F-4E4B-B61D-EA8476009404}"/>
              </a:ext>
            </a:extLst>
          </p:cNvPr>
          <p:cNvSpPr txBox="1"/>
          <p:nvPr/>
        </p:nvSpPr>
        <p:spPr>
          <a:xfrm>
            <a:off x="3078586" y="503568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E2764-F953-409C-A338-443D4B35FD37}"/>
              </a:ext>
            </a:extLst>
          </p:cNvPr>
          <p:cNvSpPr txBox="1"/>
          <p:nvPr/>
        </p:nvSpPr>
        <p:spPr>
          <a:xfrm>
            <a:off x="3714709" y="503568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3D0C1-84CC-4E42-BE33-3E65D7A334FF}"/>
              </a:ext>
            </a:extLst>
          </p:cNvPr>
          <p:cNvSpPr txBox="1"/>
          <p:nvPr/>
        </p:nvSpPr>
        <p:spPr>
          <a:xfrm>
            <a:off x="4372940" y="5035683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∞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23A3AF-9C80-4B2F-B66F-E097A38F6960}"/>
              </a:ext>
            </a:extLst>
          </p:cNvPr>
          <p:cNvSpPr txBox="1"/>
          <p:nvPr/>
        </p:nvSpPr>
        <p:spPr>
          <a:xfrm>
            <a:off x="5124325" y="5035683"/>
            <a:ext cx="242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15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64F2F-5BD9-4AEA-A8D4-B0C7A44280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DB64F-3329-47AF-88D4-E66B4BE24FA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616133" y="101917"/>
            <a:ext cx="5478902" cy="3025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628B5-BA6F-4211-81CA-B72E0E5447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124712" y="3322147"/>
            <a:ext cx="8759952" cy="1183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3059A1-3E59-4ADE-893F-BF15BB06BB65}"/>
              </a:ext>
            </a:extLst>
          </p:cNvPr>
          <p:cNvSpPr txBox="1"/>
          <p:nvPr/>
        </p:nvSpPr>
        <p:spPr>
          <a:xfrm>
            <a:off x="932688" y="4818888"/>
            <a:ext cx="107885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From the directly connected network list</a:t>
            </a:r>
          </a:p>
          <a:p>
            <a:endParaRPr lang="en-IN" sz="1600" dirty="0"/>
          </a:p>
          <a:p>
            <a:r>
              <a:rPr lang="en-IN" sz="1600" dirty="0"/>
              <a:t>List of network addresses of PC A, PC B, the WAN connected to s0/0/0 and s1/0/1 interfaces with hop count 0 for all.</a:t>
            </a:r>
          </a:p>
        </p:txBody>
      </p:sp>
    </p:spTree>
    <p:extLst>
      <p:ext uri="{BB962C8B-B14F-4D97-AF65-F5344CB8AC3E}">
        <p14:creationId xmlns:p14="http://schemas.microsoft.com/office/powerpoint/2010/main" val="263081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53EC12-7316-4F6F-A368-BDC6935070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461D8-8259-4F96-864C-6E565422662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28016" y="168165"/>
            <a:ext cx="12192000" cy="8828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1D6773-19FC-4AFE-AC8B-F32F17A3506F}"/>
              </a:ext>
            </a:extLst>
          </p:cNvPr>
          <p:cNvSpPr txBox="1"/>
          <p:nvPr/>
        </p:nvSpPr>
        <p:spPr>
          <a:xfrm>
            <a:off x="1883664" y="1792224"/>
            <a:ext cx="8640507" cy="78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Each router determines route based on local information (information from its </a:t>
            </a:r>
            <a:r>
              <a:rPr lang="en-IN" sz="1600" dirty="0" err="1"/>
              <a:t>neighbor</a:t>
            </a:r>
            <a:r>
              <a:rPr lang="en-IN" sz="1600" dirty="0"/>
              <a:t> only). 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There is no directly global information exchange.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E2A73-9EFC-4936-BA4D-39920BC343E5}"/>
              </a:ext>
            </a:extLst>
          </p:cNvPr>
          <p:cNvSpPr txBox="1"/>
          <p:nvPr/>
        </p:nvSpPr>
        <p:spPr>
          <a:xfrm>
            <a:off x="1883663" y="2943934"/>
            <a:ext cx="5588389" cy="11546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/>
              <a:t>A router does not have the complete Map of the network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/>
              <a:t>No </a:t>
            </a:r>
            <a:r>
              <a:rPr lang="en-IN" sz="1600" dirty="0" err="1"/>
              <a:t>neighbor</a:t>
            </a:r>
            <a:r>
              <a:rPr lang="en-IN" sz="1600" dirty="0"/>
              <a:t> discovery process.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/>
              <a:t>Slower than LS routing</a:t>
            </a:r>
          </a:p>
        </p:txBody>
      </p:sp>
    </p:spTree>
    <p:extLst>
      <p:ext uri="{BB962C8B-B14F-4D97-AF65-F5344CB8AC3E}">
        <p14:creationId xmlns:p14="http://schemas.microsoft.com/office/powerpoint/2010/main" val="84111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BB6B2A-5F0E-4FAB-A308-EDE34C28EA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87A09-C1A2-4647-A86B-E4DD640FDA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00862" y="218694"/>
            <a:ext cx="110109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049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3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1995</Words>
  <Application>Microsoft Office PowerPoint</Application>
  <PresentationFormat>Widescreen</PresentationFormat>
  <Paragraphs>420</Paragraphs>
  <Slides>42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Lustria</vt:lpstr>
      <vt:lpstr>Times New Roman</vt:lpstr>
      <vt:lpstr>Corbel</vt:lpstr>
      <vt:lpstr>Wingdings</vt:lpstr>
      <vt:lpstr>Tahoma</vt:lpstr>
      <vt:lpstr>Parallax</vt:lpstr>
      <vt:lpstr>Network Layer Routing and Routing Algorithms Distance Vector Routing</vt:lpstr>
      <vt:lpstr>Objectives</vt:lpstr>
      <vt:lpstr>Learning About Networks</vt:lpstr>
      <vt:lpstr>Learning About Networks</vt:lpstr>
      <vt:lpstr>Static Route</vt:lpstr>
      <vt:lpstr>Static Route Advantages</vt:lpstr>
      <vt:lpstr>PowerPoint Presentation</vt:lpstr>
      <vt:lpstr>PowerPoint Presentation</vt:lpstr>
      <vt:lpstr>Learning About Networks</vt:lpstr>
      <vt:lpstr>Autonomous Systems (AS)</vt:lpstr>
      <vt:lpstr>Autonomous Systems — Example</vt:lpstr>
      <vt:lpstr>Popular Routing Protocols</vt:lpstr>
      <vt:lpstr>Routing Algorithms</vt:lpstr>
      <vt:lpstr>Routing Algorithm classification</vt:lpstr>
      <vt:lpstr>Distance Vector Algorithm</vt:lpstr>
      <vt:lpstr>Distance vector algorithm </vt:lpstr>
      <vt:lpstr>How Does It Work?</vt:lpstr>
      <vt:lpstr>PowerPoint Presentation</vt:lpstr>
      <vt:lpstr>Periodic Updates of Distance Vector</vt:lpstr>
      <vt:lpstr>Operation of Distance Vector</vt:lpstr>
      <vt:lpstr>Distance Vector Routing Protocols - RIP</vt:lpstr>
      <vt:lpstr>Cold Start</vt:lpstr>
      <vt:lpstr>Cold Start</vt:lpstr>
      <vt:lpstr>Knowing it’s own connected networks</vt:lpstr>
      <vt:lpstr>Initial Exchange of Routing Information</vt:lpstr>
      <vt:lpstr>Exchange of Routing Information</vt:lpstr>
      <vt:lpstr>Next Exchange of Routing Information</vt:lpstr>
      <vt:lpstr>Next Exchange of Routing Information</vt:lpstr>
      <vt:lpstr>Convergence</vt:lpstr>
      <vt:lpstr>Disadvantages</vt:lpstr>
      <vt:lpstr>PowerPoint Presentation</vt:lpstr>
      <vt:lpstr>PowerPoint Presentation</vt:lpstr>
      <vt:lpstr>PowerPoint Presentation</vt:lpstr>
      <vt:lpstr>PowerPoint Presentation</vt:lpstr>
      <vt:lpstr>Static vs. Dynamic Routing</vt:lpstr>
      <vt:lpstr>Network Layer Routing Algorithm Distance Vector Routing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Layer Rounting and Routing Algorithm Distance Vector Routing</dc:title>
  <dc:creator>Mehnaz Seraj</dc:creator>
  <cp:lastModifiedBy>Md. Sakir Hossain</cp:lastModifiedBy>
  <cp:revision>14</cp:revision>
  <dcterms:created xsi:type="dcterms:W3CDTF">2020-06-17T13:03:26Z</dcterms:created>
  <dcterms:modified xsi:type="dcterms:W3CDTF">2026-08-29T17:58:32Z</dcterms:modified>
</cp:coreProperties>
</file>