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6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orbel" panose="020B0503020204020204" pitchFamily="34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7LWJ9iCkpjjYiKqRbnKwQPM7M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0098EE-A22B-4826-9587-949ADE7B8B98}">
  <a:tblStyle styleId="{380098EE-A22B-4826-9587-949ADE7B8B98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i="1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How does a link-state routing protocol work?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 i="1">
                <a:solidFill>
                  <a:srgbClr val="66FF33"/>
                </a:solidFill>
                <a:latin typeface="Arial"/>
                <a:ea typeface="Arial"/>
                <a:cs typeface="Arial"/>
                <a:sym typeface="Arial"/>
              </a:rPr>
              <a:t>How does a link-state routing protocol work?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1. Build the network topology from the LSDB</a:t>
            </a:r>
            <a:br>
              <a:rPr lang="en-US"/>
            </a:br>
            <a:r>
              <a:rPr lang="en-US" b="1"/>
              <a:t>2. Run Dijkstra's SPF algorithm</a:t>
            </a:r>
            <a:br>
              <a:rPr lang="en-US"/>
            </a:br>
            <a:r>
              <a:rPr lang="en-US" b="1"/>
              <a:t>3. Select the least-cost path to each destination</a:t>
            </a:r>
            <a:br>
              <a:rPr lang="en-US"/>
            </a:br>
            <a:r>
              <a:rPr lang="en-US" b="1"/>
              <a:t>4. Build the routing table</a:t>
            </a:r>
            <a:endParaRPr/>
          </a:p>
        </p:txBody>
      </p:sp>
      <p:sp>
        <p:nvSpPr>
          <p:cNvPr id="469" name="Google Shape;46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94" name="Google Shape;4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95" name="Google Shape;4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7324c57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9" name="Google Shape;509;g3f7324c57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17" name="Google Shape;5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So how can OSPF divide a large network into smaller pieces?</a:t>
            </a:r>
            <a:endParaRPr/>
          </a:p>
        </p:txBody>
      </p:sp>
      <p:sp>
        <p:nvSpPr>
          <p:cNvPr id="518" name="Google Shape;5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40" name="Google Shape;5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/>
              <a:t>1. Inside Area 1</a:t>
            </a:r>
            <a:br>
              <a:rPr lang="en-US"/>
            </a:br>
            <a:r>
              <a:rPr lang="en-US"/>
              <a:t>Routers exchange LSAs and build the topology of Area 1.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/>
              <a:t>2. ABR1</a:t>
            </a:r>
            <a:br>
              <a:rPr lang="en-US"/>
            </a:br>
            <a:r>
              <a:rPr lang="en-US"/>
              <a:t>Connects Area 1 to </a:t>
            </a:r>
            <a:r>
              <a:rPr lang="en-US" b="1"/>
              <a:t>Area 0 (the backbone)</a:t>
            </a:r>
            <a:r>
              <a:rPr lang="en-US"/>
              <a:t>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/>
              <a:t>3. Area 0</a:t>
            </a:r>
            <a:br>
              <a:rPr lang="en-US"/>
            </a:br>
            <a:r>
              <a:rPr lang="en-US"/>
              <a:t>Carries routing information between different areas.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/>
              <a:t>4. Area 2</a:t>
            </a:r>
            <a:br>
              <a:rPr lang="en-US"/>
            </a:br>
            <a:r>
              <a:rPr lang="en-US"/>
              <a:t>Learns how to reach networks in Area 1, but </a:t>
            </a:r>
            <a:r>
              <a:rPr lang="en-US" b="1"/>
              <a:t>does not need Area 1's detailed topology</a:t>
            </a:r>
            <a:r>
              <a:rPr lang="en-US"/>
              <a:t>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1" name="Google Shape;54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4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24" name="Google Shape;24;p34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4"/>
            <p:cNvSpPr/>
            <p:nvPr/>
          </p:nvSpPr>
          <p:spPr>
            <a:xfrm>
              <a:off x="2928938" y="-4763"/>
              <a:ext cx="1035050" cy="2673351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4"/>
            <p:cNvSpPr/>
            <p:nvPr/>
          </p:nvSpPr>
          <p:spPr>
            <a:xfrm>
              <a:off x="2928938" y="2582863"/>
              <a:ext cx="2693987" cy="4275137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4"/>
            <p:cNvSpPr/>
            <p:nvPr/>
          </p:nvSpPr>
          <p:spPr>
            <a:xfrm>
              <a:off x="3371851" y="2692400"/>
              <a:ext cx="3332161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4"/>
            <p:cNvSpPr/>
            <p:nvPr/>
          </p:nvSpPr>
          <p:spPr>
            <a:xfrm>
              <a:off x="3367088" y="2687638"/>
              <a:ext cx="4576762" cy="4170362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4"/>
            <p:cNvSpPr/>
            <p:nvPr/>
          </p:nvSpPr>
          <p:spPr>
            <a:xfrm>
              <a:off x="2928938" y="2578100"/>
              <a:ext cx="3584574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90188" y="201613"/>
            <a:ext cx="1143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4"/>
          <p:cNvSpPr txBox="1">
            <a:spLocks noGrp="1"/>
          </p:cNvSpPr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subTitle" idx="1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ftr" idx="11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body" idx="1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4"/>
          <p:cNvSpPr txBox="1">
            <a:spLocks noGrp="1"/>
          </p:cNvSpPr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body" idx="1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4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5"/>
          <p:cNvSpPr txBox="1">
            <a:spLocks noGrp="1"/>
          </p:cNvSpPr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5"/>
          <p:cNvSpPr txBox="1">
            <a:spLocks noGrp="1"/>
          </p:cNvSpPr>
          <p:nvPr>
            <p:ph type="body" idx="1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6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sz="1200" b="1"/>
            </a:lvl9pPr>
          </a:lstStyle>
          <a:p>
            <a:endParaRPr/>
          </a:p>
        </p:txBody>
      </p:sp>
      <p:sp>
        <p:nvSpPr>
          <p:cNvPr id="58" name="Google Shape;58;p56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59" name="Google Shape;59;p56"/>
          <p:cNvSpPr txBox="1">
            <a:spLocks noGrp="1"/>
          </p:cNvSpPr>
          <p:nvPr>
            <p:ph type="body" idx="3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sz="1200" b="1"/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61" name="Google Shape;61;p56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7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8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9"/>
          <p:cNvSpPr txBox="1">
            <a:spLocks noGrp="1"/>
          </p:cNvSpPr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body" idx="1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6671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marL="914400" lvl="1" indent="-35293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marL="1371600" lvl="2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marL="1828800" lvl="3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marL="2286000" lvl="4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marL="2743200" lvl="5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marL="3200400" lvl="6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marL="3657600" lvl="7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marL="4114800" lvl="8" indent="-32531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body" idx="2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9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>
            <a:spLocks noGrp="1"/>
          </p:cNvSpPr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0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5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0"/>
          <p:cNvSpPr txBox="1">
            <a:spLocks noGrp="1"/>
          </p:cNvSpPr>
          <p:nvPr>
            <p:ph type="body" idx="1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84" name="Google Shape;84;p60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0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1"/>
          <p:cNvSpPr txBox="1">
            <a:spLocks noGrp="1"/>
          </p:cNvSpPr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1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61"/>
          <p:cNvSpPr txBox="1">
            <a:spLocks noGrp="1"/>
          </p:cNvSpPr>
          <p:nvPr>
            <p:ph type="body" idx="1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91" name="Google Shape;91;p61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1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61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2"/>
          <p:cNvSpPr txBox="1">
            <a:spLocks noGrp="1"/>
          </p:cNvSpPr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2"/>
          <p:cNvSpPr txBox="1">
            <a:spLocks noGrp="1"/>
          </p:cNvSpPr>
          <p:nvPr>
            <p:ph type="body" idx="1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62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62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3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3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3"/>
          <p:cNvSpPr txBox="1"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3"/>
          <p:cNvSpPr txBox="1">
            <a:spLocks noGrp="1"/>
          </p:cNvSpPr>
          <p:nvPr>
            <p:ph type="body" idx="1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63"/>
          <p:cNvSpPr txBox="1">
            <a:spLocks noGrp="1"/>
          </p:cNvSpPr>
          <p:nvPr>
            <p:ph type="body" idx="2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63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63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6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4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4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64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4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4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5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5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orbel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5"/>
          <p:cNvSpPr txBox="1"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65"/>
          <p:cNvSpPr txBox="1">
            <a:spLocks noGrp="1"/>
          </p:cNvSpPr>
          <p:nvPr>
            <p:ph type="body" idx="1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65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65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65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6"/>
          <p:cNvSpPr txBox="1">
            <a:spLocks noGrp="1"/>
          </p:cNvSpPr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6"/>
          <p:cNvSpPr txBox="1">
            <a:spLocks noGrp="1"/>
          </p:cNvSpPr>
          <p:nvPr>
            <p:ph type="body" idx="1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66"/>
          <p:cNvSpPr txBox="1">
            <a:spLocks noGrp="1"/>
          </p:cNvSpPr>
          <p:nvPr>
            <p:ph type="body" idx="2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66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6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6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7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7"/>
          <p:cNvSpPr txBox="1">
            <a:spLocks noGrp="1"/>
          </p:cNvSpPr>
          <p:nvPr>
            <p:ph type="body" idx="1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67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67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67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8"/>
          <p:cNvSpPr txBox="1">
            <a:spLocks noGrp="1"/>
          </p:cNvSpPr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8"/>
          <p:cNvSpPr txBox="1">
            <a:spLocks noGrp="1"/>
          </p:cNvSpPr>
          <p:nvPr>
            <p:ph type="body" idx="1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68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68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0663" y="304800"/>
            <a:ext cx="1143000" cy="10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6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1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9"/>
          <p:cNvGrpSpPr/>
          <p:nvPr/>
        </p:nvGrpSpPr>
        <p:grpSpPr>
          <a:xfrm>
            <a:off x="546100" y="-4763"/>
            <a:ext cx="5014913" cy="6862763"/>
            <a:chOff x="2928938" y="-4763"/>
            <a:chExt cx="5014912" cy="6862763"/>
          </a:xfrm>
        </p:grpSpPr>
        <p:sp>
          <p:nvSpPr>
            <p:cNvPr id="169" name="Google Shape;169;p39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2928938" y="-4763"/>
              <a:ext cx="1035050" cy="2673351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9"/>
            <p:cNvSpPr/>
            <p:nvPr/>
          </p:nvSpPr>
          <p:spPr>
            <a:xfrm>
              <a:off x="2928938" y="2582863"/>
              <a:ext cx="2693987" cy="4275137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9"/>
            <p:cNvSpPr/>
            <p:nvPr/>
          </p:nvSpPr>
          <p:spPr>
            <a:xfrm>
              <a:off x="3371851" y="2692400"/>
              <a:ext cx="3332161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9"/>
            <p:cNvSpPr/>
            <p:nvPr/>
          </p:nvSpPr>
          <p:spPr>
            <a:xfrm>
              <a:off x="3367088" y="2687638"/>
              <a:ext cx="4576762" cy="4170362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9"/>
            <p:cNvSpPr/>
            <p:nvPr/>
          </p:nvSpPr>
          <p:spPr>
            <a:xfrm>
              <a:off x="2928938" y="2578100"/>
              <a:ext cx="3584574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39"/>
          <p:cNvSpPr txBox="1">
            <a:spLocks noGrp="1"/>
          </p:cNvSpPr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9"/>
          <p:cNvSpPr txBox="1">
            <a:spLocks noGrp="1"/>
          </p:cNvSpPr>
          <p:nvPr>
            <p:ph type="subTitle" idx="1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  <a:defRPr sz="157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9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ftr" idx="11"/>
          </p:nvPr>
        </p:nvSpPr>
        <p:spPr>
          <a:xfrm>
            <a:off x="5332413" y="5883275"/>
            <a:ext cx="43243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>
            <a:spLocks noGrp="1"/>
          </p:cNvSpPr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0"/>
          <p:cNvSpPr txBox="1">
            <a:spLocks noGrp="1"/>
          </p:cNvSpPr>
          <p:nvPr>
            <p:ph type="body" idx="1"/>
          </p:nvPr>
        </p:nvSpPr>
        <p:spPr>
          <a:xfrm>
            <a:off x="2572279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40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0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1"/>
          <p:cNvSpPr txBox="1">
            <a:spLocks noGrp="1"/>
          </p:cNvSpPr>
          <p:nvPr>
            <p:ph type="title"/>
          </p:nvPr>
        </p:nvSpPr>
        <p:spPr>
          <a:xfrm>
            <a:off x="1484313" y="685802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1"/>
          <p:cNvSpPr txBox="1">
            <a:spLocks noGrp="1"/>
          </p:cNvSpPr>
          <p:nvPr>
            <p:ph type="body" idx="1"/>
          </p:nvPr>
        </p:nvSpPr>
        <p:spPr>
          <a:xfrm>
            <a:off x="1484314" y="2667001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189" name="Google Shape;189;p41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190" name="Google Shape;190;p41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1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1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2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sz="1200" b="1"/>
            </a:lvl9pPr>
          </a:lstStyle>
          <a:p>
            <a:endParaRPr/>
          </a:p>
        </p:txBody>
      </p:sp>
      <p:sp>
        <p:nvSpPr>
          <p:cNvPr id="196" name="Google Shape;196;p42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3"/>
          </p:nvPr>
        </p:nvSpPr>
        <p:spPr>
          <a:xfrm>
            <a:off x="6880489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740"/>
              <a:buNone/>
              <a:defRPr sz="1200" b="1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2933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Char char="•"/>
              <a:defRPr sz="1350"/>
            </a:lvl1pPr>
            <a:lvl2pPr marL="914400" lvl="1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2pPr>
            <a:lvl3pPr marL="1371600" lvl="2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3pPr>
            <a:lvl4pPr marL="1828800" lvl="3" indent="-31146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4pPr>
            <a:lvl5pPr marL="2286000" lvl="4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5pPr>
            <a:lvl6pPr marL="2743200" lvl="5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6pPr>
            <a:lvl7pPr marL="3200400" lvl="6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7pPr>
            <a:lvl8pPr marL="3657600" lvl="7" indent="-31146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Char char="•"/>
              <a:defRPr sz="900"/>
            </a:lvl8pPr>
            <a:lvl9pPr marL="4114800" lvl="8" indent="-311467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305"/>
              <a:buChar char="•"/>
              <a:defRPr sz="900"/>
            </a:lvl9pPr>
          </a:lstStyle>
          <a:p>
            <a:endParaRPr/>
          </a:p>
        </p:txBody>
      </p:sp>
      <p:sp>
        <p:nvSpPr>
          <p:cNvPr id="199" name="Google Shape;199;p42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2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>
            <a:spLocks noGrp="1"/>
          </p:cNvSpPr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body" idx="1"/>
          </p:nvPr>
        </p:nvSpPr>
        <p:spPr>
          <a:xfrm>
            <a:off x="5262034" y="685801"/>
            <a:ext cx="6240991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6671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Char char="•"/>
              <a:defRPr sz="1500"/>
            </a:lvl1pPr>
            <a:lvl2pPr marL="914400" lvl="1" indent="-35293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Char char="•"/>
              <a:defRPr sz="1350"/>
            </a:lvl2pPr>
            <a:lvl3pPr marL="1371600" lvl="2" indent="-33909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Char char="•"/>
              <a:defRPr sz="1200"/>
            </a:lvl3pPr>
            <a:lvl4pPr marL="1828800" lvl="3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4pPr>
            <a:lvl5pPr marL="2286000" lvl="4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5pPr>
            <a:lvl6pPr marL="2743200" lvl="5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6pPr>
            <a:lvl7pPr marL="3200400" lvl="6" indent="-325311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7pPr>
            <a:lvl8pPr marL="3657600" lvl="7" indent="-3253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Char char="•"/>
              <a:defRPr sz="1050"/>
            </a:lvl8pPr>
            <a:lvl9pPr marL="4114800" lvl="8" indent="-32531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Char char="•"/>
              <a:defRPr sz="1050"/>
            </a:lvl9pPr>
          </a:lstStyle>
          <a:p>
            <a:endParaRPr/>
          </a:p>
        </p:txBody>
      </p:sp>
      <p:sp>
        <p:nvSpPr>
          <p:cNvPr id="205" name="Google Shape;205;p43"/>
          <p:cNvSpPr txBox="1">
            <a:spLocks noGrp="1"/>
          </p:cNvSpPr>
          <p:nvPr>
            <p:ph type="body" idx="2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74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206" name="Google Shape;206;p43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43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title"/>
          </p:nvPr>
        </p:nvSpPr>
        <p:spPr>
          <a:xfrm>
            <a:off x="1482725" y="1752599"/>
            <a:ext cx="542615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4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5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44"/>
          <p:cNvSpPr txBox="1">
            <a:spLocks noGrp="1"/>
          </p:cNvSpPr>
          <p:nvPr>
            <p:ph type="body" idx="1"/>
          </p:nvPr>
        </p:nvSpPr>
        <p:spPr>
          <a:xfrm>
            <a:off x="1482725" y="3124199"/>
            <a:ext cx="542615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213" name="Google Shape;213;p44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4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4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 txBox="1">
            <a:spLocks noGrp="1"/>
          </p:cNvSpPr>
          <p:nvPr>
            <p:ph type="title"/>
          </p:nvPr>
        </p:nvSpPr>
        <p:spPr>
          <a:xfrm>
            <a:off x="1484312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5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45"/>
          <p:cNvSpPr txBox="1">
            <a:spLocks noGrp="1"/>
          </p:cNvSpPr>
          <p:nvPr>
            <p:ph type="body" idx="1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523"/>
              <a:buNone/>
              <a:defRPr sz="10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305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88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79"/>
              <a:buNone/>
              <a:defRPr sz="675"/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979"/>
              <a:buNone/>
              <a:defRPr sz="675"/>
            </a:lvl9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45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>
            <a:spLocks noGrp="1"/>
          </p:cNvSpPr>
          <p:nvPr>
            <p:ph type="title"/>
          </p:nvPr>
        </p:nvSpPr>
        <p:spPr>
          <a:xfrm>
            <a:off x="1484314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6"/>
          <p:cNvSpPr txBox="1">
            <a:spLocks noGrp="1"/>
          </p:cNvSpPr>
          <p:nvPr>
            <p:ph type="body" idx="1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6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6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6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7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7"/>
          <p:cNvSpPr txBox="1"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47"/>
          <p:cNvSpPr txBox="1">
            <a:spLocks noGrp="1"/>
          </p:cNvSpPr>
          <p:nvPr>
            <p:ph type="body" idx="1"/>
          </p:nvPr>
        </p:nvSpPr>
        <p:spPr>
          <a:xfrm>
            <a:off x="2436813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Font typeface="Corbel"/>
              <a:buNone/>
              <a:defRPr sz="1350"/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85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45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47"/>
          <p:cNvSpPr txBox="1">
            <a:spLocks noGrp="1"/>
          </p:cNvSpPr>
          <p:nvPr>
            <p:ph type="body" idx="2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47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47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48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1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75"/>
              <a:buNone/>
              <a:defRPr sz="15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48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48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9"/>
          <p:cNvSpPr txBox="1"/>
          <p:nvPr/>
        </p:nvSpPr>
        <p:spPr>
          <a:xfrm>
            <a:off x="1598613" y="8636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9"/>
          <p:cNvSpPr txBox="1"/>
          <p:nvPr/>
        </p:nvSpPr>
        <p:spPr>
          <a:xfrm>
            <a:off x="10893425" y="2819400"/>
            <a:ext cx="6096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9"/>
          <p:cNvSpPr txBox="1">
            <a:spLocks noGrp="1"/>
          </p:cNvSpPr>
          <p:nvPr>
            <p:ph type="title"/>
          </p:nvPr>
        </p:nvSpPr>
        <p:spPr>
          <a:xfrm>
            <a:off x="2208213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9"/>
          <p:cNvSpPr txBox="1">
            <a:spLocks noGrp="1"/>
          </p:cNvSpPr>
          <p:nvPr>
            <p:ph type="body" idx="1"/>
          </p:nvPr>
        </p:nvSpPr>
        <p:spPr>
          <a:xfrm>
            <a:off x="1484314" y="3886200"/>
            <a:ext cx="10018711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1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9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0"/>
          <p:cNvSpPr txBox="1">
            <a:spLocks noGrp="1"/>
          </p:cNvSpPr>
          <p:nvPr>
            <p:ph type="title"/>
          </p:nvPr>
        </p:nvSpPr>
        <p:spPr>
          <a:xfrm>
            <a:off x="1484313" y="685802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0"/>
          <p:cNvSpPr txBox="1">
            <a:spLocks noGrp="1"/>
          </p:cNvSpPr>
          <p:nvPr>
            <p:ph type="body" idx="1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50"/>
          <p:cNvSpPr txBox="1">
            <a:spLocks noGrp="1"/>
          </p:cNvSpPr>
          <p:nvPr>
            <p:ph type="body" idx="2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958"/>
              <a:buNone/>
              <a:defRPr sz="135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958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74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523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50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50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1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51"/>
          <p:cNvSpPr txBox="1">
            <a:spLocks noGrp="1"/>
          </p:cNvSpPr>
          <p:nvPr>
            <p:ph type="body" idx="1"/>
          </p:nvPr>
        </p:nvSpPr>
        <p:spPr>
          <a:xfrm rot="5400000">
            <a:off x="4931569" y="-780256"/>
            <a:ext cx="3124200" cy="1001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51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51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51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>
            <a:spLocks noGrp="1"/>
          </p:cNvSpPr>
          <p:nvPr>
            <p:ph type="title"/>
          </p:nvPr>
        </p:nvSpPr>
        <p:spPr>
          <a:xfrm rot="5400000">
            <a:off x="8065142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52"/>
          <p:cNvSpPr txBox="1">
            <a:spLocks noGrp="1"/>
          </p:cNvSpPr>
          <p:nvPr>
            <p:ph type="body" idx="1"/>
          </p:nvPr>
        </p:nvSpPr>
        <p:spPr>
          <a:xfrm rot="5400000">
            <a:off x="2941485" y="-771371"/>
            <a:ext cx="5105400" cy="801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52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2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5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3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1" name="Google Shape;11;p33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3"/>
            <p:cNvSpPr/>
            <p:nvPr/>
          </p:nvSpPr>
          <p:spPr>
            <a:xfrm>
              <a:off x="1320800" y="0"/>
              <a:ext cx="1117600" cy="5276851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3"/>
            <p:cNvSpPr/>
            <p:nvPr/>
          </p:nvSpPr>
          <p:spPr>
            <a:xfrm>
              <a:off x="1320800" y="5238751"/>
              <a:ext cx="1228726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3"/>
            <p:cNvSpPr/>
            <p:nvPr/>
          </p:nvSpPr>
          <p:spPr>
            <a:xfrm>
              <a:off x="1627187" y="5291139"/>
              <a:ext cx="1495426" cy="1566862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3"/>
            <p:cNvSpPr/>
            <p:nvPr/>
          </p:nvSpPr>
          <p:spPr>
            <a:xfrm>
              <a:off x="1627187" y="5286376"/>
              <a:ext cx="2130426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3"/>
            <p:cNvSpPr/>
            <p:nvPr/>
          </p:nvSpPr>
          <p:spPr>
            <a:xfrm>
              <a:off x="1320800" y="5238751"/>
              <a:ext cx="1695451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48298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3909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2067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25311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25311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2531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25310" algn="l" rtl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5"/>
          <p:cNvGrpSpPr/>
          <p:nvPr/>
        </p:nvGrpSpPr>
        <p:grpSpPr>
          <a:xfrm>
            <a:off x="150813" y="0"/>
            <a:ext cx="2436812" cy="6858000"/>
            <a:chOff x="1320800" y="0"/>
            <a:chExt cx="2436813" cy="6858001"/>
          </a:xfrm>
        </p:grpSpPr>
        <p:sp>
          <p:nvSpPr>
            <p:cNvPr id="145" name="Google Shape;145;p35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5"/>
            <p:cNvSpPr/>
            <p:nvPr/>
          </p:nvSpPr>
          <p:spPr>
            <a:xfrm>
              <a:off x="1320800" y="0"/>
              <a:ext cx="1117600" cy="5276851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5"/>
            <p:cNvSpPr/>
            <p:nvPr/>
          </p:nvSpPr>
          <p:spPr>
            <a:xfrm>
              <a:off x="1320800" y="5238751"/>
              <a:ext cx="1228726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5"/>
            <p:cNvSpPr/>
            <p:nvPr/>
          </p:nvSpPr>
          <p:spPr>
            <a:xfrm>
              <a:off x="1627187" y="5291139"/>
              <a:ext cx="1495426" cy="1566862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5"/>
            <p:cNvSpPr/>
            <p:nvPr/>
          </p:nvSpPr>
          <p:spPr>
            <a:xfrm>
              <a:off x="1627187" y="5286376"/>
              <a:ext cx="2130426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5"/>
            <p:cNvSpPr/>
            <p:nvPr/>
          </p:nvSpPr>
          <p:spPr>
            <a:xfrm>
              <a:off x="1320800" y="5238751"/>
              <a:ext cx="1695451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35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body" idx="1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48298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885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3909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74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20675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287C3"/>
              </a:buClr>
              <a:buSzPts val="145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25311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25311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2531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25310" algn="l" rtl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1186C3"/>
              </a:buClr>
              <a:buSzPts val="1523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dt" idx="10"/>
          </p:nvPr>
        </p:nvSpPr>
        <p:spPr>
          <a:xfrm>
            <a:off x="9732963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5"/>
          <p:cNvSpPr txBox="1">
            <a:spLocks noGrp="1"/>
          </p:cNvSpPr>
          <p:nvPr>
            <p:ph type="ftr" idx="11"/>
          </p:nvPr>
        </p:nvSpPr>
        <p:spPr>
          <a:xfrm>
            <a:off x="2571750" y="5883275"/>
            <a:ext cx="7085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>
            <a:spLocks noGrp="1"/>
          </p:cNvSpPr>
          <p:nvPr>
            <p:ph type="ctrTitle"/>
          </p:nvPr>
        </p:nvSpPr>
        <p:spPr>
          <a:xfrm>
            <a:off x="2928938" y="1379538"/>
            <a:ext cx="8574087" cy="2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400"/>
              <a:t>Network Layer</a:t>
            </a:r>
            <a:br>
              <a:rPr lang="en-US" sz="5400"/>
            </a:br>
            <a:r>
              <a:rPr lang="en-US" sz="3200"/>
              <a:t>Routing Algorithm</a:t>
            </a:r>
            <a:br>
              <a:rPr lang="en-US" sz="2800"/>
            </a:br>
            <a:r>
              <a:rPr lang="en-US" sz="2400" b="1" i="1"/>
              <a:t>Link State Routing and OSPF</a:t>
            </a:r>
            <a:endParaRPr sz="4800" b="1" i="1"/>
          </a:p>
        </p:txBody>
      </p:sp>
      <p:sp>
        <p:nvSpPr>
          <p:cNvPr id="278" name="Google Shape;278;p1"/>
          <p:cNvSpPr txBox="1">
            <a:spLocks noGrp="1"/>
          </p:cNvSpPr>
          <p:nvPr>
            <p:ph type="subTitle" idx="1"/>
          </p:nvPr>
        </p:nvSpPr>
        <p:spPr>
          <a:xfrm>
            <a:off x="5481638" y="3995738"/>
            <a:ext cx="6035675" cy="1389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Lecture 13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Department of Computer Science and Engineering</a:t>
            </a:r>
            <a:br>
              <a:rPr lang="en-US" sz="2000"/>
            </a:br>
            <a:r>
              <a:rPr lang="en-US" sz="2000"/>
              <a:t>School of Data &amp;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"/>
          <p:cNvSpPr txBox="1">
            <a:spLocks noGrp="1"/>
          </p:cNvSpPr>
          <p:nvPr>
            <p:ph type="title" idx="4294967295"/>
          </p:nvPr>
        </p:nvSpPr>
        <p:spPr>
          <a:xfrm>
            <a:off x="1752600" y="2555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Chapter 4: Network Layer</a:t>
            </a:r>
            <a:endParaRPr sz="4800"/>
          </a:p>
        </p:txBody>
      </p:sp>
      <p:sp>
        <p:nvSpPr>
          <p:cNvPr id="286" name="Google Shape;286;p2"/>
          <p:cNvSpPr txBox="1">
            <a:spLocks noGrp="1"/>
          </p:cNvSpPr>
          <p:nvPr>
            <p:ph type="body" idx="4294967295"/>
          </p:nvPr>
        </p:nvSpPr>
        <p:spPr>
          <a:xfrm>
            <a:off x="1714499" y="1510620"/>
            <a:ext cx="4087020" cy="486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4. 1 Introduction</a:t>
            </a:r>
            <a:endParaRPr sz="2000"/>
          </a:p>
          <a:p>
            <a:pPr marL="214313" lvl="0" indent="-22098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4.2 Virtual circuit and datagram networks</a:t>
            </a:r>
            <a:endParaRPr sz="2000"/>
          </a:p>
          <a:p>
            <a:pPr marL="214313" lvl="0" indent="-22098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4.3 What’s inside a router</a:t>
            </a:r>
            <a:endParaRPr sz="2000"/>
          </a:p>
          <a:p>
            <a:pPr marL="214313" lvl="0" indent="-22098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4.4 IP: Internet Protocol</a:t>
            </a:r>
            <a:endParaRPr sz="20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Datagram format</a:t>
            </a:r>
            <a:endParaRPr sz="16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IPv4 addressing</a:t>
            </a:r>
            <a:endParaRPr sz="16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ICMP</a:t>
            </a:r>
            <a:endParaRPr sz="16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IPv6</a:t>
            </a:r>
            <a:endParaRPr sz="1600"/>
          </a:p>
        </p:txBody>
      </p:sp>
      <p:sp>
        <p:nvSpPr>
          <p:cNvPr id="287" name="Google Shape;287;p2"/>
          <p:cNvSpPr txBox="1">
            <a:spLocks noGrp="1"/>
          </p:cNvSpPr>
          <p:nvPr>
            <p:ph type="body" idx="4294967295"/>
          </p:nvPr>
        </p:nvSpPr>
        <p:spPr>
          <a:xfrm>
            <a:off x="6352381" y="1417637"/>
            <a:ext cx="4599782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rgbClr val="FF0000"/>
                </a:solidFill>
              </a:rPr>
              <a:t>4.5 Routing algorithms</a:t>
            </a:r>
            <a:endParaRPr sz="24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Distance Vector</a:t>
            </a:r>
            <a:endParaRPr sz="18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>
                <a:solidFill>
                  <a:srgbClr val="FF0000"/>
                </a:solidFill>
              </a:rPr>
              <a:t>Link state</a:t>
            </a:r>
            <a:endParaRPr sz="18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Hierarchical routing</a:t>
            </a:r>
            <a:endParaRPr sz="1800"/>
          </a:p>
          <a:p>
            <a:pPr marL="214313" lvl="0" indent="-22098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4.6 Routing in the Internet</a:t>
            </a:r>
            <a:endParaRPr sz="24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RIP</a:t>
            </a:r>
            <a:endParaRPr sz="1800"/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>
                <a:solidFill>
                  <a:srgbClr val="FF0000"/>
                </a:solidFill>
              </a:rPr>
              <a:t>OSPF</a:t>
            </a:r>
            <a:endParaRPr sz="1800">
              <a:solidFill>
                <a:srgbClr val="FF0000"/>
              </a:solidFill>
            </a:endParaRPr>
          </a:p>
          <a:p>
            <a:pPr marL="557213" lvl="1" indent="-214312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BGP</a:t>
            </a:r>
            <a:endParaRPr sz="1800"/>
          </a:p>
        </p:txBody>
      </p:sp>
      <p:sp>
        <p:nvSpPr>
          <p:cNvPr id="288" name="Google Shape;288;p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"/>
          <p:cNvSpPr txBox="1">
            <a:spLocks noGrp="1"/>
          </p:cNvSpPr>
          <p:nvPr>
            <p:ph type="title" idx="4294967295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354"/>
              <a:buNone/>
            </a:pPr>
            <a:r>
              <a:rPr lang="en-US" sz="4400"/>
              <a:t>Distance Vector Routing Protocols</a:t>
            </a:r>
            <a:endParaRPr sz="4400"/>
          </a:p>
        </p:txBody>
      </p:sp>
      <p:sp>
        <p:nvSpPr>
          <p:cNvPr id="294" name="Google Shape;294;p3"/>
          <p:cNvSpPr txBox="1">
            <a:spLocks noGrp="1"/>
          </p:cNvSpPr>
          <p:nvPr>
            <p:ph type="body" idx="4294967295"/>
          </p:nvPr>
        </p:nvSpPr>
        <p:spPr>
          <a:xfrm>
            <a:off x="1667760" y="3945671"/>
            <a:ext cx="9559834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3200" b="1">
                <a:solidFill>
                  <a:srgbClr val="7030A0"/>
                </a:solidFill>
              </a:rPr>
              <a:t>Distance Vector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routing protocols are like following road signs.</a:t>
            </a:r>
            <a:endParaRPr sz="2400"/>
          </a:p>
          <a:p>
            <a:pPr marL="855663" lvl="1" indent="-28892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Char char="•"/>
            </a:pPr>
            <a:r>
              <a:rPr lang="en-US" sz="2800"/>
              <a:t>A router learns routes from its neighbors.</a:t>
            </a:r>
            <a:endParaRPr/>
          </a:p>
          <a:p>
            <a:pPr marL="855663" lvl="1" indent="-28892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Char char="•"/>
            </a:pPr>
            <a:r>
              <a:rPr lang="en-US" sz="2800"/>
              <a:t>It chooses a path based on a routing metric.</a:t>
            </a:r>
            <a:endParaRPr sz="1800"/>
          </a:p>
        </p:txBody>
      </p:sp>
      <p:sp>
        <p:nvSpPr>
          <p:cNvPr id="295" name="Google Shape;295;p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96" name="Google Shape;29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8398" y="1004898"/>
            <a:ext cx="5776961" cy="304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02" name="Google Shape;302;p5"/>
          <p:cNvSpPr txBox="1"/>
          <p:nvPr/>
        </p:nvSpPr>
        <p:spPr>
          <a:xfrm>
            <a:off x="6361610" y="1306822"/>
            <a:ext cx="5590903" cy="474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14313" marR="0" lvl="0" indent="-22098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3200" b="1" i="0" u="none" strike="noStrike" cap="none">
                <a:solidFill>
                  <a:srgbClr val="7030A0"/>
                </a:solidFill>
                <a:latin typeface="Corbel"/>
                <a:ea typeface="Corbel"/>
                <a:cs typeface="Corbel"/>
                <a:sym typeface="Corbel"/>
              </a:rPr>
              <a:t>Link-State</a:t>
            </a:r>
            <a:r>
              <a:rPr lang="en-US" sz="3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routing protocols are more like a road map.</a:t>
            </a: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55663" marR="0" lvl="1" indent="-28892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Each router builds a map of the network topology.</a:t>
            </a:r>
            <a:endParaRPr/>
          </a:p>
          <a:p>
            <a:pPr marL="855663" marR="0" lvl="1" indent="-28892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router uses this map to find the best path to each destination.</a:t>
            </a: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5303" y="1584906"/>
            <a:ext cx="4657143" cy="46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"/>
          <p:cNvSpPr txBox="1">
            <a:spLocks noGrp="1"/>
          </p:cNvSpPr>
          <p:nvPr>
            <p:ph type="title" idx="4294967295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Link State Routing Protocols</a:t>
            </a:r>
            <a:endParaRPr sz="4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"/>
          <p:cNvSpPr/>
          <p:nvPr/>
        </p:nvSpPr>
        <p:spPr>
          <a:xfrm>
            <a:off x="1161255" y="1255258"/>
            <a:ext cx="10341770" cy="4977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4313" marR="0" lvl="0" indent="-25781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router builds </a:t>
            </a:r>
            <a:r>
              <a:rPr lang="en-US" sz="4000" b="1" i="0" u="none" strike="noStrike" cap="none" dirty="0">
                <a:solidFill>
                  <a:srgbClr val="00B0F0"/>
                </a:solidFill>
                <a:latin typeface="Corbel"/>
                <a:ea typeface="Corbel"/>
                <a:cs typeface="Corbel"/>
                <a:sym typeface="Corbel"/>
              </a:rPr>
              <a:t>a complete view 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of the network topology.</a:t>
            </a:r>
            <a:endParaRPr dirty="0"/>
          </a:p>
          <a:p>
            <a:pPr marL="214313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14313" marR="0" lvl="0" indent="-25781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router independently runs </a:t>
            </a:r>
            <a:r>
              <a:rPr lang="en-US" sz="40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Dijkstra's Algorithm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dirty="0"/>
          </a:p>
          <a:p>
            <a:pPr marL="214313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14313" marR="0" lvl="0" indent="-25781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Dijkstra is also called </a:t>
            </a:r>
            <a:r>
              <a:rPr lang="en-US" sz="4000" b="1" i="0" u="none" strike="noStrike" cap="none" dirty="0">
                <a:solidFill>
                  <a:srgbClr val="00B0F0"/>
                </a:solidFill>
                <a:latin typeface="Corbel"/>
                <a:ea typeface="Corbel"/>
                <a:cs typeface="Corbel"/>
                <a:sym typeface="Corbel"/>
              </a:rPr>
              <a:t>Shortest Path First (SPF).</a:t>
            </a:r>
            <a:endParaRPr dirty="0"/>
          </a:p>
          <a:p>
            <a:pPr marL="214313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None/>
            </a:pPr>
            <a:endParaRPr sz="4000" b="0" i="0" u="none" strike="noStrike" cap="none" dirty="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14313" marR="0" lvl="0" indent="-25781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060"/>
              <a:buFont typeface="Arial"/>
              <a:buChar char="•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It finds the </a:t>
            </a:r>
            <a:r>
              <a:rPr lang="en-US" sz="4000" b="1" i="0" u="none" strike="noStrike" cap="none" dirty="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least-cost paths 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from the router to every destination.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1476828" y="539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Link-State Routing Protocols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9"/>
          <p:cNvSpPr txBox="1">
            <a:spLocks noGrp="1"/>
          </p:cNvSpPr>
          <p:nvPr>
            <p:ph type="title" idx="4294967295"/>
          </p:nvPr>
        </p:nvSpPr>
        <p:spPr>
          <a:xfrm>
            <a:off x="1537063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How it works</a:t>
            </a:r>
            <a:endParaRPr sz="3600"/>
          </a:p>
        </p:txBody>
      </p:sp>
      <p:sp>
        <p:nvSpPr>
          <p:cNvPr id="320" name="Google Shape;320;p69"/>
          <p:cNvSpPr txBox="1">
            <a:spLocks noGrp="1"/>
          </p:cNvSpPr>
          <p:nvPr>
            <p:ph type="body" idx="4294967295"/>
          </p:nvPr>
        </p:nvSpPr>
        <p:spPr>
          <a:xfrm>
            <a:off x="1340123" y="1188720"/>
            <a:ext cx="10058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571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4000"/>
              <a:t>Each router knows the network </a:t>
            </a:r>
            <a:r>
              <a:rPr lang="en-US" sz="4000" b="1">
                <a:solidFill>
                  <a:srgbClr val="0070C0"/>
                </a:solidFill>
              </a:rPr>
              <a:t>topology and link costs.</a:t>
            </a:r>
            <a:endParaRPr/>
          </a:p>
          <a:p>
            <a:pPr marL="571500" lvl="0" indent="-2400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endParaRPr sz="4000"/>
          </a:p>
          <a:p>
            <a:pPr marL="571500" lvl="0" indent="-571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4000"/>
              <a:t>Each router runs </a:t>
            </a:r>
            <a:r>
              <a:rPr lang="en-US" sz="4000" b="1">
                <a:solidFill>
                  <a:srgbClr val="7D28CD"/>
                </a:solidFill>
              </a:rPr>
              <a:t>Dijkstra's SPF algorithm</a:t>
            </a:r>
            <a:r>
              <a:rPr lang="en-US" sz="4000"/>
              <a:t>.</a:t>
            </a:r>
            <a:endParaRPr/>
          </a:p>
          <a:p>
            <a:pPr marL="571500" lvl="0" indent="-2400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endParaRPr sz="4000"/>
          </a:p>
          <a:p>
            <a:pPr marL="571500" lvl="0" indent="-571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4000"/>
              <a:t>It calculates the </a:t>
            </a:r>
            <a:r>
              <a:rPr lang="en-US" sz="4000" b="1">
                <a:solidFill>
                  <a:srgbClr val="1186C3"/>
                </a:solidFill>
              </a:rPr>
              <a:t>least-cost path </a:t>
            </a:r>
            <a:r>
              <a:rPr lang="en-US" sz="4000"/>
              <a:t>from itself to each destination.</a:t>
            </a:r>
            <a:endParaRPr/>
          </a:p>
          <a:p>
            <a:pPr marL="571500" lvl="0" indent="-2400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endParaRPr sz="4000"/>
          </a:p>
          <a:p>
            <a:pPr marL="571500" lvl="0" indent="-571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4000"/>
              <a:t>The result is used to build </a:t>
            </a:r>
            <a:r>
              <a:rPr lang="en-US" sz="4000" b="1">
                <a:solidFill>
                  <a:srgbClr val="7D28CD"/>
                </a:solidFill>
              </a:rPr>
              <a:t>the routing table.</a:t>
            </a:r>
            <a:endParaRPr sz="4000" b="1">
              <a:solidFill>
                <a:srgbClr val="7D28CD"/>
              </a:solidFill>
            </a:endParaRPr>
          </a:p>
        </p:txBody>
      </p:sp>
      <p:sp>
        <p:nvSpPr>
          <p:cNvPr id="321" name="Google Shape;321;p6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 txBox="1">
            <a:spLocks noGrp="1"/>
          </p:cNvSpPr>
          <p:nvPr>
            <p:ph type="title" idx="4294967295"/>
          </p:nvPr>
        </p:nvSpPr>
        <p:spPr>
          <a:xfrm>
            <a:off x="1800496" y="76200"/>
            <a:ext cx="934299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Link-State Routing Process :</a:t>
            </a:r>
            <a:r>
              <a:rPr lang="en-US" sz="3200" b="1">
                <a:solidFill>
                  <a:srgbClr val="7D28CD"/>
                </a:solidFill>
              </a:rPr>
              <a:t>5 Step Process :</a:t>
            </a:r>
            <a:br>
              <a:rPr lang="en-US" b="1">
                <a:solidFill>
                  <a:srgbClr val="7D28CD"/>
                </a:solidFill>
              </a:rPr>
            </a:br>
            <a:endParaRPr/>
          </a:p>
        </p:txBody>
      </p:sp>
      <p:sp>
        <p:nvSpPr>
          <p:cNvPr id="328" name="Google Shape;328;p14"/>
          <p:cNvSpPr txBox="1">
            <a:spLocks noGrp="1"/>
          </p:cNvSpPr>
          <p:nvPr>
            <p:ph type="body" idx="4294967295"/>
          </p:nvPr>
        </p:nvSpPr>
        <p:spPr>
          <a:xfrm>
            <a:off x="1301276" y="1024128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023938" lvl="1" indent="-4572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600"/>
              <a:t>Each router learns its </a:t>
            </a:r>
            <a:r>
              <a:rPr lang="en-US" sz="3600" b="1">
                <a:solidFill>
                  <a:srgbClr val="0070C0"/>
                </a:solidFill>
              </a:rPr>
              <a:t>directly connected networks</a:t>
            </a:r>
            <a:r>
              <a:rPr lang="en-US" sz="3600">
                <a:solidFill>
                  <a:srgbClr val="0070C0"/>
                </a:solidFill>
              </a:rPr>
              <a:t>.</a:t>
            </a:r>
            <a:endParaRPr sz="1600"/>
          </a:p>
          <a:p>
            <a:pPr marL="1023938" lvl="1" indent="-4572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600"/>
              <a:t>Each router </a:t>
            </a:r>
            <a:r>
              <a:rPr lang="en-US" sz="3600" b="1">
                <a:solidFill>
                  <a:srgbClr val="0070C0"/>
                </a:solidFill>
              </a:rPr>
              <a:t>talks to its neighbors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(sends Hello packets).</a:t>
            </a:r>
            <a:endParaRPr sz="1600"/>
          </a:p>
          <a:p>
            <a:pPr marL="1023938" lvl="1" indent="-4572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600"/>
              <a:t>Each router creates a </a:t>
            </a:r>
            <a:r>
              <a:rPr lang="en-US" sz="3600" b="1">
                <a:solidFill>
                  <a:srgbClr val="0070C0"/>
                </a:solidFill>
              </a:rPr>
              <a:t>Link-State Packet (LSP)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describing its links.</a:t>
            </a:r>
            <a:endParaRPr sz="1600"/>
          </a:p>
          <a:p>
            <a:pPr marL="1023938" lvl="1" indent="-4572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600"/>
              <a:t>Each router </a:t>
            </a:r>
            <a:r>
              <a:rPr lang="en-US" sz="3600" b="1">
                <a:solidFill>
                  <a:srgbClr val="0070C0"/>
                </a:solidFill>
              </a:rPr>
              <a:t>floods its LSP</a:t>
            </a:r>
            <a:r>
              <a:rPr lang="en-US" sz="3600">
                <a:solidFill>
                  <a:srgbClr val="0070C0"/>
                </a:solidFill>
              </a:rPr>
              <a:t> </a:t>
            </a:r>
            <a:r>
              <a:rPr lang="en-US" sz="3600"/>
              <a:t>to all other routers.</a:t>
            </a:r>
            <a:endParaRPr sz="1600"/>
          </a:p>
          <a:p>
            <a:pPr marL="1023938" lvl="1" indent="-4572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SzPts val="3480"/>
              <a:buFont typeface="Corbel"/>
              <a:buAutoNum type="arabicPeriod"/>
            </a:pPr>
            <a:r>
              <a:rPr lang="en-US" sz="3600"/>
              <a:t>Every router builds a </a:t>
            </a:r>
            <a:r>
              <a:rPr lang="en-US" sz="3600" b="1">
                <a:solidFill>
                  <a:srgbClr val="00B0F0"/>
                </a:solidFill>
              </a:rPr>
              <a:t>Link State Database (LSDB) </a:t>
            </a:r>
            <a:r>
              <a:rPr lang="en-US" sz="3600"/>
              <a:t>from all LSPs and runs Dijkstra to find the </a:t>
            </a:r>
            <a:r>
              <a:rPr lang="en-US" sz="3600" b="1">
                <a:solidFill>
                  <a:srgbClr val="7030A0"/>
                </a:solidFill>
              </a:rPr>
              <a:t>least cost paths</a:t>
            </a:r>
            <a:r>
              <a:rPr lang="en-US" sz="3600">
                <a:solidFill>
                  <a:srgbClr val="7030A0"/>
                </a:solidFill>
              </a:rPr>
              <a:t>.</a:t>
            </a:r>
            <a:endParaRPr sz="3600">
              <a:solidFill>
                <a:srgbClr val="7030A0"/>
              </a:solidFill>
            </a:endParaRPr>
          </a:p>
        </p:txBody>
      </p:sp>
      <p:sp>
        <p:nvSpPr>
          <p:cNvPr id="329" name="Google Shape;329;p14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1: Directly Connected Networks</a:t>
            </a:r>
            <a:endParaRPr/>
          </a:p>
        </p:txBody>
      </p:sp>
      <p:sp>
        <p:nvSpPr>
          <p:cNvPr id="335" name="Google Shape;335;p15"/>
          <p:cNvSpPr txBox="1">
            <a:spLocks noGrp="1"/>
          </p:cNvSpPr>
          <p:nvPr>
            <p:ph type="body" idx="4294967295"/>
          </p:nvPr>
        </p:nvSpPr>
        <p:spPr>
          <a:xfrm>
            <a:off x="1280160" y="4414707"/>
            <a:ext cx="10454640" cy="221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17568"/>
              <a:buFont typeface="Tahoma"/>
              <a:buChar char="•"/>
            </a:pPr>
            <a:r>
              <a:rPr lang="en-US" sz="3200">
                <a:solidFill>
                  <a:srgbClr val="FF0000"/>
                </a:solidFill>
              </a:rPr>
              <a:t>Each router</a:t>
            </a:r>
            <a:r>
              <a:rPr lang="en-US" sz="3200"/>
              <a:t> learns about its own </a:t>
            </a:r>
            <a:r>
              <a:rPr lang="en-US" sz="3200" b="1">
                <a:solidFill>
                  <a:srgbClr val="531A88"/>
                </a:solidFill>
              </a:rPr>
              <a:t>directly connected networks</a:t>
            </a:r>
            <a:r>
              <a:rPr lang="en-US" sz="3200">
                <a:solidFill>
                  <a:srgbClr val="531A88"/>
                </a:solidFill>
              </a:rPr>
              <a:t>.</a:t>
            </a:r>
            <a:endParaRPr sz="1800">
              <a:solidFill>
                <a:srgbClr val="531A88"/>
              </a:solidFill>
            </a:endParaRPr>
          </a:p>
          <a:p>
            <a:pPr marL="342900" lvl="1" indent="-342900" algn="l" rtl="0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1186C3"/>
              </a:buClr>
              <a:buSzPct val="117568"/>
              <a:buChar char="•"/>
            </a:pPr>
            <a:r>
              <a:rPr lang="en-US" sz="3200"/>
              <a:t>When an interface is configured with an IP address and subnet mask and becomes active, the </a:t>
            </a:r>
            <a:r>
              <a:rPr lang="en-US" sz="3200">
                <a:solidFill>
                  <a:srgbClr val="FF0000"/>
                </a:solidFill>
              </a:rPr>
              <a:t>connected network </a:t>
            </a:r>
            <a:r>
              <a:rPr lang="en-US" sz="3200"/>
              <a:t>is </a:t>
            </a:r>
            <a:r>
              <a:rPr lang="en-US" sz="3200" b="1">
                <a:solidFill>
                  <a:srgbClr val="531A88"/>
                </a:solidFill>
              </a:rPr>
              <a:t>added to the routing table.</a:t>
            </a:r>
            <a:endParaRPr sz="1800" b="1">
              <a:solidFill>
                <a:srgbClr val="531A88"/>
              </a:solidFill>
            </a:endParaRPr>
          </a:p>
        </p:txBody>
      </p:sp>
      <p:pic>
        <p:nvPicPr>
          <p:cNvPr id="336" name="Google Shape;336;p15" descr="ls0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3175" y="1422732"/>
            <a:ext cx="4794250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15"/>
          <p:cNvGrpSpPr/>
          <p:nvPr/>
        </p:nvGrpSpPr>
        <p:grpSpPr>
          <a:xfrm>
            <a:off x="2552700" y="1544175"/>
            <a:ext cx="7315200" cy="2576513"/>
            <a:chOff x="685800" y="4114800"/>
            <a:chExt cx="7315200" cy="2576299"/>
          </a:xfrm>
        </p:grpSpPr>
        <p:pic>
          <p:nvPicPr>
            <p:cNvPr id="338" name="Google Shape;338;p15" descr="ls11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6800" y="4114800"/>
              <a:ext cx="3124200" cy="2576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15"/>
            <p:cNvSpPr txBox="1"/>
            <p:nvPr/>
          </p:nvSpPr>
          <p:spPr>
            <a:xfrm>
              <a:off x="685800" y="4571962"/>
              <a:ext cx="3505200" cy="1569908"/>
            </a:xfrm>
            <a:prstGeom prst="rect">
              <a:avLst/>
            </a:prstGeom>
            <a:solidFill>
              <a:srgbClr val="800000"/>
            </a:solidFill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 will focus on the Link-State routing process from the perspective of R1.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1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"/>
          <p:cNvSpPr txBox="1">
            <a:spLocks noGrp="1"/>
          </p:cNvSpPr>
          <p:nvPr>
            <p:ph type="title" idx="4294967295"/>
          </p:nvPr>
        </p:nvSpPr>
        <p:spPr>
          <a:xfrm>
            <a:off x="1738086" y="31456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2: Hello Packets</a:t>
            </a:r>
            <a:endParaRPr sz="3600"/>
          </a:p>
        </p:txBody>
      </p:sp>
      <p:sp>
        <p:nvSpPr>
          <p:cNvPr id="346" name="Google Shape;346;p16"/>
          <p:cNvSpPr txBox="1">
            <a:spLocks noGrp="1"/>
          </p:cNvSpPr>
          <p:nvPr>
            <p:ph type="body" idx="4294967295"/>
          </p:nvPr>
        </p:nvSpPr>
        <p:spPr>
          <a:xfrm>
            <a:off x="1499615" y="4430974"/>
            <a:ext cx="10310949" cy="2143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800" dirty="0"/>
              <a:t>Each router discovers neighboring routers by exchanging Hello packets.</a:t>
            </a:r>
            <a:endParaRPr dirty="0"/>
          </a:p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Tahoma"/>
              <a:buChar char="•"/>
            </a:pPr>
            <a:r>
              <a:rPr lang="en-US" sz="2800" dirty="0"/>
              <a:t>The router will not be aware of any neighbor routers on the link until it receives a </a:t>
            </a:r>
            <a:r>
              <a:rPr lang="en-US" sz="2800" dirty="0">
                <a:solidFill>
                  <a:srgbClr val="FF0000"/>
                </a:solidFill>
              </a:rPr>
              <a:t>Hello packet</a:t>
            </a:r>
            <a:r>
              <a:rPr lang="en-US" sz="2800" dirty="0"/>
              <a:t> from that neighbor.</a:t>
            </a:r>
            <a:endParaRPr sz="1800" dirty="0"/>
          </a:p>
          <a:p>
            <a:pPr marL="342900" lvl="1" indent="-3429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800" dirty="0"/>
              <a:t>At that time, it establishes an </a:t>
            </a:r>
            <a:r>
              <a:rPr lang="en-US" sz="2800" dirty="0">
                <a:solidFill>
                  <a:srgbClr val="FF0000"/>
                </a:solidFill>
              </a:rPr>
              <a:t>adjacency</a:t>
            </a:r>
            <a:r>
              <a:rPr lang="en-US" sz="2800" dirty="0"/>
              <a:t> with the neighboring router.</a:t>
            </a:r>
            <a:endParaRPr sz="1800" dirty="0"/>
          </a:p>
        </p:txBody>
      </p:sp>
      <p:pic>
        <p:nvPicPr>
          <p:cNvPr id="347" name="Google Shape;347;p16" descr="ls1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992965"/>
            <a:ext cx="37560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03B80-BF5E-4F6E-9C0A-C7F14C9C973F}"/>
              </a:ext>
            </a:extLst>
          </p:cNvPr>
          <p:cNvSpPr txBox="1"/>
          <p:nvPr/>
        </p:nvSpPr>
        <p:spPr>
          <a:xfrm>
            <a:off x="8259580" y="1469036"/>
            <a:ext cx="2486578" cy="15696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Conditions for adjacency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Subnet and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Timer (hello &amp; dead)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Area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MTU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authentication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2: Hello Packets</a:t>
            </a:r>
            <a:endParaRPr sz="4000"/>
          </a:p>
        </p:txBody>
      </p:sp>
      <p:pic>
        <p:nvPicPr>
          <p:cNvPr id="354" name="Google Shape;354;p17" descr="ls1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219200"/>
            <a:ext cx="6311900" cy="541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id="356" name="Google Shape;356;p17" descr="ls15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7" name="Google Shape;357;p17"/>
            <p:cNvCxnSpPr/>
            <p:nvPr/>
          </p:nvCxnSpPr>
          <p:spPr>
            <a:xfrm rot="10800000" flipH="1">
              <a:off x="4419600" y="3124200"/>
              <a:ext cx="685800" cy="3810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8" name="Google Shape;358;p17"/>
            <p:cNvCxnSpPr/>
            <p:nvPr/>
          </p:nvCxnSpPr>
          <p:spPr>
            <a:xfrm>
              <a:off x="4572000" y="4038600"/>
              <a:ext cx="7620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9" name="Google Shape;359;p17"/>
            <p:cNvCxnSpPr/>
            <p:nvPr/>
          </p:nvCxnSpPr>
          <p:spPr>
            <a:xfrm>
              <a:off x="4495800" y="4724400"/>
              <a:ext cx="609600" cy="3048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0" name="Google Shape;360;p17"/>
            <p:cNvCxnSpPr/>
            <p:nvPr/>
          </p:nvCxnSpPr>
          <p:spPr>
            <a:xfrm rot="10800000">
              <a:off x="2209800" y="4495800"/>
              <a:ext cx="6858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61" name="Google Shape;361;p17"/>
          <p:cNvGrpSpPr/>
          <p:nvPr/>
        </p:nvGrpSpPr>
        <p:grpSpPr>
          <a:xfrm>
            <a:off x="2971800" y="1219200"/>
            <a:ext cx="6311900" cy="5410200"/>
            <a:chOff x="1447800" y="1219200"/>
            <a:chExt cx="6311900" cy="5410200"/>
          </a:xfrm>
        </p:grpSpPr>
        <p:pic>
          <p:nvPicPr>
            <p:cNvPr id="362" name="Google Shape;362;p17" descr="ls16.jp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47800" y="1219200"/>
              <a:ext cx="6311900" cy="5410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3" name="Google Shape;363;p17"/>
            <p:cNvCxnSpPr/>
            <p:nvPr/>
          </p:nvCxnSpPr>
          <p:spPr>
            <a:xfrm flipH="1">
              <a:off x="5486400" y="2438400"/>
              <a:ext cx="762000" cy="4572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4" name="Google Shape;364;p17"/>
            <p:cNvCxnSpPr/>
            <p:nvPr/>
          </p:nvCxnSpPr>
          <p:spPr>
            <a:xfrm rot="10800000">
              <a:off x="5410200" y="4038600"/>
              <a:ext cx="914400" cy="1588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5" name="Google Shape;365;p17"/>
            <p:cNvCxnSpPr/>
            <p:nvPr/>
          </p:nvCxnSpPr>
          <p:spPr>
            <a:xfrm rot="10800000">
              <a:off x="5257800" y="5638800"/>
              <a:ext cx="838200" cy="45720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366" name="Google Shape;366;p17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 txBox="1">
            <a:spLocks noGrp="1"/>
          </p:cNvSpPr>
          <p:nvPr>
            <p:ph type="title" idx="4294967295"/>
          </p:nvPr>
        </p:nvSpPr>
        <p:spPr>
          <a:xfrm>
            <a:off x="18288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Step 2: Hello Packets</a:t>
            </a:r>
            <a:endParaRPr sz="4400"/>
          </a:p>
        </p:txBody>
      </p:sp>
      <p:sp>
        <p:nvSpPr>
          <p:cNvPr id="372" name="Google Shape;372;p18"/>
          <p:cNvSpPr txBox="1">
            <a:spLocks noGrp="1"/>
          </p:cNvSpPr>
          <p:nvPr>
            <p:ph type="body" idx="4294967295"/>
          </p:nvPr>
        </p:nvSpPr>
        <p:spPr>
          <a:xfrm>
            <a:off x="1257299" y="1616226"/>
            <a:ext cx="4572001" cy="4953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6"/>
              <a:buChar char="•"/>
            </a:pPr>
            <a:r>
              <a:rPr lang="en-US" sz="3200"/>
              <a:t>Hello packets are exchanged </a:t>
            </a:r>
            <a:r>
              <a:rPr lang="en-US" sz="3200" b="1">
                <a:solidFill>
                  <a:srgbClr val="531A88"/>
                </a:solidFill>
              </a:rPr>
              <a:t>regularly</a:t>
            </a:r>
            <a:r>
              <a:rPr lang="en-US" sz="3200">
                <a:solidFill>
                  <a:srgbClr val="531A88"/>
                </a:solidFill>
              </a:rPr>
              <a:t> </a:t>
            </a:r>
            <a:r>
              <a:rPr lang="en-US" sz="3200"/>
              <a:t>between neighbors.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6"/>
              <a:buNone/>
            </a:pP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6"/>
              <a:buChar char="•"/>
            </a:pPr>
            <a:r>
              <a:rPr lang="en-US" sz="3200"/>
              <a:t>They help routers </a:t>
            </a:r>
            <a:r>
              <a:rPr lang="en-US" sz="3200" b="1">
                <a:solidFill>
                  <a:srgbClr val="1186C3"/>
                </a:solidFill>
              </a:rPr>
              <a:t>discover and maintain neighbor relationships</a:t>
            </a:r>
            <a:r>
              <a:rPr lang="en-US" sz="3200"/>
              <a:t>.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6"/>
              <a:buNone/>
            </a:pP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6"/>
              <a:buChar char="•"/>
            </a:pPr>
            <a:r>
              <a:rPr lang="en-US" sz="3200"/>
              <a:t>If Hello packets </a:t>
            </a:r>
            <a:r>
              <a:rPr lang="en-US" sz="3200">
                <a:solidFill>
                  <a:srgbClr val="FF0000"/>
                </a:solidFill>
              </a:rPr>
              <a:t>stop</a:t>
            </a:r>
            <a:r>
              <a:rPr lang="en-US" sz="3200"/>
              <a:t> arriving, the router can detect that the neighbor </a:t>
            </a:r>
            <a:r>
              <a:rPr lang="en-US" sz="3200">
                <a:solidFill>
                  <a:srgbClr val="1186C3"/>
                </a:solidFill>
              </a:rPr>
              <a:t>may be down</a:t>
            </a:r>
            <a:r>
              <a:rPr lang="en-US" sz="3200"/>
              <a:t>. </a:t>
            </a:r>
            <a:endParaRPr/>
          </a:p>
          <a:p>
            <a:pPr marL="342900" lvl="1" indent="-215190" algn="l" rtl="0">
              <a:lnSpc>
                <a:spcPct val="100000"/>
              </a:lnSpc>
              <a:spcBef>
                <a:spcPts val="727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Tahoma"/>
              <a:buNone/>
            </a:pPr>
            <a:endParaRPr/>
          </a:p>
        </p:txBody>
      </p:sp>
      <p:pic>
        <p:nvPicPr>
          <p:cNvPr id="373" name="Google Shape;373;p18" descr="ls17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9300" y="1790700"/>
            <a:ext cx="5334000" cy="457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18"/>
          <p:cNvCxnSpPr/>
          <p:nvPr/>
        </p:nvCxnSpPr>
        <p:spPr>
          <a:xfrm rot="10800000" flipH="1">
            <a:off x="7810500" y="3438158"/>
            <a:ext cx="685800" cy="3810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5" name="Google Shape;375;p18"/>
          <p:cNvCxnSpPr/>
          <p:nvPr/>
        </p:nvCxnSpPr>
        <p:spPr>
          <a:xfrm>
            <a:off x="8115300" y="4053160"/>
            <a:ext cx="762000" cy="1588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76" name="Google Shape;376;p18"/>
          <p:cNvCxnSpPr/>
          <p:nvPr/>
        </p:nvCxnSpPr>
        <p:spPr>
          <a:xfrm>
            <a:off x="8039100" y="4479250"/>
            <a:ext cx="685800" cy="38100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7" name="Google Shape;377;p1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354"/>
              <a:buNone/>
            </a:pPr>
            <a:r>
              <a:rPr lang="en-US" sz="4400"/>
              <a:t>Step 3: Build the Link-State Packet </a:t>
            </a:r>
            <a:endParaRPr sz="3600"/>
          </a:p>
        </p:txBody>
      </p:sp>
      <p:sp>
        <p:nvSpPr>
          <p:cNvPr id="383" name="Google Shape;383;p19"/>
          <p:cNvSpPr txBox="1">
            <a:spLocks noGrp="1"/>
          </p:cNvSpPr>
          <p:nvPr>
            <p:ph type="body" idx="4294967295"/>
          </p:nvPr>
        </p:nvSpPr>
        <p:spPr>
          <a:xfrm>
            <a:off x="2057400" y="4648200"/>
            <a:ext cx="9720072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30631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builds a </a:t>
            </a:r>
            <a:r>
              <a:rPr lang="en-US" sz="2400">
                <a:solidFill>
                  <a:srgbClr val="FF0000"/>
                </a:solidFill>
              </a:rPr>
              <a:t>link-state packet (LSP)</a:t>
            </a:r>
            <a:r>
              <a:rPr lang="en-US" sz="2400" b="1" i="1"/>
              <a:t> </a:t>
            </a:r>
            <a:r>
              <a:rPr lang="en-US" sz="2400"/>
              <a:t>containing the state of each directly connected link and their costs.</a:t>
            </a:r>
            <a:endParaRPr sz="1600"/>
          </a:p>
          <a:p>
            <a:pPr marL="342900" lvl="1" indent="-3429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ct val="130631"/>
              <a:buFont typeface="Arial"/>
              <a:buChar char="•"/>
            </a:pPr>
            <a:r>
              <a:rPr lang="en-US" sz="2400"/>
              <a:t>The</a:t>
            </a:r>
            <a:r>
              <a:rPr lang="en-US" sz="2400">
                <a:solidFill>
                  <a:srgbClr val="FF0000"/>
                </a:solidFill>
              </a:rPr>
              <a:t> LSP contains the link-state information</a:t>
            </a:r>
            <a:r>
              <a:rPr lang="en-US" sz="2400"/>
              <a:t> about the sending router’s links. </a:t>
            </a:r>
            <a:endParaRPr sz="1600"/>
          </a:p>
          <a:p>
            <a:pPr marL="342900" lvl="1" indent="-3429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ct val="130631"/>
              <a:buFont typeface="Arial"/>
              <a:buChar char="•"/>
            </a:pPr>
            <a:r>
              <a:rPr lang="en-US" sz="2400"/>
              <a:t>The router </a:t>
            </a:r>
            <a:r>
              <a:rPr lang="en-US" sz="2400">
                <a:solidFill>
                  <a:srgbClr val="FF0000"/>
                </a:solidFill>
              </a:rPr>
              <a:t>sends LSPs</a:t>
            </a:r>
            <a:r>
              <a:rPr lang="en-US" sz="2400"/>
              <a:t> out interfaces where it has </a:t>
            </a:r>
            <a:r>
              <a:rPr lang="en-US" sz="2400">
                <a:solidFill>
                  <a:srgbClr val="FF0000"/>
                </a:solidFill>
              </a:rPr>
              <a:t>established adjacencies</a:t>
            </a:r>
            <a:r>
              <a:rPr lang="en-US" sz="2400"/>
              <a:t> with other routers.</a:t>
            </a:r>
            <a:endParaRPr sz="1600"/>
          </a:p>
        </p:txBody>
      </p:sp>
      <p:pic>
        <p:nvPicPr>
          <p:cNvPr id="384" name="Google Shape;384;p19" descr="ls1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9636" y="1524000"/>
            <a:ext cx="64770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Step 4: Flooding Link-State Packets</a:t>
            </a:r>
            <a:endParaRPr sz="4000"/>
          </a:p>
        </p:txBody>
      </p:sp>
      <p:sp>
        <p:nvSpPr>
          <p:cNvPr id="391" name="Google Shape;391;p20"/>
          <p:cNvSpPr txBox="1">
            <a:spLocks noGrp="1"/>
          </p:cNvSpPr>
          <p:nvPr>
            <p:ph type="body" idx="4294967295"/>
          </p:nvPr>
        </p:nvSpPr>
        <p:spPr>
          <a:xfrm>
            <a:off x="2209800" y="5302534"/>
            <a:ext cx="8839200" cy="132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Tahoma"/>
              <a:buChar char="•"/>
            </a:pPr>
            <a:r>
              <a:rPr lang="en-US" sz="2400">
                <a:solidFill>
                  <a:srgbClr val="FF0000"/>
                </a:solidFill>
              </a:rPr>
              <a:t>Each router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</a:rPr>
              <a:t>floods the LSP to all neighbors</a:t>
            </a:r>
            <a:r>
              <a:rPr lang="en-US" sz="2400"/>
              <a:t>, who then store all LSPs received in a database.</a:t>
            </a:r>
            <a:endParaRPr sz="1800"/>
          </a:p>
          <a:p>
            <a:pPr marL="796925" lvl="2" indent="-3429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Tahoma"/>
              <a:buChar char="•"/>
            </a:pPr>
            <a:r>
              <a:rPr lang="en-US" sz="2000"/>
              <a:t>When a router receives an LSP, it forwards the LSP to its other neighbors</a:t>
            </a:r>
            <a:r>
              <a:rPr lang="en-US" sz="1600"/>
              <a:t>.</a:t>
            </a:r>
            <a:r>
              <a:rPr lang="en-US" sz="1600">
                <a:solidFill>
                  <a:srgbClr val="FF0000"/>
                </a:solidFill>
              </a:rPr>
              <a:t> </a:t>
            </a:r>
            <a:endParaRPr/>
          </a:p>
        </p:txBody>
      </p:sp>
      <p:pic>
        <p:nvPicPr>
          <p:cNvPr id="392" name="Google Shape;392;p20" descr="ls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600" y="1314734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20"/>
          <p:cNvGrpSpPr/>
          <p:nvPr/>
        </p:nvGrpSpPr>
        <p:grpSpPr>
          <a:xfrm>
            <a:off x="4331269" y="2014254"/>
            <a:ext cx="1752600" cy="2286000"/>
            <a:chOff x="2743200" y="1524000"/>
            <a:chExt cx="1752600" cy="2286000"/>
          </a:xfrm>
        </p:grpSpPr>
        <p:cxnSp>
          <p:nvCxnSpPr>
            <p:cNvPr id="394" name="Google Shape;394;p20"/>
            <p:cNvCxnSpPr/>
            <p:nvPr/>
          </p:nvCxnSpPr>
          <p:spPr>
            <a:xfrm rot="10800000" flipH="1">
              <a:off x="2743200" y="1524000"/>
              <a:ext cx="17526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5" name="Google Shape;395;p20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6" name="Google Shape;396;p20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397" name="Google Shape;397;p20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20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20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" name="Google Shape;400;p20"/>
          <p:cNvSpPr txBox="1"/>
          <p:nvPr/>
        </p:nvSpPr>
        <p:spPr>
          <a:xfrm>
            <a:off x="7391400" y="1496704"/>
            <a:ext cx="2895600" cy="461963"/>
          </a:xfrm>
          <a:prstGeom prst="rect">
            <a:avLst/>
          </a:prstGeom>
          <a:solidFill>
            <a:srgbClr val="80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Flooding of R1 LSP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0"/>
          <p:cNvGrpSpPr/>
          <p:nvPr/>
        </p:nvGrpSpPr>
        <p:grpSpPr>
          <a:xfrm>
            <a:off x="1524000" y="1479266"/>
            <a:ext cx="3124200" cy="1677987"/>
            <a:chOff x="457200" y="990600"/>
            <a:chExt cx="3124200" cy="1677193"/>
          </a:xfrm>
        </p:grpSpPr>
        <p:cxnSp>
          <p:nvCxnSpPr>
            <p:cNvPr id="402" name="Google Shape;402;p20"/>
            <p:cNvCxnSpPr/>
            <p:nvPr/>
          </p:nvCxnSpPr>
          <p:spPr>
            <a:xfrm rot="5400000">
              <a:off x="1600453" y="2133058"/>
              <a:ext cx="1066295" cy="3175"/>
            </a:xfrm>
            <a:prstGeom prst="straightConnector1">
              <a:avLst/>
            </a:prstGeom>
            <a:noFill/>
            <a:ln w="50800" cap="flat" cmpd="sng">
              <a:solidFill>
                <a:srgbClr val="531A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03" name="Google Shape;403;p20"/>
            <p:cNvSpPr txBox="1"/>
            <p:nvPr/>
          </p:nvSpPr>
          <p:spPr>
            <a:xfrm>
              <a:off x="457200" y="990600"/>
              <a:ext cx="3124200" cy="831456"/>
            </a:xfrm>
            <a:prstGeom prst="rect">
              <a:avLst/>
            </a:prstGeom>
            <a:solidFill>
              <a:srgbClr val="531A88"/>
            </a:solidFill>
            <a:ln w="254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No response to Hello – no LSP sent.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2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>
            <a:spLocks noGrp="1"/>
          </p:cNvSpPr>
          <p:nvPr>
            <p:ph type="title" idx="4294967295"/>
          </p:nvPr>
        </p:nvSpPr>
        <p:spPr>
          <a:xfrm>
            <a:off x="1676400" y="24234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Step 4: Flooding Link-State Packets</a:t>
            </a:r>
            <a:endParaRPr sz="3600"/>
          </a:p>
        </p:txBody>
      </p:sp>
      <p:sp>
        <p:nvSpPr>
          <p:cNvPr id="410" name="Google Shape;410;p21"/>
          <p:cNvSpPr txBox="1">
            <a:spLocks noGrp="1"/>
          </p:cNvSpPr>
          <p:nvPr>
            <p:ph type="body" idx="4294967295"/>
          </p:nvPr>
        </p:nvSpPr>
        <p:spPr>
          <a:xfrm>
            <a:off x="2286000" y="5038988"/>
            <a:ext cx="9564624" cy="166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Char char="•"/>
            </a:pPr>
            <a:r>
              <a:rPr lang="en-US" sz="2400"/>
              <a:t>Once routers have received the necessary link-state information, they have a </a:t>
            </a:r>
            <a:r>
              <a:rPr lang="en-US" sz="2400" b="1">
                <a:solidFill>
                  <a:srgbClr val="7030A0"/>
                </a:solidFill>
              </a:rPr>
              <a:t>consistent view of the topology.</a:t>
            </a:r>
            <a:endParaRPr/>
          </a:p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Char char="•"/>
            </a:pPr>
            <a:r>
              <a:rPr lang="en-US" sz="2400"/>
              <a:t>Each router </a:t>
            </a:r>
            <a:r>
              <a:rPr lang="en-US" sz="2400" b="1">
                <a:solidFill>
                  <a:srgbClr val="0070C0"/>
                </a:solidFill>
              </a:rPr>
              <a:t>runs Dijkstra's SPF </a:t>
            </a:r>
            <a:r>
              <a:rPr lang="en-US" sz="2400"/>
              <a:t>algorithm to </a:t>
            </a:r>
            <a:r>
              <a:rPr lang="en-US" sz="2400" b="1">
                <a:solidFill>
                  <a:srgbClr val="7D28CD"/>
                </a:solidFill>
              </a:rPr>
              <a:t>calculate its best paths.</a:t>
            </a:r>
            <a:endParaRPr/>
          </a:p>
        </p:txBody>
      </p:sp>
      <p:pic>
        <p:nvPicPr>
          <p:cNvPr id="411" name="Google Shape;411;p21" descr="ls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0731" y="1083150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21"/>
          <p:cNvGrpSpPr/>
          <p:nvPr/>
        </p:nvGrpSpPr>
        <p:grpSpPr>
          <a:xfrm>
            <a:off x="6019800" y="2971800"/>
            <a:ext cx="611188" cy="673100"/>
            <a:chOff x="4495800" y="2971800"/>
            <a:chExt cx="611188" cy="673100"/>
          </a:xfrm>
        </p:grpSpPr>
        <p:pic>
          <p:nvPicPr>
            <p:cNvPr id="413" name="Google Shape;413;p21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2000" y="2971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21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2000" y="3352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5" name="Google Shape;415;p21"/>
            <p:cNvCxnSpPr/>
            <p:nvPr/>
          </p:nvCxnSpPr>
          <p:spPr>
            <a:xfrm rot="5400000">
              <a:off x="4801394" y="3275806"/>
              <a:ext cx="609600" cy="1588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sm" len="sm"/>
            </a:ln>
          </p:spPr>
        </p:cxnSp>
        <p:cxnSp>
          <p:nvCxnSpPr>
            <p:cNvPr id="416" name="Google Shape;416;p21"/>
            <p:cNvCxnSpPr/>
            <p:nvPr/>
          </p:nvCxnSpPr>
          <p:spPr>
            <a:xfrm rot="5400000">
              <a:off x="4191794" y="3275806"/>
              <a:ext cx="609600" cy="1588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17" name="Google Shape;417;p21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18" name="Google Shape;418;p21"/>
            <p:cNvCxnSpPr/>
            <p:nvPr/>
          </p:nvCxnSpPr>
          <p:spPr>
            <a:xfrm rot="10800000" flipH="1">
              <a:off x="2743200" y="1524000"/>
              <a:ext cx="17526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9" name="Google Shape;419;p21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0" name="Google Shape;420;p21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421" name="Google Shape;421;p21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21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21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4" name="Google Shape;424;p21"/>
          <p:cNvCxnSpPr/>
          <p:nvPr/>
        </p:nvCxnSpPr>
        <p:spPr>
          <a:xfrm>
            <a:off x="6705600" y="1600200"/>
            <a:ext cx="1676400" cy="9144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5" name="Google Shape;425;p21"/>
          <p:cNvCxnSpPr/>
          <p:nvPr/>
        </p:nvCxnSpPr>
        <p:spPr>
          <a:xfrm rot="10800000" flipH="1">
            <a:off x="6629400" y="2959100"/>
            <a:ext cx="1752600" cy="8509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26" name="Google Shape;426;p21" descr="ls2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1800" y="1752600"/>
            <a:ext cx="444500" cy="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1" descr="ls2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0" y="3124200"/>
            <a:ext cx="444500" cy="292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8" name="Google Shape;428;p21"/>
          <p:cNvCxnSpPr/>
          <p:nvPr/>
        </p:nvCxnSpPr>
        <p:spPr>
          <a:xfrm rot="10800000">
            <a:off x="4178300" y="2971800"/>
            <a:ext cx="1752600" cy="9906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9" name="Google Shape;429;p21"/>
          <p:cNvCxnSpPr/>
          <p:nvPr/>
        </p:nvCxnSpPr>
        <p:spPr>
          <a:xfrm rot="10800000">
            <a:off x="6540500" y="1816100"/>
            <a:ext cx="1587500" cy="803275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0" name="Google Shape;430;p21"/>
          <p:cNvCxnSpPr/>
          <p:nvPr/>
        </p:nvCxnSpPr>
        <p:spPr>
          <a:xfrm flipH="1">
            <a:off x="6629400" y="2819400"/>
            <a:ext cx="1600200" cy="7620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1" name="Google Shape;431;p21"/>
          <p:cNvCxnSpPr/>
          <p:nvPr/>
        </p:nvCxnSpPr>
        <p:spPr>
          <a:xfrm flipH="1">
            <a:off x="4648200" y="1816100"/>
            <a:ext cx="1447800" cy="6985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2" name="Google Shape;432;p21"/>
          <p:cNvCxnSpPr/>
          <p:nvPr/>
        </p:nvCxnSpPr>
        <p:spPr>
          <a:xfrm flipH="1">
            <a:off x="4432300" y="2806700"/>
            <a:ext cx="1535113" cy="127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3" name="Google Shape;433;p21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"/>
          <p:cNvSpPr txBox="1">
            <a:spLocks noGrp="1"/>
          </p:cNvSpPr>
          <p:nvPr>
            <p:ph type="title" idx="4294967295"/>
          </p:nvPr>
        </p:nvSpPr>
        <p:spPr>
          <a:xfrm>
            <a:off x="1523999" y="228600"/>
            <a:ext cx="825862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10"/>
              <a:buNone/>
            </a:pPr>
            <a:r>
              <a:rPr lang="en-US" sz="3600"/>
              <a:t>Step 4: When is an Link-State Packet send?</a:t>
            </a:r>
            <a:endParaRPr sz="3600"/>
          </a:p>
        </p:txBody>
      </p:sp>
      <p:sp>
        <p:nvSpPr>
          <p:cNvPr id="439" name="Google Shape;439;p22"/>
          <p:cNvSpPr txBox="1">
            <a:spLocks noGrp="1"/>
          </p:cNvSpPr>
          <p:nvPr>
            <p:ph type="body" idx="4294967295"/>
          </p:nvPr>
        </p:nvSpPr>
        <p:spPr>
          <a:xfrm>
            <a:off x="2388394" y="4930775"/>
            <a:ext cx="88392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610"/>
              <a:buNone/>
            </a:pPr>
            <a:r>
              <a:rPr lang="en-US" sz="2400"/>
              <a:t>An </a:t>
            </a:r>
            <a:r>
              <a:rPr lang="en-US" sz="2400">
                <a:solidFill>
                  <a:srgbClr val="FF0000"/>
                </a:solidFill>
              </a:rPr>
              <a:t>LSP</a:t>
            </a:r>
            <a:r>
              <a:rPr lang="en-US" sz="2400"/>
              <a:t> needs to be sent only:</a:t>
            </a:r>
            <a:endParaRPr sz="24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When the router or routing process starts 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When the network topology changes </a:t>
            </a:r>
            <a:endParaRPr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400"/>
              <a:t>When a neighbor adjacency is established or lost </a:t>
            </a:r>
            <a:endParaRPr/>
          </a:p>
        </p:txBody>
      </p:sp>
      <p:pic>
        <p:nvPicPr>
          <p:cNvPr id="440" name="Google Shape;440;p22" descr="ls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400" y="1144588"/>
            <a:ext cx="6705600" cy="391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2"/>
          <p:cNvGrpSpPr/>
          <p:nvPr/>
        </p:nvGrpSpPr>
        <p:grpSpPr>
          <a:xfrm>
            <a:off x="4267200" y="1524000"/>
            <a:ext cx="1752600" cy="2286000"/>
            <a:chOff x="2743200" y="1524000"/>
            <a:chExt cx="1752600" cy="2286000"/>
          </a:xfrm>
        </p:grpSpPr>
        <p:cxnSp>
          <p:nvCxnSpPr>
            <p:cNvPr id="442" name="Google Shape;442;p22"/>
            <p:cNvCxnSpPr/>
            <p:nvPr/>
          </p:nvCxnSpPr>
          <p:spPr>
            <a:xfrm rot="10800000" flipH="1">
              <a:off x="2743200" y="1524000"/>
              <a:ext cx="17526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3" name="Google Shape;443;p22"/>
            <p:cNvCxnSpPr/>
            <p:nvPr/>
          </p:nvCxnSpPr>
          <p:spPr>
            <a:xfrm>
              <a:off x="2895600" y="2667000"/>
              <a:ext cx="1524000" cy="1588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4" name="Google Shape;444;p22"/>
            <p:cNvCxnSpPr/>
            <p:nvPr/>
          </p:nvCxnSpPr>
          <p:spPr>
            <a:xfrm>
              <a:off x="2743200" y="2895600"/>
              <a:ext cx="1676400" cy="914400"/>
            </a:xfrm>
            <a:prstGeom prst="straightConnector1">
              <a:avLst/>
            </a:prstGeom>
            <a:noFill/>
            <a:ln w="317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445" name="Google Shape;445;p22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1336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22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25908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22" descr="ls20.jp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124200" y="3048000"/>
              <a:ext cx="444500" cy="292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2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-US" sz="3600"/>
              <a:t>Step 5: Build a Link-State Database</a:t>
            </a:r>
            <a:endParaRPr/>
          </a:p>
        </p:txBody>
      </p:sp>
      <p:sp>
        <p:nvSpPr>
          <p:cNvPr id="454" name="Google Shape;454;p23"/>
          <p:cNvSpPr txBox="1">
            <a:spLocks noGrp="1"/>
          </p:cNvSpPr>
          <p:nvPr>
            <p:ph type="body" idx="4294967295"/>
          </p:nvPr>
        </p:nvSpPr>
        <p:spPr>
          <a:xfrm>
            <a:off x="2514600" y="5245100"/>
            <a:ext cx="88392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</a:pPr>
            <a:r>
              <a:rPr lang="en-US" sz="2800"/>
              <a:t>Each router stores the received LSPs in an </a:t>
            </a:r>
            <a:r>
              <a:rPr lang="en-US" sz="2800" b="1">
                <a:solidFill>
                  <a:srgbClr val="7D28CD"/>
                </a:solidFill>
              </a:rPr>
              <a:t>LSDB</a:t>
            </a:r>
            <a:r>
              <a:rPr lang="en-US" sz="2800">
                <a:solidFill>
                  <a:srgbClr val="7D28CD"/>
                </a:solidFill>
              </a:rPr>
              <a:t>.</a:t>
            </a:r>
            <a:endParaRPr/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</a:pPr>
            <a:r>
              <a:rPr lang="en-US" sz="2800"/>
              <a:t>The LSDB represents the </a:t>
            </a:r>
            <a:r>
              <a:rPr lang="en-US" sz="2800" b="1">
                <a:solidFill>
                  <a:srgbClr val="7D28CD"/>
                </a:solidFill>
              </a:rPr>
              <a:t>network topology</a:t>
            </a:r>
            <a:r>
              <a:rPr lang="en-US" sz="2800"/>
              <a:t> known to that router.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None/>
            </a:pPr>
            <a:endParaRPr sz="2800">
              <a:solidFill>
                <a:srgbClr val="FFFF00"/>
              </a:solidFill>
            </a:endParaRPr>
          </a:p>
        </p:txBody>
      </p:sp>
      <p:pic>
        <p:nvPicPr>
          <p:cNvPr id="455" name="Google Shape;455;p23" descr="ls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400" y="1143000"/>
            <a:ext cx="6705600" cy="39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"/>
          <p:cNvSpPr txBox="1">
            <a:spLocks noGrp="1"/>
          </p:cNvSpPr>
          <p:nvPr>
            <p:ph type="title" idx="4294967295"/>
          </p:nvPr>
        </p:nvSpPr>
        <p:spPr>
          <a:xfrm>
            <a:off x="15240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5: Constructing a Link-State Database</a:t>
            </a:r>
            <a:endParaRPr/>
          </a:p>
        </p:txBody>
      </p:sp>
      <p:sp>
        <p:nvSpPr>
          <p:cNvPr id="462" name="Google Shape;462;p25"/>
          <p:cNvSpPr txBox="1">
            <a:spLocks noGrp="1"/>
          </p:cNvSpPr>
          <p:nvPr>
            <p:ph type="body" idx="4294967295"/>
          </p:nvPr>
        </p:nvSpPr>
        <p:spPr>
          <a:xfrm>
            <a:off x="1981199" y="5867400"/>
            <a:ext cx="95218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175"/>
              <a:buFont typeface="Tahoma"/>
              <a:buChar char="•"/>
            </a:pPr>
            <a:r>
              <a:rPr lang="en-US" sz="1800"/>
              <a:t>As a result of the flooding process, router R1 has learned the link-state information for the routers in the network.</a:t>
            </a:r>
            <a:endParaRPr sz="1800"/>
          </a:p>
        </p:txBody>
      </p:sp>
      <p:pic>
        <p:nvPicPr>
          <p:cNvPr id="463" name="Google Shape;463;p25" descr="ls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910" y="2384675"/>
            <a:ext cx="3919538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5" descr="ls21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6536" y="1013075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5"/>
          <p:cNvSpPr/>
          <p:nvPr/>
        </p:nvSpPr>
        <p:spPr>
          <a:xfrm>
            <a:off x="6529316" y="1165475"/>
            <a:ext cx="838200" cy="4724400"/>
          </a:xfrm>
          <a:prstGeom prst="rightBrace">
            <a:avLst>
              <a:gd name="adj1" fmla="val 65151"/>
              <a:gd name="adj2" fmla="val 50000"/>
            </a:avLst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 idx="4294967295"/>
          </p:nvPr>
        </p:nvSpPr>
        <p:spPr>
          <a:xfrm>
            <a:off x="15240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From LSDB to Routing Table</a:t>
            </a:r>
            <a:endParaRPr sz="3600"/>
          </a:p>
        </p:txBody>
      </p:sp>
      <p:pic>
        <p:nvPicPr>
          <p:cNvPr id="472" name="Google Shape;472;p28" descr="ls2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170" y="1066800"/>
            <a:ext cx="8970963" cy="5421313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8"/>
          <p:cNvSpPr/>
          <p:nvPr/>
        </p:nvSpPr>
        <p:spPr>
          <a:xfrm>
            <a:off x="2057400" y="3048000"/>
            <a:ext cx="4572000" cy="33528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475" name="Google Shape;475;p28" descr="ls27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9800" y="2971800"/>
            <a:ext cx="4932362" cy="340312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8"/>
          <p:cNvSpPr txBox="1"/>
          <p:nvPr/>
        </p:nvSpPr>
        <p:spPr>
          <a:xfrm>
            <a:off x="2757715" y="3397181"/>
            <a:ext cx="3048000" cy="1938338"/>
          </a:xfrm>
          <a:prstGeom prst="rect">
            <a:avLst/>
          </a:prstGeom>
          <a:solidFill>
            <a:srgbClr val="80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Each router</a:t>
            </a: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the topology determines the shortest path </a:t>
            </a:r>
            <a:r>
              <a:rPr lang="en-US" sz="24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from its own perspective</a:t>
            </a: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374585" y="312941"/>
            <a:ext cx="100187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Advantages: Link-State Routing </a:t>
            </a:r>
            <a:endParaRPr sz="4400"/>
          </a:p>
        </p:txBody>
      </p:sp>
      <p:sp>
        <p:nvSpPr>
          <p:cNvPr id="482" name="Google Shape;482;p30"/>
          <p:cNvSpPr txBox="1">
            <a:spLocks noGrp="1"/>
          </p:cNvSpPr>
          <p:nvPr>
            <p:ph type="body" idx="1"/>
          </p:nvPr>
        </p:nvSpPr>
        <p:spPr>
          <a:xfrm>
            <a:off x="1156448" y="947964"/>
            <a:ext cx="11035552" cy="5594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14313" lvl="0" indent="-2143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4000" b="1">
                <a:solidFill>
                  <a:srgbClr val="7D28CD"/>
                </a:solidFill>
              </a:rPr>
              <a:t>Fast </a:t>
            </a:r>
            <a:r>
              <a:rPr lang="en-US" sz="4000">
                <a:solidFill>
                  <a:schemeClr val="dk1"/>
                </a:solidFill>
              </a:rPr>
              <a:t>Network Convergence</a:t>
            </a:r>
            <a:endParaRPr sz="3600">
              <a:solidFill>
                <a:schemeClr val="dk1"/>
              </a:solidFill>
            </a:endParaRPr>
          </a:p>
          <a:p>
            <a:pPr marL="214313" lvl="0" indent="-30163" algn="just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endParaRPr sz="4000">
              <a:solidFill>
                <a:schemeClr val="dk1"/>
              </a:solidFill>
            </a:endParaRPr>
          </a:p>
          <a:p>
            <a:pPr marL="214313" lvl="0" indent="-214313" algn="just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4000" b="1">
                <a:solidFill>
                  <a:srgbClr val="7D28CD"/>
                </a:solidFill>
              </a:rPr>
              <a:t>Complete </a:t>
            </a:r>
            <a:r>
              <a:rPr lang="en-US" sz="4000">
                <a:solidFill>
                  <a:schemeClr val="dk1"/>
                </a:solidFill>
              </a:rPr>
              <a:t>Topological View</a:t>
            </a:r>
            <a:endParaRPr/>
          </a:p>
          <a:p>
            <a:pPr marL="214313" lvl="0" indent="-30163" algn="just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None/>
            </a:pPr>
            <a:endParaRPr sz="4000">
              <a:solidFill>
                <a:schemeClr val="dk1"/>
              </a:solidFill>
            </a:endParaRPr>
          </a:p>
          <a:p>
            <a:pPr marL="214313" lvl="0" indent="-214313" algn="just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2900"/>
              <a:buChar char="•"/>
            </a:pPr>
            <a:r>
              <a:rPr lang="en-US" sz="4000" b="1">
                <a:solidFill>
                  <a:srgbClr val="7D28CD"/>
                </a:solidFill>
              </a:rPr>
              <a:t>Efficient</a:t>
            </a:r>
            <a:r>
              <a:rPr lang="en-US" sz="4000">
                <a:solidFill>
                  <a:schemeClr val="dk1"/>
                </a:solidFill>
              </a:rPr>
              <a:t>, event driven updates</a:t>
            </a:r>
            <a:r>
              <a:rPr lang="en-US" sz="36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483" name="Google Shape;483;p30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484" name="Google Shape;48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9400" y="228600"/>
            <a:ext cx="124618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"/>
          <p:cNvSpPr txBox="1">
            <a:spLocks noGrp="1"/>
          </p:cNvSpPr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From Link-State to OSPF</a:t>
            </a:r>
            <a:endParaRPr/>
          </a:p>
        </p:txBody>
      </p:sp>
      <p:sp>
        <p:nvSpPr>
          <p:cNvPr id="490" name="Google Shape;490;p7"/>
          <p:cNvSpPr txBox="1">
            <a:spLocks noGrp="1"/>
          </p:cNvSpPr>
          <p:nvPr>
            <p:ph type="subTitle" idx="1"/>
          </p:nvPr>
        </p:nvSpPr>
        <p:spPr>
          <a:xfrm>
            <a:off x="4515378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4335" algn="r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</a:pPr>
            <a:r>
              <a:rPr lang="en-US" sz="3200" b="1">
                <a:solidFill>
                  <a:srgbClr val="7030A0"/>
                </a:solidFill>
              </a:rPr>
              <a:t>How does a real routing protocol implement Link State routing?</a:t>
            </a:r>
            <a:endParaRPr/>
          </a:p>
          <a:p>
            <a:pPr marL="457200" lvl="0" indent="-394335" algn="r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2284"/>
              <a:buNone/>
            </a:pPr>
            <a:endParaRPr/>
          </a:p>
        </p:txBody>
      </p:sp>
      <p:sp>
        <p:nvSpPr>
          <p:cNvPr id="491" name="Google Shape;491;p7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"/>
          <p:cNvSpPr txBox="1">
            <a:spLocks noGrp="1"/>
          </p:cNvSpPr>
          <p:nvPr>
            <p:ph type="title" idx="4294967295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From Link-State to OSPF</a:t>
            </a:r>
            <a:endParaRPr sz="4400"/>
          </a:p>
        </p:txBody>
      </p:sp>
      <p:sp>
        <p:nvSpPr>
          <p:cNvPr id="498" name="Google Shape;498;p8"/>
          <p:cNvSpPr txBox="1">
            <a:spLocks noGrp="1"/>
          </p:cNvSpPr>
          <p:nvPr>
            <p:ph type="body" idx="4294967295"/>
          </p:nvPr>
        </p:nvSpPr>
        <p:spPr>
          <a:xfrm>
            <a:off x="1667760" y="960120"/>
            <a:ext cx="9559834" cy="574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None/>
            </a:pPr>
            <a:endParaRPr sz="3200" b="1">
              <a:solidFill>
                <a:srgbClr val="7030A0"/>
              </a:solidFill>
            </a:endParaRPr>
          </a:p>
          <a:p>
            <a:pPr marL="214313" lvl="0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Char char="•"/>
            </a:pPr>
            <a:r>
              <a:rPr lang="en-US" sz="3600" b="1">
                <a:solidFill>
                  <a:srgbClr val="7D28CD"/>
                </a:solidFill>
              </a:rPr>
              <a:t>OSPF</a:t>
            </a:r>
            <a:r>
              <a:rPr lang="en-US" sz="3600"/>
              <a:t> is a real-world protocol that uses the Link-State routing approach you just learned.</a:t>
            </a:r>
            <a:endParaRPr/>
          </a:p>
          <a:p>
            <a:pPr marL="671513" lvl="1" indent="-2209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Char char="•"/>
            </a:pPr>
            <a:r>
              <a:rPr lang="en-US" sz="3200" b="1">
                <a:solidFill>
                  <a:srgbClr val="1186C3"/>
                </a:solidFill>
              </a:rPr>
              <a:t>Hello packets</a:t>
            </a:r>
            <a:r>
              <a:rPr lang="en-US" sz="3200">
                <a:solidFill>
                  <a:srgbClr val="1186C3"/>
                </a:solidFill>
              </a:rPr>
              <a:t> </a:t>
            </a:r>
            <a:r>
              <a:rPr lang="en-US" sz="3200"/>
              <a:t>→ discover and maintain neighbors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200" b="1">
                <a:solidFill>
                  <a:srgbClr val="1186C3"/>
                </a:solidFill>
              </a:rPr>
              <a:t>LSAs</a:t>
            </a:r>
            <a:r>
              <a:rPr lang="en-US" sz="3200">
                <a:solidFill>
                  <a:srgbClr val="1186C3"/>
                </a:solidFill>
              </a:rPr>
              <a:t> →</a:t>
            </a:r>
            <a:r>
              <a:rPr lang="en-US" sz="3200"/>
              <a:t> advertise link-state information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200" b="1">
                <a:solidFill>
                  <a:srgbClr val="1186C3"/>
                </a:solidFill>
              </a:rPr>
              <a:t>LSDB</a:t>
            </a:r>
            <a:r>
              <a:rPr lang="en-US" sz="3200">
                <a:solidFill>
                  <a:srgbClr val="1186C3"/>
                </a:solidFill>
              </a:rPr>
              <a:t> </a:t>
            </a:r>
            <a:r>
              <a:rPr lang="en-US" sz="3200"/>
              <a:t>→ store the network's link-state information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200" b="1">
                <a:solidFill>
                  <a:srgbClr val="1186C3"/>
                </a:solidFill>
              </a:rPr>
              <a:t>Flooding</a:t>
            </a:r>
            <a:r>
              <a:rPr lang="en-US" sz="3200"/>
              <a:t> → distribute LSAs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200" b="1">
                <a:solidFill>
                  <a:srgbClr val="1186C3"/>
                </a:solidFill>
              </a:rPr>
              <a:t>Dijkstra / SPF</a:t>
            </a:r>
            <a:r>
              <a:rPr lang="en-US" sz="3200">
                <a:solidFill>
                  <a:srgbClr val="1186C3"/>
                </a:solidFill>
              </a:rPr>
              <a:t> </a:t>
            </a:r>
            <a:r>
              <a:rPr lang="en-US" sz="3200"/>
              <a:t>→ calculate the least cost paths</a:t>
            </a:r>
            <a:endParaRPr/>
          </a:p>
        </p:txBody>
      </p:sp>
      <p:sp>
        <p:nvSpPr>
          <p:cNvPr id="499" name="Google Shape;499;p8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"/>
          <p:cNvSpPr txBox="1">
            <a:spLocks noGrp="1"/>
          </p:cNvSpPr>
          <p:nvPr>
            <p:ph type="title" idx="4294967295"/>
          </p:nvPr>
        </p:nvSpPr>
        <p:spPr>
          <a:xfrm>
            <a:off x="1754187" y="152400"/>
            <a:ext cx="7794761" cy="852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OSPF Cost Metric</a:t>
            </a:r>
            <a:endParaRPr sz="4800"/>
          </a:p>
        </p:txBody>
      </p:sp>
      <p:sp>
        <p:nvSpPr>
          <p:cNvPr id="505" name="Google Shape;505;p9"/>
          <p:cNvSpPr txBox="1">
            <a:spLocks noGrp="1"/>
          </p:cNvSpPr>
          <p:nvPr>
            <p:ph type="body" idx="4294967295"/>
          </p:nvPr>
        </p:nvSpPr>
        <p:spPr>
          <a:xfrm>
            <a:off x="1667760" y="1371600"/>
            <a:ext cx="955983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80805"/>
              <a:buFont typeface="Arial"/>
              <a:buChar char="•"/>
            </a:pPr>
            <a:r>
              <a:rPr lang="en-US" sz="3800" dirty="0"/>
              <a:t>OSPF chooses the path with the lowest total cost.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95956"/>
              <a:buFont typeface="Arial"/>
              <a:buNone/>
            </a:pPr>
            <a:endParaRPr sz="3200" dirty="0"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Char char="•"/>
            </a:pPr>
            <a:r>
              <a:rPr lang="en-US" sz="3600" dirty="0"/>
              <a:t>Cost is based on </a:t>
            </a:r>
            <a:r>
              <a:rPr lang="en-US" sz="3600" b="1" dirty="0">
                <a:solidFill>
                  <a:srgbClr val="7D28CD"/>
                </a:solidFill>
              </a:rPr>
              <a:t>interface bandwidth</a:t>
            </a:r>
            <a:r>
              <a:rPr lang="en-US" sz="3600" dirty="0">
                <a:solidFill>
                  <a:srgbClr val="7D28CD"/>
                </a:solidFill>
              </a:rPr>
              <a:t>. </a:t>
            </a: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None/>
            </a:pPr>
            <a:endParaRPr sz="3600" dirty="0"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Char char="•"/>
            </a:pPr>
            <a:r>
              <a:rPr lang="en-US" sz="3600" dirty="0"/>
              <a:t>Faster links (wider bandwidth) generally have </a:t>
            </a:r>
            <a:r>
              <a:rPr lang="en-US" sz="3600" b="1" dirty="0">
                <a:solidFill>
                  <a:srgbClr val="7D28CD"/>
                </a:solidFill>
              </a:rPr>
              <a:t>lower cost</a:t>
            </a:r>
            <a:r>
              <a:rPr lang="en-US" sz="3600" dirty="0"/>
              <a:t>. </a:t>
            </a: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None/>
            </a:pPr>
            <a:endParaRPr sz="3600" dirty="0"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Char char="•"/>
            </a:pPr>
            <a:r>
              <a:rPr lang="en-US" sz="3600" dirty="0"/>
              <a:t>The cost of a path is </a:t>
            </a:r>
            <a:r>
              <a:rPr lang="en-US" sz="3600" dirty="0">
                <a:solidFill>
                  <a:srgbClr val="7D28CD"/>
                </a:solidFill>
              </a:rPr>
              <a:t>the </a:t>
            </a:r>
            <a:r>
              <a:rPr lang="en-US" sz="3600" b="1" dirty="0">
                <a:solidFill>
                  <a:srgbClr val="7D28CD"/>
                </a:solidFill>
              </a:rPr>
              <a:t>sum of the link costs</a:t>
            </a:r>
            <a:r>
              <a:rPr lang="en-US" sz="3600" dirty="0">
                <a:solidFill>
                  <a:srgbClr val="7D28CD"/>
                </a:solidFill>
              </a:rPr>
              <a:t> </a:t>
            </a:r>
            <a:r>
              <a:rPr lang="en-US" sz="3600" dirty="0"/>
              <a:t>along that path. </a:t>
            </a: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None/>
            </a:pPr>
            <a:endParaRPr sz="3600" dirty="0"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ct val="71078"/>
              <a:buChar char="•"/>
            </a:pPr>
            <a:r>
              <a:rPr lang="en-US" sz="3600" dirty="0"/>
              <a:t>Unlike RIP, OSPF does </a:t>
            </a:r>
            <a:r>
              <a:rPr lang="en-US" sz="3600" b="1" dirty="0"/>
              <a:t>not</a:t>
            </a:r>
            <a:r>
              <a:rPr lang="en-US" sz="3600" dirty="0"/>
              <a:t> use hop count as its metric.</a:t>
            </a:r>
            <a:endParaRPr dirty="0"/>
          </a:p>
        </p:txBody>
      </p:sp>
      <p:sp>
        <p:nvSpPr>
          <p:cNvPr id="506" name="Google Shape;506;p9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7324c57c5_0_0"/>
          <p:cNvSpPr txBox="1">
            <a:spLocks noGrp="1"/>
          </p:cNvSpPr>
          <p:nvPr>
            <p:ph type="body" idx="4294967295"/>
          </p:nvPr>
        </p:nvSpPr>
        <p:spPr>
          <a:xfrm>
            <a:off x="1754175" y="4761600"/>
            <a:ext cx="9198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14313" lvl="0" indent="-2390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000"/>
              <a:buFont typeface="Arial"/>
              <a:buChar char="•"/>
            </a:pPr>
            <a:r>
              <a:rPr lang="en-US" sz="3000"/>
              <a:t>For example:</a:t>
            </a:r>
            <a:endParaRPr sz="3000"/>
          </a:p>
          <a:p>
            <a:pPr marL="855663" lvl="1" indent="-295275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1186C3"/>
              </a:buClr>
              <a:buSzPts val="3000"/>
              <a:buFont typeface="Arial"/>
              <a:buChar char="•"/>
            </a:pPr>
            <a:r>
              <a:rPr lang="en-US" sz="3000"/>
              <a:t>The cost of the shortest path for R1 to send packets to the LAN attached to R5 is 27 (5 + 10 + 10 + 2 = 27).</a:t>
            </a:r>
            <a:endParaRPr sz="3000"/>
          </a:p>
        </p:txBody>
      </p:sp>
      <p:pic>
        <p:nvPicPr>
          <p:cNvPr id="512" name="Google Shape;512;g3f7324c57c5_0_0" descr="ls05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373875"/>
            <a:ext cx="5759450" cy="3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f7324c57c5_0_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514" name="Google Shape;514;g3f7324c57c5_0_0"/>
          <p:cNvSpPr txBox="1">
            <a:spLocks noGrp="1"/>
          </p:cNvSpPr>
          <p:nvPr>
            <p:ph type="title" idx="4294967295"/>
          </p:nvPr>
        </p:nvSpPr>
        <p:spPr>
          <a:xfrm>
            <a:off x="1754187" y="152400"/>
            <a:ext cx="77949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OSPF Cost Metric</a:t>
            </a:r>
            <a:endParaRPr sz="4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0"/>
          <p:cNvSpPr txBox="1">
            <a:spLocks noGrp="1"/>
          </p:cNvSpPr>
          <p:nvPr>
            <p:ph type="title" idx="4294967295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The Scalability Problem</a:t>
            </a:r>
            <a:endParaRPr sz="4000"/>
          </a:p>
        </p:txBody>
      </p:sp>
      <p:sp>
        <p:nvSpPr>
          <p:cNvPr id="521" name="Google Shape;521;p10"/>
          <p:cNvSpPr txBox="1">
            <a:spLocks noGrp="1"/>
          </p:cNvSpPr>
          <p:nvPr>
            <p:ph type="body" idx="4294967295"/>
          </p:nvPr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4400" b="1">
                <a:solidFill>
                  <a:srgbClr val="7030A0"/>
                </a:solidFill>
              </a:rPr>
              <a:t>Why one flat Link-State domain does not scale:</a:t>
            </a:r>
            <a:endParaRPr sz="2400" b="1">
              <a:solidFill>
                <a:srgbClr val="7D28CD"/>
              </a:solidFill>
            </a:endParaRPr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600"/>
              <a:t>Every router needs a large </a:t>
            </a:r>
            <a:r>
              <a:rPr lang="en-US" sz="3600" b="1"/>
              <a:t>LSDB</a:t>
            </a:r>
            <a:r>
              <a:rPr lang="en-US" sz="3600"/>
              <a:t>.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600"/>
              <a:t>Flooding LSAs across a huge network creates overhead. </a:t>
            </a:r>
            <a:endParaRPr/>
          </a:p>
          <a:p>
            <a:pPr marL="914400" lvl="1" indent="-366713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2175"/>
              <a:buChar char="•"/>
            </a:pPr>
            <a:r>
              <a:rPr lang="en-US" sz="3600"/>
              <a:t>Running SPF over a huge topology requires more </a:t>
            </a:r>
            <a:r>
              <a:rPr lang="en-US" sz="3600" b="1"/>
              <a:t>CPU and memory</a:t>
            </a:r>
            <a:r>
              <a:rPr lang="en-US" sz="3600"/>
              <a:t>.</a:t>
            </a:r>
            <a:endParaRPr/>
          </a:p>
        </p:txBody>
      </p:sp>
      <p:sp>
        <p:nvSpPr>
          <p:cNvPr id="522" name="Google Shape;522;p10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1"/>
          <p:cNvSpPr txBox="1">
            <a:spLocks noGrp="1"/>
          </p:cNvSpPr>
          <p:nvPr>
            <p:ph type="title" idx="4294967295"/>
          </p:nvPr>
        </p:nvSpPr>
        <p:spPr>
          <a:xfrm>
            <a:off x="1800497" y="76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OSPF Areas: The Solution</a:t>
            </a:r>
            <a:endParaRPr sz="3600"/>
          </a:p>
        </p:txBody>
      </p:sp>
      <p:sp>
        <p:nvSpPr>
          <p:cNvPr id="528" name="Google Shape;528;p11"/>
          <p:cNvSpPr txBox="1">
            <a:spLocks noGrp="1"/>
          </p:cNvSpPr>
          <p:nvPr>
            <p:ph type="body" idx="4294967295"/>
          </p:nvPr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7143"/>
              <a:buNone/>
            </a:pPr>
            <a:r>
              <a:rPr lang="en-US" sz="3600"/>
              <a:t>OSPF divides a large network into smaller areas.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3571"/>
              <a:buNone/>
            </a:pPr>
            <a:endParaRPr sz="3600" b="1">
              <a:solidFill>
                <a:srgbClr val="7D28CD"/>
              </a:solidFill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Char char="•"/>
            </a:pPr>
            <a:r>
              <a:rPr lang="en-US" sz="4200" b="1">
                <a:solidFill>
                  <a:srgbClr val="7D28CD"/>
                </a:solidFill>
              </a:rPr>
              <a:t>Area 0</a:t>
            </a:r>
            <a:r>
              <a:rPr lang="en-US" sz="4200">
                <a:solidFill>
                  <a:srgbClr val="7D28CD"/>
                </a:solidFill>
              </a:rPr>
              <a:t> </a:t>
            </a:r>
            <a:r>
              <a:rPr lang="en-US" sz="4200"/>
              <a:t>= backbone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None/>
            </a:pPr>
            <a:endParaRPr sz="4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Char char="•"/>
            </a:pPr>
            <a:r>
              <a:rPr lang="en-US" sz="4200"/>
              <a:t>Other areas connect to </a:t>
            </a:r>
            <a:r>
              <a:rPr lang="en-US" sz="4200" b="1">
                <a:solidFill>
                  <a:srgbClr val="7D28CD"/>
                </a:solidFill>
              </a:rPr>
              <a:t>Area 0</a:t>
            </a:r>
            <a:r>
              <a:rPr lang="en-US" sz="4200">
                <a:solidFill>
                  <a:srgbClr val="7D28CD"/>
                </a:solidFill>
              </a:rPr>
              <a:t>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None/>
            </a:pPr>
            <a:endParaRPr sz="4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Char char="•"/>
            </a:pPr>
            <a:r>
              <a:rPr lang="en-US" sz="4200"/>
              <a:t>LSAs are mainly flooded </a:t>
            </a:r>
            <a:r>
              <a:rPr lang="en-US" sz="4200" b="1"/>
              <a:t>within an area</a:t>
            </a:r>
            <a:r>
              <a:rPr lang="en-US" sz="4200"/>
              <a:t>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None/>
            </a:pPr>
            <a:endParaRPr sz="4200" b="1">
              <a:solidFill>
                <a:srgbClr val="1186C3"/>
              </a:solidFill>
            </a:endParaRPr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Char char="•"/>
            </a:pPr>
            <a:r>
              <a:rPr lang="en-US" sz="4200" b="1">
                <a:solidFill>
                  <a:srgbClr val="1186C3"/>
                </a:solidFill>
              </a:rPr>
              <a:t>ABRs (Area Border Routers)</a:t>
            </a:r>
            <a:r>
              <a:rPr lang="en-US" sz="4200">
                <a:solidFill>
                  <a:srgbClr val="1186C3"/>
                </a:solidFill>
              </a:rPr>
              <a:t> </a:t>
            </a:r>
            <a:r>
              <a:rPr lang="en-US" sz="4200"/>
              <a:t>connect different areas and advertise routes between them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776"/>
              <a:buNone/>
            </a:pPr>
            <a:endParaRPr sz="4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4740"/>
              <a:buChar char="•"/>
            </a:pPr>
            <a:r>
              <a:rPr lang="en-US" sz="4400"/>
              <a:t>This reduces the amount of information each router needs to maintain and process.</a:t>
            </a:r>
            <a:endParaRPr sz="4200" b="1">
              <a:solidFill>
                <a:srgbClr val="0070C0"/>
              </a:solidFill>
            </a:endParaRPr>
          </a:p>
        </p:txBody>
      </p:sp>
      <p:sp>
        <p:nvSpPr>
          <p:cNvPr id="529" name="Google Shape;529;p11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2"/>
          <p:cNvSpPr txBox="1">
            <a:spLocks noGrp="1"/>
          </p:cNvSpPr>
          <p:nvPr>
            <p:ph type="title" idx="4294967295"/>
          </p:nvPr>
        </p:nvSpPr>
        <p:spPr>
          <a:xfrm>
            <a:off x="1752600" y="28319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/>
              <a:t>OSPF Area Architecture</a:t>
            </a:r>
            <a:endParaRPr sz="4400"/>
          </a:p>
        </p:txBody>
      </p:sp>
      <p:sp>
        <p:nvSpPr>
          <p:cNvPr id="535" name="Google Shape;535;p12"/>
          <p:cNvSpPr txBox="1">
            <a:spLocks noGrp="1"/>
          </p:cNvSpPr>
          <p:nvPr>
            <p:ph type="body" idx="4294967295"/>
          </p:nvPr>
        </p:nvSpPr>
        <p:spPr>
          <a:xfrm>
            <a:off x="847471" y="1684658"/>
            <a:ext cx="3127121" cy="4810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3641"/>
              <a:buFont typeface="Tahoma"/>
              <a:buChar char="•"/>
            </a:pPr>
            <a:r>
              <a:rPr lang="en-US" sz="2800" b="1">
                <a:solidFill>
                  <a:srgbClr val="7D28CD"/>
                </a:solidFill>
              </a:rPr>
              <a:t>Internal router </a:t>
            </a:r>
            <a:r>
              <a:rPr lang="en-US" sz="2800"/>
              <a:t>maintain detailed topology information for their own area.</a:t>
            </a:r>
            <a:endParaRPr/>
          </a:p>
          <a:p>
            <a:pPr marL="342900" lvl="1" indent="-158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3641"/>
              <a:buFont typeface="Tahoma"/>
              <a:buNone/>
            </a:pPr>
            <a:endParaRPr sz="2800" b="1">
              <a:solidFill>
                <a:srgbClr val="7D28CD"/>
              </a:solidFill>
            </a:endParaRPr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3641"/>
              <a:buFont typeface="Tahoma"/>
              <a:buChar char="•"/>
            </a:pPr>
            <a:r>
              <a:rPr lang="en-US" sz="2800" b="1">
                <a:solidFill>
                  <a:srgbClr val="7D28CD"/>
                </a:solidFill>
              </a:rPr>
              <a:t>ABR (Area Border Router)</a:t>
            </a:r>
            <a:r>
              <a:rPr lang="en-US" sz="2800"/>
              <a:t> connect different OSPF areas.</a:t>
            </a:r>
            <a:endParaRPr/>
          </a:p>
          <a:p>
            <a:pPr marL="342900" lvl="1" indent="-158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3641"/>
              <a:buFont typeface="Tahoma"/>
              <a:buNone/>
            </a:pPr>
            <a:endParaRPr sz="2800" b="1">
              <a:solidFill>
                <a:srgbClr val="7D28CD"/>
              </a:solidFill>
            </a:endParaRPr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3641"/>
              <a:buFont typeface="Tahoma"/>
              <a:buChar char="•"/>
            </a:pPr>
            <a:r>
              <a:rPr lang="en-US" sz="2800" b="1">
                <a:solidFill>
                  <a:srgbClr val="7D28CD"/>
                </a:solidFill>
              </a:rPr>
              <a:t>ASBR (Autonomous System Border Router)</a:t>
            </a:r>
            <a:r>
              <a:rPr lang="en-US" sz="2800"/>
              <a:t> connects the OSPF network to external networks.</a:t>
            </a:r>
            <a:endParaRPr sz="1800"/>
          </a:p>
        </p:txBody>
      </p:sp>
      <p:sp>
        <p:nvSpPr>
          <p:cNvPr id="536" name="Google Shape;536;p12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537" name="Google Shape;537;p12" descr="diagram_area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5408" y="541658"/>
            <a:ext cx="8724968" cy="6154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3"/>
          <p:cNvSpPr txBox="1">
            <a:spLocks noGrp="1"/>
          </p:cNvSpPr>
          <p:nvPr>
            <p:ph type="title" idx="4294967295"/>
          </p:nvPr>
        </p:nvSpPr>
        <p:spPr>
          <a:xfrm>
            <a:off x="1752600" y="28319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How OSPF Areas Work: An Example</a:t>
            </a:r>
            <a:endParaRPr sz="4000"/>
          </a:p>
        </p:txBody>
      </p:sp>
      <p:sp>
        <p:nvSpPr>
          <p:cNvPr id="544" name="Google Shape;544;p13"/>
          <p:cNvSpPr txBox="1">
            <a:spLocks noGrp="1"/>
          </p:cNvSpPr>
          <p:nvPr>
            <p:ph type="sldNum" idx="12"/>
          </p:nvPr>
        </p:nvSpPr>
        <p:spPr>
          <a:xfrm>
            <a:off x="10952163" y="5883275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545" name="Google Shape;545;p13" descr="diagram_summar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920" y="446395"/>
            <a:ext cx="10597645" cy="596521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3"/>
          <p:cNvSpPr txBox="1">
            <a:spLocks noGrp="1"/>
          </p:cNvSpPr>
          <p:nvPr>
            <p:ph type="body" idx="4294967295"/>
          </p:nvPr>
        </p:nvSpPr>
        <p:spPr>
          <a:xfrm>
            <a:off x="2559322" y="4883079"/>
            <a:ext cx="9458507" cy="1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0631"/>
              <a:buFont typeface="Tahoma"/>
              <a:buChar char="•"/>
            </a:pPr>
            <a:r>
              <a:rPr lang="en-US" sz="2400"/>
              <a:t>Each area keeps detailed information about itself.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0631"/>
              <a:buFont typeface="Tahoma"/>
              <a:buChar char="•"/>
            </a:pPr>
            <a:r>
              <a:rPr lang="en-US" sz="2400"/>
              <a:t>ABRs exchange routing information between areas.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30631"/>
              <a:buNone/>
            </a:pP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>
            <a:spLocks noGrp="1"/>
          </p:cNvSpPr>
          <p:nvPr>
            <p:ph type="title"/>
          </p:nvPr>
        </p:nvSpPr>
        <p:spPr>
          <a:xfrm>
            <a:off x="1389016" y="214919"/>
            <a:ext cx="10018712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OSPF Uses Different Types of LSAs</a:t>
            </a:r>
            <a:endParaRPr sz="4000"/>
          </a:p>
        </p:txBody>
      </p:sp>
      <p:sp>
        <p:nvSpPr>
          <p:cNvPr id="552" name="Google Shape;552;p38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553" name="Google Shape;553;p38"/>
          <p:cNvSpPr txBox="1"/>
          <p:nvPr/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5220"/>
              <a:buFont typeface="Arial"/>
              <a:buNone/>
            </a:pPr>
            <a:r>
              <a:rPr lang="en-US" sz="4400" b="0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How does an ABR tell another area about the networks in its area?</a:t>
            </a:r>
            <a:endParaRPr sz="4400" b="1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OSPF uses LSAs to advertise routing information.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Char char="•"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OSPF has different types of LSAs for different kinds of information.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ts val="261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5220"/>
              <a:buFont typeface="Arial"/>
              <a:buNone/>
            </a:pPr>
            <a:endParaRPr sz="42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0"/>
          <p:cNvSpPr txBox="1">
            <a:spLocks noGrp="1"/>
          </p:cNvSpPr>
          <p:nvPr>
            <p:ph type="title"/>
          </p:nvPr>
        </p:nvSpPr>
        <p:spPr>
          <a:xfrm>
            <a:off x="1389016" y="214919"/>
            <a:ext cx="10018712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RIP vs. OSPF</a:t>
            </a:r>
            <a:endParaRPr sz="4000"/>
          </a:p>
        </p:txBody>
      </p:sp>
      <p:graphicFrame>
        <p:nvGraphicFramePr>
          <p:cNvPr id="559" name="Google Shape;559;p70"/>
          <p:cNvGraphicFramePr/>
          <p:nvPr/>
        </p:nvGraphicFramePr>
        <p:xfrm>
          <a:off x="1297148" y="1360714"/>
          <a:ext cx="9840175" cy="5360748"/>
        </p:xfrm>
        <a:graphic>
          <a:graphicData uri="http://schemas.openxmlformats.org/drawingml/2006/table">
            <a:tbl>
              <a:tblPr firstRow="1" firstCol="1" bandRow="1">
                <a:noFill/>
                <a:tableStyleId>{380098EE-A22B-4826-9587-949ADE7B8B98}</a:tableStyleId>
              </a:tblPr>
              <a:tblGrid>
                <a:gridCol w="226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7030A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RIP (Distance Vector)</a:t>
                      </a:r>
                      <a:endParaRPr sz="180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70C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OSPF (Link-State)</a:t>
                      </a:r>
                      <a:endParaRPr sz="1800" u="none" strike="noStrike" cap="none">
                        <a:solidFill>
                          <a:srgbClr val="0070C0"/>
                        </a:solidFill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Network view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Topology from the neighbor's point of view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Detailed topology  view within an area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Best Path Calculation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Based on fewest number of hops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Based on cumulative link cost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Updates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Full routing table, periodic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Link-state updates, event-driven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Algorithm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Bellman-Ford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Dijkstra (SPF)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CPU and Memory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Low utilization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Higher utilization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Hierarchical Structure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No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Yes — Area 0 backbone + areas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Convergence time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7030A0"/>
                          </a:solidFill>
                        </a:rPr>
                        <a:t>Slow Convergence</a:t>
                      </a:r>
                      <a:endParaRPr sz="2400" u="none" strike="noStrike" cap="none">
                        <a:solidFill>
                          <a:srgbClr val="703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rgbClr val="0070C0"/>
                          </a:solidFill>
                        </a:rPr>
                        <a:t>Fast Convergence</a:t>
                      </a:r>
                      <a:endParaRPr sz="2400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60" name="Google Shape;560;p70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>
            <a:spLocks noGrp="1"/>
          </p:cNvSpPr>
          <p:nvPr>
            <p:ph type="title"/>
          </p:nvPr>
        </p:nvSpPr>
        <p:spPr>
          <a:xfrm>
            <a:off x="1389016" y="214919"/>
            <a:ext cx="10018712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Summary</a:t>
            </a:r>
            <a:endParaRPr sz="4000"/>
          </a:p>
        </p:txBody>
      </p:sp>
      <p:sp>
        <p:nvSpPr>
          <p:cNvPr id="566" name="Google Shape;566;p71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67" name="Google Shape;567;p71"/>
          <p:cNvSpPr txBox="1"/>
          <p:nvPr/>
        </p:nvSpPr>
        <p:spPr>
          <a:xfrm>
            <a:off x="1323702" y="1219200"/>
            <a:ext cx="10341429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1. Link-State Routing</a:t>
            </a: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Char char="•"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Each router builds a view of the network topology and uses </a:t>
            </a: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Dijkstra/SPF</a:t>
            </a: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find least-cost paths.</a:t>
            </a:r>
            <a:endParaRPr/>
          </a:p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2. Link-State Information</a:t>
            </a: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Char char="•"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Routers exchange </a:t>
            </a: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LSPs/LSAs</a:t>
            </a: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flood the information, and store it in an </a:t>
            </a: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LSDB</a:t>
            </a: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 OSPF</a:t>
            </a:r>
            <a:endParaRPr sz="4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57200" marR="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Char char="•"/>
            </a:pP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OSPF is a widely used </a:t>
            </a:r>
            <a:r>
              <a:rPr lang="en-US" sz="4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Link-State routing protocol</a:t>
            </a:r>
            <a:r>
              <a:rPr lang="en-US"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marL="62865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287C3"/>
              </a:buClr>
              <a:buSzPct val="7654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ct val="160369"/>
              <a:buFont typeface="Arial"/>
              <a:buNone/>
            </a:pPr>
            <a:endParaRPr sz="4200" b="1" i="0" u="none" strike="noStrike" cap="non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2"/>
          <p:cNvSpPr txBox="1">
            <a:spLocks noGrp="1"/>
          </p:cNvSpPr>
          <p:nvPr>
            <p:ph type="title"/>
          </p:nvPr>
        </p:nvSpPr>
        <p:spPr>
          <a:xfrm>
            <a:off x="1484313" y="157607"/>
            <a:ext cx="10018712" cy="93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/>
              <a:t>Summary</a:t>
            </a:r>
            <a:endParaRPr/>
          </a:p>
        </p:txBody>
      </p:sp>
      <p:sp>
        <p:nvSpPr>
          <p:cNvPr id="573" name="Google Shape;573;p72"/>
          <p:cNvSpPr txBox="1">
            <a:spLocks noGrp="1"/>
          </p:cNvSpPr>
          <p:nvPr>
            <p:ph type="body" idx="1"/>
          </p:nvPr>
        </p:nvSpPr>
        <p:spPr>
          <a:xfrm>
            <a:off x="1484313" y="1252727"/>
            <a:ext cx="10018712" cy="521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 sz="3200" b="1"/>
              <a:t>4. OSPF Cost</a:t>
            </a: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OSPF chooses paths using </a:t>
            </a:r>
            <a:r>
              <a:rPr lang="en-US" sz="3200" b="1"/>
              <a:t>cumulative link cost</a:t>
            </a:r>
            <a:r>
              <a:rPr lang="en-US" sz="3200"/>
              <a:t>, not hop count.</a:t>
            </a:r>
            <a:endParaRPr/>
          </a:p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 sz="3200" b="1"/>
              <a:t>5. OSPF Areas</a:t>
            </a: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Areas make large OSPF networks more scalable.</a:t>
            </a:r>
            <a:endParaRPr/>
          </a:p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3200" b="1"/>
          </a:p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 sz="3200" b="1"/>
              <a:t>6. Special Routers</a:t>
            </a:r>
            <a:endParaRPr sz="3200"/>
          </a:p>
          <a:p>
            <a:pPr marL="457200" lvl="0" indent="-39433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 b="1"/>
              <a:t>ABR → connects OSPF areas</a:t>
            </a:r>
            <a:br>
              <a:rPr lang="en-US" sz="3200"/>
            </a:br>
            <a:r>
              <a:rPr lang="en-US" sz="3200" b="1"/>
              <a:t>ASBR → connects OSPF to external networks</a:t>
            </a:r>
            <a:endParaRPr sz="3200"/>
          </a:p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 sz="2800" b="1"/>
          </a:p>
          <a:p>
            <a:pPr marL="62865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 sz="2800" b="1">
                <a:solidFill>
                  <a:srgbClr val="7D28CD"/>
                </a:solidFill>
              </a:rPr>
              <a:t>Big idea: OSPF uses Link-State routing + hierarchy (areas) to scale to large networks.</a:t>
            </a:r>
            <a:endParaRPr sz="2800">
              <a:solidFill>
                <a:srgbClr val="7D28CD"/>
              </a:solidFill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endParaRPr/>
          </a:p>
        </p:txBody>
      </p:sp>
      <p:sp>
        <p:nvSpPr>
          <p:cNvPr id="574" name="Google Shape;574;p72"/>
          <p:cNvSpPr txBox="1">
            <a:spLocks noGrp="1"/>
          </p:cNvSpPr>
          <p:nvPr>
            <p:ph type="sldNum" idx="12"/>
          </p:nvPr>
        </p:nvSpPr>
        <p:spPr>
          <a:xfrm>
            <a:off x="10952163" y="5867400"/>
            <a:ext cx="5508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3"/>
          <p:cNvSpPr txBox="1">
            <a:spLocks noGrp="1"/>
          </p:cNvSpPr>
          <p:nvPr>
            <p:ph type="ctrTitle"/>
          </p:nvPr>
        </p:nvSpPr>
        <p:spPr>
          <a:xfrm>
            <a:off x="2928402" y="1380070"/>
            <a:ext cx="8574623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CSE421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1482</Words>
  <Application>Microsoft Office PowerPoint</Application>
  <PresentationFormat>Widescreen</PresentationFormat>
  <Paragraphs>248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Corbel</vt:lpstr>
      <vt:lpstr>Tahoma</vt:lpstr>
      <vt:lpstr>Arial</vt:lpstr>
      <vt:lpstr>Calibri</vt:lpstr>
      <vt:lpstr>Times New Roman</vt:lpstr>
      <vt:lpstr>Parallax</vt:lpstr>
      <vt:lpstr>ThemeCSE421</vt:lpstr>
      <vt:lpstr>Network Layer Routing Algorithm Link State Routing and OSPF</vt:lpstr>
      <vt:lpstr>Chapter 4: Network Layer</vt:lpstr>
      <vt:lpstr>Distance Vector Routing Protocols</vt:lpstr>
      <vt:lpstr>Link State Routing Protocols</vt:lpstr>
      <vt:lpstr>PowerPoint Presentation</vt:lpstr>
      <vt:lpstr>How it works</vt:lpstr>
      <vt:lpstr>Link-State Routing Process :5 Step Process : </vt:lpstr>
      <vt:lpstr>Step 1: Directly Connected Networks</vt:lpstr>
      <vt:lpstr>Step 2: Hello Packets</vt:lpstr>
      <vt:lpstr>Step 2: Hello Packets</vt:lpstr>
      <vt:lpstr>Step 2: Hello Packets</vt:lpstr>
      <vt:lpstr>Step 3: Build the Link-State Packet </vt:lpstr>
      <vt:lpstr>Step 4: Flooding Link-State Packets</vt:lpstr>
      <vt:lpstr>Step 4: Flooding Link-State Packets</vt:lpstr>
      <vt:lpstr>Step 4: When is an Link-State Packet send?</vt:lpstr>
      <vt:lpstr>Step 5: Build a Link-State Database</vt:lpstr>
      <vt:lpstr>Step 5: Constructing a Link-State Database</vt:lpstr>
      <vt:lpstr>From LSDB to Routing Table</vt:lpstr>
      <vt:lpstr>Advantages: Link-State Routing </vt:lpstr>
      <vt:lpstr>From Link-State to OSPF</vt:lpstr>
      <vt:lpstr>From Link-State to OSPF</vt:lpstr>
      <vt:lpstr>OSPF Cost Metric</vt:lpstr>
      <vt:lpstr>OSPF Cost Metric</vt:lpstr>
      <vt:lpstr>The Scalability Problem</vt:lpstr>
      <vt:lpstr>OSPF Areas: The Solution</vt:lpstr>
      <vt:lpstr>OSPF Area Architecture</vt:lpstr>
      <vt:lpstr>How OSPF Areas Work: An Example</vt:lpstr>
      <vt:lpstr>OSPF Uses Different Types of LSAs</vt:lpstr>
      <vt:lpstr>RIP vs. OSPF</vt:lpstr>
      <vt:lpstr>Summary</vt:lpstr>
      <vt:lpstr>Summary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 Routing Algorithm Link State Routing and OSPF</dc:title>
  <dc:creator>Sadia</dc:creator>
  <cp:lastModifiedBy>Md. Sakir Hossain</cp:lastModifiedBy>
  <cp:revision>3</cp:revision>
  <dcterms:created xsi:type="dcterms:W3CDTF">2011-10-16T10:21:50Z</dcterms:created>
  <dcterms:modified xsi:type="dcterms:W3CDTF">2026-08-31T18:45:43Z</dcterms:modified>
</cp:coreProperties>
</file>