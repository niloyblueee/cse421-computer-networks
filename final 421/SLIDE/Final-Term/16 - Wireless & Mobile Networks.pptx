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518" r:id="rId3"/>
    <p:sldId id="1201" r:id="rId4"/>
    <p:sldId id="1202" r:id="rId5"/>
    <p:sldId id="1134" r:id="rId6"/>
    <p:sldId id="1141" r:id="rId7"/>
    <p:sldId id="1145" r:id="rId8"/>
    <p:sldId id="1147" r:id="rId9"/>
    <p:sldId id="1149" r:id="rId10"/>
    <p:sldId id="1153" r:id="rId11"/>
    <p:sldId id="1157" r:id="rId12"/>
    <p:sldId id="1181" r:id="rId13"/>
    <p:sldId id="1187" r:id="rId14"/>
    <p:sldId id="1184" r:id="rId15"/>
    <p:sldId id="1191" r:id="rId16"/>
    <p:sldId id="1192" r:id="rId17"/>
    <p:sldId id="1193" r:id="rId18"/>
    <p:sldId id="1194" r:id="rId19"/>
    <p:sldId id="1200" r:id="rId20"/>
    <p:sldId id="301" r:id="rId21"/>
  </p:sldIdLst>
  <p:sldSz cx="12192000" cy="6858000"/>
  <p:notesSz cx="7010400" cy="9296400"/>
  <p:embeddedFontLst>
    <p:embeddedFont>
      <p:font typeface="ＭＳ Ｐゴシック" panose="020B0600070205080204" pitchFamily="34" charset="-128"/>
      <p:regular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Corbel" panose="020B0503020204020204" pitchFamily="34" charset="0"/>
      <p:regular r:id="rId29"/>
      <p:bold r:id="rId30"/>
      <p:italic r:id="rId31"/>
      <p:boldItalic r:id="rId32"/>
    </p:embeddedFont>
    <p:embeddedFont>
      <p:font typeface="Noto Sans" panose="020B0604020202020204" charset="0"/>
      <p:regular r:id="rId33"/>
      <p:bold r:id="rId34"/>
      <p:italic r:id="rId35"/>
      <p:boldItalic r:id="rId36"/>
    </p:embeddedFont>
    <p:embeddedFont>
      <p:font typeface="Tahoma" panose="020B0604030504040204" pitchFamily="34" charset="0"/>
      <p:regular r:id="rId37"/>
      <p:bold r:id="rId38"/>
    </p:embeddedFont>
    <p:embeddedFont>
      <p:font typeface="Verdana" panose="020B0604030504040204" pitchFamily="34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5" roundtripDataSignature="AMtx7mhocwShQldEPrpJfiUfSvvmCREC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226D7D6-3A80-415B-BDFA-EC2BCA94591A}">
  <a:tblStyle styleId="{1226D7D6-3A80-415B-BDFA-EC2BCA94591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7704413F-C7E6-47BD-B81D-BC025B4EB941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29"/>
  </p:normalViewPr>
  <p:slideViewPr>
    <p:cSldViewPr snapToGrid="0">
      <p:cViewPr varScale="1">
        <p:scale>
          <a:sx n="64" d="100"/>
          <a:sy n="64" d="100"/>
        </p:scale>
        <p:origin x="864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10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42" Type="http://schemas.openxmlformats.org/officeDocument/2006/relationships/font" Target="fonts/font19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6.fntdata"/><Relationship Id="rId107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font" Target="fonts/font1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105" Type="http://customschemas.google.com/relationships/presentationmetadata" Target="meta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108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18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CC658180-8174-40C2-B779-757715DA8253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DAD9D33F-4067-4AF0-9061-F5F6B7C21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89412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37840" cy="466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0938" y="0"/>
            <a:ext cx="3037840" cy="466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b" anchorCtr="0">
            <a:noAutofit/>
          </a:bodyPr>
          <a:lstStyle/>
          <a:p>
            <a:pPr algn="r">
              <a:buSzPts val="1200"/>
            </a:pPr>
            <a:fld id="{00000000-1234-1234-1234-123412341234}" type="slidenum">
              <a:rPr lang="en-US" sz="12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>
                <a:buSzPts val="1200"/>
              </a:pPr>
              <a:t>‹#›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45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43" name="Google Shape;143;p45:notes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b" anchorCtr="0">
            <a:noAutofit/>
          </a:bodyPr>
          <a:lstStyle/>
          <a:p>
            <a:pPr algn="r">
              <a:buSzPts val="1400"/>
            </a:pPr>
            <a:fld id="{00000000-1234-1234-1234-123412341234}" type="slidenum">
              <a:rPr lang="en-US"/>
              <a:pPr algn="r">
                <a:buSzPts val="1400"/>
              </a:pPr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06400" indent="-276225">
              <a:defRPr/>
            </a:pPr>
            <a:r>
              <a:rPr lang="en-US" dirty="0"/>
              <a:t>more wireless (mobile) phone subscribers than fixed (wired) phone subscribers </a:t>
            </a:r>
            <a:r>
              <a:rPr lang="en-US" sz="2400" dirty="0"/>
              <a:t>(10-to-1 in 2019)</a:t>
            </a:r>
            <a:r>
              <a:rPr lang="en-US" dirty="0"/>
              <a:t>!</a:t>
            </a:r>
          </a:p>
          <a:p>
            <a:pPr marL="406400" indent="-276225">
              <a:defRPr/>
            </a:pPr>
            <a:r>
              <a:rPr lang="en-US" dirty="0"/>
              <a:t>more mobile-broadband-connected devices than fixed-broadband-connected devices devices (</a:t>
            </a:r>
            <a:r>
              <a:rPr lang="en-US" sz="2400" dirty="0"/>
              <a:t>5-1 in 2019)</a:t>
            </a:r>
            <a:r>
              <a:rPr lang="en-US" dirty="0"/>
              <a:t>!</a:t>
            </a:r>
            <a:endParaRPr lang="en-US" sz="3200" dirty="0"/>
          </a:p>
          <a:p>
            <a:pPr lvl="1">
              <a:defRPr/>
            </a:pPr>
            <a:r>
              <a:rPr lang="en-US" sz="2800" dirty="0"/>
              <a:t>4G/5G cellular networks now embracing Internet protocol stack, including SDN</a:t>
            </a:r>
          </a:p>
          <a:p>
            <a:pPr marL="406400" indent="-276225">
              <a:defRPr/>
            </a:pPr>
            <a:r>
              <a:rPr lang="en-US" dirty="0"/>
              <a:t>two important (but different) challenges</a:t>
            </a:r>
          </a:p>
          <a:p>
            <a:pPr lvl="1">
              <a:defRPr/>
            </a:pPr>
            <a:r>
              <a:rPr lang="en-US" sz="2800" dirty="0">
                <a:solidFill>
                  <a:srgbClr val="C00000"/>
                </a:solidFill>
              </a:rPr>
              <a:t>wireless: </a:t>
            </a:r>
            <a:r>
              <a:rPr lang="en-US" sz="2800" dirty="0"/>
              <a:t>communication over wireless link</a:t>
            </a:r>
          </a:p>
          <a:p>
            <a:pPr lvl="1">
              <a:defRPr/>
            </a:pPr>
            <a:r>
              <a:rPr lang="en-US" sz="2800" dirty="0">
                <a:solidFill>
                  <a:srgbClr val="C00000"/>
                </a:solidFill>
              </a:rPr>
              <a:t>mobility: </a:t>
            </a:r>
            <a:r>
              <a:rPr lang="en-US" sz="2800" dirty="0"/>
              <a:t>handling the mobile user who changes point of attachment to network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SzPts val="1200"/>
            </a:pPr>
            <a:fld id="{00000000-1234-1234-1234-123412341234}" type="slidenum">
              <a:rPr lang="en-US" sz="12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>
                <a:buSzPts val="1200"/>
              </a:pPr>
              <a:t>2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162204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7007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9861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2310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44626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40840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8565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75416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1544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33391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3837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148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00507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6634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5850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7241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105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966" name="Google Shape;966;p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27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4" name="Google Shape;24;p27"/>
            <p:cNvSpPr/>
            <p:nvPr/>
          </p:nvSpPr>
          <p:spPr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l" t="t" r="r" b="b"/>
              <a:pathLst>
                <a:path w="670" h="1753" extrusionOk="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Google Shape;25;p27"/>
            <p:cNvSpPr/>
            <p:nvPr/>
          </p:nvSpPr>
          <p:spPr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l" t="t" r="r" b="b"/>
              <a:pathLst>
                <a:path w="652" h="1684" extrusionOk="0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Google Shape;26;p27"/>
            <p:cNvSpPr/>
            <p:nvPr/>
          </p:nvSpPr>
          <p:spPr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l" t="t" r="r" b="b"/>
              <a:pathLst>
                <a:path w="1697" h="2693" extrusionOk="0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Google Shape;27;p27"/>
            <p:cNvSpPr/>
            <p:nvPr/>
          </p:nvSpPr>
          <p:spPr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l" t="t" r="r" b="b"/>
              <a:pathLst>
                <a:path w="2099" h="2624" extrusionOk="0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Google Shape;28;p27"/>
            <p:cNvSpPr/>
            <p:nvPr/>
          </p:nvSpPr>
          <p:spPr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l" t="t" r="r" b="b"/>
              <a:pathLst>
                <a:path w="2883" h="2627" extrusionOk="0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Google Shape;29;p27"/>
            <p:cNvSpPr/>
            <p:nvPr/>
          </p:nvSpPr>
          <p:spPr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l" t="t" r="r" b="b"/>
              <a:pathLst>
                <a:path w="2258" h="2696" extrusionOk="0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" name="Google Shape;30;p27"/>
          <p:cNvSpPr txBox="1"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7"/>
          <p:cNvSpPr txBox="1"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27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7"/>
          <p:cNvSpPr txBox="1">
            <a:spLocks noGrp="1"/>
          </p:cNvSpPr>
          <p:nvPr>
            <p:ph type="ftr" idx="11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7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4"/>
          <p:cNvSpPr txBox="1"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sz="40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4"/>
          <p:cNvSpPr txBox="1"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4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34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4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5"/>
          <p:cNvSpPr txBox="1"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5"/>
          <p:cNvSpPr txBox="1">
            <a:spLocks noGrp="1"/>
          </p:cNvSpPr>
          <p:nvPr>
            <p:ph type="body" idx="1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4127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marL="1371600" lvl="2" indent="-3759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marL="1828800" lvl="3" indent="-35750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marL="2286000" lvl="4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marL="2743200" lvl="5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marL="3200400" lvl="6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marL="3657600" lvl="7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marL="4114800" lvl="8" indent="-35750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>
            <a:endParaRPr/>
          </a:p>
        </p:txBody>
      </p:sp>
      <p:sp>
        <p:nvSpPr>
          <p:cNvPr id="73" name="Google Shape;73;p35"/>
          <p:cNvSpPr txBox="1">
            <a:spLocks noGrp="1"/>
          </p:cNvSpPr>
          <p:nvPr>
            <p:ph type="body" idx="2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>
            <a:endParaRPr/>
          </a:p>
        </p:txBody>
      </p:sp>
      <p:sp>
        <p:nvSpPr>
          <p:cNvPr id="74" name="Google Shape;74;p35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5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5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6"/>
          <p:cNvSpPr txBox="1"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sz="28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6"/>
          <p:cNvSpPr>
            <a:spLocks noGrp="1"/>
          </p:cNvSpPr>
          <p:nvPr>
            <p:ph type="pic" idx="2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36"/>
          <p:cNvSpPr txBox="1">
            <a:spLocks noGrp="1"/>
          </p:cNvSpPr>
          <p:nvPr>
            <p:ph type="body" idx="1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>
            <a:endParaRPr/>
          </a:p>
        </p:txBody>
      </p:sp>
      <p:sp>
        <p:nvSpPr>
          <p:cNvPr id="81" name="Google Shape;81;p36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6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6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7"/>
          <p:cNvSpPr txBox="1"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7"/>
          <p:cNvSpPr>
            <a:spLocks noGrp="1"/>
          </p:cNvSpPr>
          <p:nvPr>
            <p:ph type="pic" idx="2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37"/>
          <p:cNvSpPr txBox="1">
            <a:spLocks noGrp="1"/>
          </p:cNvSpPr>
          <p:nvPr>
            <p:ph type="body" idx="1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>
            <a:endParaRPr/>
          </a:p>
        </p:txBody>
      </p:sp>
      <p:sp>
        <p:nvSpPr>
          <p:cNvPr id="88" name="Google Shape;88;p37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37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37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8"/>
          <p:cNvSpPr txBox="1"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38"/>
          <p:cNvSpPr txBox="1"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4" name="Google Shape;94;p38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8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38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9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9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9"/>
          <p:cNvSpPr txBox="1"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39"/>
          <p:cNvSpPr txBox="1">
            <a:spLocks noGrp="1"/>
          </p:cNvSpPr>
          <p:nvPr>
            <p:ph type="body" idx="1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39"/>
          <p:cNvSpPr txBox="1">
            <a:spLocks noGrp="1"/>
          </p:cNvSpPr>
          <p:nvPr>
            <p:ph type="body" idx="2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3" name="Google Shape;103;p39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39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39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0"/>
          <p:cNvSpPr txBox="1"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40"/>
          <p:cNvSpPr txBox="1"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40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40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40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1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1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1"/>
          <p:cNvSpPr txBox="1"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41"/>
          <p:cNvSpPr txBox="1">
            <a:spLocks noGrp="1"/>
          </p:cNvSpPr>
          <p:nvPr>
            <p:ph type="body" idx="1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  <a:defRPr sz="2400" b="0" cap="none">
                <a:solidFill>
                  <a:schemeClr val="dk1"/>
                </a:solidFill>
              </a:defRPr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41"/>
          <p:cNvSpPr txBox="1">
            <a:spLocks noGrp="1"/>
          </p:cNvSpPr>
          <p:nvPr>
            <p:ph type="body" idx="2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8" name="Google Shape;118;p41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41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41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2"/>
          <p:cNvSpPr txBox="1"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42"/>
          <p:cNvSpPr txBox="1">
            <a:spLocks noGrp="1"/>
          </p:cNvSpPr>
          <p:nvPr>
            <p:ph type="body" idx="1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sz="2800" b="0" cap="none">
                <a:solidFill>
                  <a:schemeClr val="dk1"/>
                </a:solidFill>
              </a:defRPr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42"/>
          <p:cNvSpPr txBox="1">
            <a:spLocks noGrp="1"/>
          </p:cNvSpPr>
          <p:nvPr>
            <p:ph type="body" idx="2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5" name="Google Shape;125;p42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42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42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3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43"/>
          <p:cNvSpPr txBox="1">
            <a:spLocks noGrp="1"/>
          </p:cNvSpPr>
          <p:nvPr>
            <p:ph type="body" idx="1"/>
          </p:nvPr>
        </p:nvSpPr>
        <p:spPr>
          <a:xfrm rot="5400000">
            <a:off x="4931566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43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43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43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4"/>
          <p:cNvSpPr txBox="1">
            <a:spLocks noGrp="1"/>
          </p:cNvSpPr>
          <p:nvPr>
            <p:ph type="title"/>
          </p:nvPr>
        </p:nvSpPr>
        <p:spPr>
          <a:xfrm rot="5400000">
            <a:off x="8065140" y="2353315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44"/>
          <p:cNvSpPr txBox="1">
            <a:spLocks noGrp="1"/>
          </p:cNvSpPr>
          <p:nvPr>
            <p:ph type="body" idx="1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44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44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44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41126D0-2478-AE48-891D-9046D4F5E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Wireless and Mobile Networks: 7- 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803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41126D0-2478-AE48-891D-9046D4F5E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Wireless and Mobile Networks: 7- 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350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41126D0-2478-AE48-891D-9046D4F5E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Wireless and Mobile Networks: 7- 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018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41126D0-2478-AE48-891D-9046D4F5E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Wireless and Mobile Networks: 7- 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77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41126D0-2478-AE48-891D-9046D4F5E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Wireless and Mobile Networks: 7- 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420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41126D0-2478-AE48-891D-9046D4F5E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Wireless and Mobile Networks: 7- 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57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41126D0-2478-AE48-891D-9046D4F5E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Wireless and Mobile Networks: 7- 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594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41126D0-2478-AE48-891D-9046D4F5E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Wireless and Mobile Networks: 7- 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867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41126D0-2478-AE48-891D-9046D4F5E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Wireless and Mobile Networks: 7- 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859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Google Shape;11;p26"/>
            <p:cNvSpPr/>
            <p:nvPr/>
          </p:nvSpPr>
          <p:spPr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l" t="t" r="r" b="b"/>
              <a:pathLst>
                <a:path w="707" h="3357" extrusionOk="0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Google Shape;12;p26"/>
            <p:cNvSpPr/>
            <p:nvPr/>
          </p:nvSpPr>
          <p:spPr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l" t="t" r="r" b="b"/>
              <a:pathLst>
                <a:path w="704" h="3324" extrusionOk="0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Google Shape;13;p26"/>
            <p:cNvSpPr/>
            <p:nvPr/>
          </p:nvSpPr>
          <p:spPr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l" t="t" r="r" b="b"/>
              <a:pathLst>
                <a:path w="774" h="1020" extrusionOk="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Google Shape;14;p26"/>
            <p:cNvSpPr/>
            <p:nvPr/>
          </p:nvSpPr>
          <p:spPr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l" t="t" r="r" b="b"/>
              <a:pathLst>
                <a:path w="942" h="987" extrusionOk="0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Google Shape;15;p26"/>
            <p:cNvSpPr/>
            <p:nvPr/>
          </p:nvSpPr>
          <p:spPr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l" t="t" r="r" b="b"/>
              <a:pathLst>
                <a:path w="1342" h="990" extrusionOk="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Google Shape;16;p26"/>
            <p:cNvSpPr/>
            <p:nvPr/>
          </p:nvSpPr>
          <p:spPr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l" t="t" r="r" b="b"/>
              <a:pathLst>
                <a:path w="1068" h="1020" extrusionOk="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Google Shape;17;p26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sz="4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26"/>
          <p:cNvSpPr txBox="1"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44958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914400" marR="0" lvl="1" indent="-412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371600" marR="0" lvl="2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828800" marR="0" lvl="3" indent="-37591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286000" marR="0" lvl="4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743200" marR="0" lvl="5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marR="0" lvl="6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marR="0" lvl="7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marR="0" lvl="8" indent="-357504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9" name="Google Shape;19;p26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20" name="Google Shape;20;p26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21" name="Google Shape;21;p26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</p:sldLayoutIdLst>
  <p:transition spd="slow">
    <p:push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21" Type="http://schemas.openxmlformats.org/officeDocument/2006/relationships/image" Target="../media/image27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0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5.png"/><Relationship Id="rId11" Type="http://schemas.openxmlformats.org/officeDocument/2006/relationships/image" Target="../media/image38.png"/><Relationship Id="rId5" Type="http://schemas.openxmlformats.org/officeDocument/2006/relationships/image" Target="../media/image34.png"/><Relationship Id="rId10" Type="http://schemas.openxmlformats.org/officeDocument/2006/relationships/image" Target="../media/image37.png"/><Relationship Id="rId4" Type="http://schemas.openxmlformats.org/officeDocument/2006/relationships/image" Target="../media/image12.png"/><Relationship Id="rId9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9.png"/><Relationship Id="rId5" Type="http://schemas.openxmlformats.org/officeDocument/2006/relationships/image" Target="../media/image24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9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11.png"/><Relationship Id="rId10" Type="http://schemas.openxmlformats.org/officeDocument/2006/relationships/image" Target="../media/image19.png"/><Relationship Id="rId4" Type="http://schemas.openxmlformats.org/officeDocument/2006/relationships/image" Target="../media/image10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4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5"/>
          <p:cNvSpPr txBox="1">
            <a:spLocks noGrp="1"/>
          </p:cNvSpPr>
          <p:nvPr>
            <p:ph type="ctrTitle"/>
          </p:nvPr>
        </p:nvSpPr>
        <p:spPr>
          <a:xfrm>
            <a:off x="3154951" y="941893"/>
            <a:ext cx="8574600" cy="26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 dirty="0"/>
              <a:t>Wireless and Mobile Networks</a:t>
            </a:r>
            <a:endParaRPr dirty="0"/>
          </a:p>
        </p:txBody>
      </p:sp>
      <p:sp>
        <p:nvSpPr>
          <p:cNvPr id="146" name="Google Shape;146;p45"/>
          <p:cNvSpPr txBox="1"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 dirty="0"/>
              <a:t>Lecture  | CSE421 – Computer Networks</a:t>
            </a:r>
            <a:endParaRPr dirty="0"/>
          </a:p>
          <a:p>
            <a:pPr marL="0" lvl="0" indent="0" algn="r" rtl="0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rPr lang="en-US" dirty="0"/>
              <a:t>Department of Computer Science and Engineering</a:t>
            </a:r>
            <a:br>
              <a:rPr lang="en-US" dirty="0"/>
            </a:br>
            <a:r>
              <a:rPr lang="en-US" dirty="0"/>
              <a:t>School of Data &amp; Science</a:t>
            </a:r>
            <a:endParaRPr dirty="0"/>
          </a:p>
        </p:txBody>
      </p:sp>
      <p:pic>
        <p:nvPicPr>
          <p:cNvPr id="147" name="Google Shape;147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76333" y="217086"/>
            <a:ext cx="1639334" cy="150408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85D439F-B278-835B-16EA-049271EB3BCD}"/>
              </a:ext>
            </a:extLst>
          </p:cNvPr>
          <p:cNvSpPr txBox="1"/>
          <p:nvPr/>
        </p:nvSpPr>
        <p:spPr>
          <a:xfrm>
            <a:off x="7442251" y="6313900"/>
            <a:ext cx="6096000" cy="458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en-US" sz="1400" dirty="0">
                <a:latin typeface="+mn-lt"/>
              </a:rPr>
              <a:t> All material copyright 1996-2023</a:t>
            </a:r>
          </a:p>
          <a:p>
            <a:pPr>
              <a:lnSpc>
                <a:spcPct val="85000"/>
              </a:lnSpc>
            </a:pPr>
            <a:r>
              <a:rPr lang="en-US" altLang="en-US" sz="1400" dirty="0">
                <a:latin typeface="+mn-lt"/>
              </a:rPr>
              <a:t>     J.F Kurose and K.W. Ross, All Rights Reserved</a:t>
            </a:r>
            <a:endParaRPr lang="en-US" dirty="0"/>
          </a:p>
        </p:txBody>
      </p:sp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EF96A39-98A1-B89C-1B91-2B17446A35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704" y="920840"/>
            <a:ext cx="11145586" cy="24915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A11ECF-ACFD-8340-1FA6-53A55A2963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4040" y="3695234"/>
            <a:ext cx="9079992" cy="27057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C35DF9-8763-62C2-B568-31BD0C0B3A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8850" y="6399982"/>
            <a:ext cx="7734300" cy="431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89DE00-4F16-1E86-F392-D59AFCB682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704" y="3331979"/>
            <a:ext cx="4609406" cy="471829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E94E74D6-58BF-E8BF-4D0C-134E0DEC85ED}"/>
              </a:ext>
            </a:extLst>
          </p:cNvPr>
          <p:cNvSpPr txBox="1">
            <a:spLocks/>
          </p:cNvSpPr>
          <p:nvPr/>
        </p:nvSpPr>
        <p:spPr>
          <a:xfrm>
            <a:off x="933704" y="2621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en-US" dirty="0">
                <a:cs typeface="Calibri" panose="020F0502020204030204" pitchFamily="34" charset="0"/>
              </a:rPr>
              <a:t>Wireless and Mobile Networks: context</a:t>
            </a:r>
            <a:endParaRPr lang="en-US" dirty="0"/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58835-11B7-4D82-B6B3-D3FAF25C4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525B67-3DA9-4267-A64D-340FA6EFE9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Photography Poster Mobile phone cellular multipath propagation receiver  atmospheric ducting phase | Wall Art | UKposters">
            <a:extLst>
              <a:ext uri="{FF2B5EF4-FFF2-40B4-BE49-F238E27FC236}">
                <a16:creationId xmlns:a16="http://schemas.microsoft.com/office/drawing/2014/main" id="{1402A820-D06E-4890-9788-65ADF9624B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2"/>
          <a:stretch/>
        </p:blipFill>
        <p:spPr bwMode="auto">
          <a:xfrm>
            <a:off x="0" y="0"/>
            <a:ext cx="938280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5774838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F73D1-C7C5-4EA4-98F0-91113E375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595C95-45EC-444A-A49D-7C81BAAA86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Handoff in Cellular Telecommunications - GeeksforGeeks">
            <a:extLst>
              <a:ext uri="{FF2B5EF4-FFF2-40B4-BE49-F238E27FC236}">
                <a16:creationId xmlns:a16="http://schemas.microsoft.com/office/drawing/2014/main" id="{4BA70111-DA04-4FA1-B9E3-4CC3BF1A7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1374" y="1349956"/>
            <a:ext cx="7029450" cy="385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506385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1FB7CC-D2A5-C749-8D9F-01B9FA129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37184"/>
            <a:ext cx="10515600" cy="894622"/>
          </a:xfrm>
        </p:spPr>
        <p:txBody>
          <a:bodyPr/>
          <a:lstStyle/>
          <a:p>
            <a:r>
              <a:rPr lang="en-US" dirty="0"/>
              <a:t>Elements of a wireless network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79769-3B28-CC48-AFB2-345BF93C78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Wireless and Mobile Networks: 7- </a:t>
            </a:r>
            <a:fld id="{C4204591-24BD-A542-B9D5-F8D8A88D2FE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25" name="Oval 5">
            <a:extLst>
              <a:ext uri="{FF2B5EF4-FFF2-40B4-BE49-F238E27FC236}">
                <a16:creationId xmlns:a16="http://schemas.microsoft.com/office/drawing/2014/main" id="{6FD887B1-36B7-C042-AF16-EC543F1932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6475" y="4378325"/>
            <a:ext cx="2152650" cy="2093913"/>
          </a:xfrm>
          <a:prstGeom prst="ellipse">
            <a:avLst/>
          </a:pr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6" name="Oval 11">
            <a:extLst>
              <a:ext uri="{FF2B5EF4-FFF2-40B4-BE49-F238E27FC236}">
                <a16:creationId xmlns:a16="http://schemas.microsoft.com/office/drawing/2014/main" id="{E4A6400A-EFEA-6943-B38A-9D6A4B5A9B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875" y="1290638"/>
            <a:ext cx="2252663" cy="2286000"/>
          </a:xfrm>
          <a:prstGeom prst="ellipse">
            <a:avLst/>
          </a:pr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7" name="Line 22">
            <a:extLst>
              <a:ext uri="{FF2B5EF4-FFF2-40B4-BE49-F238E27FC236}">
                <a16:creationId xmlns:a16="http://schemas.microsoft.com/office/drawing/2014/main" id="{7B958348-F69B-0945-B7D1-5D0DD9A351D9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8638" y="2447925"/>
            <a:ext cx="1277937" cy="655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28" name="Oval 23">
            <a:extLst>
              <a:ext uri="{FF2B5EF4-FFF2-40B4-BE49-F238E27FC236}">
                <a16:creationId xmlns:a16="http://schemas.microsoft.com/office/drawing/2014/main" id="{6DC7CEC3-9E37-6C43-B01A-57E7BFF18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4033838"/>
            <a:ext cx="1038225" cy="1004887"/>
          </a:xfrm>
          <a:prstGeom prst="ellipse">
            <a:avLst/>
          </a:pr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9" name="Oval 38">
            <a:extLst>
              <a:ext uri="{FF2B5EF4-FFF2-40B4-BE49-F238E27FC236}">
                <a16:creationId xmlns:a16="http://schemas.microsoft.com/office/drawing/2014/main" id="{D2BE75E6-7844-934E-960A-D867D9A23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8325" y="4440238"/>
            <a:ext cx="2278063" cy="2052637"/>
          </a:xfrm>
          <a:prstGeom prst="ellipse">
            <a:avLst/>
          </a:pr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30" name="Line 59">
            <a:extLst>
              <a:ext uri="{FF2B5EF4-FFF2-40B4-BE49-F238E27FC236}">
                <a16:creationId xmlns:a16="http://schemas.microsoft.com/office/drawing/2014/main" id="{09A1ED68-4C61-C547-B087-02636BAFB272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0988" y="5424488"/>
            <a:ext cx="304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1" name="Line 60">
            <a:extLst>
              <a:ext uri="{FF2B5EF4-FFF2-40B4-BE49-F238E27FC236}">
                <a16:creationId xmlns:a16="http://schemas.microsoft.com/office/drawing/2014/main" id="{DCF89B4B-F2C0-9B46-A017-74044CA88C8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73625" y="5327650"/>
            <a:ext cx="1905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2" name="Line 61">
            <a:extLst>
              <a:ext uri="{FF2B5EF4-FFF2-40B4-BE49-F238E27FC236}">
                <a16:creationId xmlns:a16="http://schemas.microsoft.com/office/drawing/2014/main" id="{CB846523-0AE5-B44E-9CD4-A5780699DE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87913" y="5403850"/>
            <a:ext cx="1905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3" name="Line 62">
            <a:extLst>
              <a:ext uri="{FF2B5EF4-FFF2-40B4-BE49-F238E27FC236}">
                <a16:creationId xmlns:a16="http://schemas.microsoft.com/office/drawing/2014/main" id="{3D8D61FF-B178-A042-9F75-800F5BC23FC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30763" y="5470525"/>
            <a:ext cx="1905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4" name="Line 64">
            <a:extLst>
              <a:ext uri="{FF2B5EF4-FFF2-40B4-BE49-F238E27FC236}">
                <a16:creationId xmlns:a16="http://schemas.microsoft.com/office/drawing/2014/main" id="{0E054FAC-6E60-6F42-9532-E4FBA10A891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08475" y="4144963"/>
            <a:ext cx="50800" cy="1117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135" name="Group 356">
            <a:extLst>
              <a:ext uri="{FF2B5EF4-FFF2-40B4-BE49-F238E27FC236}">
                <a16:creationId xmlns:a16="http://schemas.microsoft.com/office/drawing/2014/main" id="{33648B09-CC71-7244-88FB-21FDB43B1417}"/>
              </a:ext>
            </a:extLst>
          </p:cNvPr>
          <p:cNvGrpSpPr>
            <a:grpSpLocks/>
          </p:cNvGrpSpPr>
          <p:nvPr/>
        </p:nvGrpSpPr>
        <p:grpSpPr bwMode="auto">
          <a:xfrm>
            <a:off x="6442075" y="4867275"/>
            <a:ext cx="331788" cy="368300"/>
            <a:chOff x="313" y="1497"/>
            <a:chExt cx="1152" cy="1014"/>
          </a:xfrm>
        </p:grpSpPr>
        <p:pic>
          <p:nvPicPr>
            <p:cNvPr id="136" name="Picture 354" descr="laptop_stylized_small">
              <a:extLst>
                <a:ext uri="{FF2B5EF4-FFF2-40B4-BE49-F238E27FC236}">
                  <a16:creationId xmlns:a16="http://schemas.microsoft.com/office/drawing/2014/main" id="{916388DC-DFC7-6644-A58A-7E3CE3A4F6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7" name="Picture 355" descr="antenna_stylized">
              <a:extLst>
                <a:ext uri="{FF2B5EF4-FFF2-40B4-BE49-F238E27FC236}">
                  <a16:creationId xmlns:a16="http://schemas.microsoft.com/office/drawing/2014/main" id="{37884014-95FD-4041-8DD3-B67813446B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38" name="Group 361">
            <a:extLst>
              <a:ext uri="{FF2B5EF4-FFF2-40B4-BE49-F238E27FC236}">
                <a16:creationId xmlns:a16="http://schemas.microsoft.com/office/drawing/2014/main" id="{F0D83CBC-A45C-DB46-B426-BC3CB27E561A}"/>
              </a:ext>
            </a:extLst>
          </p:cNvPr>
          <p:cNvGrpSpPr>
            <a:grpSpLocks/>
          </p:cNvGrpSpPr>
          <p:nvPr/>
        </p:nvGrpSpPr>
        <p:grpSpPr bwMode="auto">
          <a:xfrm>
            <a:off x="2071688" y="4195763"/>
            <a:ext cx="396875" cy="388937"/>
            <a:chOff x="2967" y="478"/>
            <a:chExt cx="788" cy="625"/>
          </a:xfrm>
        </p:grpSpPr>
        <p:pic>
          <p:nvPicPr>
            <p:cNvPr id="139" name="Picture 358" descr="access_point_stylized_small">
              <a:extLst>
                <a:ext uri="{FF2B5EF4-FFF2-40B4-BE49-F238E27FC236}">
                  <a16:creationId xmlns:a16="http://schemas.microsoft.com/office/drawing/2014/main" id="{5FE77BF3-1EFB-E041-BAC1-94C95522F1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0" name="Picture 360" descr="antenna_radiation_stylized">
              <a:extLst>
                <a:ext uri="{FF2B5EF4-FFF2-40B4-BE49-F238E27FC236}">
                  <a16:creationId xmlns:a16="http://schemas.microsoft.com/office/drawing/2014/main" id="{ED27BB04-ED6E-0D4B-8FE8-C96C4F7B95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41" name="Group 1">
            <a:extLst>
              <a:ext uri="{FF2B5EF4-FFF2-40B4-BE49-F238E27FC236}">
                <a16:creationId xmlns:a16="http://schemas.microsoft.com/office/drawing/2014/main" id="{F8EB07E3-DFC0-A445-A33D-75C2AD0A9EF8}"/>
              </a:ext>
            </a:extLst>
          </p:cNvPr>
          <p:cNvGrpSpPr>
            <a:grpSpLocks/>
          </p:cNvGrpSpPr>
          <p:nvPr/>
        </p:nvGrpSpPr>
        <p:grpSpPr bwMode="auto">
          <a:xfrm>
            <a:off x="5668963" y="4957763"/>
            <a:ext cx="458787" cy="620712"/>
            <a:chOff x="5955030" y="3031808"/>
            <a:chExt cx="914400" cy="1398587"/>
          </a:xfrm>
        </p:grpSpPr>
        <p:grpSp>
          <p:nvGrpSpPr>
            <p:cNvPr id="142" name="Group 398">
              <a:extLst>
                <a:ext uri="{FF2B5EF4-FFF2-40B4-BE49-F238E27FC236}">
                  <a16:creationId xmlns:a16="http://schemas.microsoft.com/office/drawing/2014/main" id="{B220ABB4-ABAB-CE46-BE7A-ED482AEAA8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97905" y="3403283"/>
              <a:ext cx="596900" cy="1027112"/>
              <a:chOff x="3130" y="3288"/>
              <a:chExt cx="410" cy="742"/>
            </a:xfrm>
          </p:grpSpPr>
          <p:sp>
            <p:nvSpPr>
              <p:cNvPr id="144" name="Line 270">
                <a:extLst>
                  <a:ext uri="{FF2B5EF4-FFF2-40B4-BE49-F238E27FC236}">
                    <a16:creationId xmlns:a16="http://schemas.microsoft.com/office/drawing/2014/main" id="{EB3D1AFB-9917-EB40-AEBE-C975E63F26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5" name="Line 271">
                <a:extLst>
                  <a:ext uri="{FF2B5EF4-FFF2-40B4-BE49-F238E27FC236}">
                    <a16:creationId xmlns:a16="http://schemas.microsoft.com/office/drawing/2014/main" id="{E08FC51C-048E-3E4D-9A0F-1FD8F96EBA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6" name="Line 272">
                <a:extLst>
                  <a:ext uri="{FF2B5EF4-FFF2-40B4-BE49-F238E27FC236}">
                    <a16:creationId xmlns:a16="http://schemas.microsoft.com/office/drawing/2014/main" id="{F60BFC20-FF60-2749-A1D5-607289DB41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7" name="Line 273">
                <a:extLst>
                  <a:ext uri="{FF2B5EF4-FFF2-40B4-BE49-F238E27FC236}">
                    <a16:creationId xmlns:a16="http://schemas.microsoft.com/office/drawing/2014/main" id="{512627BE-7F4B-E642-8B83-2CFC68BC44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8" name="Line 274">
                <a:extLst>
                  <a:ext uri="{FF2B5EF4-FFF2-40B4-BE49-F238E27FC236}">
                    <a16:creationId xmlns:a16="http://schemas.microsoft.com/office/drawing/2014/main" id="{4E8A0C01-D6A7-1F42-A4A2-1DC6B281EF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9" name="Line 275">
                <a:extLst>
                  <a:ext uri="{FF2B5EF4-FFF2-40B4-BE49-F238E27FC236}">
                    <a16:creationId xmlns:a16="http://schemas.microsoft.com/office/drawing/2014/main" id="{7438FAEA-A6F2-A246-8105-F54EDDC701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0" name="Line 276">
                <a:extLst>
                  <a:ext uri="{FF2B5EF4-FFF2-40B4-BE49-F238E27FC236}">
                    <a16:creationId xmlns:a16="http://schemas.microsoft.com/office/drawing/2014/main" id="{E69B15B3-9399-E041-878F-938173CDFF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1" name="Line 277">
                <a:extLst>
                  <a:ext uri="{FF2B5EF4-FFF2-40B4-BE49-F238E27FC236}">
                    <a16:creationId xmlns:a16="http://schemas.microsoft.com/office/drawing/2014/main" id="{1E4874DA-7ED7-874D-B991-AABE14689B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2" name="Line 278">
                <a:extLst>
                  <a:ext uri="{FF2B5EF4-FFF2-40B4-BE49-F238E27FC236}">
                    <a16:creationId xmlns:a16="http://schemas.microsoft.com/office/drawing/2014/main" id="{6D14A8CC-9625-344D-A6EB-3F17469C47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3" name="Line 279">
                <a:extLst>
                  <a:ext uri="{FF2B5EF4-FFF2-40B4-BE49-F238E27FC236}">
                    <a16:creationId xmlns:a16="http://schemas.microsoft.com/office/drawing/2014/main" id="{F87A61CD-1278-5C40-A7DA-1D6151D5DB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4" name="Line 280">
                <a:extLst>
                  <a:ext uri="{FF2B5EF4-FFF2-40B4-BE49-F238E27FC236}">
                    <a16:creationId xmlns:a16="http://schemas.microsoft.com/office/drawing/2014/main" id="{C0E5602D-DC2C-1843-8D4A-58D3A1ED1D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5" name="Line 281">
                <a:extLst>
                  <a:ext uri="{FF2B5EF4-FFF2-40B4-BE49-F238E27FC236}">
                    <a16:creationId xmlns:a16="http://schemas.microsoft.com/office/drawing/2014/main" id="{DD5E8B9D-A9BC-9746-BBCA-405945A54B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6" name="Line 282">
                <a:extLst>
                  <a:ext uri="{FF2B5EF4-FFF2-40B4-BE49-F238E27FC236}">
                    <a16:creationId xmlns:a16="http://schemas.microsoft.com/office/drawing/2014/main" id="{19AF81E9-349A-9344-8D71-5F08AE6BFF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7" name="Line 283">
                <a:extLst>
                  <a:ext uri="{FF2B5EF4-FFF2-40B4-BE49-F238E27FC236}">
                    <a16:creationId xmlns:a16="http://schemas.microsoft.com/office/drawing/2014/main" id="{84FD3D45-465C-2A4D-8826-8073E76792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8" name="Line 284">
                <a:extLst>
                  <a:ext uri="{FF2B5EF4-FFF2-40B4-BE49-F238E27FC236}">
                    <a16:creationId xmlns:a16="http://schemas.microsoft.com/office/drawing/2014/main" id="{236149EB-A521-C54B-978B-B2F3D2A80F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pic>
          <p:nvPicPr>
            <p:cNvPr id="143" name="Picture 399" descr="cell_tower_radiation copy">
              <a:extLst>
                <a:ext uri="{FF2B5EF4-FFF2-40B4-BE49-F238E27FC236}">
                  <a16:creationId xmlns:a16="http://schemas.microsoft.com/office/drawing/2014/main" id="{15477466-B0BB-D045-8469-CE320C8C19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59" name="Group 403">
            <a:extLst>
              <a:ext uri="{FF2B5EF4-FFF2-40B4-BE49-F238E27FC236}">
                <a16:creationId xmlns:a16="http://schemas.microsoft.com/office/drawing/2014/main" id="{7E28037A-7EFC-0B46-95B9-4678DDAA8EC2}"/>
              </a:ext>
            </a:extLst>
          </p:cNvPr>
          <p:cNvGrpSpPr>
            <a:grpSpLocks/>
          </p:cNvGrpSpPr>
          <p:nvPr/>
        </p:nvGrpSpPr>
        <p:grpSpPr bwMode="auto">
          <a:xfrm>
            <a:off x="3403600" y="5354638"/>
            <a:ext cx="527050" cy="392112"/>
            <a:chOff x="2751" y="1851"/>
            <a:chExt cx="462" cy="478"/>
          </a:xfrm>
        </p:grpSpPr>
        <p:pic>
          <p:nvPicPr>
            <p:cNvPr id="160" name="Picture 364" descr="iphone_stylized_small">
              <a:extLst>
                <a:ext uri="{FF2B5EF4-FFF2-40B4-BE49-F238E27FC236}">
                  <a16:creationId xmlns:a16="http://schemas.microsoft.com/office/drawing/2014/main" id="{C84FCFF4-A725-4549-A2E6-AB7B6D1964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1" name="Picture 402" descr="antenna_radiation_stylized">
              <a:extLst>
                <a:ext uri="{FF2B5EF4-FFF2-40B4-BE49-F238E27FC236}">
                  <a16:creationId xmlns:a16="http://schemas.microsoft.com/office/drawing/2014/main" id="{E54086FD-B992-B84A-9956-901A6D564E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62" name="Group 100">
            <a:extLst>
              <a:ext uri="{FF2B5EF4-FFF2-40B4-BE49-F238E27FC236}">
                <a16:creationId xmlns:a16="http://schemas.microsoft.com/office/drawing/2014/main" id="{E7C998EB-2394-544D-80BB-533A98F699A4}"/>
              </a:ext>
            </a:extLst>
          </p:cNvPr>
          <p:cNvGrpSpPr>
            <a:grpSpLocks/>
          </p:cNvGrpSpPr>
          <p:nvPr/>
        </p:nvGrpSpPr>
        <p:grpSpPr bwMode="auto">
          <a:xfrm>
            <a:off x="4094163" y="4987925"/>
            <a:ext cx="458787" cy="620713"/>
            <a:chOff x="5955030" y="3031808"/>
            <a:chExt cx="914400" cy="1398587"/>
          </a:xfrm>
        </p:grpSpPr>
        <p:grpSp>
          <p:nvGrpSpPr>
            <p:cNvPr id="163" name="Group 398">
              <a:extLst>
                <a:ext uri="{FF2B5EF4-FFF2-40B4-BE49-F238E27FC236}">
                  <a16:creationId xmlns:a16="http://schemas.microsoft.com/office/drawing/2014/main" id="{4BA56D45-414C-BE4C-9A22-F243E7D162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97905" y="3403283"/>
              <a:ext cx="596900" cy="1027112"/>
              <a:chOff x="3130" y="3288"/>
              <a:chExt cx="410" cy="742"/>
            </a:xfrm>
          </p:grpSpPr>
          <p:sp>
            <p:nvSpPr>
              <p:cNvPr id="165" name="Line 270">
                <a:extLst>
                  <a:ext uri="{FF2B5EF4-FFF2-40B4-BE49-F238E27FC236}">
                    <a16:creationId xmlns:a16="http://schemas.microsoft.com/office/drawing/2014/main" id="{C419645E-7341-1E42-A987-8906510D2D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6" name="Line 271">
                <a:extLst>
                  <a:ext uri="{FF2B5EF4-FFF2-40B4-BE49-F238E27FC236}">
                    <a16:creationId xmlns:a16="http://schemas.microsoft.com/office/drawing/2014/main" id="{E3413CC8-503E-F54F-9020-EA30E1FB6B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7" name="Line 272">
                <a:extLst>
                  <a:ext uri="{FF2B5EF4-FFF2-40B4-BE49-F238E27FC236}">
                    <a16:creationId xmlns:a16="http://schemas.microsoft.com/office/drawing/2014/main" id="{32BE2CA0-4934-C548-8F71-8643317D62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8" name="Line 273">
                <a:extLst>
                  <a:ext uri="{FF2B5EF4-FFF2-40B4-BE49-F238E27FC236}">
                    <a16:creationId xmlns:a16="http://schemas.microsoft.com/office/drawing/2014/main" id="{0F568FA7-5D04-F249-88F8-D9BF4BB143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9" name="Line 274">
                <a:extLst>
                  <a:ext uri="{FF2B5EF4-FFF2-40B4-BE49-F238E27FC236}">
                    <a16:creationId xmlns:a16="http://schemas.microsoft.com/office/drawing/2014/main" id="{FC33DD3A-B462-0C49-9211-16445A4184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0" name="Line 275">
                <a:extLst>
                  <a:ext uri="{FF2B5EF4-FFF2-40B4-BE49-F238E27FC236}">
                    <a16:creationId xmlns:a16="http://schemas.microsoft.com/office/drawing/2014/main" id="{A27E10EF-E77C-324E-ABE5-7D9D36FAFB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1" name="Line 276">
                <a:extLst>
                  <a:ext uri="{FF2B5EF4-FFF2-40B4-BE49-F238E27FC236}">
                    <a16:creationId xmlns:a16="http://schemas.microsoft.com/office/drawing/2014/main" id="{38A6549E-F28B-E548-A11B-F2688FE02D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2" name="Line 277">
                <a:extLst>
                  <a:ext uri="{FF2B5EF4-FFF2-40B4-BE49-F238E27FC236}">
                    <a16:creationId xmlns:a16="http://schemas.microsoft.com/office/drawing/2014/main" id="{CF1EC650-3BA3-404C-9765-2B632619EC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3" name="Line 278">
                <a:extLst>
                  <a:ext uri="{FF2B5EF4-FFF2-40B4-BE49-F238E27FC236}">
                    <a16:creationId xmlns:a16="http://schemas.microsoft.com/office/drawing/2014/main" id="{633808AB-AED9-EF48-97E4-4DF625A9D8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4" name="Line 279">
                <a:extLst>
                  <a:ext uri="{FF2B5EF4-FFF2-40B4-BE49-F238E27FC236}">
                    <a16:creationId xmlns:a16="http://schemas.microsoft.com/office/drawing/2014/main" id="{F8580CEE-7A5C-7048-9921-68FF09DF01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5" name="Line 280">
                <a:extLst>
                  <a:ext uri="{FF2B5EF4-FFF2-40B4-BE49-F238E27FC236}">
                    <a16:creationId xmlns:a16="http://schemas.microsoft.com/office/drawing/2014/main" id="{00996F04-1F8B-CC4D-B37A-210D0A122C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6" name="Line 281">
                <a:extLst>
                  <a:ext uri="{FF2B5EF4-FFF2-40B4-BE49-F238E27FC236}">
                    <a16:creationId xmlns:a16="http://schemas.microsoft.com/office/drawing/2014/main" id="{F19E527D-6BF3-CC47-875A-C4D2C88E88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7" name="Line 282">
                <a:extLst>
                  <a:ext uri="{FF2B5EF4-FFF2-40B4-BE49-F238E27FC236}">
                    <a16:creationId xmlns:a16="http://schemas.microsoft.com/office/drawing/2014/main" id="{18E888AA-D35B-AE4C-90FA-C2A7AF9334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8" name="Line 283">
                <a:extLst>
                  <a:ext uri="{FF2B5EF4-FFF2-40B4-BE49-F238E27FC236}">
                    <a16:creationId xmlns:a16="http://schemas.microsoft.com/office/drawing/2014/main" id="{B8D4E8F1-7790-4D40-A0EB-41F3ADEAB4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9" name="Line 284">
                <a:extLst>
                  <a:ext uri="{FF2B5EF4-FFF2-40B4-BE49-F238E27FC236}">
                    <a16:creationId xmlns:a16="http://schemas.microsoft.com/office/drawing/2014/main" id="{D429B434-2C40-F74E-8CAE-0FC7B53465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pic>
          <p:nvPicPr>
            <p:cNvPr id="164" name="Picture 399" descr="cell_tower_radiation copy">
              <a:extLst>
                <a:ext uri="{FF2B5EF4-FFF2-40B4-BE49-F238E27FC236}">
                  <a16:creationId xmlns:a16="http://schemas.microsoft.com/office/drawing/2014/main" id="{A9CD3D46-2E69-B845-B173-09090C1C4E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80" name="Group 356">
            <a:extLst>
              <a:ext uri="{FF2B5EF4-FFF2-40B4-BE49-F238E27FC236}">
                <a16:creationId xmlns:a16="http://schemas.microsoft.com/office/drawing/2014/main" id="{8FC9C87C-2193-FD4F-BA1A-A7FDAA554282}"/>
              </a:ext>
            </a:extLst>
          </p:cNvPr>
          <p:cNvGrpSpPr>
            <a:grpSpLocks/>
          </p:cNvGrpSpPr>
          <p:nvPr/>
        </p:nvGrpSpPr>
        <p:grpSpPr bwMode="auto">
          <a:xfrm>
            <a:off x="5781675" y="5791200"/>
            <a:ext cx="361950" cy="338138"/>
            <a:chOff x="313" y="1497"/>
            <a:chExt cx="1152" cy="1014"/>
          </a:xfrm>
        </p:grpSpPr>
        <p:pic>
          <p:nvPicPr>
            <p:cNvPr id="181" name="Picture 354" descr="laptop_stylized_small">
              <a:extLst>
                <a:ext uri="{FF2B5EF4-FFF2-40B4-BE49-F238E27FC236}">
                  <a16:creationId xmlns:a16="http://schemas.microsoft.com/office/drawing/2014/main" id="{21BC2357-8DAB-214A-992E-C0220012BD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2" name="Picture 355" descr="antenna_stylized">
              <a:extLst>
                <a:ext uri="{FF2B5EF4-FFF2-40B4-BE49-F238E27FC236}">
                  <a16:creationId xmlns:a16="http://schemas.microsoft.com/office/drawing/2014/main" id="{FD2019DB-E154-D74C-9D01-E47FB81401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83" name="Group 356">
            <a:extLst>
              <a:ext uri="{FF2B5EF4-FFF2-40B4-BE49-F238E27FC236}">
                <a16:creationId xmlns:a16="http://schemas.microsoft.com/office/drawing/2014/main" id="{72BBF72D-947D-B841-83D8-A2FA489C0CFA}"/>
              </a:ext>
            </a:extLst>
          </p:cNvPr>
          <p:cNvGrpSpPr>
            <a:grpSpLocks/>
          </p:cNvGrpSpPr>
          <p:nvPr/>
        </p:nvGrpSpPr>
        <p:grpSpPr bwMode="auto">
          <a:xfrm>
            <a:off x="4551363" y="5811838"/>
            <a:ext cx="376237" cy="347662"/>
            <a:chOff x="313" y="1497"/>
            <a:chExt cx="1152" cy="1014"/>
          </a:xfrm>
        </p:grpSpPr>
        <p:pic>
          <p:nvPicPr>
            <p:cNvPr id="184" name="Picture 354" descr="laptop_stylized_small">
              <a:extLst>
                <a:ext uri="{FF2B5EF4-FFF2-40B4-BE49-F238E27FC236}">
                  <a16:creationId xmlns:a16="http://schemas.microsoft.com/office/drawing/2014/main" id="{836F4D94-BCDF-3542-A343-115E952ED2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5" name="Picture 355" descr="antenna_stylized">
              <a:extLst>
                <a:ext uri="{FF2B5EF4-FFF2-40B4-BE49-F238E27FC236}">
                  <a16:creationId xmlns:a16="http://schemas.microsoft.com/office/drawing/2014/main" id="{B4D8151E-705C-EE40-B724-E0B69FCF06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86" name="Group 356">
            <a:extLst>
              <a:ext uri="{FF2B5EF4-FFF2-40B4-BE49-F238E27FC236}">
                <a16:creationId xmlns:a16="http://schemas.microsoft.com/office/drawing/2014/main" id="{90CF8AA6-D241-564C-A835-C42E9A50FB94}"/>
              </a:ext>
            </a:extLst>
          </p:cNvPr>
          <p:cNvGrpSpPr>
            <a:grpSpLocks/>
          </p:cNvGrpSpPr>
          <p:nvPr/>
        </p:nvGrpSpPr>
        <p:grpSpPr bwMode="auto">
          <a:xfrm>
            <a:off x="3830638" y="5832475"/>
            <a:ext cx="382587" cy="436563"/>
            <a:chOff x="313" y="1497"/>
            <a:chExt cx="1152" cy="1014"/>
          </a:xfrm>
        </p:grpSpPr>
        <p:pic>
          <p:nvPicPr>
            <p:cNvPr id="187" name="Picture 354" descr="laptop_stylized_small">
              <a:extLst>
                <a:ext uri="{FF2B5EF4-FFF2-40B4-BE49-F238E27FC236}">
                  <a16:creationId xmlns:a16="http://schemas.microsoft.com/office/drawing/2014/main" id="{EA37CFAF-38EB-2545-8F20-380411EFBC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8" name="Picture 355" descr="antenna_stylized">
              <a:extLst>
                <a:ext uri="{FF2B5EF4-FFF2-40B4-BE49-F238E27FC236}">
                  <a16:creationId xmlns:a16="http://schemas.microsoft.com/office/drawing/2014/main" id="{79DFDD41-1102-684C-B91C-88ADEBF387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89" name="Group 403">
            <a:extLst>
              <a:ext uri="{FF2B5EF4-FFF2-40B4-BE49-F238E27FC236}">
                <a16:creationId xmlns:a16="http://schemas.microsoft.com/office/drawing/2014/main" id="{3D48FC39-032B-A342-BFD0-33CBD6CB3A7F}"/>
              </a:ext>
            </a:extLst>
          </p:cNvPr>
          <p:cNvGrpSpPr>
            <a:grpSpLocks/>
          </p:cNvGrpSpPr>
          <p:nvPr/>
        </p:nvGrpSpPr>
        <p:grpSpPr bwMode="auto">
          <a:xfrm>
            <a:off x="3729038" y="4673600"/>
            <a:ext cx="485775" cy="403225"/>
            <a:chOff x="2751" y="1851"/>
            <a:chExt cx="462" cy="478"/>
          </a:xfrm>
        </p:grpSpPr>
        <p:pic>
          <p:nvPicPr>
            <p:cNvPr id="190" name="Picture 364" descr="iphone_stylized_small">
              <a:extLst>
                <a:ext uri="{FF2B5EF4-FFF2-40B4-BE49-F238E27FC236}">
                  <a16:creationId xmlns:a16="http://schemas.microsoft.com/office/drawing/2014/main" id="{D28B1A7C-E2CC-BE4F-8868-8685B04387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1" name="Picture 402" descr="antenna_radiation_stylized">
              <a:extLst>
                <a:ext uri="{FF2B5EF4-FFF2-40B4-BE49-F238E27FC236}">
                  <a16:creationId xmlns:a16="http://schemas.microsoft.com/office/drawing/2014/main" id="{5BB3FE4E-87C2-8246-82D8-D49345DCDF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92" name="Group 403">
            <a:extLst>
              <a:ext uri="{FF2B5EF4-FFF2-40B4-BE49-F238E27FC236}">
                <a16:creationId xmlns:a16="http://schemas.microsoft.com/office/drawing/2014/main" id="{86FB4197-A7C7-2C4B-87E5-4528376C50B4}"/>
              </a:ext>
            </a:extLst>
          </p:cNvPr>
          <p:cNvGrpSpPr>
            <a:grpSpLocks/>
          </p:cNvGrpSpPr>
          <p:nvPr/>
        </p:nvGrpSpPr>
        <p:grpSpPr bwMode="auto">
          <a:xfrm>
            <a:off x="6289675" y="5334000"/>
            <a:ext cx="525463" cy="392113"/>
            <a:chOff x="2751" y="1851"/>
            <a:chExt cx="462" cy="478"/>
          </a:xfrm>
        </p:grpSpPr>
        <p:pic>
          <p:nvPicPr>
            <p:cNvPr id="193" name="Picture 364" descr="iphone_stylized_small">
              <a:extLst>
                <a:ext uri="{FF2B5EF4-FFF2-40B4-BE49-F238E27FC236}">
                  <a16:creationId xmlns:a16="http://schemas.microsoft.com/office/drawing/2014/main" id="{0C0CDB8A-DE3D-5F4A-A881-49C3DC0504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4" name="Picture 402" descr="antenna_radiation_stylized">
              <a:extLst>
                <a:ext uri="{FF2B5EF4-FFF2-40B4-BE49-F238E27FC236}">
                  <a16:creationId xmlns:a16="http://schemas.microsoft.com/office/drawing/2014/main" id="{FBB79140-E464-FA4E-BC03-E9D77416B1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95" name="Group 356">
            <a:extLst>
              <a:ext uri="{FF2B5EF4-FFF2-40B4-BE49-F238E27FC236}">
                <a16:creationId xmlns:a16="http://schemas.microsoft.com/office/drawing/2014/main" id="{814B233D-4B4F-8340-BCC6-0250B96E73AE}"/>
              </a:ext>
            </a:extLst>
          </p:cNvPr>
          <p:cNvGrpSpPr>
            <a:grpSpLocks/>
          </p:cNvGrpSpPr>
          <p:nvPr/>
        </p:nvGrpSpPr>
        <p:grpSpPr bwMode="auto">
          <a:xfrm>
            <a:off x="4987925" y="5191125"/>
            <a:ext cx="376238" cy="349250"/>
            <a:chOff x="313" y="1497"/>
            <a:chExt cx="1152" cy="1014"/>
          </a:xfrm>
        </p:grpSpPr>
        <p:pic>
          <p:nvPicPr>
            <p:cNvPr id="196" name="Picture 354" descr="laptop_stylized_small">
              <a:extLst>
                <a:ext uri="{FF2B5EF4-FFF2-40B4-BE49-F238E27FC236}">
                  <a16:creationId xmlns:a16="http://schemas.microsoft.com/office/drawing/2014/main" id="{EC5C806D-D5CA-5A4B-958A-3D3885D635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7" name="Picture 355" descr="antenna_stylized">
              <a:extLst>
                <a:ext uri="{FF2B5EF4-FFF2-40B4-BE49-F238E27FC236}">
                  <a16:creationId xmlns:a16="http://schemas.microsoft.com/office/drawing/2014/main" id="{22DE5A99-B75E-E846-A9CA-B5A4A8A086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98" name="Group 356">
            <a:extLst>
              <a:ext uri="{FF2B5EF4-FFF2-40B4-BE49-F238E27FC236}">
                <a16:creationId xmlns:a16="http://schemas.microsoft.com/office/drawing/2014/main" id="{44A62913-19C4-CF45-A43E-AF4966B1C6B9}"/>
              </a:ext>
            </a:extLst>
          </p:cNvPr>
          <p:cNvGrpSpPr>
            <a:grpSpLocks/>
          </p:cNvGrpSpPr>
          <p:nvPr/>
        </p:nvGrpSpPr>
        <p:grpSpPr bwMode="auto">
          <a:xfrm>
            <a:off x="1909763" y="4643438"/>
            <a:ext cx="282575" cy="344487"/>
            <a:chOff x="313" y="1497"/>
            <a:chExt cx="1152" cy="1014"/>
          </a:xfrm>
        </p:grpSpPr>
        <p:pic>
          <p:nvPicPr>
            <p:cNvPr id="199" name="Picture 354" descr="laptop_stylized_small">
              <a:extLst>
                <a:ext uri="{FF2B5EF4-FFF2-40B4-BE49-F238E27FC236}">
                  <a16:creationId xmlns:a16="http://schemas.microsoft.com/office/drawing/2014/main" id="{2C6FC57A-B2AA-024C-AA50-833F87F56B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0" name="Picture 355" descr="antenna_stylized">
              <a:extLst>
                <a:ext uri="{FF2B5EF4-FFF2-40B4-BE49-F238E27FC236}">
                  <a16:creationId xmlns:a16="http://schemas.microsoft.com/office/drawing/2014/main" id="{A7408C9B-0424-4D46-A3CB-20DA2F9659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01" name="Group 403">
            <a:extLst>
              <a:ext uri="{FF2B5EF4-FFF2-40B4-BE49-F238E27FC236}">
                <a16:creationId xmlns:a16="http://schemas.microsoft.com/office/drawing/2014/main" id="{8BF4494C-B45F-EA42-8D3E-0E8E92701DEB}"/>
              </a:ext>
            </a:extLst>
          </p:cNvPr>
          <p:cNvGrpSpPr>
            <a:grpSpLocks/>
          </p:cNvGrpSpPr>
          <p:nvPr/>
        </p:nvGrpSpPr>
        <p:grpSpPr bwMode="auto">
          <a:xfrm>
            <a:off x="1616075" y="4308475"/>
            <a:ext cx="444500" cy="381000"/>
            <a:chOff x="2751" y="1851"/>
            <a:chExt cx="462" cy="478"/>
          </a:xfrm>
        </p:grpSpPr>
        <p:pic>
          <p:nvPicPr>
            <p:cNvPr id="202" name="Picture 364" descr="iphone_stylized_small">
              <a:extLst>
                <a:ext uri="{FF2B5EF4-FFF2-40B4-BE49-F238E27FC236}">
                  <a16:creationId xmlns:a16="http://schemas.microsoft.com/office/drawing/2014/main" id="{F9290FEC-F0ED-A746-9BCA-11DE56BF8C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3" name="Picture 402" descr="antenna_radiation_stylized">
              <a:extLst>
                <a:ext uri="{FF2B5EF4-FFF2-40B4-BE49-F238E27FC236}">
                  <a16:creationId xmlns:a16="http://schemas.microsoft.com/office/drawing/2014/main" id="{7F0B6E3C-FE7C-8244-BFE5-BB2FF84C83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04" name="Group 142">
            <a:extLst>
              <a:ext uri="{FF2B5EF4-FFF2-40B4-BE49-F238E27FC236}">
                <a16:creationId xmlns:a16="http://schemas.microsoft.com/office/drawing/2014/main" id="{05787F7C-D6F9-5148-A1C8-AE0EF1035320}"/>
              </a:ext>
            </a:extLst>
          </p:cNvPr>
          <p:cNvGrpSpPr>
            <a:grpSpLocks/>
          </p:cNvGrpSpPr>
          <p:nvPr/>
        </p:nvGrpSpPr>
        <p:grpSpPr bwMode="auto">
          <a:xfrm>
            <a:off x="1574800" y="1971675"/>
            <a:ext cx="458788" cy="619125"/>
            <a:chOff x="5955030" y="3031808"/>
            <a:chExt cx="914400" cy="1398587"/>
          </a:xfrm>
        </p:grpSpPr>
        <p:grpSp>
          <p:nvGrpSpPr>
            <p:cNvPr id="205" name="Group 398">
              <a:extLst>
                <a:ext uri="{FF2B5EF4-FFF2-40B4-BE49-F238E27FC236}">
                  <a16:creationId xmlns:a16="http://schemas.microsoft.com/office/drawing/2014/main" id="{DEF19A22-8F91-6842-8109-AEB66C6A5A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97905" y="3403283"/>
              <a:ext cx="596900" cy="1027112"/>
              <a:chOff x="3130" y="3288"/>
              <a:chExt cx="410" cy="742"/>
            </a:xfrm>
          </p:grpSpPr>
          <p:sp>
            <p:nvSpPr>
              <p:cNvPr id="207" name="Line 270">
                <a:extLst>
                  <a:ext uri="{FF2B5EF4-FFF2-40B4-BE49-F238E27FC236}">
                    <a16:creationId xmlns:a16="http://schemas.microsoft.com/office/drawing/2014/main" id="{E417E1DB-608C-9848-9F0A-5122753DA8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08" name="Line 271">
                <a:extLst>
                  <a:ext uri="{FF2B5EF4-FFF2-40B4-BE49-F238E27FC236}">
                    <a16:creationId xmlns:a16="http://schemas.microsoft.com/office/drawing/2014/main" id="{3B2D533F-D1A2-B24B-A569-AA613E9225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09" name="Line 272">
                <a:extLst>
                  <a:ext uri="{FF2B5EF4-FFF2-40B4-BE49-F238E27FC236}">
                    <a16:creationId xmlns:a16="http://schemas.microsoft.com/office/drawing/2014/main" id="{F887C580-CEC3-4746-B37A-5E728888A4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0" name="Line 273">
                <a:extLst>
                  <a:ext uri="{FF2B5EF4-FFF2-40B4-BE49-F238E27FC236}">
                    <a16:creationId xmlns:a16="http://schemas.microsoft.com/office/drawing/2014/main" id="{5069F6B6-EC0B-9443-B3DF-EC160AF3C2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1" name="Line 274">
                <a:extLst>
                  <a:ext uri="{FF2B5EF4-FFF2-40B4-BE49-F238E27FC236}">
                    <a16:creationId xmlns:a16="http://schemas.microsoft.com/office/drawing/2014/main" id="{148C5F81-3D28-1B46-BC25-8FFB6E9BBB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2" name="Line 275">
                <a:extLst>
                  <a:ext uri="{FF2B5EF4-FFF2-40B4-BE49-F238E27FC236}">
                    <a16:creationId xmlns:a16="http://schemas.microsoft.com/office/drawing/2014/main" id="{E994C03E-7A8C-7649-B94A-FFE6213CF3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3" name="Line 276">
                <a:extLst>
                  <a:ext uri="{FF2B5EF4-FFF2-40B4-BE49-F238E27FC236}">
                    <a16:creationId xmlns:a16="http://schemas.microsoft.com/office/drawing/2014/main" id="{3D5CC52A-81FD-E049-A4D9-6576D1FA69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4" name="Line 277">
                <a:extLst>
                  <a:ext uri="{FF2B5EF4-FFF2-40B4-BE49-F238E27FC236}">
                    <a16:creationId xmlns:a16="http://schemas.microsoft.com/office/drawing/2014/main" id="{3ED01E6D-C154-C542-A593-1C66F05106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5" name="Line 278">
                <a:extLst>
                  <a:ext uri="{FF2B5EF4-FFF2-40B4-BE49-F238E27FC236}">
                    <a16:creationId xmlns:a16="http://schemas.microsoft.com/office/drawing/2014/main" id="{F83323B0-0B99-0747-B347-8742C2532B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6" name="Line 279">
                <a:extLst>
                  <a:ext uri="{FF2B5EF4-FFF2-40B4-BE49-F238E27FC236}">
                    <a16:creationId xmlns:a16="http://schemas.microsoft.com/office/drawing/2014/main" id="{BC214760-2F6D-A54C-96DB-B2563CA355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7" name="Line 280">
                <a:extLst>
                  <a:ext uri="{FF2B5EF4-FFF2-40B4-BE49-F238E27FC236}">
                    <a16:creationId xmlns:a16="http://schemas.microsoft.com/office/drawing/2014/main" id="{A0160D0F-A86D-4241-B44D-6E98425F86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8" name="Line 281">
                <a:extLst>
                  <a:ext uri="{FF2B5EF4-FFF2-40B4-BE49-F238E27FC236}">
                    <a16:creationId xmlns:a16="http://schemas.microsoft.com/office/drawing/2014/main" id="{3ABDB358-8829-E54F-AB3F-14EB8832BE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9" name="Line 282">
                <a:extLst>
                  <a:ext uri="{FF2B5EF4-FFF2-40B4-BE49-F238E27FC236}">
                    <a16:creationId xmlns:a16="http://schemas.microsoft.com/office/drawing/2014/main" id="{030D6FBA-2C96-C74F-A538-CE828952DF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20" name="Line 283">
                <a:extLst>
                  <a:ext uri="{FF2B5EF4-FFF2-40B4-BE49-F238E27FC236}">
                    <a16:creationId xmlns:a16="http://schemas.microsoft.com/office/drawing/2014/main" id="{444C9AF6-B194-1F4D-9498-4133CAD31F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21" name="Line 284">
                <a:extLst>
                  <a:ext uri="{FF2B5EF4-FFF2-40B4-BE49-F238E27FC236}">
                    <a16:creationId xmlns:a16="http://schemas.microsoft.com/office/drawing/2014/main" id="{1007F074-DD2C-A041-8028-27935643FE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pic>
          <p:nvPicPr>
            <p:cNvPr id="206" name="Picture 399" descr="cell_tower_radiation copy">
              <a:extLst>
                <a:ext uri="{FF2B5EF4-FFF2-40B4-BE49-F238E27FC236}">
                  <a16:creationId xmlns:a16="http://schemas.microsoft.com/office/drawing/2014/main" id="{05BFEF5A-A9A7-8E49-BE1F-03DCB72C00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22" name="Group 356">
            <a:extLst>
              <a:ext uri="{FF2B5EF4-FFF2-40B4-BE49-F238E27FC236}">
                <a16:creationId xmlns:a16="http://schemas.microsoft.com/office/drawing/2014/main" id="{FE7D4943-DFC4-1049-B8CF-FEDA6FD746B2}"/>
              </a:ext>
            </a:extLst>
          </p:cNvPr>
          <p:cNvGrpSpPr>
            <a:grpSpLocks/>
          </p:cNvGrpSpPr>
          <p:nvPr/>
        </p:nvGrpSpPr>
        <p:grpSpPr bwMode="auto">
          <a:xfrm>
            <a:off x="2112963" y="2103438"/>
            <a:ext cx="465137" cy="481012"/>
            <a:chOff x="313" y="1497"/>
            <a:chExt cx="1152" cy="1014"/>
          </a:xfrm>
        </p:grpSpPr>
        <p:pic>
          <p:nvPicPr>
            <p:cNvPr id="223" name="Picture 354" descr="laptop_stylized_small">
              <a:extLst>
                <a:ext uri="{FF2B5EF4-FFF2-40B4-BE49-F238E27FC236}">
                  <a16:creationId xmlns:a16="http://schemas.microsoft.com/office/drawing/2014/main" id="{1B9DAB19-8344-BD4E-8CEC-E817948435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4" name="Picture 355" descr="antenna_stylized">
              <a:extLst>
                <a:ext uri="{FF2B5EF4-FFF2-40B4-BE49-F238E27FC236}">
                  <a16:creationId xmlns:a16="http://schemas.microsoft.com/office/drawing/2014/main" id="{EBC88AD6-BA3E-324A-A0BF-8DF9D89E18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25" name="Group 356">
            <a:extLst>
              <a:ext uri="{FF2B5EF4-FFF2-40B4-BE49-F238E27FC236}">
                <a16:creationId xmlns:a16="http://schemas.microsoft.com/office/drawing/2014/main" id="{E2A474A7-8A71-AC43-9403-5CD64CFABC6B}"/>
              </a:ext>
            </a:extLst>
          </p:cNvPr>
          <p:cNvGrpSpPr>
            <a:grpSpLocks/>
          </p:cNvGrpSpPr>
          <p:nvPr/>
        </p:nvGrpSpPr>
        <p:grpSpPr bwMode="auto">
          <a:xfrm>
            <a:off x="2005013" y="2901950"/>
            <a:ext cx="333375" cy="368300"/>
            <a:chOff x="313" y="1497"/>
            <a:chExt cx="1152" cy="1014"/>
          </a:xfrm>
        </p:grpSpPr>
        <p:pic>
          <p:nvPicPr>
            <p:cNvPr id="226" name="Picture 354" descr="laptop_stylized_small">
              <a:extLst>
                <a:ext uri="{FF2B5EF4-FFF2-40B4-BE49-F238E27FC236}">
                  <a16:creationId xmlns:a16="http://schemas.microsoft.com/office/drawing/2014/main" id="{F44CEA56-C9A6-9141-81A0-8DCC3E2F58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" name="Picture 355" descr="antenna_stylized">
              <a:extLst>
                <a:ext uri="{FF2B5EF4-FFF2-40B4-BE49-F238E27FC236}">
                  <a16:creationId xmlns:a16="http://schemas.microsoft.com/office/drawing/2014/main" id="{0C57F82F-4D98-D54F-81F8-DA60E1261D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28" name="Group 356">
            <a:extLst>
              <a:ext uri="{FF2B5EF4-FFF2-40B4-BE49-F238E27FC236}">
                <a16:creationId xmlns:a16="http://schemas.microsoft.com/office/drawing/2014/main" id="{07CEAB6C-C9D1-9A47-BAA4-4D786E6D429A}"/>
              </a:ext>
            </a:extLst>
          </p:cNvPr>
          <p:cNvGrpSpPr>
            <a:grpSpLocks/>
          </p:cNvGrpSpPr>
          <p:nvPr/>
        </p:nvGrpSpPr>
        <p:grpSpPr bwMode="auto">
          <a:xfrm>
            <a:off x="1482725" y="2987675"/>
            <a:ext cx="282575" cy="344488"/>
            <a:chOff x="313" y="1497"/>
            <a:chExt cx="1152" cy="1014"/>
          </a:xfrm>
        </p:grpSpPr>
        <p:pic>
          <p:nvPicPr>
            <p:cNvPr id="229" name="Picture 354" descr="laptop_stylized_small">
              <a:extLst>
                <a:ext uri="{FF2B5EF4-FFF2-40B4-BE49-F238E27FC236}">
                  <a16:creationId xmlns:a16="http://schemas.microsoft.com/office/drawing/2014/main" id="{66EB1CC5-C145-7141-AE88-FDE185E245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0" name="Picture 355" descr="antenna_stylized">
              <a:extLst>
                <a:ext uri="{FF2B5EF4-FFF2-40B4-BE49-F238E27FC236}">
                  <a16:creationId xmlns:a16="http://schemas.microsoft.com/office/drawing/2014/main" id="{CBA3A680-EE48-5C4A-B84E-4A1FCE5487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1" name="Group 403">
            <a:extLst>
              <a:ext uri="{FF2B5EF4-FFF2-40B4-BE49-F238E27FC236}">
                <a16:creationId xmlns:a16="http://schemas.microsoft.com/office/drawing/2014/main" id="{E09A0004-7386-EF43-AE45-070A340FAD3F}"/>
              </a:ext>
            </a:extLst>
          </p:cNvPr>
          <p:cNvGrpSpPr>
            <a:grpSpLocks/>
          </p:cNvGrpSpPr>
          <p:nvPr/>
        </p:nvGrpSpPr>
        <p:grpSpPr bwMode="auto">
          <a:xfrm>
            <a:off x="1189038" y="2651125"/>
            <a:ext cx="444500" cy="382588"/>
            <a:chOff x="2751" y="1851"/>
            <a:chExt cx="462" cy="478"/>
          </a:xfrm>
        </p:grpSpPr>
        <p:pic>
          <p:nvPicPr>
            <p:cNvPr id="232" name="Picture 364" descr="iphone_stylized_small">
              <a:extLst>
                <a:ext uri="{FF2B5EF4-FFF2-40B4-BE49-F238E27FC236}">
                  <a16:creationId xmlns:a16="http://schemas.microsoft.com/office/drawing/2014/main" id="{D04F1FE1-F105-E24F-BD11-05351E3FC7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3" name="Picture 402" descr="antenna_radiation_stylized">
              <a:extLst>
                <a:ext uri="{FF2B5EF4-FFF2-40B4-BE49-F238E27FC236}">
                  <a16:creationId xmlns:a16="http://schemas.microsoft.com/office/drawing/2014/main" id="{8995403E-B75E-864E-A3AC-A8BADEA4FA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4" name="Group 356">
            <a:extLst>
              <a:ext uri="{FF2B5EF4-FFF2-40B4-BE49-F238E27FC236}">
                <a16:creationId xmlns:a16="http://schemas.microsoft.com/office/drawing/2014/main" id="{45D88A96-1BEF-AF40-9EF4-F653E8F6912B}"/>
              </a:ext>
            </a:extLst>
          </p:cNvPr>
          <p:cNvGrpSpPr>
            <a:grpSpLocks/>
          </p:cNvGrpSpPr>
          <p:nvPr/>
        </p:nvGrpSpPr>
        <p:grpSpPr bwMode="auto">
          <a:xfrm>
            <a:off x="1565275" y="1401763"/>
            <a:ext cx="446088" cy="385762"/>
            <a:chOff x="313" y="1497"/>
            <a:chExt cx="1152" cy="1014"/>
          </a:xfrm>
        </p:grpSpPr>
        <p:pic>
          <p:nvPicPr>
            <p:cNvPr id="235" name="Picture 354" descr="laptop_stylized_small">
              <a:extLst>
                <a:ext uri="{FF2B5EF4-FFF2-40B4-BE49-F238E27FC236}">
                  <a16:creationId xmlns:a16="http://schemas.microsoft.com/office/drawing/2014/main" id="{5CA82CB5-E7B6-C445-B684-658BC5C331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" name="Picture 355" descr="antenna_stylized">
              <a:extLst>
                <a:ext uri="{FF2B5EF4-FFF2-40B4-BE49-F238E27FC236}">
                  <a16:creationId xmlns:a16="http://schemas.microsoft.com/office/drawing/2014/main" id="{75F9DB31-6339-494A-A074-B9A0B45169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7" name="Group 403">
            <a:extLst>
              <a:ext uri="{FF2B5EF4-FFF2-40B4-BE49-F238E27FC236}">
                <a16:creationId xmlns:a16="http://schemas.microsoft.com/office/drawing/2014/main" id="{EF99A882-0F7D-1340-8F07-148A4616940E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2530475"/>
            <a:ext cx="446088" cy="381000"/>
            <a:chOff x="2751" y="1851"/>
            <a:chExt cx="462" cy="478"/>
          </a:xfrm>
        </p:grpSpPr>
        <p:pic>
          <p:nvPicPr>
            <p:cNvPr id="238" name="Picture 364" descr="iphone_stylized_small">
              <a:extLst>
                <a:ext uri="{FF2B5EF4-FFF2-40B4-BE49-F238E27FC236}">
                  <a16:creationId xmlns:a16="http://schemas.microsoft.com/office/drawing/2014/main" id="{8C6A6BBA-51E0-724F-AB7E-9DE15DF9F0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9" name="Picture 402" descr="antenna_radiation_stylized">
              <a:extLst>
                <a:ext uri="{FF2B5EF4-FFF2-40B4-BE49-F238E27FC236}">
                  <a16:creationId xmlns:a16="http://schemas.microsoft.com/office/drawing/2014/main" id="{E51015F6-50FB-094B-BDF9-2FE77B0330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40" name="Line 63">
            <a:extLst>
              <a:ext uri="{FF2B5EF4-FFF2-40B4-BE49-F238E27FC236}">
                <a16:creationId xmlns:a16="http://schemas.microsoft.com/office/drawing/2014/main" id="{CCB97428-BD70-4E49-A590-83AF71EA820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867275" y="4105275"/>
            <a:ext cx="949325" cy="12938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41" name="Line 34">
            <a:extLst>
              <a:ext uri="{FF2B5EF4-FFF2-40B4-BE49-F238E27FC236}">
                <a16:creationId xmlns:a16="http://schemas.microsoft.com/office/drawing/2014/main" id="{4FC66219-F808-FD4D-9B59-86F203C09C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97100" y="3636963"/>
            <a:ext cx="1257300" cy="8096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242" name="Group 6">
            <a:extLst>
              <a:ext uri="{FF2B5EF4-FFF2-40B4-BE49-F238E27FC236}">
                <a16:creationId xmlns:a16="http://schemas.microsoft.com/office/drawing/2014/main" id="{C361E706-F3A3-CF44-AE02-BA0595774CD9}"/>
              </a:ext>
            </a:extLst>
          </p:cNvPr>
          <p:cNvGrpSpPr>
            <a:grpSpLocks/>
          </p:cNvGrpSpPr>
          <p:nvPr/>
        </p:nvGrpSpPr>
        <p:grpSpPr bwMode="auto">
          <a:xfrm>
            <a:off x="3038475" y="2557463"/>
            <a:ext cx="2362200" cy="1762125"/>
            <a:chOff x="3839" y="1737"/>
            <a:chExt cx="1488" cy="1110"/>
          </a:xfrm>
        </p:grpSpPr>
        <p:sp>
          <p:nvSpPr>
            <p:cNvPr id="243" name="Freeform 7">
              <a:extLst>
                <a:ext uri="{FF2B5EF4-FFF2-40B4-BE49-F238E27FC236}">
                  <a16:creationId xmlns:a16="http://schemas.microsoft.com/office/drawing/2014/main" id="{393C90C1-E2F5-7E4D-9330-704828EC3D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9" y="1737"/>
              <a:ext cx="1488" cy="1110"/>
            </a:xfrm>
            <a:custGeom>
              <a:avLst/>
              <a:gdLst>
                <a:gd name="T0" fmla="*/ 3 w 2135"/>
                <a:gd name="T1" fmla="*/ 58 h 1662"/>
                <a:gd name="T2" fmla="*/ 12 w 2135"/>
                <a:gd name="T3" fmla="*/ 7 h 1662"/>
                <a:gd name="T4" fmla="*/ 75 w 2135"/>
                <a:gd name="T5" fmla="*/ 17 h 1662"/>
                <a:gd name="T6" fmla="*/ 139 w 2135"/>
                <a:gd name="T7" fmla="*/ 9 h 1662"/>
                <a:gd name="T8" fmla="*/ 229 w 2135"/>
                <a:gd name="T9" fmla="*/ 36 h 1662"/>
                <a:gd name="T10" fmla="*/ 231 w 2135"/>
                <a:gd name="T11" fmla="*/ 102 h 1662"/>
                <a:gd name="T12" fmla="*/ 181 w 2135"/>
                <a:gd name="T13" fmla="*/ 142 h 1662"/>
                <a:gd name="T14" fmla="*/ 93 w 2135"/>
                <a:gd name="T15" fmla="*/ 134 h 1662"/>
                <a:gd name="T16" fmla="*/ 57 w 2135"/>
                <a:gd name="T17" fmla="*/ 112 h 1662"/>
                <a:gd name="T18" fmla="*/ 21 w 2135"/>
                <a:gd name="T19" fmla="*/ 95 h 1662"/>
                <a:gd name="T20" fmla="*/ 3 w 2135"/>
                <a:gd name="T21" fmla="*/ 58 h 16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135" h="1662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44" name="Text Box 8">
              <a:extLst>
                <a:ext uri="{FF2B5EF4-FFF2-40B4-BE49-F238E27FC236}">
                  <a16:creationId xmlns:a16="http://schemas.microsoft.com/office/drawing/2014/main" id="{91AB3FE3-6836-1F44-BEB7-C93EF507CF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6" y="2030"/>
              <a:ext cx="1086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wired network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infrastructure</a:t>
              </a:r>
            </a:p>
          </p:txBody>
        </p:sp>
      </p:grpSp>
      <p:sp>
        <p:nvSpPr>
          <p:cNvPr id="262" name="Line 75">
            <a:extLst>
              <a:ext uri="{FF2B5EF4-FFF2-40B4-BE49-F238E27FC236}">
                <a16:creationId xmlns:a16="http://schemas.microsoft.com/office/drawing/2014/main" id="{A8073855-FFB7-4243-B73E-71BE7F0079C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05500" y="3769102"/>
            <a:ext cx="1447800" cy="1524000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2000" dirty="0">
              <a:cs typeface="+mn-cs"/>
            </a:endParaRPr>
          </a:p>
        </p:txBody>
      </p:sp>
      <p:sp>
        <p:nvSpPr>
          <p:cNvPr id="285" name="Line 75">
            <a:extLst>
              <a:ext uri="{FF2B5EF4-FFF2-40B4-BE49-F238E27FC236}">
                <a16:creationId xmlns:a16="http://schemas.microsoft.com/office/drawing/2014/main" id="{5B9CA4A4-32DA-EE41-8D67-FD891F4206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72097" y="3768025"/>
            <a:ext cx="1981202" cy="1447799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2000" dirty="0">
              <a:cs typeface="+mn-cs"/>
            </a:endParaRPr>
          </a:p>
        </p:txBody>
      </p:sp>
      <p:sp>
        <p:nvSpPr>
          <p:cNvPr id="289" name="Line 75">
            <a:extLst>
              <a:ext uri="{FF2B5EF4-FFF2-40B4-BE49-F238E27FC236}">
                <a16:creationId xmlns:a16="http://schemas.microsoft.com/office/drawing/2014/main" id="{E03537F9-DF3E-6243-BDEE-EB2475A342C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86448" y="3764151"/>
            <a:ext cx="2959101" cy="1485900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2000" dirty="0">
              <a:cs typeface="+mn-cs"/>
            </a:endParaRPr>
          </a:p>
        </p:txBody>
      </p:sp>
      <p:sp>
        <p:nvSpPr>
          <p:cNvPr id="258" name="Rectangle 63">
            <a:extLst>
              <a:ext uri="{FF2B5EF4-FFF2-40B4-BE49-F238E27FC236}">
                <a16:creationId xmlns:a16="http://schemas.microsoft.com/office/drawing/2014/main" id="{2E264414-55C6-964D-A7A6-D994B443E4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4912" y="1582738"/>
            <a:ext cx="5462587" cy="2176462"/>
          </a:xfrm>
          <a:prstGeom prst="rect">
            <a:avLst/>
          </a:prstGeom>
          <a:noFill/>
          <a:ln w="28575">
            <a:solidFill>
              <a:srgbClr val="C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63" name="Rectangle 64">
            <a:extLst>
              <a:ext uri="{FF2B5EF4-FFF2-40B4-BE49-F238E27FC236}">
                <a16:creationId xmlns:a16="http://schemas.microsoft.com/office/drawing/2014/main" id="{9189415B-37F7-7B49-B670-15B4A38B89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4289" y="1447800"/>
            <a:ext cx="3262312" cy="1825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64" name="Rectangle 65">
            <a:extLst>
              <a:ext uri="{FF2B5EF4-FFF2-40B4-BE49-F238E27FC236}">
                <a16:creationId xmlns:a16="http://schemas.microsoft.com/office/drawing/2014/main" id="{5517F4DF-0905-2A4E-A645-CE0CFAEF69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2699" y="1336675"/>
            <a:ext cx="5397501" cy="2579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charset="0"/>
              <a:buNone/>
              <a:defRPr/>
            </a:pPr>
            <a:r>
              <a:rPr lang="en-US" sz="2400" dirty="0">
                <a:cs typeface="+mn-cs"/>
              </a:rPr>
              <a:t> </a:t>
            </a:r>
            <a:r>
              <a:rPr lang="en-US" sz="2800" dirty="0">
                <a:cs typeface="+mn-cs"/>
              </a:rPr>
              <a:t>infrastructure mode</a:t>
            </a:r>
          </a:p>
          <a:p>
            <a:pPr marL="393700" indent="-2286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cs typeface="+mn-cs"/>
              </a:rPr>
              <a:t>base station connects mobiles into wired network</a:t>
            </a:r>
          </a:p>
          <a:p>
            <a:pPr marL="393700" indent="-2286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cs typeface="+mn-cs"/>
              </a:rPr>
              <a:t>handoff: mobile changes base station providing connection into wired network</a:t>
            </a:r>
          </a:p>
        </p:txBody>
      </p:sp>
    </p:spTree>
    <p:extLst>
      <p:ext uri="{BB962C8B-B14F-4D97-AF65-F5344CB8AC3E}">
        <p14:creationId xmlns:p14="http://schemas.microsoft.com/office/powerpoint/2010/main" val="2444000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79769-3B28-CC48-AFB2-345BF93C78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Wireless and Mobile Networks: 7- </a:t>
            </a:r>
            <a:fld id="{C4204591-24BD-A542-B9D5-F8D8A88D2FEE}" type="slidenum">
              <a:rPr lang="en-US" smtClean="0"/>
              <a:pPr/>
              <a:t>6</a:t>
            </a:fld>
            <a:endParaRPr lang="en-US" dirty="0"/>
          </a:p>
        </p:txBody>
      </p:sp>
      <p:grpSp>
        <p:nvGrpSpPr>
          <p:cNvPr id="107" name="Group 356">
            <a:extLst>
              <a:ext uri="{FF2B5EF4-FFF2-40B4-BE49-F238E27FC236}">
                <a16:creationId xmlns:a16="http://schemas.microsoft.com/office/drawing/2014/main" id="{58A73542-A8C2-3747-8963-FA5E2C4C09C5}"/>
              </a:ext>
            </a:extLst>
          </p:cNvPr>
          <p:cNvGrpSpPr>
            <a:grpSpLocks/>
          </p:cNvGrpSpPr>
          <p:nvPr/>
        </p:nvGrpSpPr>
        <p:grpSpPr bwMode="auto">
          <a:xfrm>
            <a:off x="3567113" y="2183416"/>
            <a:ext cx="627062" cy="642937"/>
            <a:chOff x="313" y="1497"/>
            <a:chExt cx="1152" cy="1014"/>
          </a:xfrm>
        </p:grpSpPr>
        <p:pic>
          <p:nvPicPr>
            <p:cNvPr id="108" name="Picture 354" descr="laptop_stylized_small">
              <a:extLst>
                <a:ext uri="{FF2B5EF4-FFF2-40B4-BE49-F238E27FC236}">
                  <a16:creationId xmlns:a16="http://schemas.microsoft.com/office/drawing/2014/main" id="{B2EACC5A-1F17-F14E-B327-E3058A6142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9" name="Picture 355" descr="antenna_stylized">
              <a:extLst>
                <a:ext uri="{FF2B5EF4-FFF2-40B4-BE49-F238E27FC236}">
                  <a16:creationId xmlns:a16="http://schemas.microsoft.com/office/drawing/2014/main" id="{3DC5A5D2-F456-6C4C-B076-22D375BC32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11" name="Freeform 7">
            <a:extLst>
              <a:ext uri="{FF2B5EF4-FFF2-40B4-BE49-F238E27FC236}">
                <a16:creationId xmlns:a16="http://schemas.microsoft.com/office/drawing/2014/main" id="{F64D421C-A8EA-AA46-9CF6-1F440BA24764}"/>
              </a:ext>
            </a:extLst>
          </p:cNvPr>
          <p:cNvSpPr>
            <a:spLocks/>
          </p:cNvSpPr>
          <p:nvPr/>
        </p:nvSpPr>
        <p:spPr bwMode="auto">
          <a:xfrm>
            <a:off x="2101850" y="2026253"/>
            <a:ext cx="2020888" cy="1085850"/>
          </a:xfrm>
          <a:custGeom>
            <a:avLst/>
            <a:gdLst>
              <a:gd name="T0" fmla="*/ 2147483647 w 1273"/>
              <a:gd name="T1" fmla="*/ 2147483647 h 684"/>
              <a:gd name="T2" fmla="*/ 2147483647 w 1273"/>
              <a:gd name="T3" fmla="*/ 0 h 684"/>
              <a:gd name="T4" fmla="*/ 2147483647 w 1273"/>
              <a:gd name="T5" fmla="*/ 2147483647 h 684"/>
              <a:gd name="T6" fmla="*/ 2147483647 w 1273"/>
              <a:gd name="T7" fmla="*/ 2147483647 h 684"/>
              <a:gd name="T8" fmla="*/ 2147483647 w 1273"/>
              <a:gd name="T9" fmla="*/ 2147483647 h 684"/>
              <a:gd name="T10" fmla="*/ 2147483647 w 1273"/>
              <a:gd name="T11" fmla="*/ 2147483647 h 684"/>
              <a:gd name="T12" fmla="*/ 2147483647 w 1273"/>
              <a:gd name="T13" fmla="*/ 2147483647 h 684"/>
              <a:gd name="T14" fmla="*/ 2147483647 w 1273"/>
              <a:gd name="T15" fmla="*/ 2147483647 h 684"/>
              <a:gd name="T16" fmla="*/ 2147483647 w 1273"/>
              <a:gd name="T17" fmla="*/ 2147483647 h 684"/>
              <a:gd name="T18" fmla="*/ 0 w 1273"/>
              <a:gd name="T19" fmla="*/ 2147483647 h 68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273" h="684">
                <a:moveTo>
                  <a:pt x="9" y="675"/>
                </a:moveTo>
                <a:lnTo>
                  <a:pt x="316" y="0"/>
                </a:lnTo>
                <a:lnTo>
                  <a:pt x="461" y="228"/>
                </a:lnTo>
                <a:lnTo>
                  <a:pt x="510" y="119"/>
                </a:lnTo>
                <a:lnTo>
                  <a:pt x="631" y="467"/>
                </a:lnTo>
                <a:lnTo>
                  <a:pt x="667" y="391"/>
                </a:lnTo>
                <a:lnTo>
                  <a:pt x="739" y="464"/>
                </a:lnTo>
                <a:lnTo>
                  <a:pt x="1058" y="57"/>
                </a:lnTo>
                <a:lnTo>
                  <a:pt x="1273" y="684"/>
                </a:lnTo>
                <a:lnTo>
                  <a:pt x="0" y="674"/>
                </a:lnTo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00CC66"/>
              </a:gs>
            </a:gsLst>
            <a:lin ang="5400000" scaled="1"/>
          </a:gradFill>
          <a:ln w="9525" cap="flat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12" name="Line 26">
            <a:extLst>
              <a:ext uri="{FF2B5EF4-FFF2-40B4-BE49-F238E27FC236}">
                <a16:creationId xmlns:a16="http://schemas.microsoft.com/office/drawing/2014/main" id="{21069D36-C753-C94F-A501-02B3B81CDA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75025" y="3240691"/>
            <a:ext cx="998538" cy="16986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3" name="Line 27">
            <a:extLst>
              <a:ext uri="{FF2B5EF4-FFF2-40B4-BE49-F238E27FC236}">
                <a16:creationId xmlns:a16="http://schemas.microsoft.com/office/drawing/2014/main" id="{D088846B-014D-2C40-A52B-2FC53A963A1E}"/>
              </a:ext>
            </a:extLst>
          </p:cNvPr>
          <p:cNvSpPr>
            <a:spLocks noChangeShapeType="1"/>
          </p:cNvSpPr>
          <p:nvPr/>
        </p:nvSpPr>
        <p:spPr bwMode="auto">
          <a:xfrm>
            <a:off x="4048125" y="2761266"/>
            <a:ext cx="407988" cy="32226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" name="Text Box 28">
            <a:extLst>
              <a:ext uri="{FF2B5EF4-FFF2-40B4-BE49-F238E27FC236}">
                <a16:creationId xmlns:a16="http://schemas.microsoft.com/office/drawing/2014/main" id="{BB572165-F49B-6548-85B2-DCB2FAF232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3963" y="3132741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A</a:t>
            </a:r>
          </a:p>
        </p:txBody>
      </p:sp>
      <p:sp>
        <p:nvSpPr>
          <p:cNvPr id="115" name="Text Box 29">
            <a:extLst>
              <a:ext uri="{FF2B5EF4-FFF2-40B4-BE49-F238E27FC236}">
                <a16:creationId xmlns:a16="http://schemas.microsoft.com/office/drawing/2014/main" id="{F727CB4B-B31D-B44A-8126-9A73973F15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7288" y="2905728"/>
            <a:ext cx="338137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B</a:t>
            </a:r>
          </a:p>
        </p:txBody>
      </p:sp>
      <p:sp>
        <p:nvSpPr>
          <p:cNvPr id="116" name="Text Box 30">
            <a:extLst>
              <a:ext uri="{FF2B5EF4-FFF2-40B4-BE49-F238E27FC236}">
                <a16:creationId xmlns:a16="http://schemas.microsoft.com/office/drawing/2014/main" id="{E7687122-B847-5F42-A300-D5553034D2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4963" y="2200878"/>
            <a:ext cx="350837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C</a:t>
            </a:r>
          </a:p>
        </p:txBody>
      </p:sp>
      <p:sp>
        <p:nvSpPr>
          <p:cNvPr id="117" name="Rectangle 32">
            <a:extLst>
              <a:ext uri="{FF2B5EF4-FFF2-40B4-BE49-F238E27FC236}">
                <a16:creationId xmlns:a16="http://schemas.microsoft.com/office/drawing/2014/main" id="{849DF770-B526-8044-9F6D-6C14557B6A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063" y="1346255"/>
            <a:ext cx="5372099" cy="4529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75000"/>
              <a:buFont typeface="Wingdings" charset="0"/>
              <a:buNone/>
              <a:defRPr/>
            </a:pPr>
            <a:r>
              <a:rPr lang="en-US" sz="2800" dirty="0">
                <a:solidFill>
                  <a:srgbClr val="C00000"/>
                </a:solidFill>
                <a:ea typeface="ＭＳ Ｐゴシック" charset="0"/>
              </a:rPr>
              <a:t>Hidden terminal problem</a:t>
            </a:r>
          </a:p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75000"/>
              <a:buFont typeface="Wingdings" charset="0"/>
              <a:buNone/>
              <a:defRPr/>
            </a:pPr>
            <a:endParaRPr lang="en-US" sz="2800" dirty="0">
              <a:solidFill>
                <a:srgbClr val="C00000"/>
              </a:solidFill>
              <a:ea typeface="ＭＳ Ｐゴシック" charset="0"/>
            </a:endParaRPr>
          </a:p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75000"/>
              <a:buFont typeface="Wingdings" charset="0"/>
              <a:buNone/>
              <a:defRPr/>
            </a:pPr>
            <a:endParaRPr lang="en-US" sz="2800" dirty="0">
              <a:solidFill>
                <a:srgbClr val="C00000"/>
              </a:solidFill>
              <a:ea typeface="ＭＳ Ｐゴシック" charset="0"/>
            </a:endParaRPr>
          </a:p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75000"/>
              <a:buFont typeface="Wingdings" charset="0"/>
              <a:buNone/>
              <a:defRPr/>
            </a:pPr>
            <a:endParaRPr lang="en-US" sz="2800" dirty="0">
              <a:solidFill>
                <a:srgbClr val="C00000"/>
              </a:solidFill>
              <a:ea typeface="ＭＳ Ｐゴシック" charset="0"/>
            </a:endParaRPr>
          </a:p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75000"/>
              <a:buFont typeface="Wingdings" charset="0"/>
              <a:buNone/>
              <a:defRPr/>
            </a:pPr>
            <a:endParaRPr lang="en-US" sz="2800" dirty="0">
              <a:solidFill>
                <a:srgbClr val="C00000"/>
              </a:solidFill>
              <a:ea typeface="ＭＳ Ｐゴシック" charset="0"/>
            </a:endParaRPr>
          </a:p>
          <a:p>
            <a:pPr marL="277813" indent="-277813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B, A hear each other</a:t>
            </a:r>
          </a:p>
          <a:p>
            <a:pPr marL="277813" indent="-277813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B, C hear each other</a:t>
            </a:r>
          </a:p>
          <a:p>
            <a:pPr marL="277813" indent="-277813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A, C can not hear each other means A, C unaware of their interference at B</a:t>
            </a:r>
          </a:p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75000"/>
              <a:buFont typeface="Wingdings" charset="0"/>
              <a:buChar char="v"/>
              <a:defRPr/>
            </a:pPr>
            <a:endParaRPr lang="en-US" sz="20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131" name="Group 356">
            <a:extLst>
              <a:ext uri="{FF2B5EF4-FFF2-40B4-BE49-F238E27FC236}">
                <a16:creationId xmlns:a16="http://schemas.microsoft.com/office/drawing/2014/main" id="{4CA07968-03D3-0041-BCA1-C9FDA0B76EA9}"/>
              </a:ext>
            </a:extLst>
          </p:cNvPr>
          <p:cNvGrpSpPr>
            <a:grpSpLocks/>
          </p:cNvGrpSpPr>
          <p:nvPr/>
        </p:nvGrpSpPr>
        <p:grpSpPr bwMode="auto">
          <a:xfrm>
            <a:off x="4329113" y="2732691"/>
            <a:ext cx="627062" cy="642937"/>
            <a:chOff x="313" y="1497"/>
            <a:chExt cx="1152" cy="1014"/>
          </a:xfrm>
        </p:grpSpPr>
        <p:pic>
          <p:nvPicPr>
            <p:cNvPr id="132" name="Picture 354" descr="laptop_stylized_small">
              <a:extLst>
                <a:ext uri="{FF2B5EF4-FFF2-40B4-BE49-F238E27FC236}">
                  <a16:creationId xmlns:a16="http://schemas.microsoft.com/office/drawing/2014/main" id="{7306B260-74E1-5346-A521-CA70EAD7EE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" name="Picture 355" descr="antenna_stylized">
              <a:extLst>
                <a:ext uri="{FF2B5EF4-FFF2-40B4-BE49-F238E27FC236}">
                  <a16:creationId xmlns:a16="http://schemas.microsoft.com/office/drawing/2014/main" id="{C6C0BA51-6B06-3B4F-AAD9-C22224D558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34" name="Group 356">
            <a:extLst>
              <a:ext uri="{FF2B5EF4-FFF2-40B4-BE49-F238E27FC236}">
                <a16:creationId xmlns:a16="http://schemas.microsoft.com/office/drawing/2014/main" id="{CB4DEA0C-C72B-0346-A94A-CBBD910F3304}"/>
              </a:ext>
            </a:extLst>
          </p:cNvPr>
          <p:cNvGrpSpPr>
            <a:grpSpLocks/>
          </p:cNvGrpSpPr>
          <p:nvPr/>
        </p:nvGrpSpPr>
        <p:grpSpPr bwMode="auto">
          <a:xfrm>
            <a:off x="2805113" y="2873978"/>
            <a:ext cx="627062" cy="644525"/>
            <a:chOff x="313" y="1497"/>
            <a:chExt cx="1152" cy="1014"/>
          </a:xfrm>
        </p:grpSpPr>
        <p:pic>
          <p:nvPicPr>
            <p:cNvPr id="135" name="Picture 354" descr="laptop_stylized_small">
              <a:extLst>
                <a:ext uri="{FF2B5EF4-FFF2-40B4-BE49-F238E27FC236}">
                  <a16:creationId xmlns:a16="http://schemas.microsoft.com/office/drawing/2014/main" id="{A761A985-95DE-D44A-832C-B5DA904846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6" name="Picture 355" descr="antenna_stylized">
              <a:extLst>
                <a:ext uri="{FF2B5EF4-FFF2-40B4-BE49-F238E27FC236}">
                  <a16:creationId xmlns:a16="http://schemas.microsoft.com/office/drawing/2014/main" id="{446B3308-57E8-114D-BAF3-DDE4A94E2A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3F96E813-63D5-E389-F72E-7F852312C567}"/>
              </a:ext>
            </a:extLst>
          </p:cNvPr>
          <p:cNvGrpSpPr/>
          <p:nvPr/>
        </p:nvGrpSpPr>
        <p:grpSpPr>
          <a:xfrm>
            <a:off x="7153275" y="2333908"/>
            <a:ext cx="3659188" cy="2233612"/>
            <a:chOff x="7153275" y="1989138"/>
            <a:chExt cx="3659188" cy="2233612"/>
          </a:xfrm>
        </p:grpSpPr>
        <p:sp>
          <p:nvSpPr>
            <p:cNvPr id="118" name="Text Box 47">
              <a:extLst>
                <a:ext uri="{FF2B5EF4-FFF2-40B4-BE49-F238E27FC236}">
                  <a16:creationId xmlns:a16="http://schemas.microsoft.com/office/drawing/2014/main" id="{B8F31A07-848A-D74E-8DBD-79B37EA17F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53275" y="2127250"/>
              <a:ext cx="350838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119" name="Text Box 48">
              <a:extLst>
                <a:ext uri="{FF2B5EF4-FFF2-40B4-BE49-F238E27FC236}">
                  <a16:creationId xmlns:a16="http://schemas.microsoft.com/office/drawing/2014/main" id="{C56F1E10-F34C-5843-B22F-044D7AE1A8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63038" y="2124075"/>
              <a:ext cx="328612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B</a:t>
              </a:r>
            </a:p>
          </p:txBody>
        </p:sp>
        <p:sp>
          <p:nvSpPr>
            <p:cNvPr id="120" name="Text Box 49">
              <a:extLst>
                <a:ext uri="{FF2B5EF4-FFF2-40B4-BE49-F238E27FC236}">
                  <a16:creationId xmlns:a16="http://schemas.microsoft.com/office/drawing/2014/main" id="{8E660AD6-612A-EF49-8651-60E1F6568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44138" y="2166938"/>
              <a:ext cx="350837" cy="369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C</a:t>
              </a:r>
            </a:p>
          </p:txBody>
        </p:sp>
        <p:sp>
          <p:nvSpPr>
            <p:cNvPr id="121" name="Text Box 55">
              <a:extLst>
                <a:ext uri="{FF2B5EF4-FFF2-40B4-BE49-F238E27FC236}">
                  <a16:creationId xmlns:a16="http://schemas.microsoft.com/office/drawing/2014/main" id="{64FC93FB-1EDD-AE49-90C3-D92B5ADF99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26300" y="2954338"/>
              <a:ext cx="936625" cy="523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A</a:t>
              </a:r>
              <a:r>
                <a:rPr lang="ja-JP" altLang="en-US" sz="1400">
                  <a:solidFill>
                    <a:srgbClr val="FF0000"/>
                  </a:solidFill>
                  <a:latin typeface="Arial" charset="0"/>
                  <a:cs typeface="Arial" charset="0"/>
                </a:rPr>
                <a:t>’</a:t>
              </a:r>
              <a:r>
                <a:rPr lang="en-US" sz="14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s signal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strength</a:t>
              </a:r>
            </a:p>
          </p:txBody>
        </p:sp>
        <p:sp>
          <p:nvSpPr>
            <p:cNvPr id="122" name="Line 60">
              <a:extLst>
                <a:ext uri="{FF2B5EF4-FFF2-40B4-BE49-F238E27FC236}">
                  <a16:creationId xmlns:a16="http://schemas.microsoft.com/office/drawing/2014/main" id="{FABA226A-B439-064D-8234-9686E55063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88213" y="3983038"/>
              <a:ext cx="3263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23" name="Line 61">
              <a:extLst>
                <a:ext uri="{FF2B5EF4-FFF2-40B4-BE49-F238E27FC236}">
                  <a16:creationId xmlns:a16="http://schemas.microsoft.com/office/drawing/2014/main" id="{22C32468-EE2B-2E4C-B22A-60D2BC6BFF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34238" y="2803525"/>
              <a:ext cx="0" cy="11382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24" name="Freeform 62">
              <a:extLst>
                <a:ext uri="{FF2B5EF4-FFF2-40B4-BE49-F238E27FC236}">
                  <a16:creationId xmlns:a16="http://schemas.microsoft.com/office/drawing/2014/main" id="{4A0B08BE-766C-DE4A-820F-57A89FD06857}"/>
                </a:ext>
              </a:extLst>
            </p:cNvPr>
            <p:cNvSpPr>
              <a:spLocks/>
            </p:cNvSpPr>
            <p:nvPr/>
          </p:nvSpPr>
          <p:spPr bwMode="auto">
            <a:xfrm>
              <a:off x="7316788" y="2859088"/>
              <a:ext cx="2995612" cy="1081087"/>
            </a:xfrm>
            <a:custGeom>
              <a:avLst/>
              <a:gdLst>
                <a:gd name="T0" fmla="*/ 0 w 1887"/>
                <a:gd name="T1" fmla="*/ 0 h 681"/>
                <a:gd name="T2" fmla="*/ 2147483647 w 1887"/>
                <a:gd name="T3" fmla="*/ 2147483647 h 681"/>
                <a:gd name="T4" fmla="*/ 2147483647 w 1887"/>
                <a:gd name="T5" fmla="*/ 2147483647 h 681"/>
                <a:gd name="T6" fmla="*/ 2147483647 w 1887"/>
                <a:gd name="T7" fmla="*/ 2147483647 h 6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87" h="681">
                  <a:moveTo>
                    <a:pt x="0" y="0"/>
                  </a:moveTo>
                  <a:cubicBezTo>
                    <a:pt x="161" y="25"/>
                    <a:pt x="737" y="52"/>
                    <a:pt x="966" y="151"/>
                  </a:cubicBezTo>
                  <a:cubicBezTo>
                    <a:pt x="1195" y="250"/>
                    <a:pt x="1220" y="507"/>
                    <a:pt x="1373" y="594"/>
                  </a:cubicBezTo>
                  <a:cubicBezTo>
                    <a:pt x="1526" y="681"/>
                    <a:pt x="1780" y="657"/>
                    <a:pt x="1887" y="673"/>
                  </a:cubicBez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5" name="Text Box 63">
              <a:extLst>
                <a:ext uri="{FF2B5EF4-FFF2-40B4-BE49-F238E27FC236}">
                  <a16:creationId xmlns:a16="http://schemas.microsoft.com/office/drawing/2014/main" id="{F540644C-8058-2E44-97EC-92D26AD8F8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72500" y="3946525"/>
              <a:ext cx="593725" cy="276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2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space</a:t>
              </a:r>
            </a:p>
          </p:txBody>
        </p:sp>
        <p:sp>
          <p:nvSpPr>
            <p:cNvPr id="126" name="Freeform 65">
              <a:extLst>
                <a:ext uri="{FF2B5EF4-FFF2-40B4-BE49-F238E27FC236}">
                  <a16:creationId xmlns:a16="http://schemas.microsoft.com/office/drawing/2014/main" id="{C12F975E-D1B5-414F-8341-03DCBA174B3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7412038" y="2828925"/>
              <a:ext cx="2995612" cy="1081088"/>
            </a:xfrm>
            <a:custGeom>
              <a:avLst/>
              <a:gdLst>
                <a:gd name="T0" fmla="*/ 0 w 1887"/>
                <a:gd name="T1" fmla="*/ 0 h 681"/>
                <a:gd name="T2" fmla="*/ 2147483647 w 1887"/>
                <a:gd name="T3" fmla="*/ 2147483647 h 681"/>
                <a:gd name="T4" fmla="*/ 2147483647 w 1887"/>
                <a:gd name="T5" fmla="*/ 2147483647 h 681"/>
                <a:gd name="T6" fmla="*/ 2147483647 w 1887"/>
                <a:gd name="T7" fmla="*/ 2147483647 h 6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87" h="681">
                  <a:moveTo>
                    <a:pt x="0" y="0"/>
                  </a:moveTo>
                  <a:cubicBezTo>
                    <a:pt x="161" y="25"/>
                    <a:pt x="737" y="52"/>
                    <a:pt x="966" y="151"/>
                  </a:cubicBezTo>
                  <a:cubicBezTo>
                    <a:pt x="1195" y="250"/>
                    <a:pt x="1220" y="507"/>
                    <a:pt x="1373" y="594"/>
                  </a:cubicBezTo>
                  <a:cubicBezTo>
                    <a:pt x="1526" y="681"/>
                    <a:pt x="1780" y="657"/>
                    <a:pt x="1887" y="673"/>
                  </a:cubicBezTo>
                </a:path>
              </a:pathLst>
            </a:custGeom>
            <a:noFill/>
            <a:ln w="38100" cap="flat" cmpd="sng">
              <a:solidFill>
                <a:srgbClr val="3333CC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27" name="Text Box 66">
              <a:extLst>
                <a:ext uri="{FF2B5EF4-FFF2-40B4-BE49-F238E27FC236}">
                  <a16:creationId xmlns:a16="http://schemas.microsoft.com/office/drawing/2014/main" id="{65ACABD3-44F1-4A49-8D29-DA46DD5FE7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53613" y="2882900"/>
              <a:ext cx="958850" cy="523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dirty="0">
                  <a:solidFill>
                    <a:srgbClr val="3333CC"/>
                  </a:solidFill>
                  <a:latin typeface="Arial" charset="0"/>
                  <a:cs typeface="Arial" charset="0"/>
                </a:rPr>
                <a:t>C</a:t>
              </a:r>
              <a:r>
                <a:rPr lang="ja-JP" altLang="en-US" sz="1400">
                  <a:solidFill>
                    <a:srgbClr val="3333CC"/>
                  </a:solidFill>
                  <a:latin typeface="Arial" charset="0"/>
                  <a:cs typeface="Arial" charset="0"/>
                </a:rPr>
                <a:t>’</a:t>
              </a:r>
              <a:r>
                <a:rPr lang="en-US" sz="1400" dirty="0">
                  <a:solidFill>
                    <a:srgbClr val="3333CC"/>
                  </a:solidFill>
                  <a:latin typeface="Arial" charset="0"/>
                  <a:cs typeface="Arial" charset="0"/>
                </a:rPr>
                <a:t>s signal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dirty="0">
                  <a:solidFill>
                    <a:srgbClr val="3333CC"/>
                  </a:solidFill>
                  <a:latin typeface="Arial" charset="0"/>
                  <a:cs typeface="Arial" charset="0"/>
                </a:rPr>
                <a:t>strength</a:t>
              </a:r>
            </a:p>
          </p:txBody>
        </p:sp>
        <p:sp>
          <p:nvSpPr>
            <p:cNvPr id="128" name="Line 67">
              <a:extLst>
                <a:ext uri="{FF2B5EF4-FFF2-40B4-BE49-F238E27FC236}">
                  <a16:creationId xmlns:a16="http://schemas.microsoft.com/office/drawing/2014/main" id="{FA65E92F-3E66-5349-83A8-F1F9788C64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13650" y="2690813"/>
              <a:ext cx="26988" cy="12636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29" name="Line 68">
              <a:extLst>
                <a:ext uri="{FF2B5EF4-FFF2-40B4-BE49-F238E27FC236}">
                  <a16:creationId xmlns:a16="http://schemas.microsoft.com/office/drawing/2014/main" id="{FC263470-E015-7A4B-8414-9AF10F248E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34438" y="2759075"/>
              <a:ext cx="0" cy="12080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30" name="Line 69">
              <a:extLst>
                <a:ext uri="{FF2B5EF4-FFF2-40B4-BE49-F238E27FC236}">
                  <a16:creationId xmlns:a16="http://schemas.microsoft.com/office/drawing/2014/main" id="{582AF92B-D547-DD40-BF8A-97F1F22001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15525" y="2743200"/>
              <a:ext cx="0" cy="11811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37" name="Group 356">
              <a:extLst>
                <a:ext uri="{FF2B5EF4-FFF2-40B4-BE49-F238E27FC236}">
                  <a16:creationId xmlns:a16="http://schemas.microsoft.com/office/drawing/2014/main" id="{CB7E2FE1-4A7B-C84A-BAD4-7D68211470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40600" y="1989138"/>
              <a:ext cx="627063" cy="642937"/>
              <a:chOff x="313" y="1497"/>
              <a:chExt cx="1152" cy="1014"/>
            </a:xfrm>
          </p:grpSpPr>
          <p:pic>
            <p:nvPicPr>
              <p:cNvPr id="138" name="Picture 354" descr="laptop_stylized_small">
                <a:extLst>
                  <a:ext uri="{FF2B5EF4-FFF2-40B4-BE49-F238E27FC236}">
                    <a16:creationId xmlns:a16="http://schemas.microsoft.com/office/drawing/2014/main" id="{AA79C3F4-46C7-0349-85E1-BA552B997E3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39" name="Picture 355" descr="antenna_stylized">
                <a:extLst>
                  <a:ext uri="{FF2B5EF4-FFF2-40B4-BE49-F238E27FC236}">
                    <a16:creationId xmlns:a16="http://schemas.microsoft.com/office/drawing/2014/main" id="{4E6FF8B2-4F7E-B945-BE46-C86EBBCBE28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40" name="Group 356">
              <a:extLst>
                <a:ext uri="{FF2B5EF4-FFF2-40B4-BE49-F238E27FC236}">
                  <a16:creationId xmlns:a16="http://schemas.microsoft.com/office/drawing/2014/main" id="{D72B8EE2-805B-4341-8FF7-2156BB1248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29638" y="2028825"/>
              <a:ext cx="627062" cy="644525"/>
              <a:chOff x="313" y="1497"/>
              <a:chExt cx="1152" cy="1014"/>
            </a:xfrm>
          </p:grpSpPr>
          <p:pic>
            <p:nvPicPr>
              <p:cNvPr id="141" name="Picture 354" descr="laptop_stylized_small">
                <a:extLst>
                  <a:ext uri="{FF2B5EF4-FFF2-40B4-BE49-F238E27FC236}">
                    <a16:creationId xmlns:a16="http://schemas.microsoft.com/office/drawing/2014/main" id="{293E3A24-0E7E-C64F-AE1D-F2A4EBBDD62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2" name="Picture 355" descr="antenna_stylized">
                <a:extLst>
                  <a:ext uri="{FF2B5EF4-FFF2-40B4-BE49-F238E27FC236}">
                    <a16:creationId xmlns:a16="http://schemas.microsoft.com/office/drawing/2014/main" id="{456A11D2-A09B-574E-BA78-CF1896EC17B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143" name="Group 356">
            <a:extLst>
              <a:ext uri="{FF2B5EF4-FFF2-40B4-BE49-F238E27FC236}">
                <a16:creationId xmlns:a16="http://schemas.microsoft.com/office/drawing/2014/main" id="{5473C3B0-61A5-E547-88B5-91B90BF959BC}"/>
              </a:ext>
            </a:extLst>
          </p:cNvPr>
          <p:cNvGrpSpPr>
            <a:grpSpLocks/>
          </p:cNvGrpSpPr>
          <p:nvPr/>
        </p:nvGrpSpPr>
        <p:grpSpPr bwMode="auto">
          <a:xfrm>
            <a:off x="9605963" y="1958975"/>
            <a:ext cx="627062" cy="642938"/>
            <a:chOff x="313" y="1497"/>
            <a:chExt cx="1152" cy="1014"/>
          </a:xfrm>
        </p:grpSpPr>
        <p:pic>
          <p:nvPicPr>
            <p:cNvPr id="144" name="Picture 354" descr="laptop_stylized_small">
              <a:extLst>
                <a:ext uri="{FF2B5EF4-FFF2-40B4-BE49-F238E27FC236}">
                  <a16:creationId xmlns:a16="http://schemas.microsoft.com/office/drawing/2014/main" id="{ACC81BEE-6A25-1047-B556-F5C390402B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5" name="Picture 355" descr="antenna_stylized">
              <a:extLst>
                <a:ext uri="{FF2B5EF4-FFF2-40B4-BE49-F238E27FC236}">
                  <a16:creationId xmlns:a16="http://schemas.microsoft.com/office/drawing/2014/main" id="{13857146-FCD5-1B4A-A5AA-EB8B2F5A6D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46" name="Rectangle 70">
            <a:extLst>
              <a:ext uri="{FF2B5EF4-FFF2-40B4-BE49-F238E27FC236}">
                <a16:creationId xmlns:a16="http://schemas.microsoft.com/office/drawing/2014/main" id="{74CC21E7-8D8F-BE42-B6A9-4A812307A7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7532" y="1346255"/>
            <a:ext cx="5591537" cy="5096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charset="0"/>
              <a:buNone/>
              <a:defRPr/>
            </a:pPr>
            <a:r>
              <a:rPr lang="en-US" sz="2800" dirty="0">
                <a:solidFill>
                  <a:srgbClr val="C00000"/>
                </a:solidFill>
                <a:cs typeface="+mn-cs"/>
              </a:rPr>
              <a:t>Attenuation</a:t>
            </a:r>
            <a:r>
              <a:rPr lang="en-US" sz="2400" dirty="0">
                <a:solidFill>
                  <a:srgbClr val="C00000"/>
                </a:solidFill>
                <a:cs typeface="+mn-cs"/>
              </a:rPr>
              <a:t> also causes “hidden terminals”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charset="0"/>
              <a:buNone/>
              <a:defRPr/>
            </a:pPr>
            <a:endParaRPr lang="en-US" sz="2400" dirty="0">
              <a:solidFill>
                <a:srgbClr val="C00000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charset="0"/>
              <a:buNone/>
              <a:defRPr/>
            </a:pPr>
            <a:endParaRPr lang="en-US" sz="2400" dirty="0">
              <a:solidFill>
                <a:srgbClr val="C00000"/>
              </a:solidFill>
              <a:cs typeface="+mn-cs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charset="0"/>
              <a:buNone/>
              <a:defRPr/>
            </a:pPr>
            <a:endParaRPr lang="en-US" sz="2400" dirty="0">
              <a:solidFill>
                <a:srgbClr val="C00000"/>
              </a:solidFill>
              <a:cs typeface="+mn-cs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charset="0"/>
              <a:buNone/>
              <a:defRPr/>
            </a:pPr>
            <a:endParaRPr lang="en-US" sz="2400" dirty="0">
              <a:solidFill>
                <a:srgbClr val="C00000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charset="0"/>
              <a:buNone/>
              <a:defRPr/>
            </a:pPr>
            <a:endParaRPr lang="en-US" sz="2400" dirty="0">
              <a:solidFill>
                <a:srgbClr val="C00000"/>
              </a:solidFill>
              <a:cs typeface="+mn-cs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charset="0"/>
              <a:buNone/>
              <a:defRPr/>
            </a:pPr>
            <a:endParaRPr lang="en-US" sz="2400" dirty="0">
              <a:solidFill>
                <a:srgbClr val="C00000"/>
              </a:solidFill>
              <a:cs typeface="+mn-cs"/>
            </a:endParaRPr>
          </a:p>
          <a:p>
            <a:pPr marL="277813" indent="-277813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cs typeface="+mn-cs"/>
              </a:rPr>
              <a:t>B, A hear each other</a:t>
            </a:r>
          </a:p>
          <a:p>
            <a:pPr marL="277813" indent="-277813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cs typeface="+mn-cs"/>
              </a:rPr>
              <a:t>B, C hear each other</a:t>
            </a:r>
          </a:p>
          <a:p>
            <a:pPr marL="277813" indent="-277813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cs typeface="+mn-cs"/>
              </a:rPr>
              <a:t>A, C can not hear each other interfering at B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60D8960B-043D-F875-3096-F0FE30791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63" y="251553"/>
            <a:ext cx="10515600" cy="894622"/>
          </a:xfrm>
        </p:spPr>
        <p:txBody>
          <a:bodyPr>
            <a:normAutofit fontScale="90000"/>
          </a:bodyPr>
          <a:lstStyle/>
          <a:p>
            <a:r>
              <a:rPr lang="en-US" dirty="0"/>
              <a:t>Wireless link characteristics: hidden terminals</a:t>
            </a:r>
          </a:p>
        </p:txBody>
      </p:sp>
    </p:spTree>
    <p:extLst>
      <p:ext uri="{BB962C8B-B14F-4D97-AF65-F5344CB8AC3E}">
        <p14:creationId xmlns:p14="http://schemas.microsoft.com/office/powerpoint/2010/main" val="3014229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1FB7CC-D2A5-C749-8D9F-01B9FA129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0" y="235921"/>
            <a:ext cx="10515600" cy="894622"/>
          </a:xfrm>
        </p:spPr>
        <p:txBody>
          <a:bodyPr/>
          <a:lstStyle/>
          <a:p>
            <a:r>
              <a:rPr lang="en-US" dirty="0"/>
              <a:t>802.11 LAN 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79769-3B28-CC48-AFB2-345BF93C78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Wireless and Mobile Networks: 7- </a:t>
            </a:r>
            <a:fld id="{C4204591-24BD-A542-B9D5-F8D8A88D2FE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5" name="Rectangle 4">
            <a:extLst>
              <a:ext uri="{FF2B5EF4-FFF2-40B4-BE49-F238E27FC236}">
                <a16:creationId xmlns:a16="http://schemas.microsoft.com/office/drawing/2014/main" id="{522C7583-5DB7-A04E-B444-4C5E2EAAF1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0600" y="1949450"/>
            <a:ext cx="5524500" cy="434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wireless host communicates with base station</a:t>
            </a:r>
          </a:p>
          <a:p>
            <a:pPr marL="800100" lvl="1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/>
            </a:pPr>
            <a:r>
              <a:rPr lang="en-US" sz="2800" dirty="0">
                <a:solidFill>
                  <a:srgbClr val="C00000"/>
                </a:solidFill>
                <a:ea typeface="ＭＳ Ｐゴシック" charset="0"/>
              </a:rPr>
              <a:t>base station = access point (AP</a:t>
            </a:r>
            <a:r>
              <a:rPr lang="en-US" sz="2400" dirty="0">
                <a:solidFill>
                  <a:srgbClr val="C00000"/>
                </a:solidFill>
                <a:ea typeface="ＭＳ Ｐゴシック" charset="0"/>
              </a:rPr>
              <a:t>)</a:t>
            </a:r>
          </a:p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dirty="0">
                <a:solidFill>
                  <a:srgbClr val="C00000"/>
                </a:solidFill>
                <a:ea typeface="ＭＳ Ｐゴシック" charset="0"/>
              </a:rPr>
              <a:t>Basic Service Set (BSS) </a:t>
            </a: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(aka “cell”) in infrastructure mode contains:</a:t>
            </a:r>
          </a:p>
          <a:p>
            <a:pPr marL="695325" lvl="1" indent="-238125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/>
            </a:pP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wireless hosts</a:t>
            </a:r>
          </a:p>
          <a:p>
            <a:pPr marL="695325" lvl="1" indent="-238125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/>
            </a:pP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access point (AP): base station</a:t>
            </a:r>
          </a:p>
          <a:p>
            <a:pPr marL="695325" lvl="1" indent="-238125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/>
            </a:pP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ad hoc mode: hosts only</a:t>
            </a:r>
            <a:endParaRPr lang="en-US" sz="2400" dirty="0">
              <a:solidFill>
                <a:srgbClr val="000000"/>
              </a:solidFill>
              <a:ea typeface="ＭＳ Ｐゴシック" charset="0"/>
            </a:endParaRPr>
          </a:p>
        </p:txBody>
      </p:sp>
      <p:sp>
        <p:nvSpPr>
          <p:cNvPr id="80" name="Text Box 24">
            <a:extLst>
              <a:ext uri="{FF2B5EF4-FFF2-40B4-BE49-F238E27FC236}">
                <a16:creationId xmlns:a16="http://schemas.microsoft.com/office/drawing/2014/main" id="{992CA830-F801-5E41-9522-2E52734700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6075" y="4538663"/>
            <a:ext cx="10541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BSS 1</a:t>
            </a:r>
          </a:p>
        </p:txBody>
      </p:sp>
      <p:sp>
        <p:nvSpPr>
          <p:cNvPr id="81" name="Text Box 27">
            <a:extLst>
              <a:ext uri="{FF2B5EF4-FFF2-40B4-BE49-F238E27FC236}">
                <a16:creationId xmlns:a16="http://schemas.microsoft.com/office/drawing/2014/main" id="{B0546C5A-2746-4344-9C08-4FA6075815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0013" y="6111875"/>
            <a:ext cx="8540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BSS 2</a:t>
            </a:r>
          </a:p>
        </p:txBody>
      </p:sp>
      <p:sp>
        <p:nvSpPr>
          <p:cNvPr id="82" name="Line 28">
            <a:extLst>
              <a:ext uri="{FF2B5EF4-FFF2-40B4-BE49-F238E27FC236}">
                <a16:creationId xmlns:a16="http://schemas.microsoft.com/office/drawing/2014/main" id="{A881C663-D838-244D-B5B5-54FE15109F8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75088" y="2570163"/>
            <a:ext cx="214312" cy="9080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83" name="Group 29">
            <a:extLst>
              <a:ext uri="{FF2B5EF4-FFF2-40B4-BE49-F238E27FC236}">
                <a16:creationId xmlns:a16="http://schemas.microsoft.com/office/drawing/2014/main" id="{7A8DA315-E9CE-554E-9F1D-29AAB969A49E}"/>
              </a:ext>
            </a:extLst>
          </p:cNvPr>
          <p:cNvGrpSpPr>
            <a:grpSpLocks/>
          </p:cNvGrpSpPr>
          <p:nvPr/>
        </p:nvGrpSpPr>
        <p:grpSpPr bwMode="auto">
          <a:xfrm>
            <a:off x="3146425" y="1389063"/>
            <a:ext cx="1978025" cy="1444625"/>
            <a:chOff x="3744" y="1392"/>
            <a:chExt cx="1488" cy="1110"/>
          </a:xfrm>
        </p:grpSpPr>
        <p:sp>
          <p:nvSpPr>
            <p:cNvPr id="84" name="Freeform 30">
              <a:extLst>
                <a:ext uri="{FF2B5EF4-FFF2-40B4-BE49-F238E27FC236}">
                  <a16:creationId xmlns:a16="http://schemas.microsoft.com/office/drawing/2014/main" id="{F2E21339-7A8C-5D48-AF8F-C1DAC9B798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4" y="1392"/>
              <a:ext cx="1488" cy="1110"/>
            </a:xfrm>
            <a:custGeom>
              <a:avLst/>
              <a:gdLst>
                <a:gd name="T0" fmla="*/ 3 w 2135"/>
                <a:gd name="T1" fmla="*/ 58 h 1662"/>
                <a:gd name="T2" fmla="*/ 12 w 2135"/>
                <a:gd name="T3" fmla="*/ 7 h 1662"/>
                <a:gd name="T4" fmla="*/ 75 w 2135"/>
                <a:gd name="T5" fmla="*/ 17 h 1662"/>
                <a:gd name="T6" fmla="*/ 139 w 2135"/>
                <a:gd name="T7" fmla="*/ 9 h 1662"/>
                <a:gd name="T8" fmla="*/ 229 w 2135"/>
                <a:gd name="T9" fmla="*/ 36 h 1662"/>
                <a:gd name="T10" fmla="*/ 231 w 2135"/>
                <a:gd name="T11" fmla="*/ 102 h 1662"/>
                <a:gd name="T12" fmla="*/ 181 w 2135"/>
                <a:gd name="T13" fmla="*/ 142 h 1662"/>
                <a:gd name="T14" fmla="*/ 93 w 2135"/>
                <a:gd name="T15" fmla="*/ 134 h 1662"/>
                <a:gd name="T16" fmla="*/ 57 w 2135"/>
                <a:gd name="T17" fmla="*/ 112 h 1662"/>
                <a:gd name="T18" fmla="*/ 21 w 2135"/>
                <a:gd name="T19" fmla="*/ 95 h 1662"/>
                <a:gd name="T20" fmla="*/ 3 w 2135"/>
                <a:gd name="T21" fmla="*/ 58 h 16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135" h="1662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85" name="Text Box 31">
              <a:extLst>
                <a:ext uri="{FF2B5EF4-FFF2-40B4-BE49-F238E27FC236}">
                  <a16:creationId xmlns:a16="http://schemas.microsoft.com/office/drawing/2014/main" id="{B96C3D36-7A66-4448-A65B-547CD0CB5E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9" y="1776"/>
              <a:ext cx="727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Internet</a:t>
              </a:r>
            </a:p>
          </p:txBody>
        </p:sp>
      </p:grpSp>
      <p:sp>
        <p:nvSpPr>
          <p:cNvPr id="86" name="Text Box 32">
            <a:extLst>
              <a:ext uri="{FF2B5EF4-FFF2-40B4-BE49-F238E27FC236}">
                <a16:creationId xmlns:a16="http://schemas.microsoft.com/office/drawing/2014/main" id="{53B410B4-2FD8-8541-9CCC-815C6736E3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6838" y="3319463"/>
            <a:ext cx="1452562" cy="722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dirty="0">
                <a:solidFill>
                  <a:srgbClr val="000000"/>
                </a:solidFill>
                <a:latin typeface="+mn-lt"/>
                <a:cs typeface="Arial" charset="0"/>
              </a:rPr>
              <a:t>switch</a:t>
            </a:r>
          </a:p>
          <a:p>
            <a:pPr algn="ctr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dirty="0">
                <a:solidFill>
                  <a:srgbClr val="000000"/>
                </a:solidFill>
                <a:latin typeface="+mn-lt"/>
                <a:cs typeface="Arial" charset="0"/>
              </a:rPr>
              <a:t> or router</a:t>
            </a:r>
          </a:p>
        </p:txBody>
      </p:sp>
      <p:sp>
        <p:nvSpPr>
          <p:cNvPr id="87" name="Oval 23">
            <a:extLst>
              <a:ext uri="{FF2B5EF4-FFF2-40B4-BE49-F238E27FC236}">
                <a16:creationId xmlns:a16="http://schemas.microsoft.com/office/drawing/2014/main" id="{16394D94-38BE-9446-9C90-45DFEB64F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863" y="2760663"/>
            <a:ext cx="1960562" cy="1798637"/>
          </a:xfrm>
          <a:prstGeom prst="ellipse">
            <a:avLst/>
          </a:pr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88" name="Group 361">
            <a:extLst>
              <a:ext uri="{FF2B5EF4-FFF2-40B4-BE49-F238E27FC236}">
                <a16:creationId xmlns:a16="http://schemas.microsoft.com/office/drawing/2014/main" id="{3A07A5C0-AEBD-4C4A-9DA9-838D52E21C0C}"/>
              </a:ext>
            </a:extLst>
          </p:cNvPr>
          <p:cNvGrpSpPr>
            <a:grpSpLocks/>
          </p:cNvGrpSpPr>
          <p:nvPr/>
        </p:nvGrpSpPr>
        <p:grpSpPr bwMode="auto">
          <a:xfrm>
            <a:off x="2252663" y="3187700"/>
            <a:ext cx="639762" cy="581025"/>
            <a:chOff x="2967" y="478"/>
            <a:chExt cx="788" cy="625"/>
          </a:xfrm>
        </p:grpSpPr>
        <p:pic>
          <p:nvPicPr>
            <p:cNvPr id="89" name="Picture 358" descr="access_point_stylized_small">
              <a:extLst>
                <a:ext uri="{FF2B5EF4-FFF2-40B4-BE49-F238E27FC236}">
                  <a16:creationId xmlns:a16="http://schemas.microsoft.com/office/drawing/2014/main" id="{52F74014-97B8-9941-9C75-0884DEE536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0" name="Picture 360" descr="antenna_radiation_stylized">
              <a:extLst>
                <a:ext uri="{FF2B5EF4-FFF2-40B4-BE49-F238E27FC236}">
                  <a16:creationId xmlns:a16="http://schemas.microsoft.com/office/drawing/2014/main" id="{1BB3BA0B-C9DA-9845-A028-30FB7E6E3D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91" name="Group 356">
            <a:extLst>
              <a:ext uri="{FF2B5EF4-FFF2-40B4-BE49-F238E27FC236}">
                <a16:creationId xmlns:a16="http://schemas.microsoft.com/office/drawing/2014/main" id="{FA2AE9C1-F328-EE4D-942E-436A9E52B613}"/>
              </a:ext>
            </a:extLst>
          </p:cNvPr>
          <p:cNvGrpSpPr>
            <a:grpSpLocks/>
          </p:cNvGrpSpPr>
          <p:nvPr/>
        </p:nvGrpSpPr>
        <p:grpSpPr bwMode="auto">
          <a:xfrm>
            <a:off x="2497138" y="3746500"/>
            <a:ext cx="436562" cy="498475"/>
            <a:chOff x="313" y="1497"/>
            <a:chExt cx="1152" cy="1014"/>
          </a:xfrm>
        </p:grpSpPr>
        <p:pic>
          <p:nvPicPr>
            <p:cNvPr id="92" name="Picture 354" descr="laptop_stylized_small">
              <a:extLst>
                <a:ext uri="{FF2B5EF4-FFF2-40B4-BE49-F238E27FC236}">
                  <a16:creationId xmlns:a16="http://schemas.microsoft.com/office/drawing/2014/main" id="{46AA2232-0193-5C47-9B73-A5642D282F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3" name="Picture 355" descr="antenna_stylized">
              <a:extLst>
                <a:ext uri="{FF2B5EF4-FFF2-40B4-BE49-F238E27FC236}">
                  <a16:creationId xmlns:a16="http://schemas.microsoft.com/office/drawing/2014/main" id="{0C2BE08B-587E-0A48-A0C6-813D76AE09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94" name="Group 403">
            <a:extLst>
              <a:ext uri="{FF2B5EF4-FFF2-40B4-BE49-F238E27FC236}">
                <a16:creationId xmlns:a16="http://schemas.microsoft.com/office/drawing/2014/main" id="{F975DAA7-6D67-DC4A-B1F7-484A12E444AF}"/>
              </a:ext>
            </a:extLst>
          </p:cNvPr>
          <p:cNvGrpSpPr>
            <a:grpSpLocks/>
          </p:cNvGrpSpPr>
          <p:nvPr/>
        </p:nvGrpSpPr>
        <p:grpSpPr bwMode="auto">
          <a:xfrm>
            <a:off x="1825625" y="2954338"/>
            <a:ext cx="446088" cy="382587"/>
            <a:chOff x="2751" y="1851"/>
            <a:chExt cx="462" cy="478"/>
          </a:xfrm>
        </p:grpSpPr>
        <p:pic>
          <p:nvPicPr>
            <p:cNvPr id="95" name="Picture 364" descr="iphone_stylized_small">
              <a:extLst>
                <a:ext uri="{FF2B5EF4-FFF2-40B4-BE49-F238E27FC236}">
                  <a16:creationId xmlns:a16="http://schemas.microsoft.com/office/drawing/2014/main" id="{7E212BAD-8745-8A4C-9209-574283406A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6" name="Picture 402" descr="antenna_radiation_stylized">
              <a:extLst>
                <a:ext uri="{FF2B5EF4-FFF2-40B4-BE49-F238E27FC236}">
                  <a16:creationId xmlns:a16="http://schemas.microsoft.com/office/drawing/2014/main" id="{122C274E-D092-394D-883F-788A799C5D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97" name="Group 356">
            <a:extLst>
              <a:ext uri="{FF2B5EF4-FFF2-40B4-BE49-F238E27FC236}">
                <a16:creationId xmlns:a16="http://schemas.microsoft.com/office/drawing/2014/main" id="{B73B7092-9FA9-FE49-A984-C67B677659A6}"/>
              </a:ext>
            </a:extLst>
          </p:cNvPr>
          <p:cNvGrpSpPr>
            <a:grpSpLocks/>
          </p:cNvGrpSpPr>
          <p:nvPr/>
        </p:nvGrpSpPr>
        <p:grpSpPr bwMode="auto">
          <a:xfrm>
            <a:off x="1846263" y="3624263"/>
            <a:ext cx="436562" cy="498475"/>
            <a:chOff x="313" y="1497"/>
            <a:chExt cx="1152" cy="1014"/>
          </a:xfrm>
        </p:grpSpPr>
        <p:pic>
          <p:nvPicPr>
            <p:cNvPr id="98" name="Picture 354" descr="laptop_stylized_small">
              <a:extLst>
                <a:ext uri="{FF2B5EF4-FFF2-40B4-BE49-F238E27FC236}">
                  <a16:creationId xmlns:a16="http://schemas.microsoft.com/office/drawing/2014/main" id="{99E83124-2B6C-E948-B41B-343D4C0473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9" name="Picture 355" descr="antenna_stylized">
              <a:extLst>
                <a:ext uri="{FF2B5EF4-FFF2-40B4-BE49-F238E27FC236}">
                  <a16:creationId xmlns:a16="http://schemas.microsoft.com/office/drawing/2014/main" id="{BF9AE632-6D4A-3540-96FA-45E1D43C91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00" name="Group 356">
            <a:extLst>
              <a:ext uri="{FF2B5EF4-FFF2-40B4-BE49-F238E27FC236}">
                <a16:creationId xmlns:a16="http://schemas.microsoft.com/office/drawing/2014/main" id="{BBB2279A-7880-F64F-BEF1-599C422B5DED}"/>
              </a:ext>
            </a:extLst>
          </p:cNvPr>
          <p:cNvGrpSpPr>
            <a:grpSpLocks/>
          </p:cNvGrpSpPr>
          <p:nvPr/>
        </p:nvGrpSpPr>
        <p:grpSpPr bwMode="auto">
          <a:xfrm>
            <a:off x="1419225" y="3238500"/>
            <a:ext cx="438150" cy="498475"/>
            <a:chOff x="313" y="1497"/>
            <a:chExt cx="1152" cy="1014"/>
          </a:xfrm>
        </p:grpSpPr>
        <p:pic>
          <p:nvPicPr>
            <p:cNvPr id="101" name="Picture 354" descr="laptop_stylized_small">
              <a:extLst>
                <a:ext uri="{FF2B5EF4-FFF2-40B4-BE49-F238E27FC236}">
                  <a16:creationId xmlns:a16="http://schemas.microsoft.com/office/drawing/2014/main" id="{378BE288-2CAF-2346-A6D7-9A6CB477A2B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" name="Picture 355" descr="antenna_stylized">
              <a:extLst>
                <a:ext uri="{FF2B5EF4-FFF2-40B4-BE49-F238E27FC236}">
                  <a16:creationId xmlns:a16="http://schemas.microsoft.com/office/drawing/2014/main" id="{C9FC9F73-A1C3-6D40-B876-2FAE3AD6FD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3" name="Line 26">
            <a:extLst>
              <a:ext uri="{FF2B5EF4-FFF2-40B4-BE49-F238E27FC236}">
                <a16:creationId xmlns:a16="http://schemas.microsoft.com/office/drawing/2014/main" id="{FFA071D2-8D76-264C-A650-850F6C5543BC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9225" y="3617913"/>
            <a:ext cx="10223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04" name="Oval 23">
            <a:extLst>
              <a:ext uri="{FF2B5EF4-FFF2-40B4-BE49-F238E27FC236}">
                <a16:creationId xmlns:a16="http://schemas.microsoft.com/office/drawing/2014/main" id="{C130F34B-FA29-E64C-9FEA-A98310B823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75" y="4221163"/>
            <a:ext cx="1960563" cy="1798637"/>
          </a:xfrm>
          <a:prstGeom prst="ellipse">
            <a:avLst/>
          </a:pr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105" name="Group 361">
            <a:extLst>
              <a:ext uri="{FF2B5EF4-FFF2-40B4-BE49-F238E27FC236}">
                <a16:creationId xmlns:a16="http://schemas.microsoft.com/office/drawing/2014/main" id="{BDFB8667-5290-5B43-A841-425499A3D9F5}"/>
              </a:ext>
            </a:extLst>
          </p:cNvPr>
          <p:cNvGrpSpPr>
            <a:grpSpLocks/>
          </p:cNvGrpSpPr>
          <p:nvPr/>
        </p:nvGrpSpPr>
        <p:grpSpPr bwMode="auto">
          <a:xfrm>
            <a:off x="4448175" y="4648200"/>
            <a:ext cx="639763" cy="581025"/>
            <a:chOff x="2967" y="478"/>
            <a:chExt cx="788" cy="625"/>
          </a:xfrm>
        </p:grpSpPr>
        <p:pic>
          <p:nvPicPr>
            <p:cNvPr id="106" name="Picture 358" descr="access_point_stylized_small">
              <a:extLst>
                <a:ext uri="{FF2B5EF4-FFF2-40B4-BE49-F238E27FC236}">
                  <a16:creationId xmlns:a16="http://schemas.microsoft.com/office/drawing/2014/main" id="{42901DE5-3C49-A741-9CBA-DE06E2745E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7" name="Picture 360" descr="antenna_radiation_stylized">
              <a:extLst>
                <a:ext uri="{FF2B5EF4-FFF2-40B4-BE49-F238E27FC236}">
                  <a16:creationId xmlns:a16="http://schemas.microsoft.com/office/drawing/2014/main" id="{C7CA1512-DC17-E34A-8EB4-97D5467FDB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08" name="Group 356">
            <a:extLst>
              <a:ext uri="{FF2B5EF4-FFF2-40B4-BE49-F238E27FC236}">
                <a16:creationId xmlns:a16="http://schemas.microsoft.com/office/drawing/2014/main" id="{26F354D7-2D9B-234A-B2A0-5F2DBA9DEA00}"/>
              </a:ext>
            </a:extLst>
          </p:cNvPr>
          <p:cNvGrpSpPr>
            <a:grpSpLocks/>
          </p:cNvGrpSpPr>
          <p:nvPr/>
        </p:nvGrpSpPr>
        <p:grpSpPr bwMode="auto">
          <a:xfrm>
            <a:off x="4691063" y="5207000"/>
            <a:ext cx="436562" cy="498475"/>
            <a:chOff x="313" y="1497"/>
            <a:chExt cx="1152" cy="1014"/>
          </a:xfrm>
        </p:grpSpPr>
        <p:pic>
          <p:nvPicPr>
            <p:cNvPr id="109" name="Picture 354" descr="laptop_stylized_small">
              <a:extLst>
                <a:ext uri="{FF2B5EF4-FFF2-40B4-BE49-F238E27FC236}">
                  <a16:creationId xmlns:a16="http://schemas.microsoft.com/office/drawing/2014/main" id="{BCB9D968-4DAC-4942-8416-6D02896F4C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0" name="Picture 355" descr="antenna_stylized">
              <a:extLst>
                <a:ext uri="{FF2B5EF4-FFF2-40B4-BE49-F238E27FC236}">
                  <a16:creationId xmlns:a16="http://schemas.microsoft.com/office/drawing/2014/main" id="{63924E93-C285-0447-87FD-E5D8BE984F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11" name="Group 403">
            <a:extLst>
              <a:ext uri="{FF2B5EF4-FFF2-40B4-BE49-F238E27FC236}">
                <a16:creationId xmlns:a16="http://schemas.microsoft.com/office/drawing/2014/main" id="{B543494D-A929-0A4C-8CF2-88888239E2BE}"/>
              </a:ext>
            </a:extLst>
          </p:cNvPr>
          <p:cNvGrpSpPr>
            <a:grpSpLocks/>
          </p:cNvGrpSpPr>
          <p:nvPr/>
        </p:nvGrpSpPr>
        <p:grpSpPr bwMode="auto">
          <a:xfrm>
            <a:off x="4233863" y="5197475"/>
            <a:ext cx="569912" cy="544513"/>
            <a:chOff x="2751" y="1851"/>
            <a:chExt cx="462" cy="478"/>
          </a:xfrm>
        </p:grpSpPr>
        <p:pic>
          <p:nvPicPr>
            <p:cNvPr id="112" name="Picture 364" descr="iphone_stylized_small">
              <a:extLst>
                <a:ext uri="{FF2B5EF4-FFF2-40B4-BE49-F238E27FC236}">
                  <a16:creationId xmlns:a16="http://schemas.microsoft.com/office/drawing/2014/main" id="{CB5DF627-60A3-8641-B134-B2B81F4D14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3" name="Picture 402" descr="antenna_radiation_stylized">
              <a:extLst>
                <a:ext uri="{FF2B5EF4-FFF2-40B4-BE49-F238E27FC236}">
                  <a16:creationId xmlns:a16="http://schemas.microsoft.com/office/drawing/2014/main" id="{7658C1BB-16FA-B44A-A116-22C44E2E64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14" name="Group 356">
            <a:extLst>
              <a:ext uri="{FF2B5EF4-FFF2-40B4-BE49-F238E27FC236}">
                <a16:creationId xmlns:a16="http://schemas.microsoft.com/office/drawing/2014/main" id="{7BAEF5AE-1464-9D46-8D44-33FF1AA7FE8C}"/>
              </a:ext>
            </a:extLst>
          </p:cNvPr>
          <p:cNvGrpSpPr>
            <a:grpSpLocks/>
          </p:cNvGrpSpPr>
          <p:nvPr/>
        </p:nvGrpSpPr>
        <p:grpSpPr bwMode="auto">
          <a:xfrm>
            <a:off x="3776663" y="5216525"/>
            <a:ext cx="436562" cy="498475"/>
            <a:chOff x="313" y="1497"/>
            <a:chExt cx="1152" cy="1014"/>
          </a:xfrm>
        </p:grpSpPr>
        <p:pic>
          <p:nvPicPr>
            <p:cNvPr id="115" name="Picture 354" descr="laptop_stylized_small">
              <a:extLst>
                <a:ext uri="{FF2B5EF4-FFF2-40B4-BE49-F238E27FC236}">
                  <a16:creationId xmlns:a16="http://schemas.microsoft.com/office/drawing/2014/main" id="{8450A102-6A2B-DB40-A176-7E0CB094F2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6" name="Picture 355" descr="antenna_stylized">
              <a:extLst>
                <a:ext uri="{FF2B5EF4-FFF2-40B4-BE49-F238E27FC236}">
                  <a16:creationId xmlns:a16="http://schemas.microsoft.com/office/drawing/2014/main" id="{F66C3C9A-BF8E-C049-9C1E-83E292B613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17" name="Group 356">
            <a:extLst>
              <a:ext uri="{FF2B5EF4-FFF2-40B4-BE49-F238E27FC236}">
                <a16:creationId xmlns:a16="http://schemas.microsoft.com/office/drawing/2014/main" id="{DEC74E59-3402-AE40-B8CF-4B1811DF782E}"/>
              </a:ext>
            </a:extLst>
          </p:cNvPr>
          <p:cNvGrpSpPr>
            <a:grpSpLocks/>
          </p:cNvGrpSpPr>
          <p:nvPr/>
        </p:nvGrpSpPr>
        <p:grpSpPr bwMode="auto">
          <a:xfrm>
            <a:off x="3725863" y="4627563"/>
            <a:ext cx="436562" cy="498475"/>
            <a:chOff x="313" y="1497"/>
            <a:chExt cx="1152" cy="1014"/>
          </a:xfrm>
        </p:grpSpPr>
        <p:pic>
          <p:nvPicPr>
            <p:cNvPr id="118" name="Picture 354" descr="laptop_stylized_small">
              <a:extLst>
                <a:ext uri="{FF2B5EF4-FFF2-40B4-BE49-F238E27FC236}">
                  <a16:creationId xmlns:a16="http://schemas.microsoft.com/office/drawing/2014/main" id="{FF2338BE-BEEA-874A-8AD1-B83706BA72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9" name="Picture 355" descr="antenna_stylized">
              <a:extLst>
                <a:ext uri="{FF2B5EF4-FFF2-40B4-BE49-F238E27FC236}">
                  <a16:creationId xmlns:a16="http://schemas.microsoft.com/office/drawing/2014/main" id="{F923ABF6-F4F2-454D-B1F1-01A242039D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20" name="Line 25">
            <a:extLst>
              <a:ext uri="{FF2B5EF4-FFF2-40B4-BE49-F238E27FC236}">
                <a16:creationId xmlns:a16="http://schemas.microsoft.com/office/drawing/2014/main" id="{7BA8AD27-3D08-E44D-A38F-C075CB53647F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2074" y="3679824"/>
            <a:ext cx="796925" cy="12985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121" name="Group 403">
            <a:extLst>
              <a:ext uri="{FF2B5EF4-FFF2-40B4-BE49-F238E27FC236}">
                <a16:creationId xmlns:a16="http://schemas.microsoft.com/office/drawing/2014/main" id="{3E47EC88-0001-CB43-A7ED-C0289170512A}"/>
              </a:ext>
            </a:extLst>
          </p:cNvPr>
          <p:cNvGrpSpPr>
            <a:grpSpLocks/>
          </p:cNvGrpSpPr>
          <p:nvPr/>
        </p:nvGrpSpPr>
        <p:grpSpPr bwMode="auto">
          <a:xfrm>
            <a:off x="4021138" y="4271963"/>
            <a:ext cx="568325" cy="544512"/>
            <a:chOff x="2751" y="1851"/>
            <a:chExt cx="462" cy="478"/>
          </a:xfrm>
        </p:grpSpPr>
        <p:pic>
          <p:nvPicPr>
            <p:cNvPr id="122" name="Picture 364" descr="iphone_stylized_small">
              <a:extLst>
                <a:ext uri="{FF2B5EF4-FFF2-40B4-BE49-F238E27FC236}">
                  <a16:creationId xmlns:a16="http://schemas.microsoft.com/office/drawing/2014/main" id="{6AEF903B-BDB6-8645-8D02-1DABD42234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" name="Picture 402" descr="antenna_radiation_stylized">
              <a:extLst>
                <a:ext uri="{FF2B5EF4-FFF2-40B4-BE49-F238E27FC236}">
                  <a16:creationId xmlns:a16="http://schemas.microsoft.com/office/drawing/2014/main" id="{AD441939-A4CA-344C-B792-0F95B7C3CE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3CED2675-190A-B746-8E41-91D1CAFA5B4D}"/>
              </a:ext>
            </a:extLst>
          </p:cNvPr>
          <p:cNvGrpSpPr/>
          <p:nvPr/>
        </p:nvGrpSpPr>
        <p:grpSpPr>
          <a:xfrm>
            <a:off x="3370124" y="3421492"/>
            <a:ext cx="744676" cy="388508"/>
            <a:chOff x="7493876" y="2774731"/>
            <a:chExt cx="1481958" cy="894622"/>
          </a:xfrm>
        </p:grpSpPr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1B607571-549B-3244-95A5-8E992DF5EA0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EB12A4B4-C06F-9B48-B23C-8D92C0777D9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9A80F69B-AD4C-CC49-A474-B7379EA06173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8" name="Freeform 127">
                <a:extLst>
                  <a:ext uri="{FF2B5EF4-FFF2-40B4-BE49-F238E27FC236}">
                    <a16:creationId xmlns:a16="http://schemas.microsoft.com/office/drawing/2014/main" id="{C53B4447-0429-CD4A-8613-890A66B938A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9" name="Freeform 128">
                <a:extLst>
                  <a:ext uri="{FF2B5EF4-FFF2-40B4-BE49-F238E27FC236}">
                    <a16:creationId xmlns:a16="http://schemas.microsoft.com/office/drawing/2014/main" id="{405FA763-214E-1942-917D-F894C98094BB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0" name="Freeform 129">
                <a:extLst>
                  <a:ext uri="{FF2B5EF4-FFF2-40B4-BE49-F238E27FC236}">
                    <a16:creationId xmlns:a16="http://schemas.microsoft.com/office/drawing/2014/main" id="{D3C585B2-5EB3-1B49-A37B-C73BE389640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1" name="Freeform 130">
                <a:extLst>
                  <a:ext uri="{FF2B5EF4-FFF2-40B4-BE49-F238E27FC236}">
                    <a16:creationId xmlns:a16="http://schemas.microsoft.com/office/drawing/2014/main" id="{F9927536-F9B1-A849-9472-7C9E39D2E45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31559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1FB7CC-D2A5-C749-8D9F-01B9FA129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0" y="235921"/>
            <a:ext cx="10515600" cy="894622"/>
          </a:xfrm>
        </p:spPr>
        <p:txBody>
          <a:bodyPr/>
          <a:lstStyle/>
          <a:p>
            <a:r>
              <a:rPr lang="en-US" b="0" kern="0" dirty="0">
                <a:solidFill>
                  <a:schemeClr val="bg2"/>
                </a:solidFill>
                <a:latin typeface="+mn-lt"/>
                <a:ea typeface="ＭＳ Ｐゴシック" charset="0"/>
              </a:rPr>
              <a:t>IEEE 802.11: multiple access</a:t>
            </a:r>
            <a:endParaRPr lang="en-US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79769-3B28-CC48-AFB2-345BF93C78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Wireless and Mobile Networks: 7- </a:t>
            </a:r>
            <a:fld id="{C4204591-24BD-A542-B9D5-F8D8A88D2FE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96" name="Rectangle 3">
            <a:extLst>
              <a:ext uri="{FF2B5EF4-FFF2-40B4-BE49-F238E27FC236}">
                <a16:creationId xmlns:a16="http://schemas.microsoft.com/office/drawing/2014/main" id="{A492C35A-994E-064C-B918-4058461067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1236663"/>
            <a:ext cx="10426700" cy="3737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>
              <a:defRPr/>
            </a:pPr>
            <a:r>
              <a:rPr lang="en-US" sz="3600" kern="0" dirty="0">
                <a:cs typeface="+mn-cs"/>
              </a:rPr>
              <a:t>avoid collisions: 2</a:t>
            </a:r>
            <a:r>
              <a:rPr lang="en-US" sz="3600" kern="0" baseline="30000" dirty="0">
                <a:cs typeface="+mn-cs"/>
              </a:rPr>
              <a:t>+</a:t>
            </a:r>
            <a:r>
              <a:rPr lang="en-US" sz="3600" kern="0" dirty="0">
                <a:cs typeface="+mn-cs"/>
              </a:rPr>
              <a:t> nodes </a:t>
            </a:r>
            <a:r>
              <a:rPr lang="en-US" sz="3600" kern="0" dirty="0">
                <a:cs typeface="+mn-cs"/>
                <a:sym typeface="Symbol" charset="0"/>
              </a:rPr>
              <a:t>transmitting at same time</a:t>
            </a:r>
          </a:p>
          <a:p>
            <a:pPr>
              <a:defRPr/>
            </a:pPr>
            <a:r>
              <a:rPr lang="en-US" sz="3600" kern="0" dirty="0">
                <a:cs typeface="+mn-cs"/>
                <a:sym typeface="Symbol" charset="0"/>
              </a:rPr>
              <a:t>802.11: CSMA - sense before transmitting</a:t>
            </a:r>
          </a:p>
          <a:p>
            <a:pPr>
              <a:defRPr/>
            </a:pPr>
            <a:r>
              <a:rPr lang="en-US" sz="3600" kern="0" dirty="0">
                <a:cs typeface="+mn-cs"/>
              </a:rPr>
              <a:t>802.11: </a:t>
            </a:r>
            <a:r>
              <a:rPr lang="en-US" sz="3600" i="1" kern="0" dirty="0">
                <a:cs typeface="+mn-cs"/>
              </a:rPr>
              <a:t>no</a:t>
            </a:r>
            <a:r>
              <a:rPr lang="en-US" sz="3600" kern="0" dirty="0">
                <a:cs typeface="+mn-cs"/>
              </a:rPr>
              <a:t> collision detection!</a:t>
            </a:r>
          </a:p>
          <a:p>
            <a:pPr lvl="1">
              <a:defRPr/>
            </a:pPr>
            <a:r>
              <a:rPr lang="en-US" sz="3200" kern="0" dirty="0"/>
              <a:t>can’t sense all collisions in any case: hidden terminal, fading</a:t>
            </a:r>
          </a:p>
          <a:p>
            <a:pPr lvl="1">
              <a:defRPr/>
            </a:pPr>
            <a:r>
              <a:rPr lang="en-US" sz="3200" kern="0" dirty="0"/>
              <a:t>goal: </a:t>
            </a:r>
            <a:r>
              <a:rPr lang="en-US" sz="3200" i="1" kern="0" dirty="0">
                <a:solidFill>
                  <a:srgbClr val="0000A8"/>
                </a:solidFill>
              </a:rPr>
              <a:t>avoid collisions:</a:t>
            </a:r>
            <a:r>
              <a:rPr lang="en-US" sz="3200" kern="0" dirty="0">
                <a:solidFill>
                  <a:srgbClr val="0000A8"/>
                </a:solidFill>
              </a:rPr>
              <a:t> </a:t>
            </a:r>
            <a:r>
              <a:rPr lang="en-US" sz="3200" kern="0" dirty="0"/>
              <a:t>CSMA/</a:t>
            </a:r>
            <a:r>
              <a:rPr lang="en-US" sz="3200" u="sng" kern="0" dirty="0">
                <a:solidFill>
                  <a:srgbClr val="0000A8"/>
                </a:solidFill>
              </a:rPr>
              <a:t>C</a:t>
            </a:r>
            <a:r>
              <a:rPr lang="en-US" sz="3200" kern="0" dirty="0"/>
              <a:t>ollision</a:t>
            </a:r>
            <a:r>
              <a:rPr lang="en-US" sz="3200" u="sng" kern="0" dirty="0">
                <a:solidFill>
                  <a:srgbClr val="0000A8"/>
                </a:solidFill>
              </a:rPr>
              <a:t>A</a:t>
            </a:r>
            <a:r>
              <a:rPr lang="en-US" sz="3200" kern="0" dirty="0"/>
              <a:t>voidance</a:t>
            </a:r>
            <a:endParaRPr lang="en-US" sz="2800" kern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373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charRg st="238" end="2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96">
                                            <p:txEl>
                                              <p:charRg st="238" end="2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charRg st="238" end="2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96">
                                            <p:txEl>
                                              <p:charRg st="238" end="2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1FB7CC-D2A5-C749-8D9F-01B9FA129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0" y="235921"/>
            <a:ext cx="10515600" cy="894622"/>
          </a:xfrm>
        </p:spPr>
        <p:txBody>
          <a:bodyPr/>
          <a:lstStyle/>
          <a:p>
            <a:r>
              <a:rPr lang="en-US" b="0" kern="0" dirty="0">
                <a:solidFill>
                  <a:schemeClr val="bg2"/>
                </a:solidFill>
                <a:latin typeface="+mn-lt"/>
                <a:ea typeface="ＭＳ Ｐゴシック" charset="0"/>
              </a:rPr>
              <a:t>IEEE 802.11 MAC Protocol: CSMA/CA</a:t>
            </a:r>
            <a:endParaRPr lang="en-US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79769-3B28-CC48-AFB2-345BF93C78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Wireless and Mobile Networks: 7- </a:t>
            </a:r>
            <a:fld id="{C4204591-24BD-A542-B9D5-F8D8A88D2FE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2" name="Rectangle 3">
            <a:extLst>
              <a:ext uri="{FF2B5EF4-FFF2-40B4-BE49-F238E27FC236}">
                <a16:creationId xmlns:a16="http://schemas.microsoft.com/office/drawing/2014/main" id="{46F0333A-83DD-F74F-A348-96E3175871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7750" y="1298575"/>
            <a:ext cx="6686550" cy="129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ts val="1200"/>
              </a:spcAft>
              <a:buClr>
                <a:srgbClr val="000099"/>
              </a:buClr>
              <a:buSzPct val="100000"/>
              <a:buFont typeface="Wingdings" charset="0"/>
              <a:buNone/>
              <a:tabLst/>
              <a:defRPr/>
            </a:pPr>
            <a:r>
              <a:rPr kumimoji="0" lang="en-US" b="0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802.11 sender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0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1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if sense channel idle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 for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DIFS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 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then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 </a:t>
            </a:r>
          </a:p>
          <a:p>
            <a:pPr marL="742950" marR="0" lvl="1" indent="-28575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Wingdings" charset="0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transmit entire frame (no CD)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0"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63" name="Line 5">
            <a:extLst>
              <a:ext uri="{FF2B5EF4-FFF2-40B4-BE49-F238E27FC236}">
                <a16:creationId xmlns:a16="http://schemas.microsoft.com/office/drawing/2014/main" id="{9E2A2F29-B074-5A4D-BB4E-83CB4190D15C}"/>
              </a:ext>
            </a:extLst>
          </p:cNvPr>
          <p:cNvSpPr>
            <a:spLocks noChangeShapeType="1"/>
          </p:cNvSpPr>
          <p:nvPr/>
        </p:nvSpPr>
        <p:spPr bwMode="auto">
          <a:xfrm>
            <a:off x="8731250" y="2092325"/>
            <a:ext cx="0" cy="33385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4" name="Line 6">
            <a:extLst>
              <a:ext uri="{FF2B5EF4-FFF2-40B4-BE49-F238E27FC236}">
                <a16:creationId xmlns:a16="http://schemas.microsoft.com/office/drawing/2014/main" id="{73460FF9-273C-2341-A83B-21612A1CBC06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50538" y="2079625"/>
            <a:ext cx="0" cy="33385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5" name="Text Box 7">
            <a:extLst>
              <a:ext uri="{FF2B5EF4-FFF2-40B4-BE49-F238E27FC236}">
                <a16:creationId xmlns:a16="http://schemas.microsoft.com/office/drawing/2014/main" id="{ED919692-31A8-054F-9C95-2A52F2A135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21675" y="1735138"/>
            <a:ext cx="8286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srgbClr val="000000"/>
                </a:solidFill>
                <a:latin typeface="Arial" charset="0"/>
                <a:cs typeface="Arial" charset="0"/>
              </a:rPr>
              <a:t>sender</a:t>
            </a:r>
          </a:p>
        </p:txBody>
      </p:sp>
      <p:sp>
        <p:nvSpPr>
          <p:cNvPr id="66" name="Text Box 8">
            <a:extLst>
              <a:ext uri="{FF2B5EF4-FFF2-40B4-BE49-F238E27FC236}">
                <a16:creationId xmlns:a16="http://schemas.microsoft.com/office/drawing/2014/main" id="{9D11CDA0-1D11-3047-9C1E-3B00DB6D29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00" y="1744663"/>
            <a:ext cx="914400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srgbClr val="000000"/>
                </a:solidFill>
                <a:latin typeface="Arial" charset="0"/>
                <a:cs typeface="Arial" charset="0"/>
              </a:rPr>
              <a:t>receiver</a:t>
            </a:r>
          </a:p>
        </p:txBody>
      </p:sp>
      <p:grpSp>
        <p:nvGrpSpPr>
          <p:cNvPr id="67" name="Group 23">
            <a:extLst>
              <a:ext uri="{FF2B5EF4-FFF2-40B4-BE49-F238E27FC236}">
                <a16:creationId xmlns:a16="http://schemas.microsoft.com/office/drawing/2014/main" id="{DB72C6B2-5F42-674D-8FCA-0841D0870691}"/>
              </a:ext>
            </a:extLst>
          </p:cNvPr>
          <p:cNvGrpSpPr>
            <a:grpSpLocks/>
          </p:cNvGrpSpPr>
          <p:nvPr/>
        </p:nvGrpSpPr>
        <p:grpSpPr bwMode="auto">
          <a:xfrm>
            <a:off x="8035925" y="2389188"/>
            <a:ext cx="2616200" cy="1690687"/>
            <a:chOff x="3614" y="1617"/>
            <a:chExt cx="1648" cy="1065"/>
          </a:xfrm>
        </p:grpSpPr>
        <p:grpSp>
          <p:nvGrpSpPr>
            <p:cNvPr id="68" name="Group 22">
              <a:extLst>
                <a:ext uri="{FF2B5EF4-FFF2-40B4-BE49-F238E27FC236}">
                  <a16:creationId xmlns:a16="http://schemas.microsoft.com/office/drawing/2014/main" id="{DD95C74A-C16D-0B47-A0ED-FFDE081682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14" y="1617"/>
              <a:ext cx="424" cy="194"/>
              <a:chOff x="3614" y="1617"/>
              <a:chExt cx="424" cy="194"/>
            </a:xfrm>
          </p:grpSpPr>
          <p:sp>
            <p:nvSpPr>
              <p:cNvPr id="72" name="AutoShape 11">
                <a:extLst>
                  <a:ext uri="{FF2B5EF4-FFF2-40B4-BE49-F238E27FC236}">
                    <a16:creationId xmlns:a16="http://schemas.microsoft.com/office/drawing/2014/main" id="{D9BC3A4E-3207-B048-A31E-196D97B692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4" y="1620"/>
                <a:ext cx="54" cy="162"/>
              </a:xfrm>
              <a:prstGeom prst="leftBrace">
                <a:avLst>
                  <a:gd name="adj1" fmla="val 25000"/>
                  <a:gd name="adj2" fmla="val 50000"/>
                </a:avLst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73" name="Text Box 12">
                <a:extLst>
                  <a:ext uri="{FF2B5EF4-FFF2-40B4-BE49-F238E27FC236}">
                    <a16:creationId xmlns:a16="http://schemas.microsoft.com/office/drawing/2014/main" id="{F79FF5B8-A321-E743-B75F-A96DCDF80B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14" y="1617"/>
                <a:ext cx="374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DIFS</a:t>
                </a:r>
              </a:p>
            </p:txBody>
          </p:sp>
        </p:grpSp>
        <p:grpSp>
          <p:nvGrpSpPr>
            <p:cNvPr id="69" name="Group 20">
              <a:extLst>
                <a:ext uri="{FF2B5EF4-FFF2-40B4-BE49-F238E27FC236}">
                  <a16:creationId xmlns:a16="http://schemas.microsoft.com/office/drawing/2014/main" id="{11B7C547-387E-4B43-9647-F39A2BBF52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50" y="1782"/>
              <a:ext cx="1212" cy="900"/>
              <a:chOff x="4050" y="1782"/>
              <a:chExt cx="1212" cy="900"/>
            </a:xfrm>
          </p:grpSpPr>
          <p:sp>
            <p:nvSpPr>
              <p:cNvPr id="70" name="Freeform 13">
                <a:extLst>
                  <a:ext uri="{FF2B5EF4-FFF2-40B4-BE49-F238E27FC236}">
                    <a16:creationId xmlns:a16="http://schemas.microsoft.com/office/drawing/2014/main" id="{4D50A1EF-833D-AE4E-A262-4DC9557330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0" y="1782"/>
                <a:ext cx="1212" cy="900"/>
              </a:xfrm>
              <a:custGeom>
                <a:avLst/>
                <a:gdLst>
                  <a:gd name="T0" fmla="*/ 6 w 1212"/>
                  <a:gd name="T1" fmla="*/ 0 h 900"/>
                  <a:gd name="T2" fmla="*/ 1212 w 1212"/>
                  <a:gd name="T3" fmla="*/ 228 h 900"/>
                  <a:gd name="T4" fmla="*/ 1212 w 1212"/>
                  <a:gd name="T5" fmla="*/ 900 h 900"/>
                  <a:gd name="T6" fmla="*/ 0 w 1212"/>
                  <a:gd name="T7" fmla="*/ 660 h 900"/>
                  <a:gd name="T8" fmla="*/ 6 w 1212"/>
                  <a:gd name="T9" fmla="*/ 0 h 9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12" h="900">
                    <a:moveTo>
                      <a:pt x="6" y="0"/>
                    </a:moveTo>
                    <a:lnTo>
                      <a:pt x="1212" y="228"/>
                    </a:lnTo>
                    <a:lnTo>
                      <a:pt x="1212" y="900"/>
                    </a:lnTo>
                    <a:lnTo>
                      <a:pt x="0" y="66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1" name="Text Box 18">
                <a:extLst>
                  <a:ext uri="{FF2B5EF4-FFF2-40B4-BE49-F238E27FC236}">
                    <a16:creationId xmlns:a16="http://schemas.microsoft.com/office/drawing/2014/main" id="{77E61552-4FF0-FB44-8642-9FAF013E8F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94" y="2108"/>
                <a:ext cx="399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data</a:t>
                </a:r>
              </a:p>
            </p:txBody>
          </p:sp>
        </p:grpSp>
      </p:grpSp>
      <p:grpSp>
        <p:nvGrpSpPr>
          <p:cNvPr id="74" name="Group 24">
            <a:extLst>
              <a:ext uri="{FF2B5EF4-FFF2-40B4-BE49-F238E27FC236}">
                <a16:creationId xmlns:a16="http://schemas.microsoft.com/office/drawing/2014/main" id="{F39FAC8C-CE88-F844-B77D-4E73F96D7AA0}"/>
              </a:ext>
            </a:extLst>
          </p:cNvPr>
          <p:cNvGrpSpPr>
            <a:grpSpLocks/>
          </p:cNvGrpSpPr>
          <p:nvPr/>
        </p:nvGrpSpPr>
        <p:grpSpPr bwMode="auto">
          <a:xfrm>
            <a:off x="8718550" y="4089400"/>
            <a:ext cx="2511425" cy="923925"/>
            <a:chOff x="4044" y="2688"/>
            <a:chExt cx="1582" cy="582"/>
          </a:xfrm>
        </p:grpSpPr>
        <p:sp>
          <p:nvSpPr>
            <p:cNvPr id="75" name="Text Box 14">
              <a:extLst>
                <a:ext uri="{FF2B5EF4-FFF2-40B4-BE49-F238E27FC236}">
                  <a16:creationId xmlns:a16="http://schemas.microsoft.com/office/drawing/2014/main" id="{121CEDFD-A8A3-3C4E-85EF-92C0E6F784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8" y="2697"/>
              <a:ext cx="368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SIFS</a:t>
              </a:r>
            </a:p>
          </p:txBody>
        </p:sp>
        <p:sp>
          <p:nvSpPr>
            <p:cNvPr id="76" name="AutoShape 15">
              <a:extLst>
                <a:ext uri="{FF2B5EF4-FFF2-40B4-BE49-F238E27FC236}">
                  <a16:creationId xmlns:a16="http://schemas.microsoft.com/office/drawing/2014/main" id="{E6E8F24A-63B2-EF45-AC8E-09F08CD0333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262" y="2688"/>
              <a:ext cx="54" cy="162"/>
            </a:xfrm>
            <a:prstGeom prst="leftBrace">
              <a:avLst>
                <a:gd name="adj1" fmla="val 25000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77" name="Group 21">
              <a:extLst>
                <a:ext uri="{FF2B5EF4-FFF2-40B4-BE49-F238E27FC236}">
                  <a16:creationId xmlns:a16="http://schemas.microsoft.com/office/drawing/2014/main" id="{22A21D51-0387-824E-9A0B-5EA74DE9E4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44" y="2856"/>
              <a:ext cx="1212" cy="414"/>
              <a:chOff x="4044" y="2856"/>
              <a:chExt cx="1212" cy="414"/>
            </a:xfrm>
          </p:grpSpPr>
          <p:sp>
            <p:nvSpPr>
              <p:cNvPr id="78" name="Freeform 17">
                <a:extLst>
                  <a:ext uri="{FF2B5EF4-FFF2-40B4-BE49-F238E27FC236}">
                    <a16:creationId xmlns:a16="http://schemas.microsoft.com/office/drawing/2014/main" id="{7FAC184E-6A68-7746-9D42-6F57DF8E2C1A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4044" y="2856"/>
                <a:ext cx="1212" cy="414"/>
              </a:xfrm>
              <a:custGeom>
                <a:avLst/>
                <a:gdLst>
                  <a:gd name="T0" fmla="*/ 0 w 1212"/>
                  <a:gd name="T1" fmla="*/ 0 h 414"/>
                  <a:gd name="T2" fmla="*/ 1212 w 1212"/>
                  <a:gd name="T3" fmla="*/ 246 h 414"/>
                  <a:gd name="T4" fmla="*/ 1212 w 1212"/>
                  <a:gd name="T5" fmla="*/ 414 h 414"/>
                  <a:gd name="T6" fmla="*/ 6 w 1212"/>
                  <a:gd name="T7" fmla="*/ 174 h 414"/>
                  <a:gd name="T8" fmla="*/ 0 w 1212"/>
                  <a:gd name="T9" fmla="*/ 0 h 4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12" h="414">
                    <a:moveTo>
                      <a:pt x="0" y="0"/>
                    </a:moveTo>
                    <a:lnTo>
                      <a:pt x="1212" y="246"/>
                    </a:lnTo>
                    <a:lnTo>
                      <a:pt x="1212" y="414"/>
                    </a:lnTo>
                    <a:lnTo>
                      <a:pt x="6" y="1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" name="Text Box 19">
                <a:extLst>
                  <a:ext uri="{FF2B5EF4-FFF2-40B4-BE49-F238E27FC236}">
                    <a16:creationId xmlns:a16="http://schemas.microsoft.com/office/drawing/2014/main" id="{9873A3A6-6621-884E-A2FD-7CEFD2BCF7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36" y="2954"/>
                <a:ext cx="415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ACK</a:t>
                </a:r>
              </a:p>
            </p:txBody>
          </p:sp>
        </p:grpSp>
      </p:grpSp>
      <p:sp>
        <p:nvSpPr>
          <p:cNvPr id="80" name="Rectangle 3">
            <a:extLst>
              <a:ext uri="{FF2B5EF4-FFF2-40B4-BE49-F238E27FC236}">
                <a16:creationId xmlns:a16="http://schemas.microsoft.com/office/drawing/2014/main" id="{6F028A54-FC92-ED46-A0E0-E6240E00B0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3423" y="5172962"/>
            <a:ext cx="6686550" cy="169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1776"/>
              </a:spcBef>
              <a:spcAft>
                <a:spcPts val="600"/>
              </a:spcAft>
              <a:buClr>
                <a:srgbClr val="000099"/>
              </a:buClr>
              <a:buSzPct val="100000"/>
              <a:buFont typeface="Wingdings" charset="0"/>
              <a:buNone/>
              <a:tabLst/>
              <a:defRPr/>
            </a:pPr>
            <a:r>
              <a:rPr kumimoji="0" lang="en-US" b="0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charset="0"/>
                <a:cs typeface="Arial" charset="0"/>
              </a:rPr>
              <a:t>802.11 receiver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0"/>
              <a:buNone/>
              <a:tabLst/>
              <a:defRPr/>
            </a:pPr>
            <a:r>
              <a:rPr lang="en-US" kern="0" dirty="0">
                <a:solidFill>
                  <a:srgbClr val="000099"/>
                </a:solidFill>
                <a:latin typeface="Arial" charset="0"/>
                <a:cs typeface="Arial" charset="0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if frame received OK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0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  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return ACK after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SIFS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(ACK needed due to hidden terminal problem) </a:t>
            </a:r>
            <a:endParaRPr kumimoji="0" lang="en-US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EE65452D-F042-8F4E-9B73-3034C5D8F1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4250" y="2813050"/>
            <a:ext cx="6686550" cy="169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0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2 if sense channel busy then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 </a:t>
            </a:r>
          </a:p>
          <a:p>
            <a:pPr marL="742950" marR="0" lvl="1" indent="-28575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Wingdings" charset="0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start random backoff time</a:t>
            </a:r>
          </a:p>
          <a:p>
            <a:pPr marL="742950" marR="0" lvl="1" indent="-28575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Wingdings" charset="0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timer counts down while channel idle</a:t>
            </a:r>
          </a:p>
          <a:p>
            <a:pPr marL="742950" marR="0" lvl="1" indent="-28575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Wingdings" charset="0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transmit when timer expires</a:t>
            </a:r>
          </a:p>
          <a:p>
            <a:pPr marL="742950" marR="0" lvl="1" indent="-28575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Wingdings" charset="0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if no ACK, increase random backoff interval, repeat 2</a:t>
            </a:r>
          </a:p>
        </p:txBody>
      </p:sp>
    </p:spTree>
    <p:extLst>
      <p:ext uri="{BB962C8B-B14F-4D97-AF65-F5344CB8AC3E}">
        <p14:creationId xmlns:p14="http://schemas.microsoft.com/office/powerpoint/2010/main" val="2760853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/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1FB7CC-D2A5-C749-8D9F-01B9FA129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0" y="235921"/>
            <a:ext cx="10515600" cy="894622"/>
          </a:xfrm>
        </p:spPr>
        <p:txBody>
          <a:bodyPr>
            <a:normAutofit/>
          </a:bodyPr>
          <a:lstStyle/>
          <a:p>
            <a:r>
              <a:rPr lang="en-US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Collision Avoidance: RTS-CTS exchange</a:t>
            </a:r>
            <a:endParaRPr lang="en-US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79769-3B28-CC48-AFB2-345BF93C78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Wireless and Mobile Networks: 7- </a:t>
            </a:r>
            <a:fld id="{C4204591-24BD-A542-B9D5-F8D8A88D2FE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9" name="Text Box 15">
            <a:extLst>
              <a:ext uri="{FF2B5EF4-FFF2-40B4-BE49-F238E27FC236}">
                <a16:creationId xmlns:a16="http://schemas.microsoft.com/office/drawing/2014/main" id="{B57108CC-F94A-0647-A61D-117249C9CE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3014" y="1476955"/>
            <a:ext cx="49212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AP</a:t>
            </a:r>
          </a:p>
        </p:txBody>
      </p:sp>
      <p:sp>
        <p:nvSpPr>
          <p:cNvPr id="50" name="Text Box 41">
            <a:extLst>
              <a:ext uri="{FF2B5EF4-FFF2-40B4-BE49-F238E27FC236}">
                <a16:creationId xmlns:a16="http://schemas.microsoft.com/office/drawing/2014/main" id="{1300CE18-0CEB-194F-B49C-E69348D458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9026" y="1326143"/>
            <a:ext cx="3508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A</a:t>
            </a:r>
          </a:p>
        </p:txBody>
      </p:sp>
      <p:sp>
        <p:nvSpPr>
          <p:cNvPr id="51" name="Text Box 42">
            <a:extLst>
              <a:ext uri="{FF2B5EF4-FFF2-40B4-BE49-F238E27FC236}">
                <a16:creationId xmlns:a16="http://schemas.microsoft.com/office/drawing/2014/main" id="{C15B4151-D54F-2E43-A559-187F3D2B8C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66551" y="1324555"/>
            <a:ext cx="338138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B</a:t>
            </a:r>
          </a:p>
        </p:txBody>
      </p:sp>
      <p:sp>
        <p:nvSpPr>
          <p:cNvPr id="54" name="Line 44">
            <a:extLst>
              <a:ext uri="{FF2B5EF4-FFF2-40B4-BE49-F238E27FC236}">
                <a16:creationId xmlns:a16="http://schemas.microsoft.com/office/drawing/2014/main" id="{B0A88798-8C51-824C-BB8B-592E5F75F397}"/>
              </a:ext>
            </a:extLst>
          </p:cNvPr>
          <p:cNvSpPr>
            <a:spLocks noChangeShapeType="1"/>
          </p:cNvSpPr>
          <p:nvPr/>
        </p:nvSpPr>
        <p:spPr bwMode="auto">
          <a:xfrm>
            <a:off x="1340289" y="1811918"/>
            <a:ext cx="78359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55" name="Group 70">
            <a:extLst>
              <a:ext uri="{FF2B5EF4-FFF2-40B4-BE49-F238E27FC236}">
                <a16:creationId xmlns:a16="http://schemas.microsoft.com/office/drawing/2014/main" id="{B5C9B155-B7CB-1B4C-A43D-E669314D7D9A}"/>
              </a:ext>
            </a:extLst>
          </p:cNvPr>
          <p:cNvGrpSpPr>
            <a:grpSpLocks/>
          </p:cNvGrpSpPr>
          <p:nvPr/>
        </p:nvGrpSpPr>
        <p:grpSpPr bwMode="auto">
          <a:xfrm>
            <a:off x="2386451" y="1978605"/>
            <a:ext cx="6553199" cy="817563"/>
            <a:chOff x="1128" y="1194"/>
            <a:chExt cx="4128" cy="515"/>
          </a:xfrm>
        </p:grpSpPr>
        <p:grpSp>
          <p:nvGrpSpPr>
            <p:cNvPr id="56" name="Group 9">
              <a:extLst>
                <a:ext uri="{FF2B5EF4-FFF2-40B4-BE49-F238E27FC236}">
                  <a16:creationId xmlns:a16="http://schemas.microsoft.com/office/drawing/2014/main" id="{72C745EB-2518-4F4A-A88F-39EDB9D92E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28" y="1194"/>
              <a:ext cx="4128" cy="515"/>
              <a:chOff x="587" y="1184"/>
              <a:chExt cx="4128" cy="515"/>
            </a:xfrm>
          </p:grpSpPr>
          <p:sp>
            <p:nvSpPr>
              <p:cNvPr id="59" name="Freeform 7">
                <a:extLst>
                  <a:ext uri="{FF2B5EF4-FFF2-40B4-BE49-F238E27FC236}">
                    <a16:creationId xmlns:a16="http://schemas.microsoft.com/office/drawing/2014/main" id="{E1649A62-E270-D04F-9E7D-3B8C12D2A5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4" y="1238"/>
                <a:ext cx="4121" cy="461"/>
              </a:xfrm>
              <a:custGeom>
                <a:avLst/>
                <a:gdLst>
                  <a:gd name="T0" fmla="*/ 1 w 2996"/>
                  <a:gd name="T1" fmla="*/ 0 h 461"/>
                  <a:gd name="T2" fmla="*/ 9668 w 2996"/>
                  <a:gd name="T3" fmla="*/ 298 h 461"/>
                  <a:gd name="T4" fmla="*/ 9668 w 2996"/>
                  <a:gd name="T5" fmla="*/ 461 h 461"/>
                  <a:gd name="T6" fmla="*/ 0 w 2996"/>
                  <a:gd name="T7" fmla="*/ 160 h 461"/>
                  <a:gd name="T8" fmla="*/ 1 w 2996"/>
                  <a:gd name="T9" fmla="*/ 0 h 4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96" h="461">
                    <a:moveTo>
                      <a:pt x="1" y="0"/>
                    </a:moveTo>
                    <a:lnTo>
                      <a:pt x="2996" y="298"/>
                    </a:lnTo>
                    <a:lnTo>
                      <a:pt x="2996" y="461"/>
                    </a:lnTo>
                    <a:lnTo>
                      <a:pt x="0" y="160"/>
                    </a:lnTo>
                    <a:lnTo>
                      <a:pt x="1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accent5">
                      <a:lumMod val="60000"/>
                      <a:lumOff val="40000"/>
                    </a:schemeClr>
                  </a:gs>
                  <a:gs pos="100000">
                    <a:schemeClr val="accent5">
                      <a:lumMod val="20000"/>
                      <a:lumOff val="80000"/>
                    </a:schemeClr>
                  </a:gs>
                </a:gsLst>
                <a:lin ang="0" scaled="0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0" name="Freeform 8">
                <a:extLst>
                  <a:ext uri="{FF2B5EF4-FFF2-40B4-BE49-F238E27FC236}">
                    <a16:creationId xmlns:a16="http://schemas.microsoft.com/office/drawing/2014/main" id="{1A155B4B-DC60-DB4E-A3D9-598BEE4423F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587" y="1184"/>
                <a:ext cx="4128" cy="461"/>
              </a:xfrm>
              <a:custGeom>
                <a:avLst/>
                <a:gdLst>
                  <a:gd name="T0" fmla="*/ 1 w 2996"/>
                  <a:gd name="T1" fmla="*/ 0 h 461"/>
                  <a:gd name="T2" fmla="*/ 9668 w 2996"/>
                  <a:gd name="T3" fmla="*/ 298 h 461"/>
                  <a:gd name="T4" fmla="*/ 9668 w 2996"/>
                  <a:gd name="T5" fmla="*/ 461 h 461"/>
                  <a:gd name="T6" fmla="*/ 0 w 2996"/>
                  <a:gd name="T7" fmla="*/ 160 h 461"/>
                  <a:gd name="T8" fmla="*/ 1 w 2996"/>
                  <a:gd name="T9" fmla="*/ 0 h 4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96" h="461">
                    <a:moveTo>
                      <a:pt x="1" y="0"/>
                    </a:moveTo>
                    <a:lnTo>
                      <a:pt x="2996" y="298"/>
                    </a:lnTo>
                    <a:lnTo>
                      <a:pt x="2996" y="461"/>
                    </a:lnTo>
                    <a:lnTo>
                      <a:pt x="0" y="160"/>
                    </a:lnTo>
                    <a:lnTo>
                      <a:pt x="1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accent5">
                      <a:lumMod val="60000"/>
                      <a:lumOff val="40000"/>
                    </a:schemeClr>
                  </a:gs>
                  <a:gs pos="99000">
                    <a:schemeClr val="accent5">
                      <a:lumMod val="20000"/>
                      <a:lumOff val="80000"/>
                    </a:schemeClr>
                  </a:gs>
                </a:gsLst>
                <a:lin ang="0" scaled="0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7" name="Text Box 51">
              <a:extLst>
                <a:ext uri="{FF2B5EF4-FFF2-40B4-BE49-F238E27FC236}">
                  <a16:creationId xmlns:a16="http://schemas.microsoft.com/office/drawing/2014/main" id="{18042E5E-B8DC-1E40-8C20-81D21EB6E0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356404">
              <a:off x="1544" y="1279"/>
              <a:ext cx="61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RTS(A)</a:t>
              </a:r>
            </a:p>
          </p:txBody>
        </p:sp>
        <p:sp>
          <p:nvSpPr>
            <p:cNvPr id="58" name="Text Box 52">
              <a:extLst>
                <a:ext uri="{FF2B5EF4-FFF2-40B4-BE49-F238E27FC236}">
                  <a16:creationId xmlns:a16="http://schemas.microsoft.com/office/drawing/2014/main" id="{5887FEFC-6004-8742-A9EA-B9D54A2D52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1245820">
              <a:off x="4490" y="1196"/>
              <a:ext cx="60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RTS(B)</a:t>
              </a:r>
            </a:p>
          </p:txBody>
        </p:sp>
      </p:grpSp>
      <p:grpSp>
        <p:nvGrpSpPr>
          <p:cNvPr id="61" name="Group 68">
            <a:extLst>
              <a:ext uri="{FF2B5EF4-FFF2-40B4-BE49-F238E27FC236}">
                <a16:creationId xmlns:a16="http://schemas.microsoft.com/office/drawing/2014/main" id="{98848F57-B443-D64E-A40E-7A9F1DA9DBED}"/>
              </a:ext>
            </a:extLst>
          </p:cNvPr>
          <p:cNvGrpSpPr>
            <a:grpSpLocks/>
          </p:cNvGrpSpPr>
          <p:nvPr/>
        </p:nvGrpSpPr>
        <p:grpSpPr bwMode="auto">
          <a:xfrm>
            <a:off x="2395976" y="2777118"/>
            <a:ext cx="6486526" cy="1174750"/>
            <a:chOff x="1134" y="1697"/>
            <a:chExt cx="4086" cy="740"/>
          </a:xfrm>
        </p:grpSpPr>
        <p:sp>
          <p:nvSpPr>
            <p:cNvPr id="62" name="Freeform 48">
              <a:extLst>
                <a:ext uri="{FF2B5EF4-FFF2-40B4-BE49-F238E27FC236}">
                  <a16:creationId xmlns:a16="http://schemas.microsoft.com/office/drawing/2014/main" id="{F802FF6E-2848-2A4C-BB8D-931A8FD81E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4" y="1697"/>
              <a:ext cx="3642" cy="461"/>
            </a:xfrm>
            <a:custGeom>
              <a:avLst/>
              <a:gdLst>
                <a:gd name="T0" fmla="*/ 1 w 2996"/>
                <a:gd name="T1" fmla="*/ 0 h 461"/>
                <a:gd name="T2" fmla="*/ 9668 w 2996"/>
                <a:gd name="T3" fmla="*/ 298 h 461"/>
                <a:gd name="T4" fmla="*/ 9668 w 2996"/>
                <a:gd name="T5" fmla="*/ 461 h 461"/>
                <a:gd name="T6" fmla="*/ 0 w 2996"/>
                <a:gd name="T7" fmla="*/ 160 h 461"/>
                <a:gd name="T8" fmla="*/ 1 w 2996"/>
                <a:gd name="T9" fmla="*/ 0 h 4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96" h="461">
                  <a:moveTo>
                    <a:pt x="1" y="0"/>
                  </a:moveTo>
                  <a:lnTo>
                    <a:pt x="2996" y="298"/>
                  </a:lnTo>
                  <a:lnTo>
                    <a:pt x="2996" y="461"/>
                  </a:lnTo>
                  <a:lnTo>
                    <a:pt x="0" y="160"/>
                  </a:lnTo>
                  <a:lnTo>
                    <a:pt x="1" y="0"/>
                  </a:lnTo>
                  <a:close/>
                </a:path>
              </a:pathLst>
            </a:custGeom>
            <a:gradFill rotWithShape="1">
              <a:gsLst>
                <a:gs pos="0">
                  <a:schemeClr val="accent5">
                    <a:lumMod val="60000"/>
                    <a:lumOff val="40000"/>
                  </a:schemeClr>
                </a:gs>
                <a:gs pos="99000">
                  <a:schemeClr val="accent5">
                    <a:lumMod val="20000"/>
                    <a:lumOff val="80000"/>
                  </a:scheme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" name="Text Box 54">
              <a:extLst>
                <a:ext uri="{FF2B5EF4-FFF2-40B4-BE49-F238E27FC236}">
                  <a16:creationId xmlns:a16="http://schemas.microsoft.com/office/drawing/2014/main" id="{209499D7-0BB1-E244-8335-0B09C21461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356404">
              <a:off x="1551" y="1738"/>
              <a:ext cx="61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RTS(A)</a:t>
              </a:r>
            </a:p>
          </p:txBody>
        </p:sp>
        <p:sp>
          <p:nvSpPr>
            <p:cNvPr id="64" name="Freeform 56">
              <a:extLst>
                <a:ext uri="{FF2B5EF4-FFF2-40B4-BE49-F238E27FC236}">
                  <a16:creationId xmlns:a16="http://schemas.microsoft.com/office/drawing/2014/main" id="{29BE5B68-7534-AE42-894F-FC6E6CB25D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0" y="2082"/>
              <a:ext cx="2260" cy="355"/>
            </a:xfrm>
            <a:custGeom>
              <a:avLst/>
              <a:gdLst>
                <a:gd name="T0" fmla="*/ 0 w 2260"/>
                <a:gd name="T1" fmla="*/ 0 h 355"/>
                <a:gd name="T2" fmla="*/ 2260 w 2260"/>
                <a:gd name="T3" fmla="*/ 186 h 355"/>
                <a:gd name="T4" fmla="*/ 2260 w 2260"/>
                <a:gd name="T5" fmla="*/ 355 h 355"/>
                <a:gd name="T6" fmla="*/ 0 w 2260"/>
                <a:gd name="T7" fmla="*/ 151 h 355"/>
                <a:gd name="T8" fmla="*/ 0 w 2260"/>
                <a:gd name="T9" fmla="*/ 0 h 3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60" h="355">
                  <a:moveTo>
                    <a:pt x="0" y="0"/>
                  </a:moveTo>
                  <a:lnTo>
                    <a:pt x="2260" y="186"/>
                  </a:lnTo>
                  <a:lnTo>
                    <a:pt x="2260" y="35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100000">
                  <a:srgbClr val="EAE3F5"/>
                </a:gs>
                <a:gs pos="0">
                  <a:srgbClr val="CDBDE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5" name="Freeform 57">
              <a:extLst>
                <a:ext uri="{FF2B5EF4-FFF2-40B4-BE49-F238E27FC236}">
                  <a16:creationId xmlns:a16="http://schemas.microsoft.com/office/drawing/2014/main" id="{3B1968BC-1529-3D4A-962E-D401C6E5F7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7" y="2082"/>
              <a:ext cx="1831" cy="347"/>
            </a:xfrm>
            <a:custGeom>
              <a:avLst/>
              <a:gdLst>
                <a:gd name="T0" fmla="*/ 1860 w 1860"/>
                <a:gd name="T1" fmla="*/ 0 h 347"/>
                <a:gd name="T2" fmla="*/ 0 w 1860"/>
                <a:gd name="T3" fmla="*/ 179 h 347"/>
                <a:gd name="T4" fmla="*/ 0 w 1860"/>
                <a:gd name="T5" fmla="*/ 347 h 347"/>
                <a:gd name="T6" fmla="*/ 1860 w 1860"/>
                <a:gd name="T7" fmla="*/ 151 h 347"/>
                <a:gd name="T8" fmla="*/ 1860 w 1860"/>
                <a:gd name="T9" fmla="*/ 0 h 3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60" h="347">
                  <a:moveTo>
                    <a:pt x="1860" y="0"/>
                  </a:moveTo>
                  <a:lnTo>
                    <a:pt x="0" y="179"/>
                  </a:lnTo>
                  <a:lnTo>
                    <a:pt x="0" y="347"/>
                  </a:lnTo>
                  <a:lnTo>
                    <a:pt x="1860" y="151"/>
                  </a:lnTo>
                  <a:lnTo>
                    <a:pt x="1860" y="0"/>
                  </a:lnTo>
                  <a:close/>
                </a:path>
              </a:pathLst>
            </a:custGeom>
            <a:gradFill>
              <a:gsLst>
                <a:gs pos="0">
                  <a:srgbClr val="E4DBF3"/>
                </a:gs>
                <a:gs pos="100000">
                  <a:srgbClr val="CDBDE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" name="Text Box 58">
              <a:extLst>
                <a:ext uri="{FF2B5EF4-FFF2-40B4-BE49-F238E27FC236}">
                  <a16:creationId xmlns:a16="http://schemas.microsoft.com/office/drawing/2014/main" id="{C0C2C1BA-91FF-224E-A246-0B05B1746B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379204">
              <a:off x="1584" y="2157"/>
              <a:ext cx="6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CTS(A)</a:t>
              </a:r>
            </a:p>
          </p:txBody>
        </p:sp>
        <p:sp>
          <p:nvSpPr>
            <p:cNvPr id="67" name="Text Box 59">
              <a:extLst>
                <a:ext uri="{FF2B5EF4-FFF2-40B4-BE49-F238E27FC236}">
                  <a16:creationId xmlns:a16="http://schemas.microsoft.com/office/drawing/2014/main" id="{EB9E4AF6-51F3-ED4F-B073-A7D914972F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76164">
              <a:off x="3816" y="2147"/>
              <a:ext cx="6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CTS(A)</a:t>
              </a:r>
            </a:p>
          </p:txBody>
        </p:sp>
      </p:grpSp>
      <p:grpSp>
        <p:nvGrpSpPr>
          <p:cNvPr id="68" name="Group 69">
            <a:extLst>
              <a:ext uri="{FF2B5EF4-FFF2-40B4-BE49-F238E27FC236}">
                <a16:creationId xmlns:a16="http://schemas.microsoft.com/office/drawing/2014/main" id="{C9129164-32D4-5B48-854B-478611C1D69B}"/>
              </a:ext>
            </a:extLst>
          </p:cNvPr>
          <p:cNvGrpSpPr>
            <a:grpSpLocks/>
          </p:cNvGrpSpPr>
          <p:nvPr/>
        </p:nvGrpSpPr>
        <p:grpSpPr bwMode="auto">
          <a:xfrm>
            <a:off x="2386451" y="4039180"/>
            <a:ext cx="6553201" cy="2174875"/>
            <a:chOff x="1128" y="2492"/>
            <a:chExt cx="4128" cy="1370"/>
          </a:xfrm>
        </p:grpSpPr>
        <p:sp>
          <p:nvSpPr>
            <p:cNvPr id="69" name="Freeform 60">
              <a:extLst>
                <a:ext uri="{FF2B5EF4-FFF2-40B4-BE49-F238E27FC236}">
                  <a16:creationId xmlns:a16="http://schemas.microsoft.com/office/drawing/2014/main" id="{61752D4D-8298-AD4B-B9D2-D2DED1E2F9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8" y="2492"/>
              <a:ext cx="4128" cy="1134"/>
            </a:xfrm>
            <a:custGeom>
              <a:avLst/>
              <a:gdLst>
                <a:gd name="T0" fmla="*/ 0 w 3652"/>
                <a:gd name="T1" fmla="*/ 0 h 1134"/>
                <a:gd name="T2" fmla="*/ 3652 w 3652"/>
                <a:gd name="T3" fmla="*/ 318 h 1134"/>
                <a:gd name="T4" fmla="*/ 3652 w 3652"/>
                <a:gd name="T5" fmla="*/ 1134 h 1134"/>
                <a:gd name="T6" fmla="*/ 1 w 3652"/>
                <a:gd name="T7" fmla="*/ 787 h 1134"/>
                <a:gd name="T8" fmla="*/ 0 w 3652"/>
                <a:gd name="T9" fmla="*/ 0 h 11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52" h="1134">
                  <a:moveTo>
                    <a:pt x="0" y="0"/>
                  </a:moveTo>
                  <a:lnTo>
                    <a:pt x="3652" y="318"/>
                  </a:lnTo>
                  <a:lnTo>
                    <a:pt x="3652" y="1134"/>
                  </a:lnTo>
                  <a:lnTo>
                    <a:pt x="1" y="787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100000">
                  <a:srgbClr val="9BE6CC"/>
                </a:gs>
                <a:gs pos="0">
                  <a:srgbClr val="37CC99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0" name="Text Box 61">
              <a:extLst>
                <a:ext uri="{FF2B5EF4-FFF2-40B4-BE49-F238E27FC236}">
                  <a16:creationId xmlns:a16="http://schemas.microsoft.com/office/drawing/2014/main" id="{1C858E66-F881-2349-9632-3938A55730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4" y="2814"/>
              <a:ext cx="113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DATA (A)</a:t>
              </a:r>
            </a:p>
          </p:txBody>
        </p:sp>
        <p:sp>
          <p:nvSpPr>
            <p:cNvPr id="71" name="Freeform 62">
              <a:extLst>
                <a:ext uri="{FF2B5EF4-FFF2-40B4-BE49-F238E27FC236}">
                  <a16:creationId xmlns:a16="http://schemas.microsoft.com/office/drawing/2014/main" id="{835BC1D8-E6BA-1941-80A9-2C5FA5DB42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6" y="3507"/>
              <a:ext cx="2260" cy="355"/>
            </a:xfrm>
            <a:custGeom>
              <a:avLst/>
              <a:gdLst>
                <a:gd name="T0" fmla="*/ 0 w 2260"/>
                <a:gd name="T1" fmla="*/ 0 h 355"/>
                <a:gd name="T2" fmla="*/ 2260 w 2260"/>
                <a:gd name="T3" fmla="*/ 186 h 355"/>
                <a:gd name="T4" fmla="*/ 2260 w 2260"/>
                <a:gd name="T5" fmla="*/ 355 h 355"/>
                <a:gd name="T6" fmla="*/ 0 w 2260"/>
                <a:gd name="T7" fmla="*/ 151 h 355"/>
                <a:gd name="T8" fmla="*/ 0 w 2260"/>
                <a:gd name="T9" fmla="*/ 0 h 3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60" h="355">
                  <a:moveTo>
                    <a:pt x="0" y="0"/>
                  </a:moveTo>
                  <a:lnTo>
                    <a:pt x="2260" y="186"/>
                  </a:lnTo>
                  <a:lnTo>
                    <a:pt x="2260" y="35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100000">
                  <a:srgbClr val="EAE3F5"/>
                </a:gs>
                <a:gs pos="0">
                  <a:srgbClr val="CDBDE8"/>
                </a:gs>
              </a:gsLst>
              <a:lin ang="0" scaled="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2" name="Freeform 63">
              <a:extLst>
                <a:ext uri="{FF2B5EF4-FFF2-40B4-BE49-F238E27FC236}">
                  <a16:creationId xmlns:a16="http://schemas.microsoft.com/office/drawing/2014/main" id="{930C8B83-C511-364F-B285-9B194E178F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7" y="3508"/>
              <a:ext cx="1843" cy="347"/>
            </a:xfrm>
            <a:custGeom>
              <a:avLst/>
              <a:gdLst>
                <a:gd name="T0" fmla="*/ 1860 w 1860"/>
                <a:gd name="T1" fmla="*/ 0 h 347"/>
                <a:gd name="T2" fmla="*/ 0 w 1860"/>
                <a:gd name="T3" fmla="*/ 179 h 347"/>
                <a:gd name="T4" fmla="*/ 0 w 1860"/>
                <a:gd name="T5" fmla="*/ 347 h 347"/>
                <a:gd name="T6" fmla="*/ 1860 w 1860"/>
                <a:gd name="T7" fmla="*/ 151 h 347"/>
                <a:gd name="T8" fmla="*/ 1860 w 1860"/>
                <a:gd name="T9" fmla="*/ 0 h 3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60" h="347">
                  <a:moveTo>
                    <a:pt x="1860" y="0"/>
                  </a:moveTo>
                  <a:lnTo>
                    <a:pt x="0" y="179"/>
                  </a:lnTo>
                  <a:lnTo>
                    <a:pt x="0" y="347"/>
                  </a:lnTo>
                  <a:lnTo>
                    <a:pt x="1860" y="151"/>
                  </a:lnTo>
                  <a:lnTo>
                    <a:pt x="1860" y="0"/>
                  </a:lnTo>
                  <a:close/>
                </a:path>
              </a:pathLst>
            </a:custGeom>
            <a:gradFill>
              <a:gsLst>
                <a:gs pos="100000">
                  <a:srgbClr val="EAE3F5"/>
                </a:gs>
                <a:gs pos="0">
                  <a:srgbClr val="CDBDE8"/>
                </a:gs>
              </a:gsLst>
              <a:lin ang="10800000" scaled="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3" name="Text Box 64">
              <a:extLst>
                <a:ext uri="{FF2B5EF4-FFF2-40B4-BE49-F238E27FC236}">
                  <a16:creationId xmlns:a16="http://schemas.microsoft.com/office/drawing/2014/main" id="{80925179-49BC-2349-8992-75BB30FCD5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379204">
              <a:off x="1600" y="3582"/>
              <a:ext cx="60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ACK(A)</a:t>
              </a:r>
            </a:p>
          </p:txBody>
        </p:sp>
        <p:sp>
          <p:nvSpPr>
            <p:cNvPr id="74" name="Text Box 65">
              <a:extLst>
                <a:ext uri="{FF2B5EF4-FFF2-40B4-BE49-F238E27FC236}">
                  <a16:creationId xmlns:a16="http://schemas.microsoft.com/office/drawing/2014/main" id="{E7403CA7-E600-0C4C-A60D-9BA8AB2972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76164">
              <a:off x="3832" y="3572"/>
              <a:ext cx="60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ACK(A)</a:t>
              </a:r>
            </a:p>
          </p:txBody>
        </p:sp>
      </p:grpSp>
      <p:grpSp>
        <p:nvGrpSpPr>
          <p:cNvPr id="75" name="Group 66">
            <a:extLst>
              <a:ext uri="{FF2B5EF4-FFF2-40B4-BE49-F238E27FC236}">
                <a16:creationId xmlns:a16="http://schemas.microsoft.com/office/drawing/2014/main" id="{F05D0514-260E-1E43-8388-78F33D7F0C1D}"/>
              </a:ext>
            </a:extLst>
          </p:cNvPr>
          <p:cNvGrpSpPr>
            <a:grpSpLocks/>
          </p:cNvGrpSpPr>
          <p:nvPr/>
        </p:nvGrpSpPr>
        <p:grpSpPr bwMode="auto">
          <a:xfrm>
            <a:off x="5013764" y="2129418"/>
            <a:ext cx="3109912" cy="715962"/>
            <a:chOff x="2596" y="1330"/>
            <a:chExt cx="1959" cy="451"/>
          </a:xfrm>
        </p:grpSpPr>
        <p:sp>
          <p:nvSpPr>
            <p:cNvPr id="76" name="AutoShape 10">
              <a:extLst>
                <a:ext uri="{FF2B5EF4-FFF2-40B4-BE49-F238E27FC236}">
                  <a16:creationId xmlns:a16="http://schemas.microsoft.com/office/drawing/2014/main" id="{832EF9D7-69BC-5545-AB6F-7343415030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6" y="1330"/>
              <a:ext cx="683" cy="293"/>
            </a:xfrm>
            <a:prstGeom prst="irregularSeal1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77" name="Text Box 11">
              <a:extLst>
                <a:ext uri="{FF2B5EF4-FFF2-40B4-BE49-F238E27FC236}">
                  <a16:creationId xmlns:a16="http://schemas.microsoft.com/office/drawing/2014/main" id="{575A100D-49B2-0D44-9324-89E1FB018D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8" y="1550"/>
              <a:ext cx="177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reservation collision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BF24F12-CE7B-D443-8C15-F591194A251A}"/>
              </a:ext>
            </a:extLst>
          </p:cNvPr>
          <p:cNvGrpSpPr>
            <a:grpSpLocks/>
          </p:cNvGrpSpPr>
          <p:nvPr/>
        </p:nvGrpSpPr>
        <p:grpSpPr bwMode="auto">
          <a:xfrm>
            <a:off x="8939651" y="3755018"/>
            <a:ext cx="711200" cy="2548800"/>
            <a:chOff x="8205350" y="3671888"/>
            <a:chExt cx="711200" cy="2548800"/>
          </a:xfrm>
        </p:grpSpPr>
        <p:sp>
          <p:nvSpPr>
            <p:cNvPr id="79" name="Line 71">
              <a:extLst>
                <a:ext uri="{FF2B5EF4-FFF2-40B4-BE49-F238E27FC236}">
                  <a16:creationId xmlns:a16="http://schemas.microsoft.com/office/drawing/2014/main" id="{8861D341-8C8D-1748-B284-6F9756322A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28038" y="3671888"/>
              <a:ext cx="0" cy="25488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0" name="Text Box 72">
              <a:extLst>
                <a:ext uri="{FF2B5EF4-FFF2-40B4-BE49-F238E27FC236}">
                  <a16:creationId xmlns:a16="http://schemas.microsoft.com/office/drawing/2014/main" id="{36ECAC2C-38BD-2145-8811-D01C7C8804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5350" y="4689475"/>
              <a:ext cx="711200" cy="3698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defer</a:t>
              </a:r>
            </a:p>
          </p:txBody>
        </p:sp>
      </p:grpSp>
      <p:grpSp>
        <p:nvGrpSpPr>
          <p:cNvPr id="81" name="Group 361">
            <a:extLst>
              <a:ext uri="{FF2B5EF4-FFF2-40B4-BE49-F238E27FC236}">
                <a16:creationId xmlns:a16="http://schemas.microsoft.com/office/drawing/2014/main" id="{DC6E86CC-64EA-0E4F-A3DA-0C7FF44F1C9F}"/>
              </a:ext>
            </a:extLst>
          </p:cNvPr>
          <p:cNvGrpSpPr>
            <a:grpSpLocks/>
          </p:cNvGrpSpPr>
          <p:nvPr/>
        </p:nvGrpSpPr>
        <p:grpSpPr bwMode="auto">
          <a:xfrm>
            <a:off x="4923276" y="1200730"/>
            <a:ext cx="650875" cy="561975"/>
            <a:chOff x="2967" y="478"/>
            <a:chExt cx="788" cy="625"/>
          </a:xfrm>
        </p:grpSpPr>
        <p:pic>
          <p:nvPicPr>
            <p:cNvPr id="82" name="Picture 358" descr="access_point_stylized_small">
              <a:extLst>
                <a:ext uri="{FF2B5EF4-FFF2-40B4-BE49-F238E27FC236}">
                  <a16:creationId xmlns:a16="http://schemas.microsoft.com/office/drawing/2014/main" id="{ACF5FCAA-0076-D945-A436-4B3616F2A6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3" name="Picture 360" descr="antenna_radiation_stylized">
              <a:extLst>
                <a:ext uri="{FF2B5EF4-FFF2-40B4-BE49-F238E27FC236}">
                  <a16:creationId xmlns:a16="http://schemas.microsoft.com/office/drawing/2014/main" id="{F33EA2B5-9337-7F4E-AA4E-DD2845CBD7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84" name="Group 356">
            <a:extLst>
              <a:ext uri="{FF2B5EF4-FFF2-40B4-BE49-F238E27FC236}">
                <a16:creationId xmlns:a16="http://schemas.microsoft.com/office/drawing/2014/main" id="{11578272-6776-B94A-AAF0-9F563045AD45}"/>
              </a:ext>
            </a:extLst>
          </p:cNvPr>
          <p:cNvGrpSpPr>
            <a:grpSpLocks/>
          </p:cNvGrpSpPr>
          <p:nvPr/>
        </p:nvGrpSpPr>
        <p:grpSpPr bwMode="auto">
          <a:xfrm>
            <a:off x="2110226" y="1140405"/>
            <a:ext cx="609600" cy="598488"/>
            <a:chOff x="313" y="1497"/>
            <a:chExt cx="1152" cy="1014"/>
          </a:xfrm>
        </p:grpSpPr>
        <p:pic>
          <p:nvPicPr>
            <p:cNvPr id="85" name="Picture 354" descr="laptop_stylized_small">
              <a:extLst>
                <a:ext uri="{FF2B5EF4-FFF2-40B4-BE49-F238E27FC236}">
                  <a16:creationId xmlns:a16="http://schemas.microsoft.com/office/drawing/2014/main" id="{E256E2DD-3C54-0549-A903-4CAE5BCEDA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6" name="Picture 355" descr="antenna_stylized">
              <a:extLst>
                <a:ext uri="{FF2B5EF4-FFF2-40B4-BE49-F238E27FC236}">
                  <a16:creationId xmlns:a16="http://schemas.microsoft.com/office/drawing/2014/main" id="{93764C0E-BB21-0A41-9D23-7F9259FB50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87" name="Group 356">
            <a:extLst>
              <a:ext uri="{FF2B5EF4-FFF2-40B4-BE49-F238E27FC236}">
                <a16:creationId xmlns:a16="http://schemas.microsoft.com/office/drawing/2014/main" id="{62EC1392-7192-674C-9F39-338C35E2F689}"/>
              </a:ext>
            </a:extLst>
          </p:cNvPr>
          <p:cNvGrpSpPr>
            <a:grpSpLocks/>
          </p:cNvGrpSpPr>
          <p:nvPr/>
        </p:nvGrpSpPr>
        <p:grpSpPr bwMode="auto">
          <a:xfrm>
            <a:off x="8561826" y="1170568"/>
            <a:ext cx="609600" cy="598487"/>
            <a:chOff x="313" y="1497"/>
            <a:chExt cx="1152" cy="1014"/>
          </a:xfrm>
        </p:grpSpPr>
        <p:pic>
          <p:nvPicPr>
            <p:cNvPr id="88" name="Picture 354" descr="laptop_stylized_small">
              <a:extLst>
                <a:ext uri="{FF2B5EF4-FFF2-40B4-BE49-F238E27FC236}">
                  <a16:creationId xmlns:a16="http://schemas.microsoft.com/office/drawing/2014/main" id="{B6D6F070-5327-4042-9FC7-74F8D22287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9" name="Picture 355" descr="antenna_stylized">
              <a:extLst>
                <a:ext uri="{FF2B5EF4-FFF2-40B4-BE49-F238E27FC236}">
                  <a16:creationId xmlns:a16="http://schemas.microsoft.com/office/drawing/2014/main" id="{EBDBBDB2-0438-8041-89B1-F3D300C6F2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B692E6CB-15CD-2240-9932-047722556C45}"/>
              </a:ext>
            </a:extLst>
          </p:cNvPr>
          <p:cNvCxnSpPr/>
          <p:nvPr/>
        </p:nvCxnSpPr>
        <p:spPr>
          <a:xfrm>
            <a:off x="1745679" y="2008911"/>
            <a:ext cx="0" cy="381000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 Box 46">
            <a:extLst>
              <a:ext uri="{FF2B5EF4-FFF2-40B4-BE49-F238E27FC236}">
                <a16:creationId xmlns:a16="http://schemas.microsoft.com/office/drawing/2014/main" id="{F0293F4D-BED0-464C-94AF-66657377FE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1972" y="4165386"/>
            <a:ext cx="620712" cy="3698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684048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3BAF512-C8A6-DA43-8BCB-1FA12D23AE36}"/>
              </a:ext>
            </a:extLst>
          </p:cNvPr>
          <p:cNvCxnSpPr/>
          <p:nvPr/>
        </p:nvCxnSpPr>
        <p:spPr>
          <a:xfrm>
            <a:off x="8839201" y="2036617"/>
            <a:ext cx="0" cy="914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631FB7CC-D2A5-C749-8D9F-01B9FA129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0" y="235921"/>
            <a:ext cx="10515600" cy="894622"/>
          </a:xfrm>
        </p:spPr>
        <p:txBody>
          <a:bodyPr>
            <a:normAutofit/>
          </a:bodyPr>
          <a:lstStyle/>
          <a:p>
            <a:r>
              <a:rPr lang="en-US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802.11: mobility within same subnet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79769-3B28-CC48-AFB2-345BF93C78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Wireless and Mobile Networks: 7- </a:t>
            </a:r>
            <a:fld id="{C4204591-24BD-A542-B9D5-F8D8A88D2FE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88" name="Rectangle 94">
            <a:extLst>
              <a:ext uri="{FF2B5EF4-FFF2-40B4-BE49-F238E27FC236}">
                <a16:creationId xmlns:a16="http://schemas.microsoft.com/office/drawing/2014/main" id="{E8104397-62D4-C04B-8226-F7E8D68386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4727" y="1630364"/>
            <a:ext cx="6276109" cy="143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>
              <a:lnSpc>
                <a:spcPts val="3000"/>
              </a:lnSpc>
              <a:spcBef>
                <a:spcPts val="600"/>
              </a:spcBef>
              <a:tabLst>
                <a:tab pos="746125" algn="l"/>
              </a:tabLst>
              <a:defRPr/>
            </a:pPr>
            <a:r>
              <a:rPr lang="en-US" sz="3200" kern="0" dirty="0">
                <a:cs typeface="+mn-cs"/>
              </a:rPr>
              <a:t>H1 remains in same IP subnet: IP address can remain same</a:t>
            </a:r>
          </a:p>
        </p:txBody>
      </p:sp>
      <p:sp>
        <p:nvSpPr>
          <p:cNvPr id="189" name="Oval 5">
            <a:extLst>
              <a:ext uri="{FF2B5EF4-FFF2-40B4-BE49-F238E27FC236}">
                <a16:creationId xmlns:a16="http://schemas.microsoft.com/office/drawing/2014/main" id="{E2CE2EC5-620F-E54F-B9EA-02D8B9AE5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1581" y="3304454"/>
            <a:ext cx="2154237" cy="2093912"/>
          </a:xfrm>
          <a:prstGeom prst="ellipse">
            <a:avLst/>
          </a:prstGeom>
          <a:solidFill>
            <a:srgbClr val="9AE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90" name="Oval 38">
            <a:extLst>
              <a:ext uri="{FF2B5EF4-FFF2-40B4-BE49-F238E27FC236}">
                <a16:creationId xmlns:a16="http://schemas.microsoft.com/office/drawing/2014/main" id="{D1509085-9257-3E44-A009-17299DD9B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5018" y="3366366"/>
            <a:ext cx="2278063" cy="2051050"/>
          </a:xfrm>
          <a:prstGeom prst="ellipse">
            <a:avLst/>
          </a:prstGeom>
          <a:solidFill>
            <a:srgbClr val="9AE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91" name="Line 59">
            <a:extLst>
              <a:ext uri="{FF2B5EF4-FFF2-40B4-BE49-F238E27FC236}">
                <a16:creationId xmlns:a16="http://schemas.microsoft.com/office/drawing/2014/main" id="{A4709C92-11AC-8542-B325-4752E923BF75}"/>
              </a:ext>
            </a:extLst>
          </p:cNvPr>
          <p:cNvSpPr>
            <a:spLocks noChangeShapeType="1"/>
          </p:cNvSpPr>
          <p:nvPr/>
        </p:nvSpPr>
        <p:spPr bwMode="auto">
          <a:xfrm>
            <a:off x="9134331" y="4350616"/>
            <a:ext cx="304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92" name="Line 60">
            <a:extLst>
              <a:ext uri="{FF2B5EF4-FFF2-40B4-BE49-F238E27FC236}">
                <a16:creationId xmlns:a16="http://schemas.microsoft.com/office/drawing/2014/main" id="{B460EAFF-5508-934B-BC24-F69CF89B424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46968" y="4253779"/>
            <a:ext cx="1905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93" name="Line 61">
            <a:extLst>
              <a:ext uri="{FF2B5EF4-FFF2-40B4-BE49-F238E27FC236}">
                <a16:creationId xmlns:a16="http://schemas.microsoft.com/office/drawing/2014/main" id="{962E3F34-4245-8745-B799-8F77F819F8B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61256" y="4329979"/>
            <a:ext cx="1905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94" name="Line 62">
            <a:extLst>
              <a:ext uri="{FF2B5EF4-FFF2-40B4-BE49-F238E27FC236}">
                <a16:creationId xmlns:a16="http://schemas.microsoft.com/office/drawing/2014/main" id="{D1C42226-6B61-1F48-8833-667C71DE2AF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04106" y="4396654"/>
            <a:ext cx="1905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195" name="Group 356">
            <a:extLst>
              <a:ext uri="{FF2B5EF4-FFF2-40B4-BE49-F238E27FC236}">
                <a16:creationId xmlns:a16="http://schemas.microsoft.com/office/drawing/2014/main" id="{7CC44369-B7A0-A840-AB3C-3D2AA59099A5}"/>
              </a:ext>
            </a:extLst>
          </p:cNvPr>
          <p:cNvGrpSpPr>
            <a:grpSpLocks/>
          </p:cNvGrpSpPr>
          <p:nvPr/>
        </p:nvGrpSpPr>
        <p:grpSpPr bwMode="auto">
          <a:xfrm>
            <a:off x="10347181" y="3791816"/>
            <a:ext cx="333375" cy="369888"/>
            <a:chOff x="313" y="1497"/>
            <a:chExt cx="1152" cy="1014"/>
          </a:xfrm>
        </p:grpSpPr>
        <p:pic>
          <p:nvPicPr>
            <p:cNvPr id="196" name="Picture 354" descr="laptop_stylized_small">
              <a:extLst>
                <a:ext uri="{FF2B5EF4-FFF2-40B4-BE49-F238E27FC236}">
                  <a16:creationId xmlns:a16="http://schemas.microsoft.com/office/drawing/2014/main" id="{442D4EB7-8C5E-AE45-95FA-53BBA106A7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7" name="Picture 355" descr="antenna_stylized">
              <a:extLst>
                <a:ext uri="{FF2B5EF4-FFF2-40B4-BE49-F238E27FC236}">
                  <a16:creationId xmlns:a16="http://schemas.microsoft.com/office/drawing/2014/main" id="{9AB30AE8-78B7-0C4A-99E9-432AE99B6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98" name="Group 403">
            <a:extLst>
              <a:ext uri="{FF2B5EF4-FFF2-40B4-BE49-F238E27FC236}">
                <a16:creationId xmlns:a16="http://schemas.microsoft.com/office/drawing/2014/main" id="{D4C2B17F-E486-A74C-ACB3-22180C649EA8}"/>
              </a:ext>
            </a:extLst>
          </p:cNvPr>
          <p:cNvGrpSpPr>
            <a:grpSpLocks/>
          </p:cNvGrpSpPr>
          <p:nvPr/>
        </p:nvGrpSpPr>
        <p:grpSpPr bwMode="auto">
          <a:xfrm>
            <a:off x="7310293" y="4280766"/>
            <a:ext cx="525463" cy="392113"/>
            <a:chOff x="2751" y="1851"/>
            <a:chExt cx="462" cy="478"/>
          </a:xfrm>
        </p:grpSpPr>
        <p:pic>
          <p:nvPicPr>
            <p:cNvPr id="199" name="Picture 364" descr="iphone_stylized_small">
              <a:extLst>
                <a:ext uri="{FF2B5EF4-FFF2-40B4-BE49-F238E27FC236}">
                  <a16:creationId xmlns:a16="http://schemas.microsoft.com/office/drawing/2014/main" id="{70B61669-9CBA-9A45-A1F7-CB7BE2890B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0" name="Picture 402" descr="antenna_radiation_stylized">
              <a:extLst>
                <a:ext uri="{FF2B5EF4-FFF2-40B4-BE49-F238E27FC236}">
                  <a16:creationId xmlns:a16="http://schemas.microsoft.com/office/drawing/2014/main" id="{95B2CF85-D6F9-3C45-82AE-BE6CCC2D1C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01" name="Group 356">
            <a:extLst>
              <a:ext uri="{FF2B5EF4-FFF2-40B4-BE49-F238E27FC236}">
                <a16:creationId xmlns:a16="http://schemas.microsoft.com/office/drawing/2014/main" id="{54FFC2F7-E02D-9B4A-BD18-207692835D1B}"/>
              </a:ext>
            </a:extLst>
          </p:cNvPr>
          <p:cNvGrpSpPr>
            <a:grpSpLocks/>
          </p:cNvGrpSpPr>
          <p:nvPr/>
        </p:nvGrpSpPr>
        <p:grpSpPr bwMode="auto">
          <a:xfrm>
            <a:off x="9686781" y="4717329"/>
            <a:ext cx="363537" cy="338137"/>
            <a:chOff x="313" y="1497"/>
            <a:chExt cx="1152" cy="1014"/>
          </a:xfrm>
        </p:grpSpPr>
        <p:pic>
          <p:nvPicPr>
            <p:cNvPr id="202" name="Picture 354" descr="laptop_stylized_small">
              <a:extLst>
                <a:ext uri="{FF2B5EF4-FFF2-40B4-BE49-F238E27FC236}">
                  <a16:creationId xmlns:a16="http://schemas.microsoft.com/office/drawing/2014/main" id="{E9F03CB4-23B3-644C-A297-0CD7CECFA6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3" name="Picture 355" descr="antenna_stylized">
              <a:extLst>
                <a:ext uri="{FF2B5EF4-FFF2-40B4-BE49-F238E27FC236}">
                  <a16:creationId xmlns:a16="http://schemas.microsoft.com/office/drawing/2014/main" id="{DC4D9032-CD73-E44F-838A-5A62AD62BF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04" name="Group 356">
            <a:extLst>
              <a:ext uri="{FF2B5EF4-FFF2-40B4-BE49-F238E27FC236}">
                <a16:creationId xmlns:a16="http://schemas.microsoft.com/office/drawing/2014/main" id="{17142C00-F874-1C40-8F3A-E139AD111DA2}"/>
              </a:ext>
            </a:extLst>
          </p:cNvPr>
          <p:cNvGrpSpPr>
            <a:grpSpLocks/>
          </p:cNvGrpSpPr>
          <p:nvPr/>
        </p:nvGrpSpPr>
        <p:grpSpPr bwMode="auto">
          <a:xfrm>
            <a:off x="8458056" y="4737966"/>
            <a:ext cx="376237" cy="347663"/>
            <a:chOff x="313" y="1497"/>
            <a:chExt cx="1152" cy="1014"/>
          </a:xfrm>
        </p:grpSpPr>
        <p:pic>
          <p:nvPicPr>
            <p:cNvPr id="205" name="Picture 354" descr="laptop_stylized_small">
              <a:extLst>
                <a:ext uri="{FF2B5EF4-FFF2-40B4-BE49-F238E27FC236}">
                  <a16:creationId xmlns:a16="http://schemas.microsoft.com/office/drawing/2014/main" id="{7F20D8A4-3D47-3946-A573-1AD3562D04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6" name="Picture 355" descr="antenna_stylized">
              <a:extLst>
                <a:ext uri="{FF2B5EF4-FFF2-40B4-BE49-F238E27FC236}">
                  <a16:creationId xmlns:a16="http://schemas.microsoft.com/office/drawing/2014/main" id="{67AABA1F-5FAC-2942-BF1D-EFCC4EFED9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07" name="Group 356">
            <a:extLst>
              <a:ext uri="{FF2B5EF4-FFF2-40B4-BE49-F238E27FC236}">
                <a16:creationId xmlns:a16="http://schemas.microsoft.com/office/drawing/2014/main" id="{0C5308A1-08F3-644B-9D98-F048A52200AE}"/>
              </a:ext>
            </a:extLst>
          </p:cNvPr>
          <p:cNvGrpSpPr>
            <a:grpSpLocks/>
          </p:cNvGrpSpPr>
          <p:nvPr/>
        </p:nvGrpSpPr>
        <p:grpSpPr bwMode="auto">
          <a:xfrm>
            <a:off x="7735743" y="4757016"/>
            <a:ext cx="384175" cy="438150"/>
            <a:chOff x="313" y="1497"/>
            <a:chExt cx="1152" cy="1014"/>
          </a:xfrm>
        </p:grpSpPr>
        <p:pic>
          <p:nvPicPr>
            <p:cNvPr id="208" name="Picture 354" descr="laptop_stylized_small">
              <a:extLst>
                <a:ext uri="{FF2B5EF4-FFF2-40B4-BE49-F238E27FC236}">
                  <a16:creationId xmlns:a16="http://schemas.microsoft.com/office/drawing/2014/main" id="{BC06E0D9-E110-2A43-B122-AF55EE0D9D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9" name="Picture 355" descr="antenna_stylized">
              <a:extLst>
                <a:ext uri="{FF2B5EF4-FFF2-40B4-BE49-F238E27FC236}">
                  <a16:creationId xmlns:a16="http://schemas.microsoft.com/office/drawing/2014/main" id="{C89AA88C-C4B8-8949-AFA1-194666A856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10" name="Group 403">
            <a:extLst>
              <a:ext uri="{FF2B5EF4-FFF2-40B4-BE49-F238E27FC236}">
                <a16:creationId xmlns:a16="http://schemas.microsoft.com/office/drawing/2014/main" id="{09653B46-850D-B34B-A333-FF785A38F2AF}"/>
              </a:ext>
            </a:extLst>
          </p:cNvPr>
          <p:cNvGrpSpPr>
            <a:grpSpLocks/>
          </p:cNvGrpSpPr>
          <p:nvPr/>
        </p:nvGrpSpPr>
        <p:grpSpPr bwMode="auto">
          <a:xfrm>
            <a:off x="7634143" y="3599729"/>
            <a:ext cx="487363" cy="401637"/>
            <a:chOff x="2751" y="1851"/>
            <a:chExt cx="462" cy="478"/>
          </a:xfrm>
        </p:grpSpPr>
        <p:pic>
          <p:nvPicPr>
            <p:cNvPr id="211" name="Picture 364" descr="iphone_stylized_small">
              <a:extLst>
                <a:ext uri="{FF2B5EF4-FFF2-40B4-BE49-F238E27FC236}">
                  <a16:creationId xmlns:a16="http://schemas.microsoft.com/office/drawing/2014/main" id="{7DA8D35C-6543-3A42-9742-E2E3D5877D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2" name="Picture 402" descr="antenna_radiation_stylized">
              <a:extLst>
                <a:ext uri="{FF2B5EF4-FFF2-40B4-BE49-F238E27FC236}">
                  <a16:creationId xmlns:a16="http://schemas.microsoft.com/office/drawing/2014/main" id="{E527D1A0-DF96-A24E-A250-AE8FCCAC28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13" name="Group 403">
            <a:extLst>
              <a:ext uri="{FF2B5EF4-FFF2-40B4-BE49-F238E27FC236}">
                <a16:creationId xmlns:a16="http://schemas.microsoft.com/office/drawing/2014/main" id="{0D00461F-B3AF-9941-A57B-09D12FEFF1AE}"/>
              </a:ext>
            </a:extLst>
          </p:cNvPr>
          <p:cNvGrpSpPr>
            <a:grpSpLocks/>
          </p:cNvGrpSpPr>
          <p:nvPr/>
        </p:nvGrpSpPr>
        <p:grpSpPr bwMode="auto">
          <a:xfrm>
            <a:off x="10194781" y="4260129"/>
            <a:ext cx="527050" cy="392112"/>
            <a:chOff x="2751" y="1851"/>
            <a:chExt cx="462" cy="478"/>
          </a:xfrm>
        </p:grpSpPr>
        <p:pic>
          <p:nvPicPr>
            <p:cNvPr id="214" name="Picture 364" descr="iphone_stylized_small">
              <a:extLst>
                <a:ext uri="{FF2B5EF4-FFF2-40B4-BE49-F238E27FC236}">
                  <a16:creationId xmlns:a16="http://schemas.microsoft.com/office/drawing/2014/main" id="{0B12D8AF-A0CE-4F45-AF57-E28723EB92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" name="Picture 402" descr="antenna_radiation_stylized">
              <a:extLst>
                <a:ext uri="{FF2B5EF4-FFF2-40B4-BE49-F238E27FC236}">
                  <a16:creationId xmlns:a16="http://schemas.microsoft.com/office/drawing/2014/main" id="{46FC5F48-CB87-5C41-99FC-3BCDC023F3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16" name="Group 356">
            <a:extLst>
              <a:ext uri="{FF2B5EF4-FFF2-40B4-BE49-F238E27FC236}">
                <a16:creationId xmlns:a16="http://schemas.microsoft.com/office/drawing/2014/main" id="{EF1B7B94-588F-494F-9020-382DD24CFB54}"/>
              </a:ext>
            </a:extLst>
          </p:cNvPr>
          <p:cNvGrpSpPr>
            <a:grpSpLocks/>
          </p:cNvGrpSpPr>
          <p:nvPr/>
        </p:nvGrpSpPr>
        <p:grpSpPr bwMode="auto">
          <a:xfrm>
            <a:off x="8762856" y="4117254"/>
            <a:ext cx="376237" cy="349250"/>
            <a:chOff x="313" y="1497"/>
            <a:chExt cx="1152" cy="1014"/>
          </a:xfrm>
        </p:grpSpPr>
        <p:pic>
          <p:nvPicPr>
            <p:cNvPr id="217" name="Picture 354" descr="laptop_stylized_small">
              <a:extLst>
                <a:ext uri="{FF2B5EF4-FFF2-40B4-BE49-F238E27FC236}">
                  <a16:creationId xmlns:a16="http://schemas.microsoft.com/office/drawing/2014/main" id="{B0E9D6DF-EBAE-B549-8616-532393572B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8" name="Picture 355" descr="antenna_stylized">
              <a:extLst>
                <a:ext uri="{FF2B5EF4-FFF2-40B4-BE49-F238E27FC236}">
                  <a16:creationId xmlns:a16="http://schemas.microsoft.com/office/drawing/2014/main" id="{E8FD3309-5FE1-4947-B75E-69677EB642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19" name="Group 361">
            <a:extLst>
              <a:ext uri="{FF2B5EF4-FFF2-40B4-BE49-F238E27FC236}">
                <a16:creationId xmlns:a16="http://schemas.microsoft.com/office/drawing/2014/main" id="{7F5370CA-ACA4-D749-BE51-501F13B7D1B3}"/>
              </a:ext>
            </a:extLst>
          </p:cNvPr>
          <p:cNvGrpSpPr>
            <a:grpSpLocks/>
          </p:cNvGrpSpPr>
          <p:nvPr/>
        </p:nvGrpSpPr>
        <p:grpSpPr bwMode="auto">
          <a:xfrm>
            <a:off x="7857981" y="3934691"/>
            <a:ext cx="762000" cy="663575"/>
            <a:chOff x="2967" y="478"/>
            <a:chExt cx="788" cy="625"/>
          </a:xfrm>
        </p:grpSpPr>
        <p:pic>
          <p:nvPicPr>
            <p:cNvPr id="220" name="Picture 358" descr="access_point_stylized_small">
              <a:extLst>
                <a:ext uri="{FF2B5EF4-FFF2-40B4-BE49-F238E27FC236}">
                  <a16:creationId xmlns:a16="http://schemas.microsoft.com/office/drawing/2014/main" id="{58364FA5-EE4A-B94A-A430-6F642FEFA5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1" name="Picture 360" descr="antenna_radiation_stylized">
              <a:extLst>
                <a:ext uri="{FF2B5EF4-FFF2-40B4-BE49-F238E27FC236}">
                  <a16:creationId xmlns:a16="http://schemas.microsoft.com/office/drawing/2014/main" id="{09DBF651-42C4-1E4D-B0A7-71F524D44C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22" name="Group 361">
            <a:extLst>
              <a:ext uri="{FF2B5EF4-FFF2-40B4-BE49-F238E27FC236}">
                <a16:creationId xmlns:a16="http://schemas.microsoft.com/office/drawing/2014/main" id="{AFE507DA-FAD2-E54D-9B67-4939D0AEC972}"/>
              </a:ext>
            </a:extLst>
          </p:cNvPr>
          <p:cNvGrpSpPr>
            <a:grpSpLocks/>
          </p:cNvGrpSpPr>
          <p:nvPr/>
        </p:nvGrpSpPr>
        <p:grpSpPr bwMode="auto">
          <a:xfrm>
            <a:off x="9494693" y="3955329"/>
            <a:ext cx="762000" cy="661987"/>
            <a:chOff x="2967" y="478"/>
            <a:chExt cx="788" cy="625"/>
          </a:xfrm>
        </p:grpSpPr>
        <p:pic>
          <p:nvPicPr>
            <p:cNvPr id="223" name="Picture 358" descr="access_point_stylized_small">
              <a:extLst>
                <a:ext uri="{FF2B5EF4-FFF2-40B4-BE49-F238E27FC236}">
                  <a16:creationId xmlns:a16="http://schemas.microsoft.com/office/drawing/2014/main" id="{87737A86-699B-594B-A92D-20AD9810F7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4" name="Picture 360" descr="antenna_radiation_stylized">
              <a:extLst>
                <a:ext uri="{FF2B5EF4-FFF2-40B4-BE49-F238E27FC236}">
                  <a16:creationId xmlns:a16="http://schemas.microsoft.com/office/drawing/2014/main" id="{B6EBEF08-76CD-2542-8BFB-2F4D1BD207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25" name="Text Box 18">
            <a:extLst>
              <a:ext uri="{FF2B5EF4-FFF2-40B4-BE49-F238E27FC236}">
                <a16:creationId xmlns:a16="http://schemas.microsoft.com/office/drawing/2014/main" id="{C31820A0-72CC-3A4E-AEA6-2BBE3F7C05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1181" y="5018954"/>
            <a:ext cx="446087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srgbClr val="000000"/>
                </a:solidFill>
                <a:latin typeface="Arial" charset="0"/>
                <a:cs typeface="Arial" charset="0"/>
              </a:rPr>
              <a:t>H1</a:t>
            </a:r>
          </a:p>
        </p:txBody>
      </p:sp>
      <p:sp>
        <p:nvSpPr>
          <p:cNvPr id="226" name="Text Box 20">
            <a:extLst>
              <a:ext uri="{FF2B5EF4-FFF2-40B4-BE49-F238E27FC236}">
                <a16:creationId xmlns:a16="http://schemas.microsoft.com/office/drawing/2014/main" id="{9C01AE67-4B1E-994D-8207-331C3F38A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3018" y="5012604"/>
            <a:ext cx="7667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srgbClr val="000000"/>
                </a:solidFill>
                <a:latin typeface="Arial" charset="0"/>
                <a:cs typeface="Arial" charset="0"/>
              </a:rPr>
              <a:t>BBS 2</a:t>
            </a:r>
          </a:p>
        </p:txBody>
      </p:sp>
      <p:sp>
        <p:nvSpPr>
          <p:cNvPr id="227" name="Text Box 20">
            <a:extLst>
              <a:ext uri="{FF2B5EF4-FFF2-40B4-BE49-F238E27FC236}">
                <a16:creationId xmlns:a16="http://schemas.microsoft.com/office/drawing/2014/main" id="{5E18D396-0F78-954D-970D-210CAA30AD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4693" y="5114204"/>
            <a:ext cx="7667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srgbClr val="000000"/>
                </a:solidFill>
                <a:latin typeface="Arial" charset="0"/>
                <a:cs typeface="Arial" charset="0"/>
              </a:rPr>
              <a:t>BBS 1</a:t>
            </a:r>
          </a:p>
        </p:txBody>
      </p:sp>
      <p:sp>
        <p:nvSpPr>
          <p:cNvPr id="229" name="Line 13">
            <a:extLst>
              <a:ext uri="{FF2B5EF4-FFF2-40B4-BE49-F238E27FC236}">
                <a16:creationId xmlns:a16="http://schemas.microsoft.com/office/drawing/2014/main" id="{7EE9AA76-AC1D-9241-98D2-1E941BC5A32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972406" y="3121891"/>
            <a:ext cx="744537" cy="1168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30" name="Line 13">
            <a:extLst>
              <a:ext uri="{FF2B5EF4-FFF2-40B4-BE49-F238E27FC236}">
                <a16:creationId xmlns:a16="http://schemas.microsoft.com/office/drawing/2014/main" id="{9A8A2E92-6E86-034D-B48F-383F5CFB122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6268" y="3142529"/>
            <a:ext cx="657225" cy="11382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41" name="Rectangle 94">
            <a:extLst>
              <a:ext uri="{FF2B5EF4-FFF2-40B4-BE49-F238E27FC236}">
                <a16:creationId xmlns:a16="http://schemas.microsoft.com/office/drawing/2014/main" id="{14E85F17-476D-674D-82E5-21016265E9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4728" y="2627891"/>
            <a:ext cx="6276108" cy="905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>
              <a:lnSpc>
                <a:spcPts val="3000"/>
              </a:lnSpc>
              <a:spcBef>
                <a:spcPts val="600"/>
              </a:spcBef>
              <a:tabLst>
                <a:tab pos="746125" algn="l"/>
              </a:tabLst>
              <a:defRPr/>
            </a:pPr>
            <a:r>
              <a:rPr lang="en-US" sz="3200" kern="0" dirty="0">
                <a:cs typeface="+mn-cs"/>
              </a:rPr>
              <a:t>switch: which AP is associated with H1?</a:t>
            </a:r>
          </a:p>
        </p:txBody>
      </p: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28C1FA5F-2E38-2E42-969A-52F0A0118526}"/>
              </a:ext>
            </a:extLst>
          </p:cNvPr>
          <p:cNvGrpSpPr/>
          <p:nvPr/>
        </p:nvGrpSpPr>
        <p:grpSpPr>
          <a:xfrm>
            <a:off x="8482451" y="1855928"/>
            <a:ext cx="744676" cy="388508"/>
            <a:chOff x="7493876" y="2774731"/>
            <a:chExt cx="1481958" cy="894622"/>
          </a:xfrm>
        </p:grpSpPr>
        <p:sp>
          <p:nvSpPr>
            <p:cNvPr id="243" name="Freeform 242">
              <a:extLst>
                <a:ext uri="{FF2B5EF4-FFF2-40B4-BE49-F238E27FC236}">
                  <a16:creationId xmlns:a16="http://schemas.microsoft.com/office/drawing/2014/main" id="{293EA6C3-A897-6A4E-8FA5-3E87A8F03D6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44" name="Oval 243">
              <a:extLst>
                <a:ext uri="{FF2B5EF4-FFF2-40B4-BE49-F238E27FC236}">
                  <a16:creationId xmlns:a16="http://schemas.microsoft.com/office/drawing/2014/main" id="{5491AEEA-3306-584C-A791-3F623A7248C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45" name="Group 244">
              <a:extLst>
                <a:ext uri="{FF2B5EF4-FFF2-40B4-BE49-F238E27FC236}">
                  <a16:creationId xmlns:a16="http://schemas.microsoft.com/office/drawing/2014/main" id="{1103D392-A969-2B4C-9C4C-6096FA2585B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46" name="Freeform 245">
                <a:extLst>
                  <a:ext uri="{FF2B5EF4-FFF2-40B4-BE49-F238E27FC236}">
                    <a16:creationId xmlns:a16="http://schemas.microsoft.com/office/drawing/2014/main" id="{87941F28-572E-2946-A963-5A01D2241E4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7" name="Freeform 246">
                <a:extLst>
                  <a:ext uri="{FF2B5EF4-FFF2-40B4-BE49-F238E27FC236}">
                    <a16:creationId xmlns:a16="http://schemas.microsoft.com/office/drawing/2014/main" id="{D70E8420-5955-2A42-B6BA-72225B7A16FD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8" name="Freeform 247">
                <a:extLst>
                  <a:ext uri="{FF2B5EF4-FFF2-40B4-BE49-F238E27FC236}">
                    <a16:creationId xmlns:a16="http://schemas.microsoft.com/office/drawing/2014/main" id="{0F35D7A5-5A4A-EB40-AA19-5FFF8E987A6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9" name="Freeform 248">
                <a:extLst>
                  <a:ext uri="{FF2B5EF4-FFF2-40B4-BE49-F238E27FC236}">
                    <a16:creationId xmlns:a16="http://schemas.microsoft.com/office/drawing/2014/main" id="{C80064F8-68C9-3341-83C0-994A4C78114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45C4FEDC-5F6D-524A-829B-E1DBA32EA31B}"/>
              </a:ext>
            </a:extLst>
          </p:cNvPr>
          <p:cNvGrpSpPr/>
          <p:nvPr/>
        </p:nvGrpSpPr>
        <p:grpSpPr>
          <a:xfrm>
            <a:off x="8491494" y="2852015"/>
            <a:ext cx="711278" cy="420709"/>
            <a:chOff x="3668110" y="2448910"/>
            <a:chExt cx="3794234" cy="2165130"/>
          </a:xfrm>
        </p:grpSpPr>
        <p:sp>
          <p:nvSpPr>
            <p:cNvPr id="285" name="Rectangle 284">
              <a:extLst>
                <a:ext uri="{FF2B5EF4-FFF2-40B4-BE49-F238E27FC236}">
                  <a16:creationId xmlns:a16="http://schemas.microsoft.com/office/drawing/2014/main" id="{B01D497C-998D-B04C-A06D-FEE9D6913F04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6" name="Freeform 285">
              <a:extLst>
                <a:ext uri="{FF2B5EF4-FFF2-40B4-BE49-F238E27FC236}">
                  <a16:creationId xmlns:a16="http://schemas.microsoft.com/office/drawing/2014/main" id="{736A6D30-7D30-9F48-A3CD-EC233AB6A751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87" name="Group 286">
              <a:extLst>
                <a:ext uri="{FF2B5EF4-FFF2-40B4-BE49-F238E27FC236}">
                  <a16:creationId xmlns:a16="http://schemas.microsoft.com/office/drawing/2014/main" id="{B8407862-B01E-F64C-A31D-B84CEA6BE325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288" name="Freeform 287">
                <a:extLst>
                  <a:ext uri="{FF2B5EF4-FFF2-40B4-BE49-F238E27FC236}">
                    <a16:creationId xmlns:a16="http://schemas.microsoft.com/office/drawing/2014/main" id="{CC49FF30-78BA-B94B-9DEE-3A23AC0AB147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9" name="Freeform 288">
                <a:extLst>
                  <a:ext uri="{FF2B5EF4-FFF2-40B4-BE49-F238E27FC236}">
                    <a16:creationId xmlns:a16="http://schemas.microsoft.com/office/drawing/2014/main" id="{4D525185-A44E-4F4B-963A-FFE4F23CBF49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0" name="Freeform 289">
                <a:extLst>
                  <a:ext uri="{FF2B5EF4-FFF2-40B4-BE49-F238E27FC236}">
                    <a16:creationId xmlns:a16="http://schemas.microsoft.com/office/drawing/2014/main" id="{8DCF8E70-0D16-4545-889A-A299897DF763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1" name="Freeform 290">
                <a:extLst>
                  <a:ext uri="{FF2B5EF4-FFF2-40B4-BE49-F238E27FC236}">
                    <a16:creationId xmlns:a16="http://schemas.microsoft.com/office/drawing/2014/main" id="{38514A0E-369B-5240-B6B1-7EF2DDD72E69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98" name="Rectangle 94">
            <a:extLst>
              <a:ext uri="{FF2B5EF4-FFF2-40B4-BE49-F238E27FC236}">
                <a16:creationId xmlns:a16="http://schemas.microsoft.com/office/drawing/2014/main" id="{11AE9146-15D4-564E-826D-6483A9DC00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6183" y="3537600"/>
            <a:ext cx="5334000" cy="206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685800" lvl="1" indent="-228600">
              <a:lnSpc>
                <a:spcPct val="90000"/>
              </a:lnSpc>
              <a:spcBef>
                <a:spcPts val="600"/>
              </a:spcBef>
              <a:tabLst>
                <a:tab pos="746125" algn="l"/>
              </a:tabLst>
              <a:defRPr/>
            </a:pPr>
            <a:r>
              <a:rPr lang="en-US" sz="2800" kern="0" dirty="0"/>
              <a:t>self-learning: switch will see frame from H1 and “remember” which switch port can be used to reach H1</a:t>
            </a:r>
          </a:p>
        </p:txBody>
      </p:sp>
    </p:spTree>
    <p:extLst>
      <p:ext uri="{BB962C8B-B14F-4D97-AF65-F5344CB8AC3E}">
        <p14:creationId xmlns:p14="http://schemas.microsoft.com/office/powerpoint/2010/main" val="3830806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4173C30-CB27-3244-B2C9-421435F9D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6190" y="1079501"/>
            <a:ext cx="10515600" cy="545644"/>
          </a:xfrm>
        </p:spPr>
        <p:txBody>
          <a:bodyPr>
            <a:normAutofit fontScale="92500" lnSpcReduction="20000"/>
          </a:bodyPr>
          <a:lstStyle/>
          <a:p>
            <a:pPr indent="-336550"/>
            <a:r>
              <a:rPr lang="en-US" sz="3200" dirty="0"/>
              <a:t>spectrum of mobility, from the </a:t>
            </a:r>
            <a:r>
              <a:rPr lang="en-US" sz="3200" dirty="0">
                <a:solidFill>
                  <a:srgbClr val="C00000"/>
                </a:solidFill>
              </a:rPr>
              <a:t>network</a:t>
            </a:r>
            <a:r>
              <a:rPr lang="en-US" sz="3200" dirty="0"/>
              <a:t> perspective: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AB05D1A-63DC-4C48-816C-99F52090B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171" y="134709"/>
            <a:ext cx="10018713" cy="951142"/>
          </a:xfrm>
        </p:spPr>
        <p:txBody>
          <a:bodyPr/>
          <a:lstStyle/>
          <a:p>
            <a:r>
              <a:rPr lang="en-US" dirty="0"/>
              <a:t>What is mobility?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1C9095-1094-BA4C-995A-67D9351D69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Wireless and Mobile Networks: 7- </a:t>
            </a:r>
            <a:fld id="{C4204591-24BD-A542-B9D5-F8D8A88D2FEE}" type="slidenum">
              <a:rPr lang="en-US" smtClean="0"/>
              <a:pPr/>
              <a:t>12</a:t>
            </a:fld>
            <a:endParaRPr lang="en-US" dirty="0"/>
          </a:p>
        </p:txBody>
      </p:sp>
      <p:grpSp>
        <p:nvGrpSpPr>
          <p:cNvPr id="18" name="Group 4">
            <a:extLst>
              <a:ext uri="{FF2B5EF4-FFF2-40B4-BE49-F238E27FC236}">
                <a16:creationId xmlns:a16="http://schemas.microsoft.com/office/drawing/2014/main" id="{4E3668B0-42BB-7B40-8F8C-5B83D0EBC0E4}"/>
              </a:ext>
            </a:extLst>
          </p:cNvPr>
          <p:cNvGrpSpPr>
            <a:grpSpLocks/>
          </p:cNvGrpSpPr>
          <p:nvPr/>
        </p:nvGrpSpPr>
        <p:grpSpPr bwMode="auto">
          <a:xfrm>
            <a:off x="1241671" y="2491695"/>
            <a:ext cx="10249213" cy="855663"/>
            <a:chOff x="367" y="837"/>
            <a:chExt cx="4882" cy="539"/>
          </a:xfrm>
        </p:grpSpPr>
        <p:sp>
          <p:nvSpPr>
            <p:cNvPr id="19" name="Rectangle 5">
              <a:extLst>
                <a:ext uri="{FF2B5EF4-FFF2-40B4-BE49-F238E27FC236}">
                  <a16:creationId xmlns:a16="http://schemas.microsoft.com/office/drawing/2014/main" id="{DA159490-C12E-FA4E-82CD-7BA4950ADA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" y="1120"/>
              <a:ext cx="4587" cy="256"/>
            </a:xfrm>
            <a:prstGeom prst="rect">
              <a:avLst/>
            </a:prstGeom>
            <a:gradFill rotWithShape="1">
              <a:gsLst>
                <a:gs pos="0">
                  <a:srgbClr val="FFFFFF">
                    <a:alpha val="90000"/>
                  </a:srgbClr>
                </a:gs>
                <a:gs pos="100000">
                  <a:srgbClr val="3333CC"/>
                </a:gs>
              </a:gsLst>
              <a:lin ang="0" scaled="1"/>
            </a:gradFill>
            <a:ln w="9525">
              <a:solidFill>
                <a:srgbClr val="3333CC">
                  <a:alpha val="52000"/>
                </a:srgb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  <a:cs typeface="Arial" charset="0"/>
              </a:endParaRPr>
            </a:p>
          </p:txBody>
        </p:sp>
        <p:sp>
          <p:nvSpPr>
            <p:cNvPr id="20" name="Text Box 6">
              <a:extLst>
                <a:ext uri="{FF2B5EF4-FFF2-40B4-BE49-F238E27FC236}">
                  <a16:creationId xmlns:a16="http://schemas.microsoft.com/office/drawing/2014/main" id="{A22DCF4B-242C-5646-A05C-D14B58C017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" y="837"/>
              <a:ext cx="86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no mobility</a:t>
              </a:r>
            </a:p>
          </p:txBody>
        </p:sp>
        <p:sp>
          <p:nvSpPr>
            <p:cNvPr id="21" name="Text Box 7">
              <a:extLst>
                <a:ext uri="{FF2B5EF4-FFF2-40B4-BE49-F238E27FC236}">
                  <a16:creationId xmlns:a16="http://schemas.microsoft.com/office/drawing/2014/main" id="{5AD16F7A-7D81-C84A-BE49-2C281F6B9F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5" y="837"/>
              <a:ext cx="97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high mobility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F032723-162B-8844-8470-5329C51FF58F}"/>
              </a:ext>
            </a:extLst>
          </p:cNvPr>
          <p:cNvGrpSpPr/>
          <p:nvPr/>
        </p:nvGrpSpPr>
        <p:grpSpPr>
          <a:xfrm>
            <a:off x="1208316" y="3429001"/>
            <a:ext cx="2432955" cy="2553748"/>
            <a:chOff x="1208316" y="3429001"/>
            <a:chExt cx="2432955" cy="2553748"/>
          </a:xfrm>
        </p:grpSpPr>
        <p:sp>
          <p:nvSpPr>
            <p:cNvPr id="22" name="Text Box 8">
              <a:extLst>
                <a:ext uri="{FF2B5EF4-FFF2-40B4-BE49-F238E27FC236}">
                  <a16:creationId xmlns:a16="http://schemas.microsoft.com/office/drawing/2014/main" id="{FD95BCB7-5E08-6440-A1E2-7823574450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8316" y="4228423"/>
              <a:ext cx="2432955" cy="1754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2400" dirty="0">
                  <a:solidFill>
                    <a:srgbClr val="000000"/>
                  </a:solidFill>
                  <a:latin typeface="+mn-lt"/>
                  <a:cs typeface="Arial" charset="0"/>
                </a:rPr>
                <a:t>device moves</a:t>
              </a:r>
            </a:p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2400" dirty="0">
                  <a:solidFill>
                    <a:srgbClr val="000000"/>
                  </a:solidFill>
                  <a:latin typeface="+mn-lt"/>
                  <a:cs typeface="Arial" charset="0"/>
                </a:rPr>
                <a:t>between networks, but</a:t>
              </a:r>
            </a:p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2400" dirty="0">
                  <a:solidFill>
                    <a:srgbClr val="000000"/>
                  </a:solidFill>
                  <a:latin typeface="+mn-lt"/>
                  <a:cs typeface="Arial" charset="0"/>
                </a:rPr>
                <a:t>powers down</a:t>
              </a:r>
            </a:p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2400" dirty="0">
                  <a:solidFill>
                    <a:srgbClr val="000000"/>
                  </a:solidFill>
                  <a:latin typeface="+mn-lt"/>
                  <a:cs typeface="Arial" charset="0"/>
                </a:rPr>
                <a:t>while moving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F03315C-9A01-E245-AC91-7768E1FEAFB6}"/>
                </a:ext>
              </a:extLst>
            </p:cNvPr>
            <p:cNvCxnSpPr/>
            <p:nvPr/>
          </p:nvCxnSpPr>
          <p:spPr>
            <a:xfrm>
              <a:off x="1371600" y="3429001"/>
              <a:ext cx="0" cy="865414"/>
            </a:xfrm>
            <a:prstGeom prst="line">
              <a:avLst/>
            </a:prstGeom>
            <a:ln w="158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CCD3A69-3E81-EE47-B2E3-AE841CFD0983}"/>
              </a:ext>
            </a:extLst>
          </p:cNvPr>
          <p:cNvGrpSpPr/>
          <p:nvPr/>
        </p:nvGrpSpPr>
        <p:grpSpPr>
          <a:xfrm>
            <a:off x="3396346" y="3434443"/>
            <a:ext cx="2400299" cy="2228609"/>
            <a:chOff x="3396346" y="3434443"/>
            <a:chExt cx="2400299" cy="2228609"/>
          </a:xfrm>
        </p:grpSpPr>
        <p:sp>
          <p:nvSpPr>
            <p:cNvPr id="24" name="Text Box 10">
              <a:extLst>
                <a:ext uri="{FF2B5EF4-FFF2-40B4-BE49-F238E27FC236}">
                  <a16:creationId xmlns:a16="http://schemas.microsoft.com/office/drawing/2014/main" id="{25D71873-8BD7-A845-91F8-5F47610871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6346" y="4241124"/>
              <a:ext cx="2400299" cy="14219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2400" dirty="0">
                  <a:solidFill>
                    <a:srgbClr val="000000"/>
                  </a:solidFill>
                  <a:latin typeface="+mn-lt"/>
                  <a:cs typeface="Arial" charset="0"/>
                </a:rPr>
                <a:t>device moves within same AP in</a:t>
              </a:r>
            </a:p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2400" dirty="0">
                  <a:solidFill>
                    <a:srgbClr val="000000"/>
                  </a:solidFill>
                  <a:latin typeface="+mn-lt"/>
                  <a:cs typeface="Arial" charset="0"/>
                </a:rPr>
                <a:t>one provider</a:t>
              </a:r>
            </a:p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2400" dirty="0">
                  <a:solidFill>
                    <a:srgbClr val="000000"/>
                  </a:solidFill>
                  <a:latin typeface="+mn-lt"/>
                  <a:cs typeface="Arial" charset="0"/>
                </a:rPr>
                <a:t>network</a:t>
              </a: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25E02C0-5557-0E43-A8EE-613CBDC5E5B4}"/>
                </a:ext>
              </a:extLst>
            </p:cNvPr>
            <p:cNvCxnSpPr/>
            <p:nvPr/>
          </p:nvCxnSpPr>
          <p:spPr>
            <a:xfrm>
              <a:off x="4577439" y="3434443"/>
              <a:ext cx="0" cy="865414"/>
            </a:xfrm>
            <a:prstGeom prst="line">
              <a:avLst/>
            </a:prstGeom>
            <a:ln w="158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B32811E-0BA2-FF4C-9889-115AE9E07D41}"/>
              </a:ext>
            </a:extLst>
          </p:cNvPr>
          <p:cNvGrpSpPr/>
          <p:nvPr/>
        </p:nvGrpSpPr>
        <p:grpSpPr>
          <a:xfrm>
            <a:off x="8392886" y="3390900"/>
            <a:ext cx="2645228" cy="2935362"/>
            <a:chOff x="8392886" y="3390900"/>
            <a:chExt cx="2645228" cy="2935362"/>
          </a:xfrm>
        </p:grpSpPr>
        <p:sp>
          <p:nvSpPr>
            <p:cNvPr id="23" name="Text Box 9">
              <a:extLst>
                <a:ext uri="{FF2B5EF4-FFF2-40B4-BE49-F238E27FC236}">
                  <a16:creationId xmlns:a16="http://schemas.microsoft.com/office/drawing/2014/main" id="{36768ABE-0162-A043-B0F9-0D8DBB2639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92886" y="4239537"/>
              <a:ext cx="2645228" cy="2086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2400" dirty="0">
                  <a:solidFill>
                    <a:srgbClr val="000000"/>
                  </a:solidFill>
                  <a:latin typeface="+mn-lt"/>
                  <a:cs typeface="Arial" charset="0"/>
                </a:rPr>
                <a:t>device moves</a:t>
              </a:r>
            </a:p>
            <a:p>
              <a:pPr algn="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2400" dirty="0">
                  <a:solidFill>
                    <a:srgbClr val="000000"/>
                  </a:solidFill>
                  <a:latin typeface="+mn-lt"/>
                  <a:cs typeface="Arial" charset="0"/>
                </a:rPr>
                <a:t>among multiple</a:t>
              </a:r>
            </a:p>
            <a:p>
              <a:pPr algn="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2400" dirty="0">
                  <a:solidFill>
                    <a:srgbClr val="000000"/>
                  </a:solidFill>
                  <a:latin typeface="+mn-lt"/>
                  <a:cs typeface="Arial" charset="0"/>
                </a:rPr>
                <a:t>provider networks,</a:t>
              </a:r>
            </a:p>
            <a:p>
              <a:pPr algn="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2400" dirty="0">
                  <a:solidFill>
                    <a:srgbClr val="000000"/>
                  </a:solidFill>
                  <a:latin typeface="+mn-lt"/>
                  <a:cs typeface="Arial" charset="0"/>
                </a:rPr>
                <a:t>while maintaining</a:t>
              </a:r>
            </a:p>
            <a:p>
              <a:pPr algn="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2400" dirty="0">
                  <a:solidFill>
                    <a:srgbClr val="000000"/>
                  </a:solidFill>
                  <a:latin typeface="+mn-lt"/>
                  <a:cs typeface="Arial" charset="0"/>
                </a:rPr>
                <a:t>ongoing connections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EE2CC5A-4D10-C44E-8916-400E6B8D3E3B}"/>
                </a:ext>
              </a:extLst>
            </p:cNvPr>
            <p:cNvCxnSpPr/>
            <p:nvPr/>
          </p:nvCxnSpPr>
          <p:spPr>
            <a:xfrm>
              <a:off x="10869385" y="3390900"/>
              <a:ext cx="0" cy="865414"/>
            </a:xfrm>
            <a:prstGeom prst="line">
              <a:avLst/>
            </a:prstGeom>
            <a:ln w="158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B9DBBE5-E67E-1A40-884A-0A4ADE9CE83D}"/>
              </a:ext>
            </a:extLst>
          </p:cNvPr>
          <p:cNvGrpSpPr/>
          <p:nvPr/>
        </p:nvGrpSpPr>
        <p:grpSpPr>
          <a:xfrm>
            <a:off x="6095999" y="3423556"/>
            <a:ext cx="2155372" cy="2212280"/>
            <a:chOff x="3526970" y="3434443"/>
            <a:chExt cx="2155372" cy="2212280"/>
          </a:xfrm>
        </p:grpSpPr>
        <p:sp>
          <p:nvSpPr>
            <p:cNvPr id="36" name="Text Box 10">
              <a:extLst>
                <a:ext uri="{FF2B5EF4-FFF2-40B4-BE49-F238E27FC236}">
                  <a16:creationId xmlns:a16="http://schemas.microsoft.com/office/drawing/2014/main" id="{3C06299C-91BF-C34A-8ED9-B9E97BE7A7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6970" y="4224795"/>
              <a:ext cx="2155372" cy="14219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2400" dirty="0">
                  <a:solidFill>
                    <a:srgbClr val="000000"/>
                  </a:solidFill>
                  <a:latin typeface="+mn-lt"/>
                  <a:cs typeface="Arial" charset="0"/>
                </a:rPr>
                <a:t>device moves among APs in</a:t>
              </a:r>
            </a:p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2400" dirty="0">
                  <a:solidFill>
                    <a:srgbClr val="000000"/>
                  </a:solidFill>
                  <a:latin typeface="+mn-lt"/>
                  <a:cs typeface="Arial" charset="0"/>
                </a:rPr>
                <a:t>one provider</a:t>
              </a:r>
            </a:p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2400" dirty="0">
                  <a:solidFill>
                    <a:srgbClr val="000000"/>
                  </a:solidFill>
                  <a:latin typeface="+mn-lt"/>
                  <a:cs typeface="Arial" charset="0"/>
                </a:rPr>
                <a:t>network</a:t>
              </a: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6CC5455-EAB3-5E44-B55B-592A65F7E856}"/>
                </a:ext>
              </a:extLst>
            </p:cNvPr>
            <p:cNvCxnSpPr/>
            <p:nvPr/>
          </p:nvCxnSpPr>
          <p:spPr>
            <a:xfrm>
              <a:off x="4577439" y="3434443"/>
              <a:ext cx="0" cy="865414"/>
            </a:xfrm>
            <a:prstGeom prst="line">
              <a:avLst/>
            </a:prstGeom>
            <a:ln w="158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CC4D136-0DAA-6343-B0C2-178A439A6EE2}"/>
              </a:ext>
            </a:extLst>
          </p:cNvPr>
          <p:cNvGrpSpPr/>
          <p:nvPr/>
        </p:nvGrpSpPr>
        <p:grpSpPr>
          <a:xfrm>
            <a:off x="4537999" y="3966256"/>
            <a:ext cx="7322087" cy="2779088"/>
            <a:chOff x="4735773" y="3944203"/>
            <a:chExt cx="6933062" cy="2511189"/>
          </a:xfrm>
        </p:grpSpPr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EF8553F8-7617-914D-8CB1-5B6FEF44D8B0}"/>
                </a:ext>
              </a:extLst>
            </p:cNvPr>
            <p:cNvSpPr/>
            <p:nvPr/>
          </p:nvSpPr>
          <p:spPr>
            <a:xfrm>
              <a:off x="6141492" y="3944203"/>
              <a:ext cx="5527343" cy="2511189"/>
            </a:xfrm>
            <a:prstGeom prst="roundRect">
              <a:avLst/>
            </a:prstGeom>
            <a:noFill/>
            <a:ln w="349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BB4EFB8-6D3B-B140-865D-B286EB9B6721}"/>
                </a:ext>
              </a:extLst>
            </p:cNvPr>
            <p:cNvSpPr txBox="1"/>
            <p:nvPr/>
          </p:nvSpPr>
          <p:spPr>
            <a:xfrm>
              <a:off x="4735773" y="5745707"/>
              <a:ext cx="2896434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i="1" dirty="0"/>
                <a:t>We’re interested in these!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94558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1FB7CC-D2A5-C749-8D9F-01B9FA129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146" y="380460"/>
            <a:ext cx="10965608" cy="894622"/>
          </a:xfrm>
        </p:spPr>
        <p:txBody>
          <a:bodyPr>
            <a:normAutofit/>
          </a:bodyPr>
          <a:lstStyle/>
          <a:p>
            <a:r>
              <a:rPr lang="en-US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Mobility approaches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79769-3B28-CC48-AFB2-345BF93C78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Wireless and Mobile Networks: 7- </a:t>
            </a:r>
            <a:fld id="{C4204591-24BD-A542-B9D5-F8D8A88D2FEE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D635CF3A-1F07-4049-BD65-BA853BE5E941}"/>
              </a:ext>
            </a:extLst>
          </p:cNvPr>
          <p:cNvSpPr txBox="1">
            <a:spLocks noChangeArrowheads="1"/>
          </p:cNvSpPr>
          <p:nvPr/>
        </p:nvSpPr>
        <p:spPr>
          <a:xfrm>
            <a:off x="1010557" y="1440226"/>
            <a:ext cx="10699222" cy="30936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39725">
              <a:buClr>
                <a:schemeClr val="bg1">
                  <a:lumMod val="75000"/>
                </a:schemeClr>
              </a:buClr>
              <a:defRPr/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let network (routers) handle it: </a:t>
            </a:r>
          </a:p>
          <a:p>
            <a:pPr lvl="1" indent="-339725">
              <a:buClr>
                <a:schemeClr val="bg1">
                  <a:lumMod val="75000"/>
                </a:schemeClr>
              </a:buClr>
              <a:defRPr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</a:rPr>
              <a:t>routers advertise well-known name, address (e.g., permanent 32-bit IP address), or number (e.g., cell #) of visiting mobile node via usual routing table exchange</a:t>
            </a:r>
          </a:p>
          <a:p>
            <a:pPr lvl="1" indent="-339725">
              <a:buClr>
                <a:schemeClr val="bg1">
                  <a:lumMod val="75000"/>
                </a:schemeClr>
              </a:buClr>
              <a:defRPr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</a:rPr>
              <a:t>Internet routing could do this already </a:t>
            </a:r>
            <a:r>
              <a:rPr lang="en-US" sz="2800" i="1" dirty="0">
                <a:solidFill>
                  <a:schemeClr val="bg1">
                    <a:lumMod val="75000"/>
                  </a:schemeClr>
                </a:solidFill>
              </a:rPr>
              <a:t>with no </a:t>
            </a:r>
            <a:r>
              <a:rPr lang="en-US" sz="2800" dirty="0">
                <a:solidFill>
                  <a:schemeClr val="bg1">
                    <a:lumMod val="75000"/>
                  </a:schemeClr>
                </a:solidFill>
              </a:rPr>
              <a:t>changes! Routing tables indicate where each mobile located via longest prefix match!</a:t>
            </a:r>
          </a:p>
          <a:p>
            <a:pPr lvl="1" indent="-339725">
              <a:buClr>
                <a:schemeClr val="bg1">
                  <a:lumMod val="75000"/>
                </a:schemeClr>
              </a:buClr>
              <a:defRPr/>
            </a:pPr>
            <a:endParaRPr lang="en-US" sz="2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753F458-51F8-7341-A2F3-08E71E4DFE10}"/>
              </a:ext>
            </a:extLst>
          </p:cNvPr>
          <p:cNvSpPr txBox="1">
            <a:spLocks noChangeArrowheads="1"/>
          </p:cNvSpPr>
          <p:nvPr/>
        </p:nvSpPr>
        <p:spPr>
          <a:xfrm>
            <a:off x="1092444" y="4101538"/>
            <a:ext cx="10535449" cy="23538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39725">
              <a:defRPr/>
            </a:pPr>
            <a:r>
              <a:rPr lang="en-US" sz="3200" dirty="0">
                <a:solidFill>
                  <a:srgbClr val="C00000"/>
                </a:solidFill>
              </a:rPr>
              <a:t>let end-systems handle it: </a:t>
            </a:r>
            <a:r>
              <a:rPr lang="en-US" sz="3200" dirty="0"/>
              <a:t>functionality at the “edge”</a:t>
            </a:r>
          </a:p>
          <a:p>
            <a:pPr lvl="1" indent="-290513">
              <a:defRPr/>
            </a:pPr>
            <a:r>
              <a:rPr lang="en-US" sz="2800" i="1" dirty="0">
                <a:solidFill>
                  <a:srgbClr val="011199"/>
                </a:solidFill>
              </a:rPr>
              <a:t>indirect routing:</a:t>
            </a:r>
            <a:r>
              <a:rPr lang="en-US" sz="2800" dirty="0">
                <a:solidFill>
                  <a:srgbClr val="011199"/>
                </a:solidFill>
              </a:rPr>
              <a:t> </a:t>
            </a:r>
            <a:r>
              <a:rPr lang="en-US" sz="2800" dirty="0"/>
              <a:t>communication from correspondent to mobile goes through home network, then forwarded to remote mobile</a:t>
            </a:r>
          </a:p>
          <a:p>
            <a:pPr lvl="1" indent="-290513">
              <a:defRPr/>
            </a:pPr>
            <a:r>
              <a:rPr lang="en-US" sz="2800" i="1" dirty="0">
                <a:solidFill>
                  <a:srgbClr val="011199"/>
                </a:solidFill>
              </a:rPr>
              <a:t>direct routing:</a:t>
            </a:r>
            <a:r>
              <a:rPr lang="en-US" sz="2800" dirty="0">
                <a:solidFill>
                  <a:srgbClr val="011199"/>
                </a:solidFill>
              </a:rPr>
              <a:t> </a:t>
            </a:r>
            <a:r>
              <a:rPr lang="en-US" sz="2800" dirty="0"/>
              <a:t>correspondent gets foreign address of mobile, send directly to mobile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1E929CD-BD07-844C-B171-F0D97433B71D}"/>
              </a:ext>
            </a:extLst>
          </p:cNvPr>
          <p:cNvGrpSpPr/>
          <p:nvPr/>
        </p:nvGrpSpPr>
        <p:grpSpPr>
          <a:xfrm>
            <a:off x="5094548" y="1851951"/>
            <a:ext cx="2271713" cy="1743075"/>
            <a:chOff x="3101975" y="1770063"/>
            <a:chExt cx="2271713" cy="1743075"/>
          </a:xfrm>
        </p:grpSpPr>
        <p:sp>
          <p:nvSpPr>
            <p:cNvPr id="7" name="Oval 4">
              <a:extLst>
                <a:ext uri="{FF2B5EF4-FFF2-40B4-BE49-F238E27FC236}">
                  <a16:creationId xmlns:a16="http://schemas.microsoft.com/office/drawing/2014/main" id="{586DEAB4-8AD5-C14E-A99E-EF0AF3BFD8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5488" y="1770063"/>
              <a:ext cx="1887537" cy="1743075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A8F5BF46-C17B-AF46-9495-456D8D43FB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0463" y="1944688"/>
              <a:ext cx="1133475" cy="136525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" name="Text Box 6">
              <a:extLst>
                <a:ext uri="{FF2B5EF4-FFF2-40B4-BE49-F238E27FC236}">
                  <a16:creationId xmlns:a16="http://schemas.microsoft.com/office/drawing/2014/main" id="{D16F08E7-A82A-6F4D-AB93-FFF1DB60E6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1975" y="1958975"/>
              <a:ext cx="2271713" cy="1311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2000" dirty="0">
                  <a:latin typeface="Arial" charset="0"/>
                  <a:cs typeface="Arial" charset="0"/>
                </a:rPr>
                <a:t>not </a:t>
              </a:r>
            </a:p>
            <a:p>
              <a:pPr algn="ctr">
                <a:defRPr/>
              </a:pPr>
              <a:r>
                <a:rPr lang="en-US" sz="2000" dirty="0">
                  <a:latin typeface="Arial" charset="0"/>
                  <a:cs typeface="Arial" charset="0"/>
                </a:rPr>
                <a:t>scalable</a:t>
              </a:r>
            </a:p>
            <a:p>
              <a:pPr algn="ctr">
                <a:defRPr/>
              </a:pPr>
              <a:r>
                <a:rPr lang="en-US" sz="2000" dirty="0">
                  <a:latin typeface="Arial" charset="0"/>
                  <a:cs typeface="Arial" charset="0"/>
                </a:rPr>
                <a:t> to billions of</a:t>
              </a:r>
            </a:p>
            <a:p>
              <a:pPr algn="ctr">
                <a:defRPr/>
              </a:pPr>
              <a:r>
                <a:rPr lang="en-US" sz="2000" dirty="0">
                  <a:latin typeface="Arial" charset="0"/>
                  <a:cs typeface="Arial" charset="0"/>
                </a:rPr>
                <a:t>  mobiles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82757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1FB7CC-D2A5-C749-8D9F-01B9FA129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146" y="380460"/>
            <a:ext cx="10965608" cy="894622"/>
          </a:xfrm>
        </p:spPr>
        <p:txBody>
          <a:bodyPr>
            <a:normAutofit/>
          </a:bodyPr>
          <a:lstStyle/>
          <a:p>
            <a:r>
              <a:rPr lang="en-US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Contacting a mobile friend: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79769-3B28-CC48-AFB2-345BF93C78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Wireless and Mobile Networks: 7- </a:t>
            </a:r>
            <a:fld id="{C4204591-24BD-A542-B9D5-F8D8A88D2FEE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56" name="Rectangle 3">
            <a:extLst>
              <a:ext uri="{FF2B5EF4-FFF2-40B4-BE49-F238E27FC236}">
                <a16:creationId xmlns:a16="http://schemas.microsoft.com/office/drawing/2014/main" id="{10C398DB-2763-A841-AE31-774DDE65C9A0}"/>
              </a:ext>
            </a:extLst>
          </p:cNvPr>
          <p:cNvSpPr txBox="1">
            <a:spLocks noChangeArrowheads="1"/>
          </p:cNvSpPr>
          <p:nvPr/>
        </p:nvSpPr>
        <p:spPr>
          <a:xfrm>
            <a:off x="1392072" y="2532703"/>
            <a:ext cx="4553496" cy="1446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defRPr/>
            </a:pPr>
            <a:r>
              <a:rPr lang="en-US" dirty="0"/>
              <a:t>search all phone books?</a:t>
            </a:r>
          </a:p>
          <a:p>
            <a:pPr>
              <a:spcBef>
                <a:spcPts val="600"/>
              </a:spcBef>
              <a:defRPr/>
            </a:pPr>
            <a:r>
              <a:rPr lang="en-US" dirty="0"/>
              <a:t>expect her to let you know where he/she is?</a:t>
            </a:r>
          </a:p>
        </p:txBody>
      </p:sp>
      <p:pic>
        <p:nvPicPr>
          <p:cNvPr id="157" name="Picture 4" descr="worldf">
            <a:extLst>
              <a:ext uri="{FF2B5EF4-FFF2-40B4-BE49-F238E27FC236}">
                <a16:creationId xmlns:a16="http://schemas.microsoft.com/office/drawing/2014/main" id="{E4F2C176-D600-AD47-9307-B0F2E740F7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01892" y="2973984"/>
            <a:ext cx="4813300" cy="248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58" name="Picture 5" descr="Alice">
            <a:extLst>
              <a:ext uri="{FF2B5EF4-FFF2-40B4-BE49-F238E27FC236}">
                <a16:creationId xmlns:a16="http://schemas.microsoft.com/office/drawing/2014/main" id="{A3C4AA4C-C167-3540-AF71-0669A017AE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8755" y="4599584"/>
            <a:ext cx="561975" cy="693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9" name="Picture 6" descr="Bob">
            <a:extLst>
              <a:ext uri="{FF2B5EF4-FFF2-40B4-BE49-F238E27FC236}">
                <a16:creationId xmlns:a16="http://schemas.microsoft.com/office/drawing/2014/main" id="{27C03823-8CD4-D14F-89DC-C4A5129669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6342" y="2396134"/>
            <a:ext cx="676275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0" name="Text Box 7">
            <a:extLst>
              <a:ext uri="{FF2B5EF4-FFF2-40B4-BE49-F238E27FC236}">
                <a16:creationId xmlns:a16="http://schemas.microsoft.com/office/drawing/2014/main" id="{8DBBD923-4D1B-814A-93A7-2FA2CA4A1E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2817" y="861021"/>
            <a:ext cx="2644775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400" dirty="0">
                <a:latin typeface="+mn-lt"/>
                <a:cs typeface="Arial" charset="0"/>
              </a:rPr>
              <a:t>I wonder where Alice moved to?</a:t>
            </a:r>
          </a:p>
        </p:txBody>
      </p:sp>
      <p:sp>
        <p:nvSpPr>
          <p:cNvPr id="161" name="Oval 8">
            <a:extLst>
              <a:ext uri="{FF2B5EF4-FFF2-40B4-BE49-F238E27FC236}">
                <a16:creationId xmlns:a16="http://schemas.microsoft.com/office/drawing/2014/main" id="{F436AEAE-6DA7-3F40-8328-A89D51966D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16417" y="773709"/>
            <a:ext cx="3168650" cy="99218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62" name="Oval 9">
            <a:extLst>
              <a:ext uri="{FF2B5EF4-FFF2-40B4-BE49-F238E27FC236}">
                <a16:creationId xmlns:a16="http://schemas.microsoft.com/office/drawing/2014/main" id="{D1DD4E87-F5E2-6C45-B4D7-8220517ED0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4892" y="1665884"/>
            <a:ext cx="1387475" cy="26828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63" name="Oval 10">
            <a:extLst>
              <a:ext uri="{FF2B5EF4-FFF2-40B4-BE49-F238E27FC236}">
                <a16:creationId xmlns:a16="http://schemas.microsoft.com/office/drawing/2014/main" id="{E81EE3E1-AEAC-924A-97CF-7A348DFC71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46630" y="2005609"/>
            <a:ext cx="708025" cy="14287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64" name="Oval 11">
            <a:extLst>
              <a:ext uri="{FF2B5EF4-FFF2-40B4-BE49-F238E27FC236}">
                <a16:creationId xmlns:a16="http://schemas.microsoft.com/office/drawing/2014/main" id="{A2DCD9BC-4D38-AD4B-860A-1CA856D2B0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9030" y="2205634"/>
            <a:ext cx="280987" cy="952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65" name="Rectangle 12">
            <a:extLst>
              <a:ext uri="{FF2B5EF4-FFF2-40B4-BE49-F238E27FC236}">
                <a16:creationId xmlns:a16="http://schemas.microsoft.com/office/drawing/2014/main" id="{0773B241-CD4F-5840-9A96-162A1BEE2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990" y="1453889"/>
            <a:ext cx="6689063" cy="1100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000099"/>
              </a:buClr>
              <a:buSzPct val="75000"/>
              <a:buFont typeface="Wingdings" charset="0"/>
              <a:buNone/>
              <a:defRPr/>
            </a:pPr>
            <a:r>
              <a:rPr lang="en-US" sz="2800" dirty="0">
                <a:cs typeface="+mn-cs"/>
              </a:rPr>
              <a:t>Consider friend frequently changing locations, how do you find him/her?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8BA98B9F-9E33-7748-8BCA-BF7B412AB824}"/>
              </a:ext>
            </a:extLst>
          </p:cNvPr>
          <p:cNvSpPr txBox="1">
            <a:spLocks noChangeArrowheads="1"/>
          </p:cNvSpPr>
          <p:nvPr/>
        </p:nvSpPr>
        <p:spPr>
          <a:xfrm>
            <a:off x="1383834" y="3858994"/>
            <a:ext cx="4553496" cy="10466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defRPr/>
            </a:pPr>
            <a:r>
              <a:rPr lang="en-US" dirty="0"/>
              <a:t>call his/her parents?</a:t>
            </a:r>
          </a:p>
          <a:p>
            <a:pPr>
              <a:spcBef>
                <a:spcPts val="600"/>
              </a:spcBef>
              <a:defRPr/>
            </a:pPr>
            <a:r>
              <a:rPr lang="en-US" dirty="0"/>
              <a:t>Facebook!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A368555-13C0-4443-ACA7-FA4A57B92E26}"/>
              </a:ext>
            </a:extLst>
          </p:cNvPr>
          <p:cNvGrpSpPr/>
          <p:nvPr/>
        </p:nvGrpSpPr>
        <p:grpSpPr>
          <a:xfrm>
            <a:off x="1075038" y="2582562"/>
            <a:ext cx="4831492" cy="2384853"/>
            <a:chOff x="1075038" y="2582562"/>
            <a:chExt cx="4831492" cy="238485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DF6FB7B-9DBD-384C-A555-0EF5F3515D21}"/>
                </a:ext>
              </a:extLst>
            </p:cNvPr>
            <p:cNvSpPr/>
            <p:nvPr/>
          </p:nvSpPr>
          <p:spPr>
            <a:xfrm>
              <a:off x="1421027" y="2582562"/>
              <a:ext cx="4485503" cy="1223319"/>
            </a:xfrm>
            <a:prstGeom prst="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5DF07831-2F16-ED4F-8814-4D7D8EA7BA68}"/>
                </a:ext>
              </a:extLst>
            </p:cNvPr>
            <p:cNvSpPr/>
            <p:nvPr/>
          </p:nvSpPr>
          <p:spPr>
            <a:xfrm>
              <a:off x="1075038" y="3608173"/>
              <a:ext cx="3966519" cy="1359242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338463D-5AF0-EB49-8B6B-3467E5C96EF8}"/>
              </a:ext>
            </a:extLst>
          </p:cNvPr>
          <p:cNvSpPr txBox="1"/>
          <p:nvPr/>
        </p:nvSpPr>
        <p:spPr>
          <a:xfrm>
            <a:off x="1037966" y="5016843"/>
            <a:ext cx="6570388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The importance of having a “home”: </a:t>
            </a:r>
          </a:p>
          <a:p>
            <a:pPr marL="285750" indent="-225425">
              <a:buClr>
                <a:srgbClr val="011199"/>
              </a:buClr>
              <a:buFont typeface="Wingdings" pitchFamily="2" charset="2"/>
              <a:buChar char="§"/>
            </a:pPr>
            <a:r>
              <a:rPr lang="en-US" sz="2400" dirty="0"/>
              <a:t>a definitive source of information about you</a:t>
            </a:r>
          </a:p>
          <a:p>
            <a:pPr marL="285750" indent="-225425">
              <a:buClr>
                <a:srgbClr val="011199"/>
              </a:buClr>
              <a:buFont typeface="Wingdings" pitchFamily="2" charset="2"/>
              <a:buChar char="§"/>
            </a:pPr>
            <a:r>
              <a:rPr lang="en-US" sz="2400" dirty="0"/>
              <a:t>a place where people can find out where you are</a:t>
            </a:r>
          </a:p>
        </p:txBody>
      </p:sp>
    </p:spTree>
    <p:extLst>
      <p:ext uri="{BB962C8B-B14F-4D97-AF65-F5344CB8AC3E}">
        <p14:creationId xmlns:p14="http://schemas.microsoft.com/office/powerpoint/2010/main" val="1761370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1FB7CC-D2A5-C749-8D9F-01B9FA129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146" y="380460"/>
            <a:ext cx="10965608" cy="894622"/>
          </a:xfrm>
        </p:spPr>
        <p:txBody>
          <a:bodyPr>
            <a:normAutofit/>
          </a:bodyPr>
          <a:lstStyle/>
          <a:p>
            <a:r>
              <a:rPr lang="en-US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Mobility with indirect routing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79769-3B28-CC48-AFB2-345BF93C78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Wireless and Mobile Networks: 7- </a:t>
            </a:r>
            <a:fld id="{C4204591-24BD-A542-B9D5-F8D8A88D2FEE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5F70DFD1-5292-E04F-ABD4-9003C224C6CB}"/>
              </a:ext>
            </a:extLst>
          </p:cNvPr>
          <p:cNvSpPr txBox="1"/>
          <p:nvPr/>
        </p:nvSpPr>
        <p:spPr>
          <a:xfrm>
            <a:off x="3660514" y="3733288"/>
            <a:ext cx="1116933" cy="233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1100" dirty="0"/>
              <a:t>Home gateway</a:t>
            </a:r>
          </a:p>
        </p:txBody>
      </p:sp>
      <p:sp>
        <p:nvSpPr>
          <p:cNvPr id="159" name="Freeform 158">
            <a:extLst>
              <a:ext uri="{FF2B5EF4-FFF2-40B4-BE49-F238E27FC236}">
                <a16:creationId xmlns:a16="http://schemas.microsoft.com/office/drawing/2014/main" id="{CE1AE319-CAF1-F04D-A7C1-6AA22CFA9008}"/>
              </a:ext>
            </a:extLst>
          </p:cNvPr>
          <p:cNvSpPr/>
          <p:nvPr/>
        </p:nvSpPr>
        <p:spPr>
          <a:xfrm>
            <a:off x="2733837" y="1585690"/>
            <a:ext cx="2536501" cy="2518288"/>
          </a:xfrm>
          <a:custGeom>
            <a:avLst/>
            <a:gdLst>
              <a:gd name="connsiteX0" fmla="*/ 910971 w 2479694"/>
              <a:gd name="connsiteY0" fmla="*/ 57599 h 2518288"/>
              <a:gd name="connsiteX1" fmla="*/ 459082 w 2479694"/>
              <a:gd name="connsiteY1" fmla="*/ 200298 h 2518288"/>
              <a:gd name="connsiteX2" fmla="*/ 154652 w 2479694"/>
              <a:gd name="connsiteY2" fmla="*/ 647420 h 2518288"/>
              <a:gd name="connsiteX3" fmla="*/ 7194 w 2479694"/>
              <a:gd name="connsiteY3" fmla="*/ 1151621 h 2518288"/>
              <a:gd name="connsiteX4" fmla="*/ 50004 w 2479694"/>
              <a:gd name="connsiteY4" fmla="*/ 1679605 h 2518288"/>
              <a:gd name="connsiteX5" fmla="*/ 283084 w 2479694"/>
              <a:gd name="connsiteY5" fmla="*/ 2236129 h 2518288"/>
              <a:gd name="connsiteX6" fmla="*/ 929997 w 2479694"/>
              <a:gd name="connsiteY6" fmla="*/ 2502500 h 2518288"/>
              <a:gd name="connsiteX7" fmla="*/ 1434210 w 2479694"/>
              <a:gd name="connsiteY7" fmla="*/ 2483473 h 2518288"/>
              <a:gd name="connsiteX8" fmla="*/ 1919395 w 2479694"/>
              <a:gd name="connsiteY8" fmla="*/ 2450177 h 2518288"/>
              <a:gd name="connsiteX9" fmla="*/ 2380797 w 2479694"/>
              <a:gd name="connsiteY9" fmla="*/ 1831817 h 2518288"/>
              <a:gd name="connsiteX10" fmla="*/ 2471174 w 2479694"/>
              <a:gd name="connsiteY10" fmla="*/ 1246753 h 2518288"/>
              <a:gd name="connsiteX11" fmla="*/ 2242852 w 2479694"/>
              <a:gd name="connsiteY11" fmla="*/ 675959 h 2518288"/>
              <a:gd name="connsiteX12" fmla="*/ 2066853 w 2479694"/>
              <a:gd name="connsiteY12" fmla="*/ 371536 h 2518288"/>
              <a:gd name="connsiteX13" fmla="*/ 1838531 w 2479694"/>
              <a:gd name="connsiteY13" fmla="*/ 86139 h 2518288"/>
              <a:gd name="connsiteX14" fmla="*/ 1258211 w 2479694"/>
              <a:gd name="connsiteY14" fmla="*/ 520 h 2518288"/>
              <a:gd name="connsiteX15" fmla="*/ 910971 w 2479694"/>
              <a:gd name="connsiteY15" fmla="*/ 57599 h 2518288"/>
              <a:gd name="connsiteX0" fmla="*/ 910971 w 2491918"/>
              <a:gd name="connsiteY0" fmla="*/ 57599 h 2518288"/>
              <a:gd name="connsiteX1" fmla="*/ 459082 w 2491918"/>
              <a:gd name="connsiteY1" fmla="*/ 200298 h 2518288"/>
              <a:gd name="connsiteX2" fmla="*/ 154652 w 2491918"/>
              <a:gd name="connsiteY2" fmla="*/ 647420 h 2518288"/>
              <a:gd name="connsiteX3" fmla="*/ 7194 w 2491918"/>
              <a:gd name="connsiteY3" fmla="*/ 1151621 h 2518288"/>
              <a:gd name="connsiteX4" fmla="*/ 50004 w 2491918"/>
              <a:gd name="connsiteY4" fmla="*/ 1679605 h 2518288"/>
              <a:gd name="connsiteX5" fmla="*/ 283084 w 2491918"/>
              <a:gd name="connsiteY5" fmla="*/ 2236129 h 2518288"/>
              <a:gd name="connsiteX6" fmla="*/ 929997 w 2491918"/>
              <a:gd name="connsiteY6" fmla="*/ 2502500 h 2518288"/>
              <a:gd name="connsiteX7" fmla="*/ 1434210 w 2491918"/>
              <a:gd name="connsiteY7" fmla="*/ 2483473 h 2518288"/>
              <a:gd name="connsiteX8" fmla="*/ 1919395 w 2491918"/>
              <a:gd name="connsiteY8" fmla="*/ 2450177 h 2518288"/>
              <a:gd name="connsiteX9" fmla="*/ 2380797 w 2491918"/>
              <a:gd name="connsiteY9" fmla="*/ 1831817 h 2518288"/>
              <a:gd name="connsiteX10" fmla="*/ 2471174 w 2491918"/>
              <a:gd name="connsiteY10" fmla="*/ 1246753 h 2518288"/>
              <a:gd name="connsiteX11" fmla="*/ 2452444 w 2491918"/>
              <a:gd name="connsiteY11" fmla="*/ 688289 h 2518288"/>
              <a:gd name="connsiteX12" fmla="*/ 2066853 w 2491918"/>
              <a:gd name="connsiteY12" fmla="*/ 371536 h 2518288"/>
              <a:gd name="connsiteX13" fmla="*/ 1838531 w 2491918"/>
              <a:gd name="connsiteY13" fmla="*/ 86139 h 2518288"/>
              <a:gd name="connsiteX14" fmla="*/ 1258211 w 2491918"/>
              <a:gd name="connsiteY14" fmla="*/ 520 h 2518288"/>
              <a:gd name="connsiteX15" fmla="*/ 910971 w 2491918"/>
              <a:gd name="connsiteY15" fmla="*/ 57599 h 2518288"/>
              <a:gd name="connsiteX0" fmla="*/ 910971 w 2518269"/>
              <a:gd name="connsiteY0" fmla="*/ 57599 h 2518288"/>
              <a:gd name="connsiteX1" fmla="*/ 459082 w 2518269"/>
              <a:gd name="connsiteY1" fmla="*/ 200298 h 2518288"/>
              <a:gd name="connsiteX2" fmla="*/ 154652 w 2518269"/>
              <a:gd name="connsiteY2" fmla="*/ 647420 h 2518288"/>
              <a:gd name="connsiteX3" fmla="*/ 7194 w 2518269"/>
              <a:gd name="connsiteY3" fmla="*/ 1151621 h 2518288"/>
              <a:gd name="connsiteX4" fmla="*/ 50004 w 2518269"/>
              <a:gd name="connsiteY4" fmla="*/ 1679605 h 2518288"/>
              <a:gd name="connsiteX5" fmla="*/ 283084 w 2518269"/>
              <a:gd name="connsiteY5" fmla="*/ 2236129 h 2518288"/>
              <a:gd name="connsiteX6" fmla="*/ 929997 w 2518269"/>
              <a:gd name="connsiteY6" fmla="*/ 2502500 h 2518288"/>
              <a:gd name="connsiteX7" fmla="*/ 1434210 w 2518269"/>
              <a:gd name="connsiteY7" fmla="*/ 2483473 h 2518288"/>
              <a:gd name="connsiteX8" fmla="*/ 1919395 w 2518269"/>
              <a:gd name="connsiteY8" fmla="*/ 2450177 h 2518288"/>
              <a:gd name="connsiteX9" fmla="*/ 2380797 w 2518269"/>
              <a:gd name="connsiteY9" fmla="*/ 1831817 h 2518288"/>
              <a:gd name="connsiteX10" fmla="*/ 2471174 w 2518269"/>
              <a:gd name="connsiteY10" fmla="*/ 1246753 h 2518288"/>
              <a:gd name="connsiteX11" fmla="*/ 2452444 w 2518269"/>
              <a:gd name="connsiteY11" fmla="*/ 688289 h 2518288"/>
              <a:gd name="connsiteX12" fmla="*/ 2066853 w 2518269"/>
              <a:gd name="connsiteY12" fmla="*/ 371536 h 2518288"/>
              <a:gd name="connsiteX13" fmla="*/ 1838531 w 2518269"/>
              <a:gd name="connsiteY13" fmla="*/ 86139 h 2518288"/>
              <a:gd name="connsiteX14" fmla="*/ 1258211 w 2518269"/>
              <a:gd name="connsiteY14" fmla="*/ 520 h 2518288"/>
              <a:gd name="connsiteX15" fmla="*/ 910971 w 2518269"/>
              <a:gd name="connsiteY15" fmla="*/ 57599 h 2518288"/>
              <a:gd name="connsiteX0" fmla="*/ 910971 w 2536501"/>
              <a:gd name="connsiteY0" fmla="*/ 57599 h 2518288"/>
              <a:gd name="connsiteX1" fmla="*/ 459082 w 2536501"/>
              <a:gd name="connsiteY1" fmla="*/ 200298 h 2518288"/>
              <a:gd name="connsiteX2" fmla="*/ 154652 w 2536501"/>
              <a:gd name="connsiteY2" fmla="*/ 647420 h 2518288"/>
              <a:gd name="connsiteX3" fmla="*/ 7194 w 2536501"/>
              <a:gd name="connsiteY3" fmla="*/ 1151621 h 2518288"/>
              <a:gd name="connsiteX4" fmla="*/ 50004 w 2536501"/>
              <a:gd name="connsiteY4" fmla="*/ 1679605 h 2518288"/>
              <a:gd name="connsiteX5" fmla="*/ 283084 w 2536501"/>
              <a:gd name="connsiteY5" fmla="*/ 2236129 h 2518288"/>
              <a:gd name="connsiteX6" fmla="*/ 929997 w 2536501"/>
              <a:gd name="connsiteY6" fmla="*/ 2502500 h 2518288"/>
              <a:gd name="connsiteX7" fmla="*/ 1434210 w 2536501"/>
              <a:gd name="connsiteY7" fmla="*/ 2483473 h 2518288"/>
              <a:gd name="connsiteX8" fmla="*/ 1919395 w 2536501"/>
              <a:gd name="connsiteY8" fmla="*/ 2450177 h 2518288"/>
              <a:gd name="connsiteX9" fmla="*/ 2380797 w 2536501"/>
              <a:gd name="connsiteY9" fmla="*/ 1831817 h 2518288"/>
              <a:gd name="connsiteX10" fmla="*/ 2532819 w 2536501"/>
              <a:gd name="connsiteY10" fmla="*/ 1394709 h 2518288"/>
              <a:gd name="connsiteX11" fmla="*/ 2452444 w 2536501"/>
              <a:gd name="connsiteY11" fmla="*/ 688289 h 2518288"/>
              <a:gd name="connsiteX12" fmla="*/ 2066853 w 2536501"/>
              <a:gd name="connsiteY12" fmla="*/ 371536 h 2518288"/>
              <a:gd name="connsiteX13" fmla="*/ 1838531 w 2536501"/>
              <a:gd name="connsiteY13" fmla="*/ 86139 h 2518288"/>
              <a:gd name="connsiteX14" fmla="*/ 1258211 w 2536501"/>
              <a:gd name="connsiteY14" fmla="*/ 520 h 2518288"/>
              <a:gd name="connsiteX15" fmla="*/ 910971 w 2536501"/>
              <a:gd name="connsiteY15" fmla="*/ 57599 h 25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536501" h="2518288">
                <a:moveTo>
                  <a:pt x="910971" y="57599"/>
                </a:moveTo>
                <a:cubicBezTo>
                  <a:pt x="777783" y="90895"/>
                  <a:pt x="585135" y="101995"/>
                  <a:pt x="459082" y="200298"/>
                </a:cubicBezTo>
                <a:cubicBezTo>
                  <a:pt x="333029" y="298601"/>
                  <a:pt x="229967" y="488866"/>
                  <a:pt x="154652" y="647420"/>
                </a:cubicBezTo>
                <a:cubicBezTo>
                  <a:pt x="79337" y="805974"/>
                  <a:pt x="24635" y="979590"/>
                  <a:pt x="7194" y="1151621"/>
                </a:cubicBezTo>
                <a:cubicBezTo>
                  <a:pt x="-10247" y="1323652"/>
                  <a:pt x="4022" y="1498854"/>
                  <a:pt x="50004" y="1679605"/>
                </a:cubicBezTo>
                <a:cubicBezTo>
                  <a:pt x="95986" y="1860356"/>
                  <a:pt x="136419" y="2098980"/>
                  <a:pt x="283084" y="2236129"/>
                </a:cubicBezTo>
                <a:cubicBezTo>
                  <a:pt x="429749" y="2373278"/>
                  <a:pt x="738143" y="2461276"/>
                  <a:pt x="929997" y="2502500"/>
                </a:cubicBezTo>
                <a:cubicBezTo>
                  <a:pt x="1121851" y="2543724"/>
                  <a:pt x="1269310" y="2492193"/>
                  <a:pt x="1434210" y="2483473"/>
                </a:cubicBezTo>
                <a:cubicBezTo>
                  <a:pt x="1599110" y="2474753"/>
                  <a:pt x="1761631" y="2558786"/>
                  <a:pt x="1919395" y="2450177"/>
                </a:cubicBezTo>
                <a:cubicBezTo>
                  <a:pt x="2077160" y="2341568"/>
                  <a:pt x="2278560" y="2007728"/>
                  <a:pt x="2380797" y="1831817"/>
                </a:cubicBezTo>
                <a:cubicBezTo>
                  <a:pt x="2483034" y="1655906"/>
                  <a:pt x="2520878" y="1585297"/>
                  <a:pt x="2532819" y="1394709"/>
                </a:cubicBezTo>
                <a:cubicBezTo>
                  <a:pt x="2544760" y="1204121"/>
                  <a:pt x="2530105" y="858818"/>
                  <a:pt x="2452444" y="688289"/>
                </a:cubicBezTo>
                <a:cubicBezTo>
                  <a:pt x="2374783" y="517760"/>
                  <a:pt x="2169172" y="471894"/>
                  <a:pt x="2066853" y="371536"/>
                </a:cubicBezTo>
                <a:cubicBezTo>
                  <a:pt x="1964534" y="271178"/>
                  <a:pt x="1973305" y="147975"/>
                  <a:pt x="1838531" y="86139"/>
                </a:cubicBezTo>
                <a:cubicBezTo>
                  <a:pt x="1703757" y="24303"/>
                  <a:pt x="1414390" y="5277"/>
                  <a:pt x="1258211" y="520"/>
                </a:cubicBezTo>
                <a:cubicBezTo>
                  <a:pt x="1102032" y="-4237"/>
                  <a:pt x="1044159" y="24303"/>
                  <a:pt x="910971" y="57599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0" name="Freeform 159">
            <a:extLst>
              <a:ext uri="{FF2B5EF4-FFF2-40B4-BE49-F238E27FC236}">
                <a16:creationId xmlns:a16="http://schemas.microsoft.com/office/drawing/2014/main" id="{D4BA4872-27CD-6A48-92F2-E847FD1CC8C7}"/>
              </a:ext>
            </a:extLst>
          </p:cNvPr>
          <p:cNvSpPr/>
          <p:nvPr/>
        </p:nvSpPr>
        <p:spPr>
          <a:xfrm>
            <a:off x="6426611" y="1551322"/>
            <a:ext cx="2479694" cy="2518288"/>
          </a:xfrm>
          <a:custGeom>
            <a:avLst/>
            <a:gdLst>
              <a:gd name="connsiteX0" fmla="*/ 910971 w 2479694"/>
              <a:gd name="connsiteY0" fmla="*/ 57599 h 2518288"/>
              <a:gd name="connsiteX1" fmla="*/ 459082 w 2479694"/>
              <a:gd name="connsiteY1" fmla="*/ 200298 h 2518288"/>
              <a:gd name="connsiteX2" fmla="*/ 154652 w 2479694"/>
              <a:gd name="connsiteY2" fmla="*/ 647420 h 2518288"/>
              <a:gd name="connsiteX3" fmla="*/ 7194 w 2479694"/>
              <a:gd name="connsiteY3" fmla="*/ 1151621 h 2518288"/>
              <a:gd name="connsiteX4" fmla="*/ 50004 w 2479694"/>
              <a:gd name="connsiteY4" fmla="*/ 1679605 h 2518288"/>
              <a:gd name="connsiteX5" fmla="*/ 283084 w 2479694"/>
              <a:gd name="connsiteY5" fmla="*/ 2236129 h 2518288"/>
              <a:gd name="connsiteX6" fmla="*/ 929997 w 2479694"/>
              <a:gd name="connsiteY6" fmla="*/ 2502500 h 2518288"/>
              <a:gd name="connsiteX7" fmla="*/ 1434210 w 2479694"/>
              <a:gd name="connsiteY7" fmla="*/ 2483473 h 2518288"/>
              <a:gd name="connsiteX8" fmla="*/ 1919395 w 2479694"/>
              <a:gd name="connsiteY8" fmla="*/ 2450177 h 2518288"/>
              <a:gd name="connsiteX9" fmla="*/ 2380797 w 2479694"/>
              <a:gd name="connsiteY9" fmla="*/ 1831817 h 2518288"/>
              <a:gd name="connsiteX10" fmla="*/ 2471174 w 2479694"/>
              <a:gd name="connsiteY10" fmla="*/ 1246753 h 2518288"/>
              <a:gd name="connsiteX11" fmla="*/ 2242852 w 2479694"/>
              <a:gd name="connsiteY11" fmla="*/ 675959 h 2518288"/>
              <a:gd name="connsiteX12" fmla="*/ 2066853 w 2479694"/>
              <a:gd name="connsiteY12" fmla="*/ 371536 h 2518288"/>
              <a:gd name="connsiteX13" fmla="*/ 1838531 w 2479694"/>
              <a:gd name="connsiteY13" fmla="*/ 86139 h 2518288"/>
              <a:gd name="connsiteX14" fmla="*/ 1258211 w 2479694"/>
              <a:gd name="connsiteY14" fmla="*/ 520 h 2518288"/>
              <a:gd name="connsiteX15" fmla="*/ 910971 w 2479694"/>
              <a:gd name="connsiteY15" fmla="*/ 57599 h 25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79694" h="2518288">
                <a:moveTo>
                  <a:pt x="910971" y="57599"/>
                </a:moveTo>
                <a:cubicBezTo>
                  <a:pt x="777783" y="90895"/>
                  <a:pt x="585135" y="101995"/>
                  <a:pt x="459082" y="200298"/>
                </a:cubicBezTo>
                <a:cubicBezTo>
                  <a:pt x="333029" y="298601"/>
                  <a:pt x="229967" y="488866"/>
                  <a:pt x="154652" y="647420"/>
                </a:cubicBezTo>
                <a:cubicBezTo>
                  <a:pt x="79337" y="805974"/>
                  <a:pt x="24635" y="979590"/>
                  <a:pt x="7194" y="1151621"/>
                </a:cubicBezTo>
                <a:cubicBezTo>
                  <a:pt x="-10247" y="1323652"/>
                  <a:pt x="4022" y="1498854"/>
                  <a:pt x="50004" y="1679605"/>
                </a:cubicBezTo>
                <a:cubicBezTo>
                  <a:pt x="95986" y="1860356"/>
                  <a:pt x="136419" y="2098980"/>
                  <a:pt x="283084" y="2236129"/>
                </a:cubicBezTo>
                <a:cubicBezTo>
                  <a:pt x="429749" y="2373278"/>
                  <a:pt x="738143" y="2461276"/>
                  <a:pt x="929997" y="2502500"/>
                </a:cubicBezTo>
                <a:cubicBezTo>
                  <a:pt x="1121851" y="2543724"/>
                  <a:pt x="1269310" y="2492193"/>
                  <a:pt x="1434210" y="2483473"/>
                </a:cubicBezTo>
                <a:cubicBezTo>
                  <a:pt x="1599110" y="2474753"/>
                  <a:pt x="1761631" y="2558786"/>
                  <a:pt x="1919395" y="2450177"/>
                </a:cubicBezTo>
                <a:cubicBezTo>
                  <a:pt x="2077160" y="2341568"/>
                  <a:pt x="2288834" y="2032388"/>
                  <a:pt x="2380797" y="1831817"/>
                </a:cubicBezTo>
                <a:cubicBezTo>
                  <a:pt x="2472760" y="1631246"/>
                  <a:pt x="2494165" y="1439396"/>
                  <a:pt x="2471174" y="1246753"/>
                </a:cubicBezTo>
                <a:cubicBezTo>
                  <a:pt x="2448183" y="1054110"/>
                  <a:pt x="2310239" y="821828"/>
                  <a:pt x="2242852" y="675959"/>
                </a:cubicBezTo>
                <a:cubicBezTo>
                  <a:pt x="2175465" y="530090"/>
                  <a:pt x="2134240" y="469839"/>
                  <a:pt x="2066853" y="371536"/>
                </a:cubicBezTo>
                <a:cubicBezTo>
                  <a:pt x="1999466" y="273233"/>
                  <a:pt x="1973305" y="147975"/>
                  <a:pt x="1838531" y="86139"/>
                </a:cubicBezTo>
                <a:cubicBezTo>
                  <a:pt x="1703757" y="24303"/>
                  <a:pt x="1414390" y="5277"/>
                  <a:pt x="1258211" y="520"/>
                </a:cubicBezTo>
                <a:cubicBezTo>
                  <a:pt x="1102032" y="-4237"/>
                  <a:pt x="1044159" y="24303"/>
                  <a:pt x="910971" y="57599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1" name="Freeform 160">
            <a:extLst>
              <a:ext uri="{FF2B5EF4-FFF2-40B4-BE49-F238E27FC236}">
                <a16:creationId xmlns:a16="http://schemas.microsoft.com/office/drawing/2014/main" id="{4BAF0F74-7C28-714E-9F17-A7173A0A4695}"/>
              </a:ext>
            </a:extLst>
          </p:cNvPr>
          <p:cNvSpPr/>
          <p:nvPr/>
        </p:nvSpPr>
        <p:spPr>
          <a:xfrm flipV="1">
            <a:off x="4827446" y="4937117"/>
            <a:ext cx="2158078" cy="1107763"/>
          </a:xfrm>
          <a:custGeom>
            <a:avLst/>
            <a:gdLst>
              <a:gd name="connsiteX0" fmla="*/ 793763 w 1763990"/>
              <a:gd name="connsiteY0" fmla="*/ 21490 h 1007767"/>
              <a:gd name="connsiteX1" fmla="*/ 343771 w 1763990"/>
              <a:gd name="connsiteY1" fmla="*/ 101492 h 1007767"/>
              <a:gd name="connsiteX2" fmla="*/ 133775 w 1763990"/>
              <a:gd name="connsiteY2" fmla="*/ 356499 h 1007767"/>
              <a:gd name="connsiteX3" fmla="*/ 3777 w 1763990"/>
              <a:gd name="connsiteY3" fmla="*/ 616506 h 1007767"/>
              <a:gd name="connsiteX4" fmla="*/ 278772 w 1763990"/>
              <a:gd name="connsiteY4" fmla="*/ 951515 h 1007767"/>
              <a:gd name="connsiteX5" fmla="*/ 868762 w 1763990"/>
              <a:gd name="connsiteY5" fmla="*/ 1006517 h 1007767"/>
              <a:gd name="connsiteX6" fmla="*/ 1228755 w 1763990"/>
              <a:gd name="connsiteY6" fmla="*/ 941515 h 1007767"/>
              <a:gd name="connsiteX7" fmla="*/ 1688747 w 1763990"/>
              <a:gd name="connsiteY7" fmla="*/ 916514 h 1007767"/>
              <a:gd name="connsiteX8" fmla="*/ 1743746 w 1763990"/>
              <a:gd name="connsiteY8" fmla="*/ 556504 h 1007767"/>
              <a:gd name="connsiteX9" fmla="*/ 1483750 w 1763990"/>
              <a:gd name="connsiteY9" fmla="*/ 156493 h 1007767"/>
              <a:gd name="connsiteX10" fmla="*/ 1013759 w 1763990"/>
              <a:gd name="connsiteY10" fmla="*/ 11489 h 1007767"/>
              <a:gd name="connsiteX11" fmla="*/ 793763 w 1763990"/>
              <a:gd name="connsiteY11" fmla="*/ 21490 h 1007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63990" h="1007767">
                <a:moveTo>
                  <a:pt x="793763" y="21490"/>
                </a:moveTo>
                <a:cubicBezTo>
                  <a:pt x="682098" y="36490"/>
                  <a:pt x="453769" y="45657"/>
                  <a:pt x="343771" y="101492"/>
                </a:cubicBezTo>
                <a:cubicBezTo>
                  <a:pt x="233773" y="157327"/>
                  <a:pt x="190441" y="270663"/>
                  <a:pt x="133775" y="356499"/>
                </a:cubicBezTo>
                <a:cubicBezTo>
                  <a:pt x="77109" y="442335"/>
                  <a:pt x="-20389" y="517337"/>
                  <a:pt x="3777" y="616506"/>
                </a:cubicBezTo>
                <a:cubicBezTo>
                  <a:pt x="27943" y="715675"/>
                  <a:pt x="134608" y="886513"/>
                  <a:pt x="278772" y="951515"/>
                </a:cubicBezTo>
                <a:cubicBezTo>
                  <a:pt x="422936" y="1016517"/>
                  <a:pt x="710432" y="1008184"/>
                  <a:pt x="868762" y="1006517"/>
                </a:cubicBezTo>
                <a:cubicBezTo>
                  <a:pt x="1027092" y="1004850"/>
                  <a:pt x="1092091" y="956516"/>
                  <a:pt x="1228755" y="941515"/>
                </a:cubicBezTo>
                <a:cubicBezTo>
                  <a:pt x="1365419" y="926515"/>
                  <a:pt x="1602915" y="980683"/>
                  <a:pt x="1688747" y="916514"/>
                </a:cubicBezTo>
                <a:cubicBezTo>
                  <a:pt x="1774579" y="852346"/>
                  <a:pt x="1777912" y="683174"/>
                  <a:pt x="1743746" y="556504"/>
                </a:cubicBezTo>
                <a:cubicBezTo>
                  <a:pt x="1709580" y="429834"/>
                  <a:pt x="1605415" y="247329"/>
                  <a:pt x="1483750" y="156493"/>
                </a:cubicBezTo>
                <a:cubicBezTo>
                  <a:pt x="1362086" y="65657"/>
                  <a:pt x="1130423" y="35656"/>
                  <a:pt x="1013759" y="11489"/>
                </a:cubicBezTo>
                <a:cubicBezTo>
                  <a:pt x="897095" y="-12678"/>
                  <a:pt x="905428" y="6490"/>
                  <a:pt x="793763" y="21490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978A59A7-415E-8746-9309-E43A975E14D2}"/>
              </a:ext>
            </a:extLst>
          </p:cNvPr>
          <p:cNvSpPr txBox="1"/>
          <p:nvPr/>
        </p:nvSpPr>
        <p:spPr>
          <a:xfrm>
            <a:off x="4105942" y="3487225"/>
            <a:ext cx="1116933" cy="613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1400" dirty="0"/>
              <a:t>Home network  gateway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A7B3FC8-0B6A-9749-A0D8-9F70F6C35488}"/>
              </a:ext>
            </a:extLst>
          </p:cNvPr>
          <p:cNvGrpSpPr/>
          <p:nvPr/>
        </p:nvGrpSpPr>
        <p:grpSpPr>
          <a:xfrm>
            <a:off x="3119550" y="1445494"/>
            <a:ext cx="1744394" cy="1538322"/>
            <a:chOff x="3119550" y="1445494"/>
            <a:chExt cx="1744394" cy="1538322"/>
          </a:xfrm>
        </p:grpSpPr>
        <p:pic>
          <p:nvPicPr>
            <p:cNvPr id="163" name="Picture 162" descr="mobile_or_tablet.png">
              <a:extLst>
                <a:ext uri="{FF2B5EF4-FFF2-40B4-BE49-F238E27FC236}">
                  <a16:creationId xmlns:a16="http://schemas.microsoft.com/office/drawing/2014/main" id="{0983C312-0633-C441-9BC1-232D90C703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32310" y="1445494"/>
              <a:ext cx="567057" cy="933976"/>
            </a:xfrm>
            <a:prstGeom prst="rect">
              <a:avLst/>
            </a:prstGeom>
          </p:spPr>
        </p:pic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4E40565C-0C6E-BA49-8851-CCDC0BEC0BE1}"/>
                </a:ext>
              </a:extLst>
            </p:cNvPr>
            <p:cNvSpPr txBox="1"/>
            <p:nvPr/>
          </p:nvSpPr>
          <p:spPr>
            <a:xfrm>
              <a:off x="3119550" y="2334407"/>
              <a:ext cx="1744394" cy="6494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1200" dirty="0"/>
                <a:t>Permanent IP: </a:t>
              </a:r>
            </a:p>
            <a:p>
              <a:pPr>
                <a:lnSpc>
                  <a:spcPct val="80000"/>
                </a:lnSpc>
              </a:pPr>
              <a:r>
                <a:rPr lang="en-US" sz="1200" dirty="0"/>
                <a:t>   </a:t>
              </a:r>
              <a:r>
                <a:rPr lang="en-US" sz="1000" dirty="0"/>
                <a:t>128.119.40.186</a:t>
              </a:r>
            </a:p>
            <a:p>
              <a:pPr>
                <a:lnSpc>
                  <a:spcPct val="80000"/>
                </a:lnSpc>
              </a:pPr>
              <a:r>
                <a:rPr lang="en-US" sz="1100" dirty="0"/>
                <a:t>IMSI</a:t>
              </a:r>
            </a:p>
            <a:p>
              <a:pPr>
                <a:lnSpc>
                  <a:spcPct val="80000"/>
                </a:lnSpc>
              </a:pPr>
              <a:r>
                <a:rPr lang="is-IS" sz="1000"/>
                <a:t>    78:4f:43:98:d9:27</a:t>
              </a:r>
              <a:endParaRPr lang="en-US" sz="1000" dirty="0"/>
            </a:p>
          </p:txBody>
        </p:sp>
      </p:grpSp>
      <p:sp>
        <p:nvSpPr>
          <p:cNvPr id="204" name="TextBox 203">
            <a:extLst>
              <a:ext uri="{FF2B5EF4-FFF2-40B4-BE49-F238E27FC236}">
                <a16:creationId xmlns:a16="http://schemas.microsoft.com/office/drawing/2014/main" id="{12AF797B-48A3-0045-B50E-60F89C271506}"/>
              </a:ext>
            </a:extLst>
          </p:cNvPr>
          <p:cNvSpPr txBox="1"/>
          <p:nvPr/>
        </p:nvSpPr>
        <p:spPr>
          <a:xfrm>
            <a:off x="7390058" y="3336525"/>
            <a:ext cx="1116933" cy="613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1400" dirty="0"/>
              <a:t>Visited network  gateway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9CDF00C-B973-CD46-A2F1-A918C98F0A5A}"/>
              </a:ext>
            </a:extLst>
          </p:cNvPr>
          <p:cNvGrpSpPr/>
          <p:nvPr/>
        </p:nvGrpSpPr>
        <p:grpSpPr>
          <a:xfrm>
            <a:off x="6620214" y="1514301"/>
            <a:ext cx="1744394" cy="1534683"/>
            <a:chOff x="6620214" y="1514301"/>
            <a:chExt cx="1744394" cy="1534683"/>
          </a:xfrm>
        </p:grpSpPr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73CE81A0-82DC-454A-BDC0-50B138BBC28F}"/>
                </a:ext>
              </a:extLst>
            </p:cNvPr>
            <p:cNvSpPr txBox="1"/>
            <p:nvPr/>
          </p:nvSpPr>
          <p:spPr>
            <a:xfrm>
              <a:off x="6620214" y="2399575"/>
              <a:ext cx="1744394" cy="6494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1200" dirty="0"/>
                <a:t>NAT IP: </a:t>
              </a:r>
            </a:p>
            <a:p>
              <a:pPr>
                <a:lnSpc>
                  <a:spcPct val="80000"/>
                </a:lnSpc>
              </a:pPr>
              <a:r>
                <a:rPr lang="en-US" sz="1200" dirty="0"/>
                <a:t>   </a:t>
              </a:r>
              <a:r>
                <a:rPr lang="en-US" sz="1000" dirty="0"/>
                <a:t>10.0.0.99</a:t>
              </a:r>
            </a:p>
            <a:p>
              <a:pPr>
                <a:lnSpc>
                  <a:spcPct val="80000"/>
                </a:lnSpc>
              </a:pPr>
              <a:r>
                <a:rPr lang="en-US" sz="1100" dirty="0"/>
                <a:t>IMSI</a:t>
              </a:r>
            </a:p>
            <a:p>
              <a:pPr>
                <a:lnSpc>
                  <a:spcPct val="80000"/>
                </a:lnSpc>
              </a:pPr>
              <a:r>
                <a:rPr lang="is-IS" sz="1000"/>
                <a:t>    78:4f:43:98:d9:27</a:t>
              </a:r>
              <a:endParaRPr lang="en-US" sz="800" dirty="0"/>
            </a:p>
          </p:txBody>
        </p:sp>
        <p:grpSp>
          <p:nvGrpSpPr>
            <p:cNvPr id="213" name="Group 212">
              <a:extLst>
                <a:ext uri="{FF2B5EF4-FFF2-40B4-BE49-F238E27FC236}">
                  <a16:creationId xmlns:a16="http://schemas.microsoft.com/office/drawing/2014/main" id="{018A4EF1-315F-A74F-89C7-B5A0A4AF1AC0}"/>
                </a:ext>
              </a:extLst>
            </p:cNvPr>
            <p:cNvGrpSpPr/>
            <p:nvPr/>
          </p:nvGrpSpPr>
          <p:grpSpPr>
            <a:xfrm>
              <a:off x="6743781" y="1514301"/>
              <a:ext cx="567057" cy="933976"/>
              <a:chOff x="3533208" y="1227996"/>
              <a:chExt cx="567057" cy="933976"/>
            </a:xfrm>
          </p:grpSpPr>
          <p:pic>
            <p:nvPicPr>
              <p:cNvPr id="214" name="Picture 213" descr="mobile_or_tablet.png">
                <a:extLst>
                  <a:ext uri="{FF2B5EF4-FFF2-40B4-BE49-F238E27FC236}">
                    <a16:creationId xmlns:a16="http://schemas.microsoft.com/office/drawing/2014/main" id="{03ED3F89-0F9E-A74D-ACF1-BAB5B755E5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533208" y="1227996"/>
                <a:ext cx="567057" cy="933976"/>
              </a:xfrm>
              <a:prstGeom prst="rect">
                <a:avLst/>
              </a:prstGeom>
            </p:spPr>
          </p:pic>
          <p:sp>
            <p:nvSpPr>
              <p:cNvPr id="215" name="Rectangle 214">
                <a:extLst>
                  <a:ext uri="{FF2B5EF4-FFF2-40B4-BE49-F238E27FC236}">
                    <a16:creationId xmlns:a16="http://schemas.microsoft.com/office/drawing/2014/main" id="{F71FDAE2-C7E1-9F48-91C0-5E0A83B0E248}"/>
                  </a:ext>
                </a:extLst>
              </p:cNvPr>
              <p:cNvSpPr/>
              <p:nvPr/>
            </p:nvSpPr>
            <p:spPr>
              <a:xfrm>
                <a:off x="3688667" y="1588335"/>
                <a:ext cx="243304" cy="420055"/>
              </a:xfrm>
              <a:prstGeom prst="rect">
                <a:avLst/>
              </a:prstGeom>
              <a:gradFill flip="none" rotWithShape="1">
                <a:gsLst>
                  <a:gs pos="2000">
                    <a:srgbClr val="107AA7"/>
                  </a:gs>
                  <a:gs pos="100000">
                    <a:srgbClr val="107AA7"/>
                  </a:gs>
                  <a:gs pos="50000">
                    <a:schemeClr val="accent1">
                      <a:lumMod val="20000"/>
                      <a:lumOff val="80000"/>
                    </a:schemeClr>
                  </a:gs>
                </a:gsLst>
                <a:lin ang="16200000" scaled="0"/>
                <a:tileRect/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795F7859-BDC9-DC4E-BA29-53AF378B5C8D}"/>
              </a:ext>
            </a:extLst>
          </p:cNvPr>
          <p:cNvCxnSpPr/>
          <p:nvPr/>
        </p:nvCxnSpPr>
        <p:spPr>
          <a:xfrm>
            <a:off x="4670288" y="3383755"/>
            <a:ext cx="600050" cy="443834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68D2FA7F-063A-B34C-B51E-65628685AA38}"/>
              </a:ext>
            </a:extLst>
          </p:cNvPr>
          <p:cNvCxnSpPr/>
          <p:nvPr/>
        </p:nvCxnSpPr>
        <p:spPr>
          <a:xfrm flipV="1">
            <a:off x="6263924" y="3591828"/>
            <a:ext cx="558664" cy="333694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7349B58B-970F-5C45-8801-AB49FC8075A1}"/>
              </a:ext>
            </a:extLst>
          </p:cNvPr>
          <p:cNvCxnSpPr/>
          <p:nvPr/>
        </p:nvCxnSpPr>
        <p:spPr>
          <a:xfrm flipV="1">
            <a:off x="5826528" y="4505143"/>
            <a:ext cx="0" cy="440981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12F0095C-8851-C142-8839-A58A9D5A0AF4}"/>
              </a:ext>
            </a:extLst>
          </p:cNvPr>
          <p:cNvGrpSpPr/>
          <p:nvPr/>
        </p:nvGrpSpPr>
        <p:grpSpPr>
          <a:xfrm>
            <a:off x="4943128" y="3697579"/>
            <a:ext cx="1763990" cy="1007767"/>
            <a:chOff x="2611175" y="5012905"/>
            <a:chExt cx="1763990" cy="1007767"/>
          </a:xfrm>
        </p:grpSpPr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B193D7C1-5727-1F41-BCE2-FCDF5888BFAD}"/>
                </a:ext>
              </a:extLst>
            </p:cNvPr>
            <p:cNvSpPr/>
            <p:nvPr/>
          </p:nvSpPr>
          <p:spPr>
            <a:xfrm>
              <a:off x="3161857" y="5183726"/>
              <a:ext cx="733868" cy="333063"/>
            </a:xfrm>
            <a:prstGeom prst="rect">
              <a:avLst/>
            </a:prstGeom>
            <a:solidFill>
              <a:srgbClr val="E0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D5D35F89-5A2F-1342-9878-315FF6E12493}"/>
                </a:ext>
              </a:extLst>
            </p:cNvPr>
            <p:cNvCxnSpPr/>
            <p:nvPr/>
          </p:nvCxnSpPr>
          <p:spPr>
            <a:xfrm>
              <a:off x="3462434" y="5820469"/>
              <a:ext cx="0" cy="189913"/>
            </a:xfrm>
            <a:prstGeom prst="line">
              <a:avLst/>
            </a:prstGeom>
            <a:ln w="158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3" name="Freeform 222">
              <a:extLst>
                <a:ext uri="{FF2B5EF4-FFF2-40B4-BE49-F238E27FC236}">
                  <a16:creationId xmlns:a16="http://schemas.microsoft.com/office/drawing/2014/main" id="{5DF4CA8F-4DAA-2840-B866-7A79200D52E2}"/>
                </a:ext>
              </a:extLst>
            </p:cNvPr>
            <p:cNvSpPr/>
            <p:nvPr/>
          </p:nvSpPr>
          <p:spPr>
            <a:xfrm>
              <a:off x="2611175" y="5012905"/>
              <a:ext cx="1763990" cy="1007767"/>
            </a:xfrm>
            <a:custGeom>
              <a:avLst/>
              <a:gdLst>
                <a:gd name="connsiteX0" fmla="*/ 793763 w 1763990"/>
                <a:gd name="connsiteY0" fmla="*/ 21490 h 1007767"/>
                <a:gd name="connsiteX1" fmla="*/ 343771 w 1763990"/>
                <a:gd name="connsiteY1" fmla="*/ 101492 h 1007767"/>
                <a:gd name="connsiteX2" fmla="*/ 133775 w 1763990"/>
                <a:gd name="connsiteY2" fmla="*/ 356499 h 1007767"/>
                <a:gd name="connsiteX3" fmla="*/ 3777 w 1763990"/>
                <a:gd name="connsiteY3" fmla="*/ 616506 h 1007767"/>
                <a:gd name="connsiteX4" fmla="*/ 278772 w 1763990"/>
                <a:gd name="connsiteY4" fmla="*/ 951515 h 1007767"/>
                <a:gd name="connsiteX5" fmla="*/ 868762 w 1763990"/>
                <a:gd name="connsiteY5" fmla="*/ 1006517 h 1007767"/>
                <a:gd name="connsiteX6" fmla="*/ 1228755 w 1763990"/>
                <a:gd name="connsiteY6" fmla="*/ 941515 h 1007767"/>
                <a:gd name="connsiteX7" fmla="*/ 1688747 w 1763990"/>
                <a:gd name="connsiteY7" fmla="*/ 916514 h 1007767"/>
                <a:gd name="connsiteX8" fmla="*/ 1743746 w 1763990"/>
                <a:gd name="connsiteY8" fmla="*/ 556504 h 1007767"/>
                <a:gd name="connsiteX9" fmla="*/ 1483750 w 1763990"/>
                <a:gd name="connsiteY9" fmla="*/ 156493 h 1007767"/>
                <a:gd name="connsiteX10" fmla="*/ 1013759 w 1763990"/>
                <a:gd name="connsiteY10" fmla="*/ 11489 h 1007767"/>
                <a:gd name="connsiteX11" fmla="*/ 793763 w 1763990"/>
                <a:gd name="connsiteY11" fmla="*/ 21490 h 1007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63990" h="1007767">
                  <a:moveTo>
                    <a:pt x="793763" y="21490"/>
                  </a:moveTo>
                  <a:cubicBezTo>
                    <a:pt x="682098" y="36490"/>
                    <a:pt x="453769" y="45657"/>
                    <a:pt x="343771" y="101492"/>
                  </a:cubicBezTo>
                  <a:cubicBezTo>
                    <a:pt x="233773" y="157327"/>
                    <a:pt x="190441" y="270663"/>
                    <a:pt x="133775" y="356499"/>
                  </a:cubicBezTo>
                  <a:cubicBezTo>
                    <a:pt x="77109" y="442335"/>
                    <a:pt x="-20389" y="517337"/>
                    <a:pt x="3777" y="616506"/>
                  </a:cubicBezTo>
                  <a:cubicBezTo>
                    <a:pt x="27943" y="715675"/>
                    <a:pt x="134608" y="886513"/>
                    <a:pt x="278772" y="951515"/>
                  </a:cubicBezTo>
                  <a:cubicBezTo>
                    <a:pt x="422936" y="1016517"/>
                    <a:pt x="710432" y="1008184"/>
                    <a:pt x="868762" y="1006517"/>
                  </a:cubicBezTo>
                  <a:cubicBezTo>
                    <a:pt x="1027092" y="1004850"/>
                    <a:pt x="1092091" y="956516"/>
                    <a:pt x="1228755" y="941515"/>
                  </a:cubicBezTo>
                  <a:cubicBezTo>
                    <a:pt x="1365419" y="926515"/>
                    <a:pt x="1602915" y="980683"/>
                    <a:pt x="1688747" y="916514"/>
                  </a:cubicBezTo>
                  <a:cubicBezTo>
                    <a:pt x="1774579" y="852346"/>
                    <a:pt x="1777912" y="683174"/>
                    <a:pt x="1743746" y="556504"/>
                  </a:cubicBezTo>
                  <a:cubicBezTo>
                    <a:pt x="1709580" y="429834"/>
                    <a:pt x="1605415" y="247329"/>
                    <a:pt x="1483750" y="156493"/>
                  </a:cubicBezTo>
                  <a:cubicBezTo>
                    <a:pt x="1362086" y="65657"/>
                    <a:pt x="1130423" y="35656"/>
                    <a:pt x="1013759" y="11489"/>
                  </a:cubicBezTo>
                  <a:cubicBezTo>
                    <a:pt x="897095" y="-12678"/>
                    <a:pt x="905428" y="6490"/>
                    <a:pt x="793763" y="21490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90FEE58C-5A52-3E4A-8F6F-B40544A31829}"/>
                </a:ext>
              </a:extLst>
            </p:cNvPr>
            <p:cNvSpPr txBox="1"/>
            <p:nvPr/>
          </p:nvSpPr>
          <p:spPr>
            <a:xfrm>
              <a:off x="2663349" y="5283327"/>
              <a:ext cx="1685932" cy="584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public or  private Internet</a:t>
              </a:r>
            </a:p>
          </p:txBody>
        </p:sp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159005BA-3A9B-D94C-86E8-8D78C618C9D6}"/>
              </a:ext>
            </a:extLst>
          </p:cNvPr>
          <p:cNvGrpSpPr/>
          <p:nvPr/>
        </p:nvGrpSpPr>
        <p:grpSpPr>
          <a:xfrm>
            <a:off x="6741352" y="3299610"/>
            <a:ext cx="763454" cy="668861"/>
            <a:chOff x="7270567" y="5238206"/>
            <a:chExt cx="763454" cy="668861"/>
          </a:xfrm>
        </p:grpSpPr>
        <p:grpSp>
          <p:nvGrpSpPr>
            <p:cNvPr id="226" name="Group 225">
              <a:extLst>
                <a:ext uri="{FF2B5EF4-FFF2-40B4-BE49-F238E27FC236}">
                  <a16:creationId xmlns:a16="http://schemas.microsoft.com/office/drawing/2014/main" id="{16932C61-B600-294D-930C-3EBBA35DB4BD}"/>
                </a:ext>
              </a:extLst>
            </p:cNvPr>
            <p:cNvGrpSpPr/>
            <p:nvPr/>
          </p:nvGrpSpPr>
          <p:grpSpPr>
            <a:xfrm>
              <a:off x="7302136" y="5238206"/>
              <a:ext cx="591681" cy="375090"/>
              <a:chOff x="7493876" y="2774731"/>
              <a:chExt cx="1481958" cy="894622"/>
            </a:xfrm>
          </p:grpSpPr>
          <p:sp>
            <p:nvSpPr>
              <p:cNvPr id="228" name="Freeform 227">
                <a:extLst>
                  <a:ext uri="{FF2B5EF4-FFF2-40B4-BE49-F238E27FC236}">
                    <a16:creationId xmlns:a16="http://schemas.microsoft.com/office/drawing/2014/main" id="{E0FDDE41-69FC-0A47-B73D-5A9DDE309F13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29" name="Oval 228">
                <a:extLst>
                  <a:ext uri="{FF2B5EF4-FFF2-40B4-BE49-F238E27FC236}">
                    <a16:creationId xmlns:a16="http://schemas.microsoft.com/office/drawing/2014/main" id="{EDDCD8A5-39BE-ED43-B2CF-1A6468A0D848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30" name="Group 229">
                <a:extLst>
                  <a:ext uri="{FF2B5EF4-FFF2-40B4-BE49-F238E27FC236}">
                    <a16:creationId xmlns:a16="http://schemas.microsoft.com/office/drawing/2014/main" id="{8A98B70F-38B6-8B4F-B578-F953270D9247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31" name="Freeform 230">
                  <a:extLst>
                    <a:ext uri="{FF2B5EF4-FFF2-40B4-BE49-F238E27FC236}">
                      <a16:creationId xmlns:a16="http://schemas.microsoft.com/office/drawing/2014/main" id="{BF2606B8-A9C8-D448-9277-F46152A36D9F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2" name="Freeform 231">
                  <a:extLst>
                    <a:ext uri="{FF2B5EF4-FFF2-40B4-BE49-F238E27FC236}">
                      <a16:creationId xmlns:a16="http://schemas.microsoft.com/office/drawing/2014/main" id="{00E1E009-F8E2-8A40-985B-DC0615F7FF01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3" name="Freeform 232">
                  <a:extLst>
                    <a:ext uri="{FF2B5EF4-FFF2-40B4-BE49-F238E27FC236}">
                      <a16:creationId xmlns:a16="http://schemas.microsoft.com/office/drawing/2014/main" id="{9216C4F6-497A-E745-8ECC-DFCC91B47845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4" name="Freeform 233">
                  <a:extLst>
                    <a:ext uri="{FF2B5EF4-FFF2-40B4-BE49-F238E27FC236}">
                      <a16:creationId xmlns:a16="http://schemas.microsoft.com/office/drawing/2014/main" id="{D95684B5-3939-5B42-AE95-CB5DE1A2F609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A1652FF5-F090-1342-B65E-DE3B2657933C}"/>
                </a:ext>
              </a:extLst>
            </p:cNvPr>
            <p:cNvSpPr txBox="1"/>
            <p:nvPr/>
          </p:nvSpPr>
          <p:spPr>
            <a:xfrm>
              <a:off x="7270567" y="5568513"/>
              <a:ext cx="76345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600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7BCB2056-63C8-3E41-B65A-131920C941C7}"/>
              </a:ext>
            </a:extLst>
          </p:cNvPr>
          <p:cNvGrpSpPr/>
          <p:nvPr/>
        </p:nvGrpSpPr>
        <p:grpSpPr>
          <a:xfrm>
            <a:off x="4162909" y="3130735"/>
            <a:ext cx="763454" cy="668861"/>
            <a:chOff x="7270567" y="5238206"/>
            <a:chExt cx="763454" cy="668861"/>
          </a:xfrm>
        </p:grpSpPr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4ECEBB3C-999F-7043-BC56-58E4CAFC6793}"/>
                </a:ext>
              </a:extLst>
            </p:cNvPr>
            <p:cNvGrpSpPr/>
            <p:nvPr/>
          </p:nvGrpSpPr>
          <p:grpSpPr>
            <a:xfrm>
              <a:off x="7302136" y="5238206"/>
              <a:ext cx="591681" cy="375090"/>
              <a:chOff x="7493876" y="2774731"/>
              <a:chExt cx="1481958" cy="894622"/>
            </a:xfrm>
          </p:grpSpPr>
          <p:sp>
            <p:nvSpPr>
              <p:cNvPr id="247" name="Freeform 246">
                <a:extLst>
                  <a:ext uri="{FF2B5EF4-FFF2-40B4-BE49-F238E27FC236}">
                    <a16:creationId xmlns:a16="http://schemas.microsoft.com/office/drawing/2014/main" id="{66E9A6B9-0497-9F40-B487-202A2AF2E2AA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48" name="Oval 247">
                <a:extLst>
                  <a:ext uri="{FF2B5EF4-FFF2-40B4-BE49-F238E27FC236}">
                    <a16:creationId xmlns:a16="http://schemas.microsoft.com/office/drawing/2014/main" id="{595DFBB9-653C-224D-AFCF-DCB9149473F4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50" name="Group 249">
                <a:extLst>
                  <a:ext uri="{FF2B5EF4-FFF2-40B4-BE49-F238E27FC236}">
                    <a16:creationId xmlns:a16="http://schemas.microsoft.com/office/drawing/2014/main" id="{E3CD00BF-5094-6D46-BCFF-0B0381166D57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58" name="Freeform 257">
                  <a:extLst>
                    <a:ext uri="{FF2B5EF4-FFF2-40B4-BE49-F238E27FC236}">
                      <a16:creationId xmlns:a16="http://schemas.microsoft.com/office/drawing/2014/main" id="{C1F95F32-4673-574D-893B-41AE234B96BE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9" name="Freeform 258">
                  <a:extLst>
                    <a:ext uri="{FF2B5EF4-FFF2-40B4-BE49-F238E27FC236}">
                      <a16:creationId xmlns:a16="http://schemas.microsoft.com/office/drawing/2014/main" id="{00CA5994-17AB-2847-AC81-9D91784CA62A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0" name="Freeform 259">
                  <a:extLst>
                    <a:ext uri="{FF2B5EF4-FFF2-40B4-BE49-F238E27FC236}">
                      <a16:creationId xmlns:a16="http://schemas.microsoft.com/office/drawing/2014/main" id="{95E3FA0A-EF4D-6C44-9C08-21FBBBD9A1A6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1" name="Freeform 260">
                  <a:extLst>
                    <a:ext uri="{FF2B5EF4-FFF2-40B4-BE49-F238E27FC236}">
                      <a16:creationId xmlns:a16="http://schemas.microsoft.com/office/drawing/2014/main" id="{2EDC280F-5480-2643-8919-DFCF164A370D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237" name="TextBox 236">
              <a:extLst>
                <a:ext uri="{FF2B5EF4-FFF2-40B4-BE49-F238E27FC236}">
                  <a16:creationId xmlns:a16="http://schemas.microsoft.com/office/drawing/2014/main" id="{80B72EB8-9745-604F-9B77-D5C95F95D261}"/>
                </a:ext>
              </a:extLst>
            </p:cNvPr>
            <p:cNvSpPr txBox="1"/>
            <p:nvPr/>
          </p:nvSpPr>
          <p:spPr>
            <a:xfrm>
              <a:off x="7270567" y="5568513"/>
              <a:ext cx="76345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600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3CFD4EFA-D8E3-4C46-B7EC-60DE96477B69}"/>
              </a:ext>
            </a:extLst>
          </p:cNvPr>
          <p:cNvGrpSpPr/>
          <p:nvPr/>
        </p:nvGrpSpPr>
        <p:grpSpPr>
          <a:xfrm>
            <a:off x="4317096" y="2216448"/>
            <a:ext cx="1442258" cy="736694"/>
            <a:chOff x="3056709" y="2599509"/>
            <a:chExt cx="1442258" cy="736694"/>
          </a:xfrm>
        </p:grpSpPr>
        <p:sp>
          <p:nvSpPr>
            <p:cNvPr id="264" name="TextBox 263">
              <a:extLst>
                <a:ext uri="{FF2B5EF4-FFF2-40B4-BE49-F238E27FC236}">
                  <a16:creationId xmlns:a16="http://schemas.microsoft.com/office/drawing/2014/main" id="{34BBD6BC-C243-8841-ABAA-B4D0EEA720B0}"/>
                </a:ext>
              </a:extLst>
            </p:cNvPr>
            <p:cNvSpPr txBox="1"/>
            <p:nvPr/>
          </p:nvSpPr>
          <p:spPr>
            <a:xfrm>
              <a:off x="3507285" y="2702843"/>
              <a:ext cx="991682" cy="6136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1400" dirty="0">
                  <a:solidFill>
                    <a:prstClr val="black"/>
                  </a:solidFill>
                  <a:latin typeface="Calibri"/>
                </a:rPr>
                <a:t>Home</a:t>
              </a:r>
            </a:p>
            <a:p>
              <a:pPr>
                <a:lnSpc>
                  <a:spcPct val="80000"/>
                </a:lnSpc>
              </a:pPr>
              <a:r>
                <a:rPr lang="en-US" sz="1400" dirty="0">
                  <a:solidFill>
                    <a:prstClr val="black"/>
                  </a:solidFill>
                  <a:latin typeface="Calibri"/>
                </a:rPr>
                <a:t>Subscriber </a:t>
              </a:r>
            </a:p>
            <a:p>
              <a:pPr>
                <a:lnSpc>
                  <a:spcPct val="80000"/>
                </a:lnSpc>
              </a:pPr>
              <a:r>
                <a:rPr lang="en-US" sz="1400" dirty="0">
                  <a:solidFill>
                    <a:prstClr val="black"/>
                  </a:solidFill>
                  <a:latin typeface="Calibri"/>
                </a:rPr>
                <a:t>Server</a:t>
              </a:r>
              <a:endParaRPr lang="en-US" sz="788" dirty="0">
                <a:solidFill>
                  <a:prstClr val="black"/>
                </a:solidFill>
                <a:latin typeface="Calibri"/>
              </a:endParaRPr>
            </a:p>
          </p:txBody>
        </p:sp>
        <p:grpSp>
          <p:nvGrpSpPr>
            <p:cNvPr id="265" name="Group 264">
              <a:extLst>
                <a:ext uri="{FF2B5EF4-FFF2-40B4-BE49-F238E27FC236}">
                  <a16:creationId xmlns:a16="http://schemas.microsoft.com/office/drawing/2014/main" id="{87BC9230-4DF9-7F43-BFC5-44D31780BC98}"/>
                </a:ext>
              </a:extLst>
            </p:cNvPr>
            <p:cNvGrpSpPr/>
            <p:nvPr/>
          </p:nvGrpSpPr>
          <p:grpSpPr>
            <a:xfrm>
              <a:off x="3056709" y="2599509"/>
              <a:ext cx="543008" cy="736694"/>
              <a:chOff x="9181074" y="2063579"/>
              <a:chExt cx="1008323" cy="1351004"/>
            </a:xfrm>
          </p:grpSpPr>
          <p:grpSp>
            <p:nvGrpSpPr>
              <p:cNvPr id="266" name="Group 265">
                <a:extLst>
                  <a:ext uri="{FF2B5EF4-FFF2-40B4-BE49-F238E27FC236}">
                    <a16:creationId xmlns:a16="http://schemas.microsoft.com/office/drawing/2014/main" id="{9507022A-4852-1B41-868D-3EA8C5D5B5D3}"/>
                  </a:ext>
                </a:extLst>
              </p:cNvPr>
              <p:cNvGrpSpPr/>
              <p:nvPr/>
            </p:nvGrpSpPr>
            <p:grpSpPr>
              <a:xfrm>
                <a:off x="9309047" y="2092807"/>
                <a:ext cx="439787" cy="517111"/>
                <a:chOff x="4501086" y="2717689"/>
                <a:chExt cx="347435" cy="424729"/>
              </a:xfrm>
            </p:grpSpPr>
            <p:sp>
              <p:nvSpPr>
                <p:cNvPr id="269" name="Rectangle 268">
                  <a:extLst>
                    <a:ext uri="{FF2B5EF4-FFF2-40B4-BE49-F238E27FC236}">
                      <a16:creationId xmlns:a16="http://schemas.microsoft.com/office/drawing/2014/main" id="{2C238316-2924-184E-8E7F-5F5AD5F8A331}"/>
                    </a:ext>
                  </a:extLst>
                </p:cNvPr>
                <p:cNvSpPr/>
                <p:nvPr/>
              </p:nvSpPr>
              <p:spPr>
                <a:xfrm>
                  <a:off x="4501086" y="2764691"/>
                  <a:ext cx="345572" cy="328307"/>
                </a:xfrm>
                <a:prstGeom prst="rect">
                  <a:avLst/>
                </a:prstGeom>
                <a:gradFill>
                  <a:gsLst>
                    <a:gs pos="1000">
                      <a:srgbClr val="CDD3D7"/>
                    </a:gs>
                    <a:gs pos="100000">
                      <a:srgbClr val="E7ECF0"/>
                    </a:gs>
                  </a:gsLst>
                </a:gradFill>
                <a:ln>
                  <a:solidFill>
                    <a:schemeClr val="bg1">
                      <a:lumMod val="50000"/>
                    </a:scheme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 dirty="0"/>
                </a:p>
              </p:txBody>
            </p:sp>
            <p:sp>
              <p:nvSpPr>
                <p:cNvPr id="270" name="Oval 269">
                  <a:extLst>
                    <a:ext uri="{FF2B5EF4-FFF2-40B4-BE49-F238E27FC236}">
                      <a16:creationId xmlns:a16="http://schemas.microsoft.com/office/drawing/2014/main" id="{05421A7D-8CAB-8044-8AFD-E06EB9C406E1}"/>
                    </a:ext>
                  </a:extLst>
                </p:cNvPr>
                <p:cNvSpPr/>
                <p:nvPr/>
              </p:nvSpPr>
              <p:spPr>
                <a:xfrm>
                  <a:off x="4501086" y="2717689"/>
                  <a:ext cx="345572" cy="98840"/>
                </a:xfrm>
                <a:prstGeom prst="ellipse">
                  <a:avLst/>
                </a:prstGeom>
                <a:solidFill>
                  <a:srgbClr val="E2E7EA"/>
                </a:solidFill>
                <a:ln w="6350">
                  <a:solidFill>
                    <a:schemeClr val="bg1">
                      <a:lumMod val="50000"/>
                    </a:scheme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 dirty="0"/>
                </a:p>
              </p:txBody>
            </p:sp>
            <p:sp>
              <p:nvSpPr>
                <p:cNvPr id="271" name="Oval 270">
                  <a:extLst>
                    <a:ext uri="{FF2B5EF4-FFF2-40B4-BE49-F238E27FC236}">
                      <a16:creationId xmlns:a16="http://schemas.microsoft.com/office/drawing/2014/main" id="{9502E7AE-4866-E94A-90F5-E829E3898D85}"/>
                    </a:ext>
                  </a:extLst>
                </p:cNvPr>
                <p:cNvSpPr/>
                <p:nvPr/>
              </p:nvSpPr>
              <p:spPr>
                <a:xfrm>
                  <a:off x="4502949" y="3043578"/>
                  <a:ext cx="345572" cy="98840"/>
                </a:xfrm>
                <a:prstGeom prst="ellipse">
                  <a:avLst/>
                </a:prstGeom>
                <a:solidFill>
                  <a:srgbClr val="CDD3D7"/>
                </a:solidFill>
                <a:ln w="6350">
                  <a:solidFill>
                    <a:schemeClr val="bg1">
                      <a:lumMod val="50000"/>
                    </a:scheme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 dirty="0"/>
                </a:p>
              </p:txBody>
            </p:sp>
            <p:sp>
              <p:nvSpPr>
                <p:cNvPr id="272" name="Rectangle 271">
                  <a:extLst>
                    <a:ext uri="{FF2B5EF4-FFF2-40B4-BE49-F238E27FC236}">
                      <a16:creationId xmlns:a16="http://schemas.microsoft.com/office/drawing/2014/main" id="{6FE1BC00-7844-6A49-8B97-60B8ED441843}"/>
                    </a:ext>
                  </a:extLst>
                </p:cNvPr>
                <p:cNvSpPr/>
                <p:nvPr/>
              </p:nvSpPr>
              <p:spPr>
                <a:xfrm>
                  <a:off x="4504261" y="3036961"/>
                  <a:ext cx="339222" cy="52862"/>
                </a:xfrm>
                <a:prstGeom prst="rect">
                  <a:avLst/>
                </a:prstGeom>
                <a:solidFill>
                  <a:srgbClr val="CDD3D7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 dirty="0"/>
                </a:p>
              </p:txBody>
            </p:sp>
          </p:grpSp>
          <p:sp>
            <p:nvSpPr>
              <p:cNvPr id="267" name="Can 266">
                <a:extLst>
                  <a:ext uri="{FF2B5EF4-FFF2-40B4-BE49-F238E27FC236}">
                    <a16:creationId xmlns:a16="http://schemas.microsoft.com/office/drawing/2014/main" id="{E22D9F4F-D5A2-764C-8C8A-6D3F60392BE7}"/>
                  </a:ext>
                </a:extLst>
              </p:cNvPr>
              <p:cNvSpPr/>
              <p:nvPr/>
            </p:nvSpPr>
            <p:spPr>
              <a:xfrm>
                <a:off x="9181074" y="2063579"/>
                <a:ext cx="630195" cy="568410"/>
              </a:xfrm>
              <a:prstGeom prst="can">
                <a:avLst/>
              </a:prstGeom>
              <a:gradFill>
                <a:gsLst>
                  <a:gs pos="38000">
                    <a:schemeClr val="bg1">
                      <a:lumMod val="95000"/>
                    </a:schemeClr>
                  </a:gs>
                  <a:gs pos="0">
                    <a:srgbClr val="C4CDD3"/>
                  </a:gs>
                  <a:gs pos="100000">
                    <a:schemeClr val="bg1">
                      <a:lumMod val="75000"/>
                    </a:schemeClr>
                  </a:gs>
                </a:gsLst>
                <a:lin ang="0" scaled="0"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268" name="Picture 267" descr="A screen shot of a computer&#10;&#10;Description automatically generated">
                <a:extLst>
                  <a:ext uri="{FF2B5EF4-FFF2-40B4-BE49-F238E27FC236}">
                    <a16:creationId xmlns:a16="http://schemas.microsoft.com/office/drawing/2014/main" id="{36D1C652-5306-2A4B-ACA4-F7062F63CD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543539" y="2209860"/>
                <a:ext cx="645858" cy="1204723"/>
              </a:xfrm>
              <a:prstGeom prst="rect">
                <a:avLst/>
              </a:prstGeom>
            </p:spPr>
          </p:pic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D111BBC-FDA4-6940-A994-E5F6484A34F4}"/>
              </a:ext>
            </a:extLst>
          </p:cNvPr>
          <p:cNvGrpSpPr/>
          <p:nvPr/>
        </p:nvGrpSpPr>
        <p:grpSpPr>
          <a:xfrm>
            <a:off x="2955342" y="3037620"/>
            <a:ext cx="1159776" cy="787410"/>
            <a:chOff x="2955342" y="3037620"/>
            <a:chExt cx="1159776" cy="787410"/>
          </a:xfrm>
        </p:grpSpPr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A0C3C8AE-65E6-DB48-8707-A29207510C2A}"/>
                </a:ext>
              </a:extLst>
            </p:cNvPr>
            <p:cNvSpPr txBox="1"/>
            <p:nvPr/>
          </p:nvSpPr>
          <p:spPr>
            <a:xfrm>
              <a:off x="3180573" y="3383755"/>
              <a:ext cx="934545" cy="4412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1400" dirty="0"/>
                <a:t>Mobility manager </a:t>
              </a:r>
            </a:p>
          </p:txBody>
        </p:sp>
        <p:pic>
          <p:nvPicPr>
            <p:cNvPr id="279" name="Picture 278" descr="A screen shot of a computer&#10;&#10;Description automatically generated">
              <a:extLst>
                <a:ext uri="{FF2B5EF4-FFF2-40B4-BE49-F238E27FC236}">
                  <a16:creationId xmlns:a16="http://schemas.microsoft.com/office/drawing/2014/main" id="{7329F15E-AED0-5840-9D69-61F1741450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55342" y="3037620"/>
              <a:ext cx="347811" cy="656928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FFA1318-3313-9B48-A3B3-EC14FA5BC199}"/>
              </a:ext>
            </a:extLst>
          </p:cNvPr>
          <p:cNvGrpSpPr/>
          <p:nvPr/>
        </p:nvGrpSpPr>
        <p:grpSpPr>
          <a:xfrm>
            <a:off x="7865093" y="2337403"/>
            <a:ext cx="1168254" cy="712787"/>
            <a:chOff x="7865093" y="2337403"/>
            <a:chExt cx="1168254" cy="712787"/>
          </a:xfrm>
        </p:grpSpPr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0FDDE4F5-CAFF-3243-9306-FE18C52FDE78}"/>
                </a:ext>
              </a:extLst>
            </p:cNvPr>
            <p:cNvSpPr txBox="1"/>
            <p:nvPr/>
          </p:nvSpPr>
          <p:spPr>
            <a:xfrm>
              <a:off x="8098802" y="2608915"/>
              <a:ext cx="934545" cy="4412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1400" dirty="0"/>
                <a:t>Mobility manager </a:t>
              </a:r>
            </a:p>
          </p:txBody>
        </p:sp>
        <p:pic>
          <p:nvPicPr>
            <p:cNvPr id="285" name="Picture 284" descr="A screen shot of a computer&#10;&#10;Description automatically generated">
              <a:extLst>
                <a:ext uri="{FF2B5EF4-FFF2-40B4-BE49-F238E27FC236}">
                  <a16:creationId xmlns:a16="http://schemas.microsoft.com/office/drawing/2014/main" id="{980555A2-C73B-E84A-B14D-DB0960D042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65093" y="2337403"/>
              <a:ext cx="347811" cy="656928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97EED75-423B-0940-BEC1-BFEB3508477F}"/>
              </a:ext>
            </a:extLst>
          </p:cNvPr>
          <p:cNvGrpSpPr/>
          <p:nvPr/>
        </p:nvGrpSpPr>
        <p:grpSpPr>
          <a:xfrm>
            <a:off x="5302322" y="5004486"/>
            <a:ext cx="1333256" cy="946030"/>
            <a:chOff x="5302322" y="5004486"/>
            <a:chExt cx="1333256" cy="946030"/>
          </a:xfrm>
        </p:grpSpPr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EA5736E7-E32E-AA4A-892A-5862CF9E6FA4}"/>
                </a:ext>
              </a:extLst>
            </p:cNvPr>
            <p:cNvSpPr txBox="1"/>
            <p:nvPr/>
          </p:nvSpPr>
          <p:spPr>
            <a:xfrm>
              <a:off x="5302322" y="5681596"/>
              <a:ext cx="1333256" cy="2689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1400" dirty="0"/>
                <a:t>Correspondent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B33C32C-5265-ED42-8FC0-1A9A5E970754}"/>
                </a:ext>
              </a:extLst>
            </p:cNvPr>
            <p:cNvGrpSpPr/>
            <p:nvPr/>
          </p:nvGrpSpPr>
          <p:grpSpPr>
            <a:xfrm>
              <a:off x="5338118" y="5004486"/>
              <a:ext cx="891365" cy="796154"/>
              <a:chOff x="283029" y="4319993"/>
              <a:chExt cx="1226174" cy="1258225"/>
            </a:xfrm>
          </p:grpSpPr>
          <p:pic>
            <p:nvPicPr>
              <p:cNvPr id="286" name="Picture 180" descr="desktop_computer_stylized_medium">
                <a:extLst>
                  <a:ext uri="{FF2B5EF4-FFF2-40B4-BE49-F238E27FC236}">
                    <a16:creationId xmlns:a16="http://schemas.microsoft.com/office/drawing/2014/main" id="{E24910B7-6FE8-8F4D-BE95-1265D48B6AD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283029" y="4319993"/>
                <a:ext cx="1226174" cy="1258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0" name="Freeform 181">
                <a:extLst>
                  <a:ext uri="{FF2B5EF4-FFF2-40B4-BE49-F238E27FC236}">
                    <a16:creationId xmlns:a16="http://schemas.microsoft.com/office/drawing/2014/main" id="{2D068B8E-96FB-2E4D-99CA-203353C2197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805497" y="4440692"/>
                <a:ext cx="596213" cy="576165"/>
              </a:xfrm>
              <a:custGeom>
                <a:avLst/>
                <a:gdLst>
                  <a:gd name="T0" fmla="*/ 0 w 356"/>
                  <a:gd name="T1" fmla="*/ 0 h 368"/>
                  <a:gd name="T2" fmla="*/ 5595 w 356"/>
                  <a:gd name="T3" fmla="*/ 341 h 368"/>
                  <a:gd name="T4" fmla="*/ 6638 w 356"/>
                  <a:gd name="T5" fmla="*/ 7113 h 368"/>
                  <a:gd name="T6" fmla="*/ 1463 w 356"/>
                  <a:gd name="T7" fmla="*/ 889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grpSp>
        <p:nvGrpSpPr>
          <p:cNvPr id="69" name="Group 137">
            <a:extLst>
              <a:ext uri="{FF2B5EF4-FFF2-40B4-BE49-F238E27FC236}">
                <a16:creationId xmlns:a16="http://schemas.microsoft.com/office/drawing/2014/main" id="{2AB802E8-5553-1949-92B2-BD00ADA614DC}"/>
              </a:ext>
            </a:extLst>
          </p:cNvPr>
          <p:cNvGrpSpPr>
            <a:grpSpLocks/>
          </p:cNvGrpSpPr>
          <p:nvPr/>
        </p:nvGrpSpPr>
        <p:grpSpPr bwMode="auto">
          <a:xfrm>
            <a:off x="4399311" y="3330061"/>
            <a:ext cx="1322389" cy="1905000"/>
            <a:chOff x="1915" y="2230"/>
            <a:chExt cx="833" cy="1200"/>
          </a:xfrm>
        </p:grpSpPr>
        <p:sp>
          <p:nvSpPr>
            <p:cNvPr id="70" name="Line 138">
              <a:extLst>
                <a:ext uri="{FF2B5EF4-FFF2-40B4-BE49-F238E27FC236}">
                  <a16:creationId xmlns:a16="http://schemas.microsoft.com/office/drawing/2014/main" id="{F645DD9B-BFC6-AD47-A583-03C22E37D7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915" y="2230"/>
              <a:ext cx="833" cy="1200"/>
            </a:xfrm>
            <a:custGeom>
              <a:avLst/>
              <a:gdLst>
                <a:gd name="connsiteX0" fmla="*/ 0 w 1350962"/>
                <a:gd name="connsiteY0" fmla="*/ 0 h 1498600"/>
                <a:gd name="connsiteX1" fmla="*/ 1350962 w 1350962"/>
                <a:gd name="connsiteY1" fmla="*/ 1498600 h 1498600"/>
                <a:gd name="connsiteX0" fmla="*/ 0 w 1177968"/>
                <a:gd name="connsiteY0" fmla="*/ 0 h 1708665"/>
                <a:gd name="connsiteX1" fmla="*/ 1177968 w 1177968"/>
                <a:gd name="connsiteY1" fmla="*/ 1708665 h 1708665"/>
                <a:gd name="connsiteX0" fmla="*/ 0 w 1239754"/>
                <a:gd name="connsiteY0" fmla="*/ 0 h 1708665"/>
                <a:gd name="connsiteX1" fmla="*/ 1239754 w 1239754"/>
                <a:gd name="connsiteY1" fmla="*/ 1708665 h 1708665"/>
                <a:gd name="connsiteX0" fmla="*/ 0 w 1260255"/>
                <a:gd name="connsiteY0" fmla="*/ 0 h 1889139"/>
                <a:gd name="connsiteX1" fmla="*/ 1260255 w 1260255"/>
                <a:gd name="connsiteY1" fmla="*/ 1889139 h 1889139"/>
                <a:gd name="connsiteX0" fmla="*/ 0 w 1321751"/>
                <a:gd name="connsiteY0" fmla="*/ 0 h 1905541"/>
                <a:gd name="connsiteX1" fmla="*/ 1321751 w 1321751"/>
                <a:gd name="connsiteY1" fmla="*/ 1905541 h 1905541"/>
                <a:gd name="connsiteX0" fmla="*/ 0 w 1321751"/>
                <a:gd name="connsiteY0" fmla="*/ 0 h 1905541"/>
                <a:gd name="connsiteX1" fmla="*/ 1321751 w 1321751"/>
                <a:gd name="connsiteY1" fmla="*/ 1905541 h 1905541"/>
                <a:gd name="connsiteX0" fmla="*/ 0 w 1321751"/>
                <a:gd name="connsiteY0" fmla="*/ 0 h 1905541"/>
                <a:gd name="connsiteX1" fmla="*/ 1321751 w 1321751"/>
                <a:gd name="connsiteY1" fmla="*/ 1905541 h 1905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21751" h="1905541">
                  <a:moveTo>
                    <a:pt x="0" y="0"/>
                  </a:moveTo>
                  <a:cubicBezTo>
                    <a:pt x="401139" y="520042"/>
                    <a:pt x="846840" y="1213232"/>
                    <a:pt x="1321751" y="1905541"/>
                  </a:cubicBezTo>
                </a:path>
              </a:pathLst>
            </a:custGeom>
            <a:noFill/>
            <a:ln w="25400">
              <a:solidFill>
                <a:srgbClr val="C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71" name="Group 139">
              <a:extLst>
                <a:ext uri="{FF2B5EF4-FFF2-40B4-BE49-F238E27FC236}">
                  <a16:creationId xmlns:a16="http://schemas.microsoft.com/office/drawing/2014/main" id="{D0EBFB04-6265-1142-A0D7-A07238C094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13" y="2836"/>
              <a:ext cx="203" cy="252"/>
              <a:chOff x="759" y="3634"/>
              <a:chExt cx="203" cy="252"/>
            </a:xfrm>
          </p:grpSpPr>
          <p:sp>
            <p:nvSpPr>
              <p:cNvPr id="72" name="Oval 140">
                <a:extLst>
                  <a:ext uri="{FF2B5EF4-FFF2-40B4-BE49-F238E27FC236}">
                    <a16:creationId xmlns:a16="http://schemas.microsoft.com/office/drawing/2014/main" id="{956F277D-6EAE-D84E-9D63-469DF5286C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0" y="3662"/>
                <a:ext cx="202" cy="201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73" name="Text Box 141">
                <a:extLst>
                  <a:ext uri="{FF2B5EF4-FFF2-40B4-BE49-F238E27FC236}">
                    <a16:creationId xmlns:a16="http://schemas.microsoft.com/office/drawing/2014/main" id="{4C52B198-A8EF-6A4F-B115-E0C06BC8DC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9" y="3634"/>
                <a:ext cx="198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2000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1</a:t>
                </a:r>
              </a:p>
            </p:txBody>
          </p: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CDF9A25-948E-DF45-A460-5FF04CB84A84}"/>
              </a:ext>
            </a:extLst>
          </p:cNvPr>
          <p:cNvGrpSpPr/>
          <p:nvPr/>
        </p:nvGrpSpPr>
        <p:grpSpPr>
          <a:xfrm>
            <a:off x="741921" y="4646142"/>
            <a:ext cx="4287279" cy="1582254"/>
            <a:chOff x="704850" y="4250726"/>
            <a:chExt cx="4287279" cy="1582254"/>
          </a:xfrm>
        </p:grpSpPr>
        <p:sp>
          <p:nvSpPr>
            <p:cNvPr id="75" name="Text Box 143">
              <a:extLst>
                <a:ext uri="{FF2B5EF4-FFF2-40B4-BE49-F238E27FC236}">
                  <a16:creationId xmlns:a16="http://schemas.microsoft.com/office/drawing/2014/main" id="{1D7876B6-303D-6B42-A41C-968A91C464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4850" y="4743451"/>
              <a:ext cx="3484090" cy="10895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lnSpc>
                  <a:spcPct val="90000"/>
                </a:lnSpc>
                <a:defRPr/>
              </a:pPr>
              <a:r>
                <a:rPr lang="en-US" sz="2400" dirty="0">
                  <a:latin typeface="+mn-lt"/>
                  <a:cs typeface="Arial" charset="0"/>
                </a:rPr>
                <a:t>correspondent uses </a:t>
              </a:r>
              <a:r>
                <a:rPr lang="en-US" sz="2400" i="1" dirty="0">
                  <a:solidFill>
                    <a:srgbClr val="011199"/>
                  </a:solidFill>
                  <a:latin typeface="+mn-lt"/>
                  <a:cs typeface="Arial" charset="0"/>
                </a:rPr>
                <a:t>home</a:t>
              </a:r>
              <a:r>
                <a:rPr lang="en-US" sz="2400" dirty="0">
                  <a:latin typeface="+mn-lt"/>
                  <a:cs typeface="Arial" charset="0"/>
                </a:rPr>
                <a:t> address as datagram destination address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9F89873-DBDC-7F44-A24E-F94A961D02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53015" y="4250726"/>
              <a:ext cx="939114" cy="704334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ED4DDB9-1A10-2042-8AB0-207A561B4622}"/>
              </a:ext>
            </a:extLst>
          </p:cNvPr>
          <p:cNvGrpSpPr/>
          <p:nvPr/>
        </p:nvGrpSpPr>
        <p:grpSpPr>
          <a:xfrm>
            <a:off x="370745" y="3410339"/>
            <a:ext cx="4891720" cy="1625716"/>
            <a:chOff x="370745" y="3410339"/>
            <a:chExt cx="4891720" cy="1625716"/>
          </a:xfrm>
        </p:grpSpPr>
        <p:sp>
          <p:nvSpPr>
            <p:cNvPr id="88" name="Text Box 146">
              <a:extLst>
                <a:ext uri="{FF2B5EF4-FFF2-40B4-BE49-F238E27FC236}">
                  <a16:creationId xmlns:a16="http://schemas.microsoft.com/office/drawing/2014/main" id="{1763587A-5CF8-B64D-A794-820B4B8C4B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745" y="3946526"/>
              <a:ext cx="3830551" cy="10895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lnSpc>
                  <a:spcPct val="90000"/>
                </a:lnSpc>
                <a:defRPr/>
              </a:pPr>
              <a:r>
                <a:rPr lang="en-US" sz="2400" dirty="0">
                  <a:latin typeface="+mn-lt"/>
                  <a:cs typeface="Arial" charset="0"/>
                </a:rPr>
                <a:t>home gateway receives datagram, forwards (tunnels)  to remote gateway</a:t>
              </a: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D6F4AD8-4F2D-3546-8400-949BFAB822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72250" y="3410339"/>
              <a:ext cx="1790215" cy="828029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E66361E0-A6EC-1F48-A66F-64954E07E28D}"/>
              </a:ext>
            </a:extLst>
          </p:cNvPr>
          <p:cNvSpPr txBox="1"/>
          <p:nvPr/>
        </p:nvSpPr>
        <p:spPr>
          <a:xfrm>
            <a:off x="1408671" y="1482923"/>
            <a:ext cx="196472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11199"/>
                </a:solidFill>
              </a:rPr>
              <a:t>Home Network</a:t>
            </a:r>
          </a:p>
          <a:p>
            <a:pPr marL="171450" lvl="1"/>
            <a:r>
              <a:rPr lang="en-US" sz="1400" dirty="0"/>
              <a:t>e.g.,: 128.119/16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3A902D5-779F-A446-B758-106FBD4C1A45}"/>
              </a:ext>
            </a:extLst>
          </p:cNvPr>
          <p:cNvSpPr txBox="1"/>
          <p:nvPr/>
        </p:nvSpPr>
        <p:spPr>
          <a:xfrm>
            <a:off x="7761811" y="1499405"/>
            <a:ext cx="218537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11199"/>
                </a:solidFill>
              </a:rPr>
              <a:t>Visited Network</a:t>
            </a:r>
          </a:p>
          <a:p>
            <a:pPr marL="122238"/>
            <a:r>
              <a:rPr lang="en-US" sz="1400" dirty="0"/>
              <a:t>e.g.,: 79.129/16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1001BFB-F729-9446-A2C0-7037F1487006}"/>
              </a:ext>
            </a:extLst>
          </p:cNvPr>
          <p:cNvGrpSpPr/>
          <p:nvPr/>
        </p:nvGrpSpPr>
        <p:grpSpPr>
          <a:xfrm>
            <a:off x="4584357" y="3115736"/>
            <a:ext cx="2137719" cy="369332"/>
            <a:chOff x="4534929" y="3177521"/>
            <a:chExt cx="2137719" cy="369332"/>
          </a:xfrm>
        </p:grpSpPr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2DB81F6A-4D6E-E245-9F9B-CB69935DA108}"/>
                </a:ext>
              </a:extLst>
            </p:cNvPr>
            <p:cNvCxnSpPr>
              <a:cxnSpLocks/>
            </p:cNvCxnSpPr>
            <p:nvPr/>
          </p:nvCxnSpPr>
          <p:spPr>
            <a:xfrm>
              <a:off x="4534929" y="3299255"/>
              <a:ext cx="2137719" cy="222422"/>
            </a:xfrm>
            <a:prstGeom prst="straightConnector1">
              <a:avLst/>
            </a:prstGeom>
            <a:ln w="25400">
              <a:solidFill>
                <a:srgbClr val="C00000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569F105C-1731-AD4D-8A7D-ECB8BA5725D2}"/>
                </a:ext>
              </a:extLst>
            </p:cNvPr>
            <p:cNvGrpSpPr/>
            <p:nvPr/>
          </p:nvGrpSpPr>
          <p:grpSpPr>
            <a:xfrm>
              <a:off x="5252793" y="3177521"/>
              <a:ext cx="318711" cy="369332"/>
              <a:chOff x="201265" y="5990352"/>
              <a:chExt cx="318711" cy="369332"/>
            </a:xfrm>
          </p:grpSpPr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B349D114-71E8-5F42-A13A-784BA999E2ED}"/>
                  </a:ext>
                </a:extLst>
              </p:cNvPr>
              <p:cNvSpPr/>
              <p:nvPr/>
            </p:nvSpPr>
            <p:spPr>
              <a:xfrm>
                <a:off x="201265" y="6031388"/>
                <a:ext cx="318711" cy="318711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rgbClr val="C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DA6EA962-9CB9-C54C-842E-6EB5A19EE881}"/>
                  </a:ext>
                </a:extLst>
              </p:cNvPr>
              <p:cNvSpPr txBox="1"/>
              <p:nvPr/>
            </p:nvSpPr>
            <p:spPr>
              <a:xfrm>
                <a:off x="208933" y="5990352"/>
                <a:ext cx="23985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2</a:t>
                </a:r>
              </a:p>
            </p:txBody>
          </p:sp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6CD7987-5EA7-D042-BA46-B538C7D5C03F}"/>
              </a:ext>
            </a:extLst>
          </p:cNvPr>
          <p:cNvGrpSpPr/>
          <p:nvPr/>
        </p:nvGrpSpPr>
        <p:grpSpPr>
          <a:xfrm>
            <a:off x="7193386" y="2192404"/>
            <a:ext cx="589413" cy="1146660"/>
            <a:chOff x="7193386" y="2192404"/>
            <a:chExt cx="589413" cy="1146660"/>
          </a:xfrm>
        </p:grpSpPr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B812D4CC-F155-2341-8833-F9BD5013291A}"/>
                </a:ext>
              </a:extLst>
            </p:cNvPr>
            <p:cNvSpPr/>
            <p:nvPr/>
          </p:nvSpPr>
          <p:spPr>
            <a:xfrm>
              <a:off x="7193386" y="2192404"/>
              <a:ext cx="451673" cy="1146660"/>
            </a:xfrm>
            <a:custGeom>
              <a:avLst/>
              <a:gdLst>
                <a:gd name="connsiteX0" fmla="*/ 36987 w 36987"/>
                <a:gd name="connsiteY0" fmla="*/ 0 h 1232968"/>
                <a:gd name="connsiteX1" fmla="*/ 24658 w 36987"/>
                <a:gd name="connsiteY1" fmla="*/ 665803 h 1232968"/>
                <a:gd name="connsiteX2" fmla="*/ 0 w 36987"/>
                <a:gd name="connsiteY2" fmla="*/ 1232968 h 1232968"/>
                <a:gd name="connsiteX3" fmla="*/ 0 w 36987"/>
                <a:gd name="connsiteY3" fmla="*/ 1232968 h 1232968"/>
                <a:gd name="connsiteX0" fmla="*/ 36987 w 394528"/>
                <a:gd name="connsiteY0" fmla="*/ 0 h 1232968"/>
                <a:gd name="connsiteX1" fmla="*/ 394528 w 394528"/>
                <a:gd name="connsiteY1" fmla="*/ 665803 h 1232968"/>
                <a:gd name="connsiteX2" fmla="*/ 0 w 394528"/>
                <a:gd name="connsiteY2" fmla="*/ 1232968 h 1232968"/>
                <a:gd name="connsiteX3" fmla="*/ 0 w 394528"/>
                <a:gd name="connsiteY3" fmla="*/ 1232968 h 1232968"/>
                <a:gd name="connsiteX0" fmla="*/ 36987 w 398314"/>
                <a:gd name="connsiteY0" fmla="*/ 0 h 1232968"/>
                <a:gd name="connsiteX1" fmla="*/ 394528 w 398314"/>
                <a:gd name="connsiteY1" fmla="*/ 665803 h 1232968"/>
                <a:gd name="connsiteX2" fmla="*/ 0 w 398314"/>
                <a:gd name="connsiteY2" fmla="*/ 1232968 h 1232968"/>
                <a:gd name="connsiteX3" fmla="*/ 0 w 398314"/>
                <a:gd name="connsiteY3" fmla="*/ 1232968 h 1232968"/>
                <a:gd name="connsiteX0" fmla="*/ 36987 w 398314"/>
                <a:gd name="connsiteY0" fmla="*/ 0 h 1232968"/>
                <a:gd name="connsiteX1" fmla="*/ 394528 w 398314"/>
                <a:gd name="connsiteY1" fmla="*/ 665803 h 1232968"/>
                <a:gd name="connsiteX2" fmla="*/ 0 w 398314"/>
                <a:gd name="connsiteY2" fmla="*/ 1232968 h 1232968"/>
                <a:gd name="connsiteX3" fmla="*/ 0 w 398314"/>
                <a:gd name="connsiteY3" fmla="*/ 1232968 h 1232968"/>
                <a:gd name="connsiteX0" fmla="*/ 36987 w 398314"/>
                <a:gd name="connsiteY0" fmla="*/ 0 h 1232968"/>
                <a:gd name="connsiteX1" fmla="*/ 394528 w 398314"/>
                <a:gd name="connsiteY1" fmla="*/ 665803 h 1232968"/>
                <a:gd name="connsiteX2" fmla="*/ 0 w 398314"/>
                <a:gd name="connsiteY2" fmla="*/ 1232968 h 1232968"/>
                <a:gd name="connsiteX3" fmla="*/ 0 w 398314"/>
                <a:gd name="connsiteY3" fmla="*/ 1232968 h 1232968"/>
                <a:gd name="connsiteX0" fmla="*/ 332883 w 694038"/>
                <a:gd name="connsiteY0" fmla="*/ 0 h 1454902"/>
                <a:gd name="connsiteX1" fmla="*/ 690424 w 694038"/>
                <a:gd name="connsiteY1" fmla="*/ 665803 h 1454902"/>
                <a:gd name="connsiteX2" fmla="*/ 295896 w 694038"/>
                <a:gd name="connsiteY2" fmla="*/ 1232968 h 1454902"/>
                <a:gd name="connsiteX3" fmla="*/ 0 w 694038"/>
                <a:gd name="connsiteY3" fmla="*/ 1454902 h 1454902"/>
                <a:gd name="connsiteX0" fmla="*/ 36987 w 398142"/>
                <a:gd name="connsiteY0" fmla="*/ 0 h 1232968"/>
                <a:gd name="connsiteX1" fmla="*/ 394528 w 398142"/>
                <a:gd name="connsiteY1" fmla="*/ 665803 h 1232968"/>
                <a:gd name="connsiteX2" fmla="*/ 0 w 398142"/>
                <a:gd name="connsiteY2" fmla="*/ 1232968 h 1232968"/>
                <a:gd name="connsiteX0" fmla="*/ 36987 w 394572"/>
                <a:gd name="connsiteY0" fmla="*/ 0 h 1232968"/>
                <a:gd name="connsiteX1" fmla="*/ 394528 w 394572"/>
                <a:gd name="connsiteY1" fmla="*/ 665803 h 1232968"/>
                <a:gd name="connsiteX2" fmla="*/ 0 w 394572"/>
                <a:gd name="connsiteY2" fmla="*/ 1232968 h 1232968"/>
                <a:gd name="connsiteX0" fmla="*/ 24658 w 394577"/>
                <a:gd name="connsiteY0" fmla="*/ 0 h 1085012"/>
                <a:gd name="connsiteX1" fmla="*/ 394528 w 394577"/>
                <a:gd name="connsiteY1" fmla="*/ 517847 h 1085012"/>
                <a:gd name="connsiteX2" fmla="*/ 0 w 394577"/>
                <a:gd name="connsiteY2" fmla="*/ 1085012 h 1085012"/>
                <a:gd name="connsiteX0" fmla="*/ 24658 w 394630"/>
                <a:gd name="connsiteY0" fmla="*/ 0 h 1085012"/>
                <a:gd name="connsiteX1" fmla="*/ 394528 w 394630"/>
                <a:gd name="connsiteY1" fmla="*/ 517847 h 1085012"/>
                <a:gd name="connsiteX2" fmla="*/ 0 w 394630"/>
                <a:gd name="connsiteY2" fmla="*/ 1085012 h 1085012"/>
                <a:gd name="connsiteX0" fmla="*/ 24658 w 394630"/>
                <a:gd name="connsiteY0" fmla="*/ 0 h 1085044"/>
                <a:gd name="connsiteX1" fmla="*/ 394528 w 394630"/>
                <a:gd name="connsiteY1" fmla="*/ 517847 h 1085044"/>
                <a:gd name="connsiteX2" fmla="*/ 0 w 394630"/>
                <a:gd name="connsiteY2" fmla="*/ 1085012 h 1085044"/>
                <a:gd name="connsiteX0" fmla="*/ 24658 w 394630"/>
                <a:gd name="connsiteY0" fmla="*/ 0 h 1085053"/>
                <a:gd name="connsiteX1" fmla="*/ 394528 w 394630"/>
                <a:gd name="connsiteY1" fmla="*/ 604155 h 1085053"/>
                <a:gd name="connsiteX2" fmla="*/ 0 w 394630"/>
                <a:gd name="connsiteY2" fmla="*/ 1085012 h 1085053"/>
                <a:gd name="connsiteX0" fmla="*/ 24658 w 394630"/>
                <a:gd name="connsiteY0" fmla="*/ 0 h 1085085"/>
                <a:gd name="connsiteX1" fmla="*/ 394528 w 394630"/>
                <a:gd name="connsiteY1" fmla="*/ 604155 h 1085085"/>
                <a:gd name="connsiteX2" fmla="*/ 0 w 394630"/>
                <a:gd name="connsiteY2" fmla="*/ 1085012 h 1085085"/>
                <a:gd name="connsiteX0" fmla="*/ 24658 w 406950"/>
                <a:gd name="connsiteY0" fmla="*/ 0 h 1085063"/>
                <a:gd name="connsiteX1" fmla="*/ 406857 w 406950"/>
                <a:gd name="connsiteY1" fmla="*/ 530177 h 1085063"/>
                <a:gd name="connsiteX2" fmla="*/ 0 w 406950"/>
                <a:gd name="connsiteY2" fmla="*/ 1085012 h 1085063"/>
                <a:gd name="connsiteX0" fmla="*/ 0 w 544110"/>
                <a:gd name="connsiteY0" fmla="*/ 0 h 1109704"/>
                <a:gd name="connsiteX1" fmla="*/ 542476 w 544110"/>
                <a:gd name="connsiteY1" fmla="*/ 554836 h 1109704"/>
                <a:gd name="connsiteX2" fmla="*/ 135619 w 544110"/>
                <a:gd name="connsiteY2" fmla="*/ 1109671 h 1109704"/>
                <a:gd name="connsiteX0" fmla="*/ 0 w 544110"/>
                <a:gd name="connsiteY0" fmla="*/ 0 h 1109704"/>
                <a:gd name="connsiteX1" fmla="*/ 542476 w 544110"/>
                <a:gd name="connsiteY1" fmla="*/ 554836 h 1109704"/>
                <a:gd name="connsiteX2" fmla="*/ 135619 w 544110"/>
                <a:gd name="connsiteY2" fmla="*/ 1109671 h 1109704"/>
                <a:gd name="connsiteX0" fmla="*/ 0 w 544110"/>
                <a:gd name="connsiteY0" fmla="*/ 0 h 1109671"/>
                <a:gd name="connsiteX1" fmla="*/ 542476 w 544110"/>
                <a:gd name="connsiteY1" fmla="*/ 554836 h 1109671"/>
                <a:gd name="connsiteX2" fmla="*/ 135619 w 544110"/>
                <a:gd name="connsiteY2" fmla="*/ 1109671 h 1109671"/>
                <a:gd name="connsiteX0" fmla="*/ 0 w 544933"/>
                <a:gd name="connsiteY0" fmla="*/ 0 h 1146660"/>
                <a:gd name="connsiteX1" fmla="*/ 542476 w 544933"/>
                <a:gd name="connsiteY1" fmla="*/ 554836 h 1146660"/>
                <a:gd name="connsiteX2" fmla="*/ 160277 w 544933"/>
                <a:gd name="connsiteY2" fmla="*/ 1146660 h 1146660"/>
                <a:gd name="connsiteX0" fmla="*/ 0 w 547239"/>
                <a:gd name="connsiteY0" fmla="*/ 0 h 1146660"/>
                <a:gd name="connsiteX1" fmla="*/ 542476 w 547239"/>
                <a:gd name="connsiteY1" fmla="*/ 554836 h 1146660"/>
                <a:gd name="connsiteX2" fmla="*/ 160277 w 547239"/>
                <a:gd name="connsiteY2" fmla="*/ 1146660 h 1146660"/>
                <a:gd name="connsiteX0" fmla="*/ 0 w 451673"/>
                <a:gd name="connsiteY0" fmla="*/ 0 h 1146660"/>
                <a:gd name="connsiteX1" fmla="*/ 443844 w 451673"/>
                <a:gd name="connsiteY1" fmla="*/ 554836 h 1146660"/>
                <a:gd name="connsiteX2" fmla="*/ 160277 w 451673"/>
                <a:gd name="connsiteY2" fmla="*/ 1146660 h 1146660"/>
                <a:gd name="connsiteX0" fmla="*/ 0 w 451673"/>
                <a:gd name="connsiteY0" fmla="*/ 0 h 1146660"/>
                <a:gd name="connsiteX1" fmla="*/ 443844 w 451673"/>
                <a:gd name="connsiteY1" fmla="*/ 554836 h 1146660"/>
                <a:gd name="connsiteX2" fmla="*/ 160277 w 451673"/>
                <a:gd name="connsiteY2" fmla="*/ 1146660 h 1146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1673" h="1146660">
                  <a:moveTo>
                    <a:pt x="0" y="0"/>
                  </a:moveTo>
                  <a:cubicBezTo>
                    <a:pt x="279457" y="36988"/>
                    <a:pt x="404802" y="277418"/>
                    <a:pt x="443844" y="554836"/>
                  </a:cubicBezTo>
                  <a:cubicBezTo>
                    <a:pt x="482886" y="832254"/>
                    <a:pt x="373980" y="1015144"/>
                    <a:pt x="160277" y="1146660"/>
                  </a:cubicBezTo>
                </a:path>
              </a:pathLst>
            </a:custGeom>
            <a:ln w="25400">
              <a:solidFill>
                <a:srgbClr val="C0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38C1778D-DF34-644E-B576-52D0C4F0D710}"/>
                </a:ext>
              </a:extLst>
            </p:cNvPr>
            <p:cNvGrpSpPr/>
            <p:nvPr/>
          </p:nvGrpSpPr>
          <p:grpSpPr>
            <a:xfrm>
              <a:off x="7464088" y="2469046"/>
              <a:ext cx="318711" cy="369332"/>
              <a:chOff x="499844" y="5934173"/>
              <a:chExt cx="318711" cy="369332"/>
            </a:xfrm>
          </p:grpSpPr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795ADC7B-0B53-FE4F-80DB-349552A9777C}"/>
                  </a:ext>
                </a:extLst>
              </p:cNvPr>
              <p:cNvSpPr/>
              <p:nvPr/>
            </p:nvSpPr>
            <p:spPr>
              <a:xfrm>
                <a:off x="499844" y="5970739"/>
                <a:ext cx="318711" cy="318711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rgbClr val="C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4C992193-D570-3848-8B62-0B1B018C9AF7}"/>
                  </a:ext>
                </a:extLst>
              </p:cNvPr>
              <p:cNvSpPr txBox="1"/>
              <p:nvPr/>
            </p:nvSpPr>
            <p:spPr>
              <a:xfrm>
                <a:off x="520378" y="5934173"/>
                <a:ext cx="23985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3</a:t>
                </a:r>
              </a:p>
            </p:txBody>
          </p:sp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6F3B3C5-001A-7A47-BBDD-583E844F012D}"/>
              </a:ext>
            </a:extLst>
          </p:cNvPr>
          <p:cNvGrpSpPr/>
          <p:nvPr/>
        </p:nvGrpSpPr>
        <p:grpSpPr>
          <a:xfrm>
            <a:off x="4704570" y="3409989"/>
            <a:ext cx="2054831" cy="1741728"/>
            <a:chOff x="4704570" y="3409989"/>
            <a:chExt cx="2054831" cy="1741728"/>
          </a:xfrm>
        </p:grpSpPr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A2498F2C-8AE6-714C-A69C-8B8005F507FC}"/>
                </a:ext>
              </a:extLst>
            </p:cNvPr>
            <p:cNvSpPr/>
            <p:nvPr/>
          </p:nvSpPr>
          <p:spPr>
            <a:xfrm>
              <a:off x="4704570" y="3427364"/>
              <a:ext cx="2019342" cy="1724353"/>
            </a:xfrm>
            <a:custGeom>
              <a:avLst/>
              <a:gdLst>
                <a:gd name="connsiteX0" fmla="*/ 36987 w 36987"/>
                <a:gd name="connsiteY0" fmla="*/ 0 h 1232968"/>
                <a:gd name="connsiteX1" fmla="*/ 24658 w 36987"/>
                <a:gd name="connsiteY1" fmla="*/ 665803 h 1232968"/>
                <a:gd name="connsiteX2" fmla="*/ 0 w 36987"/>
                <a:gd name="connsiteY2" fmla="*/ 1232968 h 1232968"/>
                <a:gd name="connsiteX3" fmla="*/ 0 w 36987"/>
                <a:gd name="connsiteY3" fmla="*/ 1232968 h 1232968"/>
                <a:gd name="connsiteX0" fmla="*/ 36987 w 394528"/>
                <a:gd name="connsiteY0" fmla="*/ 0 h 1232968"/>
                <a:gd name="connsiteX1" fmla="*/ 394528 w 394528"/>
                <a:gd name="connsiteY1" fmla="*/ 665803 h 1232968"/>
                <a:gd name="connsiteX2" fmla="*/ 0 w 394528"/>
                <a:gd name="connsiteY2" fmla="*/ 1232968 h 1232968"/>
                <a:gd name="connsiteX3" fmla="*/ 0 w 394528"/>
                <a:gd name="connsiteY3" fmla="*/ 1232968 h 1232968"/>
                <a:gd name="connsiteX0" fmla="*/ 36987 w 398314"/>
                <a:gd name="connsiteY0" fmla="*/ 0 h 1232968"/>
                <a:gd name="connsiteX1" fmla="*/ 394528 w 398314"/>
                <a:gd name="connsiteY1" fmla="*/ 665803 h 1232968"/>
                <a:gd name="connsiteX2" fmla="*/ 0 w 398314"/>
                <a:gd name="connsiteY2" fmla="*/ 1232968 h 1232968"/>
                <a:gd name="connsiteX3" fmla="*/ 0 w 398314"/>
                <a:gd name="connsiteY3" fmla="*/ 1232968 h 1232968"/>
                <a:gd name="connsiteX0" fmla="*/ 36987 w 398314"/>
                <a:gd name="connsiteY0" fmla="*/ 0 h 1232968"/>
                <a:gd name="connsiteX1" fmla="*/ 394528 w 398314"/>
                <a:gd name="connsiteY1" fmla="*/ 665803 h 1232968"/>
                <a:gd name="connsiteX2" fmla="*/ 0 w 398314"/>
                <a:gd name="connsiteY2" fmla="*/ 1232968 h 1232968"/>
                <a:gd name="connsiteX3" fmla="*/ 0 w 398314"/>
                <a:gd name="connsiteY3" fmla="*/ 1232968 h 1232968"/>
                <a:gd name="connsiteX0" fmla="*/ 36987 w 398314"/>
                <a:gd name="connsiteY0" fmla="*/ 0 h 1232968"/>
                <a:gd name="connsiteX1" fmla="*/ 394528 w 398314"/>
                <a:gd name="connsiteY1" fmla="*/ 665803 h 1232968"/>
                <a:gd name="connsiteX2" fmla="*/ 0 w 398314"/>
                <a:gd name="connsiteY2" fmla="*/ 1232968 h 1232968"/>
                <a:gd name="connsiteX3" fmla="*/ 0 w 398314"/>
                <a:gd name="connsiteY3" fmla="*/ 1232968 h 1232968"/>
                <a:gd name="connsiteX0" fmla="*/ 332883 w 694038"/>
                <a:gd name="connsiteY0" fmla="*/ 0 h 1454902"/>
                <a:gd name="connsiteX1" fmla="*/ 690424 w 694038"/>
                <a:gd name="connsiteY1" fmla="*/ 665803 h 1454902"/>
                <a:gd name="connsiteX2" fmla="*/ 295896 w 694038"/>
                <a:gd name="connsiteY2" fmla="*/ 1232968 h 1454902"/>
                <a:gd name="connsiteX3" fmla="*/ 0 w 694038"/>
                <a:gd name="connsiteY3" fmla="*/ 1454902 h 1454902"/>
                <a:gd name="connsiteX0" fmla="*/ 36987 w 398142"/>
                <a:gd name="connsiteY0" fmla="*/ 0 h 1232968"/>
                <a:gd name="connsiteX1" fmla="*/ 394528 w 398142"/>
                <a:gd name="connsiteY1" fmla="*/ 665803 h 1232968"/>
                <a:gd name="connsiteX2" fmla="*/ 0 w 398142"/>
                <a:gd name="connsiteY2" fmla="*/ 1232968 h 1232968"/>
                <a:gd name="connsiteX0" fmla="*/ 36987 w 394572"/>
                <a:gd name="connsiteY0" fmla="*/ 0 h 1232968"/>
                <a:gd name="connsiteX1" fmla="*/ 394528 w 394572"/>
                <a:gd name="connsiteY1" fmla="*/ 665803 h 1232968"/>
                <a:gd name="connsiteX2" fmla="*/ 0 w 394572"/>
                <a:gd name="connsiteY2" fmla="*/ 1232968 h 1232968"/>
                <a:gd name="connsiteX0" fmla="*/ 24658 w 394577"/>
                <a:gd name="connsiteY0" fmla="*/ 0 h 1085012"/>
                <a:gd name="connsiteX1" fmla="*/ 394528 w 394577"/>
                <a:gd name="connsiteY1" fmla="*/ 517847 h 1085012"/>
                <a:gd name="connsiteX2" fmla="*/ 0 w 394577"/>
                <a:gd name="connsiteY2" fmla="*/ 1085012 h 1085012"/>
                <a:gd name="connsiteX0" fmla="*/ 24658 w 394630"/>
                <a:gd name="connsiteY0" fmla="*/ 0 h 1085012"/>
                <a:gd name="connsiteX1" fmla="*/ 394528 w 394630"/>
                <a:gd name="connsiteY1" fmla="*/ 517847 h 1085012"/>
                <a:gd name="connsiteX2" fmla="*/ 0 w 394630"/>
                <a:gd name="connsiteY2" fmla="*/ 1085012 h 1085012"/>
                <a:gd name="connsiteX0" fmla="*/ 24658 w 394630"/>
                <a:gd name="connsiteY0" fmla="*/ 0 h 1085044"/>
                <a:gd name="connsiteX1" fmla="*/ 394528 w 394630"/>
                <a:gd name="connsiteY1" fmla="*/ 517847 h 1085044"/>
                <a:gd name="connsiteX2" fmla="*/ 0 w 394630"/>
                <a:gd name="connsiteY2" fmla="*/ 1085012 h 1085044"/>
                <a:gd name="connsiteX0" fmla="*/ 24658 w 394630"/>
                <a:gd name="connsiteY0" fmla="*/ 0 h 1085053"/>
                <a:gd name="connsiteX1" fmla="*/ 394528 w 394630"/>
                <a:gd name="connsiteY1" fmla="*/ 604155 h 1085053"/>
                <a:gd name="connsiteX2" fmla="*/ 0 w 394630"/>
                <a:gd name="connsiteY2" fmla="*/ 1085012 h 1085053"/>
                <a:gd name="connsiteX0" fmla="*/ 24658 w 394630"/>
                <a:gd name="connsiteY0" fmla="*/ 0 h 1085085"/>
                <a:gd name="connsiteX1" fmla="*/ 394528 w 394630"/>
                <a:gd name="connsiteY1" fmla="*/ 604155 h 1085085"/>
                <a:gd name="connsiteX2" fmla="*/ 0 w 394630"/>
                <a:gd name="connsiteY2" fmla="*/ 1085012 h 1085085"/>
                <a:gd name="connsiteX0" fmla="*/ 24658 w 406950"/>
                <a:gd name="connsiteY0" fmla="*/ 0 h 1085063"/>
                <a:gd name="connsiteX1" fmla="*/ 406857 w 406950"/>
                <a:gd name="connsiteY1" fmla="*/ 530177 h 1085063"/>
                <a:gd name="connsiteX2" fmla="*/ 0 w 406950"/>
                <a:gd name="connsiteY2" fmla="*/ 1085012 h 1085063"/>
                <a:gd name="connsiteX0" fmla="*/ 0 w 544110"/>
                <a:gd name="connsiteY0" fmla="*/ 0 h 1109704"/>
                <a:gd name="connsiteX1" fmla="*/ 542476 w 544110"/>
                <a:gd name="connsiteY1" fmla="*/ 554836 h 1109704"/>
                <a:gd name="connsiteX2" fmla="*/ 135619 w 544110"/>
                <a:gd name="connsiteY2" fmla="*/ 1109671 h 1109704"/>
                <a:gd name="connsiteX0" fmla="*/ 0 w 544110"/>
                <a:gd name="connsiteY0" fmla="*/ 0 h 1109704"/>
                <a:gd name="connsiteX1" fmla="*/ 542476 w 544110"/>
                <a:gd name="connsiteY1" fmla="*/ 554836 h 1109704"/>
                <a:gd name="connsiteX2" fmla="*/ 135619 w 544110"/>
                <a:gd name="connsiteY2" fmla="*/ 1109671 h 1109704"/>
                <a:gd name="connsiteX0" fmla="*/ 0 w 544110"/>
                <a:gd name="connsiteY0" fmla="*/ 0 h 1109671"/>
                <a:gd name="connsiteX1" fmla="*/ 542476 w 544110"/>
                <a:gd name="connsiteY1" fmla="*/ 554836 h 1109671"/>
                <a:gd name="connsiteX2" fmla="*/ 135619 w 544110"/>
                <a:gd name="connsiteY2" fmla="*/ 1109671 h 1109671"/>
                <a:gd name="connsiteX0" fmla="*/ 0 w 544933"/>
                <a:gd name="connsiteY0" fmla="*/ 0 h 1146660"/>
                <a:gd name="connsiteX1" fmla="*/ 542476 w 544933"/>
                <a:gd name="connsiteY1" fmla="*/ 554836 h 1146660"/>
                <a:gd name="connsiteX2" fmla="*/ 160277 w 544933"/>
                <a:gd name="connsiteY2" fmla="*/ 1146660 h 1146660"/>
                <a:gd name="connsiteX0" fmla="*/ 0 w 547239"/>
                <a:gd name="connsiteY0" fmla="*/ 0 h 1146660"/>
                <a:gd name="connsiteX1" fmla="*/ 542476 w 547239"/>
                <a:gd name="connsiteY1" fmla="*/ 554836 h 1146660"/>
                <a:gd name="connsiteX2" fmla="*/ 160277 w 547239"/>
                <a:gd name="connsiteY2" fmla="*/ 1146660 h 1146660"/>
                <a:gd name="connsiteX0" fmla="*/ 0 w 451673"/>
                <a:gd name="connsiteY0" fmla="*/ 0 h 1146660"/>
                <a:gd name="connsiteX1" fmla="*/ 443844 w 451673"/>
                <a:gd name="connsiteY1" fmla="*/ 554836 h 1146660"/>
                <a:gd name="connsiteX2" fmla="*/ 160277 w 451673"/>
                <a:gd name="connsiteY2" fmla="*/ 1146660 h 1146660"/>
                <a:gd name="connsiteX0" fmla="*/ 0 w 451673"/>
                <a:gd name="connsiteY0" fmla="*/ 0 h 1146660"/>
                <a:gd name="connsiteX1" fmla="*/ 443844 w 451673"/>
                <a:gd name="connsiteY1" fmla="*/ 554836 h 1146660"/>
                <a:gd name="connsiteX2" fmla="*/ 160277 w 451673"/>
                <a:gd name="connsiteY2" fmla="*/ 1146660 h 1146660"/>
                <a:gd name="connsiteX0" fmla="*/ 0 w 754565"/>
                <a:gd name="connsiteY0" fmla="*/ 1089906 h 1090872"/>
                <a:gd name="connsiteX1" fmla="*/ 734497 w 754565"/>
                <a:gd name="connsiteY1" fmla="*/ 8331 h 1090872"/>
                <a:gd name="connsiteX2" fmla="*/ 450930 w 754565"/>
                <a:gd name="connsiteY2" fmla="*/ 600155 h 1090872"/>
                <a:gd name="connsiteX0" fmla="*/ 0 w 1169000"/>
                <a:gd name="connsiteY0" fmla="*/ 1110287 h 1111294"/>
                <a:gd name="connsiteX1" fmla="*/ 734497 w 1169000"/>
                <a:gd name="connsiteY1" fmla="*/ 28712 h 1111294"/>
                <a:gd name="connsiteX2" fmla="*/ 1108060 w 1169000"/>
                <a:gd name="connsiteY2" fmla="*/ 355172 h 1111294"/>
                <a:gd name="connsiteX0" fmla="*/ 969226 w 2092605"/>
                <a:gd name="connsiteY0" fmla="*/ 1407685 h 1408457"/>
                <a:gd name="connsiteX1" fmla="*/ 16669 w 2092605"/>
                <a:gd name="connsiteY1" fmla="*/ 16518 h 1408457"/>
                <a:gd name="connsiteX2" fmla="*/ 2077286 w 2092605"/>
                <a:gd name="connsiteY2" fmla="*/ 652570 h 1408457"/>
                <a:gd name="connsiteX0" fmla="*/ 956027 w 1452284"/>
                <a:gd name="connsiteY0" fmla="*/ 1423591 h 1424383"/>
                <a:gd name="connsiteX1" fmla="*/ 3470 w 1452284"/>
                <a:gd name="connsiteY1" fmla="*/ 32424 h 1424383"/>
                <a:gd name="connsiteX2" fmla="*/ 1432232 w 1452284"/>
                <a:gd name="connsiteY2" fmla="*/ 472612 h 1424383"/>
                <a:gd name="connsiteX0" fmla="*/ 956027 w 1432232"/>
                <a:gd name="connsiteY0" fmla="*/ 1422324 h 1423116"/>
                <a:gd name="connsiteX1" fmla="*/ 3470 w 1432232"/>
                <a:gd name="connsiteY1" fmla="*/ 31157 h 1423116"/>
                <a:gd name="connsiteX2" fmla="*/ 1432232 w 1432232"/>
                <a:gd name="connsiteY2" fmla="*/ 471345 h 1423116"/>
                <a:gd name="connsiteX0" fmla="*/ 801315 w 1435484"/>
                <a:gd name="connsiteY0" fmla="*/ 1144301 h 1145256"/>
                <a:gd name="connsiteX1" fmla="*/ 6722 w 1435484"/>
                <a:gd name="connsiteY1" fmla="*/ 18498 h 1145256"/>
                <a:gd name="connsiteX2" fmla="*/ 1435484 w 1435484"/>
                <a:gd name="connsiteY2" fmla="*/ 458686 h 1145256"/>
                <a:gd name="connsiteX0" fmla="*/ 804988 w 1439157"/>
                <a:gd name="connsiteY0" fmla="*/ 1144301 h 1144301"/>
                <a:gd name="connsiteX1" fmla="*/ 10395 w 1439157"/>
                <a:gd name="connsiteY1" fmla="*/ 18498 h 1144301"/>
                <a:gd name="connsiteX2" fmla="*/ 1439157 w 1439157"/>
                <a:gd name="connsiteY2" fmla="*/ 458686 h 1144301"/>
                <a:gd name="connsiteX0" fmla="*/ 1031814 w 1432196"/>
                <a:gd name="connsiteY0" fmla="*/ 1741895 h 1741895"/>
                <a:gd name="connsiteX1" fmla="*/ 3434 w 1432196"/>
                <a:gd name="connsiteY1" fmla="*/ 47455 h 1741895"/>
                <a:gd name="connsiteX2" fmla="*/ 1432196 w 1432196"/>
                <a:gd name="connsiteY2" fmla="*/ 487643 h 1741895"/>
                <a:gd name="connsiteX0" fmla="*/ 1031814 w 1432196"/>
                <a:gd name="connsiteY0" fmla="*/ 1741895 h 1741895"/>
                <a:gd name="connsiteX1" fmla="*/ 3434 w 1432196"/>
                <a:gd name="connsiteY1" fmla="*/ 47455 h 1741895"/>
                <a:gd name="connsiteX2" fmla="*/ 1432196 w 1432196"/>
                <a:gd name="connsiteY2" fmla="*/ 487643 h 1741895"/>
                <a:gd name="connsiteX0" fmla="*/ 1028380 w 1428762"/>
                <a:gd name="connsiteY0" fmla="*/ 1741895 h 1741895"/>
                <a:gd name="connsiteX1" fmla="*/ 0 w 1428762"/>
                <a:gd name="connsiteY1" fmla="*/ 47455 h 1741895"/>
                <a:gd name="connsiteX2" fmla="*/ 1428762 w 1428762"/>
                <a:gd name="connsiteY2" fmla="*/ 487643 h 1741895"/>
                <a:gd name="connsiteX0" fmla="*/ 1028380 w 1428762"/>
                <a:gd name="connsiteY0" fmla="*/ 1694440 h 1694440"/>
                <a:gd name="connsiteX1" fmla="*/ 0 w 1428762"/>
                <a:gd name="connsiteY1" fmla="*/ 0 h 1694440"/>
                <a:gd name="connsiteX2" fmla="*/ 1428762 w 1428762"/>
                <a:gd name="connsiteY2" fmla="*/ 440188 h 1694440"/>
                <a:gd name="connsiteX0" fmla="*/ 1028380 w 1618319"/>
                <a:gd name="connsiteY0" fmla="*/ 1694440 h 1694440"/>
                <a:gd name="connsiteX1" fmla="*/ 0 w 1618319"/>
                <a:gd name="connsiteY1" fmla="*/ 0 h 1694440"/>
                <a:gd name="connsiteX2" fmla="*/ 1618319 w 1618319"/>
                <a:gd name="connsiteY2" fmla="*/ 604461 h 1694440"/>
                <a:gd name="connsiteX0" fmla="*/ 1028380 w 1510904"/>
                <a:gd name="connsiteY0" fmla="*/ 1694440 h 1694440"/>
                <a:gd name="connsiteX1" fmla="*/ 0 w 1510904"/>
                <a:gd name="connsiteY1" fmla="*/ 0 h 1694440"/>
                <a:gd name="connsiteX2" fmla="*/ 1510904 w 1510904"/>
                <a:gd name="connsiteY2" fmla="*/ 560234 h 1694440"/>
                <a:gd name="connsiteX0" fmla="*/ 1028380 w 1510904"/>
                <a:gd name="connsiteY0" fmla="*/ 1694440 h 1694440"/>
                <a:gd name="connsiteX1" fmla="*/ 0 w 1510904"/>
                <a:gd name="connsiteY1" fmla="*/ 0 h 1694440"/>
                <a:gd name="connsiteX2" fmla="*/ 1510904 w 1510904"/>
                <a:gd name="connsiteY2" fmla="*/ 560234 h 1694440"/>
                <a:gd name="connsiteX0" fmla="*/ 1028380 w 1510904"/>
                <a:gd name="connsiteY0" fmla="*/ 1694440 h 1694440"/>
                <a:gd name="connsiteX1" fmla="*/ 0 w 1510904"/>
                <a:gd name="connsiteY1" fmla="*/ 0 h 1694440"/>
                <a:gd name="connsiteX2" fmla="*/ 1510904 w 1510904"/>
                <a:gd name="connsiteY2" fmla="*/ 560234 h 1694440"/>
                <a:gd name="connsiteX0" fmla="*/ 933601 w 1416125"/>
                <a:gd name="connsiteY0" fmla="*/ 1650212 h 1650212"/>
                <a:gd name="connsiteX1" fmla="*/ 0 w 1416125"/>
                <a:gd name="connsiteY1" fmla="*/ 0 h 1650212"/>
                <a:gd name="connsiteX2" fmla="*/ 1416125 w 1416125"/>
                <a:gd name="connsiteY2" fmla="*/ 516006 h 1650212"/>
                <a:gd name="connsiteX0" fmla="*/ 933601 w 1466673"/>
                <a:gd name="connsiteY0" fmla="*/ 1650212 h 1650212"/>
                <a:gd name="connsiteX1" fmla="*/ 0 w 1466673"/>
                <a:gd name="connsiteY1" fmla="*/ 0 h 1650212"/>
                <a:gd name="connsiteX2" fmla="*/ 1466673 w 1466673"/>
                <a:gd name="connsiteY2" fmla="*/ 541278 h 1650212"/>
                <a:gd name="connsiteX0" fmla="*/ 933601 w 1871061"/>
                <a:gd name="connsiteY0" fmla="*/ 1650212 h 1650212"/>
                <a:gd name="connsiteX1" fmla="*/ 0 w 1871061"/>
                <a:gd name="connsiteY1" fmla="*/ 0 h 1650212"/>
                <a:gd name="connsiteX2" fmla="*/ 1871061 w 1871061"/>
                <a:gd name="connsiteY2" fmla="*/ 200095 h 1650212"/>
                <a:gd name="connsiteX0" fmla="*/ 933601 w 1871061"/>
                <a:gd name="connsiteY0" fmla="*/ 1650212 h 1650212"/>
                <a:gd name="connsiteX1" fmla="*/ 0 w 1871061"/>
                <a:gd name="connsiteY1" fmla="*/ 0 h 1650212"/>
                <a:gd name="connsiteX2" fmla="*/ 1871061 w 1871061"/>
                <a:gd name="connsiteY2" fmla="*/ 200095 h 1650212"/>
                <a:gd name="connsiteX0" fmla="*/ 1081882 w 2019342"/>
                <a:gd name="connsiteY0" fmla="*/ 1662569 h 1662569"/>
                <a:gd name="connsiteX1" fmla="*/ 0 w 2019342"/>
                <a:gd name="connsiteY1" fmla="*/ 0 h 1662569"/>
                <a:gd name="connsiteX2" fmla="*/ 2019342 w 2019342"/>
                <a:gd name="connsiteY2" fmla="*/ 212452 h 1662569"/>
                <a:gd name="connsiteX0" fmla="*/ 1180736 w 2019342"/>
                <a:gd name="connsiteY0" fmla="*/ 1724353 h 1724353"/>
                <a:gd name="connsiteX1" fmla="*/ 0 w 2019342"/>
                <a:gd name="connsiteY1" fmla="*/ 0 h 1724353"/>
                <a:gd name="connsiteX2" fmla="*/ 2019342 w 2019342"/>
                <a:gd name="connsiteY2" fmla="*/ 212452 h 1724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19342" h="1724353">
                  <a:moveTo>
                    <a:pt x="1180736" y="1724353"/>
                  </a:moveTo>
                  <a:cubicBezTo>
                    <a:pt x="1011576" y="1508613"/>
                    <a:pt x="53322" y="171133"/>
                    <a:pt x="0" y="0"/>
                  </a:cubicBezTo>
                  <a:cubicBezTo>
                    <a:pt x="142553" y="5776"/>
                    <a:pt x="1613826" y="156754"/>
                    <a:pt x="2019342" y="212452"/>
                  </a:cubicBezTo>
                </a:path>
              </a:pathLst>
            </a:custGeom>
            <a:ln w="25400">
              <a:solidFill>
                <a:srgbClr val="C00000">
                  <a:alpha val="68000"/>
                </a:srgbClr>
              </a:solidFill>
              <a:headEnd type="triangl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6BC9A9D5-A533-D94B-A7E6-664DBB37CA06}"/>
                </a:ext>
              </a:extLst>
            </p:cNvPr>
            <p:cNvSpPr/>
            <p:nvPr/>
          </p:nvSpPr>
          <p:spPr>
            <a:xfrm>
              <a:off x="6025968" y="3716938"/>
              <a:ext cx="733433" cy="1379498"/>
            </a:xfrm>
            <a:custGeom>
              <a:avLst/>
              <a:gdLst>
                <a:gd name="connsiteX0" fmla="*/ 36987 w 36987"/>
                <a:gd name="connsiteY0" fmla="*/ 0 h 1232968"/>
                <a:gd name="connsiteX1" fmla="*/ 24658 w 36987"/>
                <a:gd name="connsiteY1" fmla="*/ 665803 h 1232968"/>
                <a:gd name="connsiteX2" fmla="*/ 0 w 36987"/>
                <a:gd name="connsiteY2" fmla="*/ 1232968 h 1232968"/>
                <a:gd name="connsiteX3" fmla="*/ 0 w 36987"/>
                <a:gd name="connsiteY3" fmla="*/ 1232968 h 1232968"/>
                <a:gd name="connsiteX0" fmla="*/ 36987 w 394528"/>
                <a:gd name="connsiteY0" fmla="*/ 0 h 1232968"/>
                <a:gd name="connsiteX1" fmla="*/ 394528 w 394528"/>
                <a:gd name="connsiteY1" fmla="*/ 665803 h 1232968"/>
                <a:gd name="connsiteX2" fmla="*/ 0 w 394528"/>
                <a:gd name="connsiteY2" fmla="*/ 1232968 h 1232968"/>
                <a:gd name="connsiteX3" fmla="*/ 0 w 394528"/>
                <a:gd name="connsiteY3" fmla="*/ 1232968 h 1232968"/>
                <a:gd name="connsiteX0" fmla="*/ 36987 w 398314"/>
                <a:gd name="connsiteY0" fmla="*/ 0 h 1232968"/>
                <a:gd name="connsiteX1" fmla="*/ 394528 w 398314"/>
                <a:gd name="connsiteY1" fmla="*/ 665803 h 1232968"/>
                <a:gd name="connsiteX2" fmla="*/ 0 w 398314"/>
                <a:gd name="connsiteY2" fmla="*/ 1232968 h 1232968"/>
                <a:gd name="connsiteX3" fmla="*/ 0 w 398314"/>
                <a:gd name="connsiteY3" fmla="*/ 1232968 h 1232968"/>
                <a:gd name="connsiteX0" fmla="*/ 36987 w 398314"/>
                <a:gd name="connsiteY0" fmla="*/ 0 h 1232968"/>
                <a:gd name="connsiteX1" fmla="*/ 394528 w 398314"/>
                <a:gd name="connsiteY1" fmla="*/ 665803 h 1232968"/>
                <a:gd name="connsiteX2" fmla="*/ 0 w 398314"/>
                <a:gd name="connsiteY2" fmla="*/ 1232968 h 1232968"/>
                <a:gd name="connsiteX3" fmla="*/ 0 w 398314"/>
                <a:gd name="connsiteY3" fmla="*/ 1232968 h 1232968"/>
                <a:gd name="connsiteX0" fmla="*/ 36987 w 398314"/>
                <a:gd name="connsiteY0" fmla="*/ 0 h 1232968"/>
                <a:gd name="connsiteX1" fmla="*/ 394528 w 398314"/>
                <a:gd name="connsiteY1" fmla="*/ 665803 h 1232968"/>
                <a:gd name="connsiteX2" fmla="*/ 0 w 398314"/>
                <a:gd name="connsiteY2" fmla="*/ 1232968 h 1232968"/>
                <a:gd name="connsiteX3" fmla="*/ 0 w 398314"/>
                <a:gd name="connsiteY3" fmla="*/ 1232968 h 1232968"/>
                <a:gd name="connsiteX0" fmla="*/ 332883 w 694038"/>
                <a:gd name="connsiteY0" fmla="*/ 0 h 1454902"/>
                <a:gd name="connsiteX1" fmla="*/ 690424 w 694038"/>
                <a:gd name="connsiteY1" fmla="*/ 665803 h 1454902"/>
                <a:gd name="connsiteX2" fmla="*/ 295896 w 694038"/>
                <a:gd name="connsiteY2" fmla="*/ 1232968 h 1454902"/>
                <a:gd name="connsiteX3" fmla="*/ 0 w 694038"/>
                <a:gd name="connsiteY3" fmla="*/ 1454902 h 1454902"/>
                <a:gd name="connsiteX0" fmla="*/ 36987 w 398142"/>
                <a:gd name="connsiteY0" fmla="*/ 0 h 1232968"/>
                <a:gd name="connsiteX1" fmla="*/ 394528 w 398142"/>
                <a:gd name="connsiteY1" fmla="*/ 665803 h 1232968"/>
                <a:gd name="connsiteX2" fmla="*/ 0 w 398142"/>
                <a:gd name="connsiteY2" fmla="*/ 1232968 h 1232968"/>
                <a:gd name="connsiteX0" fmla="*/ 36987 w 394572"/>
                <a:gd name="connsiteY0" fmla="*/ 0 h 1232968"/>
                <a:gd name="connsiteX1" fmla="*/ 394528 w 394572"/>
                <a:gd name="connsiteY1" fmla="*/ 665803 h 1232968"/>
                <a:gd name="connsiteX2" fmla="*/ 0 w 394572"/>
                <a:gd name="connsiteY2" fmla="*/ 1232968 h 1232968"/>
                <a:gd name="connsiteX0" fmla="*/ 24658 w 394577"/>
                <a:gd name="connsiteY0" fmla="*/ 0 h 1085012"/>
                <a:gd name="connsiteX1" fmla="*/ 394528 w 394577"/>
                <a:gd name="connsiteY1" fmla="*/ 517847 h 1085012"/>
                <a:gd name="connsiteX2" fmla="*/ 0 w 394577"/>
                <a:gd name="connsiteY2" fmla="*/ 1085012 h 1085012"/>
                <a:gd name="connsiteX0" fmla="*/ 24658 w 394630"/>
                <a:gd name="connsiteY0" fmla="*/ 0 h 1085012"/>
                <a:gd name="connsiteX1" fmla="*/ 394528 w 394630"/>
                <a:gd name="connsiteY1" fmla="*/ 517847 h 1085012"/>
                <a:gd name="connsiteX2" fmla="*/ 0 w 394630"/>
                <a:gd name="connsiteY2" fmla="*/ 1085012 h 1085012"/>
                <a:gd name="connsiteX0" fmla="*/ 24658 w 394630"/>
                <a:gd name="connsiteY0" fmla="*/ 0 h 1085044"/>
                <a:gd name="connsiteX1" fmla="*/ 394528 w 394630"/>
                <a:gd name="connsiteY1" fmla="*/ 517847 h 1085044"/>
                <a:gd name="connsiteX2" fmla="*/ 0 w 394630"/>
                <a:gd name="connsiteY2" fmla="*/ 1085012 h 1085044"/>
                <a:gd name="connsiteX0" fmla="*/ 24658 w 394630"/>
                <a:gd name="connsiteY0" fmla="*/ 0 h 1085053"/>
                <a:gd name="connsiteX1" fmla="*/ 394528 w 394630"/>
                <a:gd name="connsiteY1" fmla="*/ 604155 h 1085053"/>
                <a:gd name="connsiteX2" fmla="*/ 0 w 394630"/>
                <a:gd name="connsiteY2" fmla="*/ 1085012 h 1085053"/>
                <a:gd name="connsiteX0" fmla="*/ 24658 w 394630"/>
                <a:gd name="connsiteY0" fmla="*/ 0 h 1085085"/>
                <a:gd name="connsiteX1" fmla="*/ 394528 w 394630"/>
                <a:gd name="connsiteY1" fmla="*/ 604155 h 1085085"/>
                <a:gd name="connsiteX2" fmla="*/ 0 w 394630"/>
                <a:gd name="connsiteY2" fmla="*/ 1085012 h 1085085"/>
                <a:gd name="connsiteX0" fmla="*/ 24658 w 406950"/>
                <a:gd name="connsiteY0" fmla="*/ 0 h 1085063"/>
                <a:gd name="connsiteX1" fmla="*/ 406857 w 406950"/>
                <a:gd name="connsiteY1" fmla="*/ 530177 h 1085063"/>
                <a:gd name="connsiteX2" fmla="*/ 0 w 406950"/>
                <a:gd name="connsiteY2" fmla="*/ 1085012 h 1085063"/>
                <a:gd name="connsiteX0" fmla="*/ 0 w 544110"/>
                <a:gd name="connsiteY0" fmla="*/ 0 h 1109704"/>
                <a:gd name="connsiteX1" fmla="*/ 542476 w 544110"/>
                <a:gd name="connsiteY1" fmla="*/ 554836 h 1109704"/>
                <a:gd name="connsiteX2" fmla="*/ 135619 w 544110"/>
                <a:gd name="connsiteY2" fmla="*/ 1109671 h 1109704"/>
                <a:gd name="connsiteX0" fmla="*/ 0 w 544110"/>
                <a:gd name="connsiteY0" fmla="*/ 0 h 1109704"/>
                <a:gd name="connsiteX1" fmla="*/ 542476 w 544110"/>
                <a:gd name="connsiteY1" fmla="*/ 554836 h 1109704"/>
                <a:gd name="connsiteX2" fmla="*/ 135619 w 544110"/>
                <a:gd name="connsiteY2" fmla="*/ 1109671 h 1109704"/>
                <a:gd name="connsiteX0" fmla="*/ 0 w 544110"/>
                <a:gd name="connsiteY0" fmla="*/ 0 h 1109671"/>
                <a:gd name="connsiteX1" fmla="*/ 542476 w 544110"/>
                <a:gd name="connsiteY1" fmla="*/ 554836 h 1109671"/>
                <a:gd name="connsiteX2" fmla="*/ 135619 w 544110"/>
                <a:gd name="connsiteY2" fmla="*/ 1109671 h 1109671"/>
                <a:gd name="connsiteX0" fmla="*/ 0 w 544933"/>
                <a:gd name="connsiteY0" fmla="*/ 0 h 1146660"/>
                <a:gd name="connsiteX1" fmla="*/ 542476 w 544933"/>
                <a:gd name="connsiteY1" fmla="*/ 554836 h 1146660"/>
                <a:gd name="connsiteX2" fmla="*/ 160277 w 544933"/>
                <a:gd name="connsiteY2" fmla="*/ 1146660 h 1146660"/>
                <a:gd name="connsiteX0" fmla="*/ 0 w 547239"/>
                <a:gd name="connsiteY0" fmla="*/ 0 h 1146660"/>
                <a:gd name="connsiteX1" fmla="*/ 542476 w 547239"/>
                <a:gd name="connsiteY1" fmla="*/ 554836 h 1146660"/>
                <a:gd name="connsiteX2" fmla="*/ 160277 w 547239"/>
                <a:gd name="connsiteY2" fmla="*/ 1146660 h 1146660"/>
                <a:gd name="connsiteX0" fmla="*/ 0 w 451673"/>
                <a:gd name="connsiteY0" fmla="*/ 0 h 1146660"/>
                <a:gd name="connsiteX1" fmla="*/ 443844 w 451673"/>
                <a:gd name="connsiteY1" fmla="*/ 554836 h 1146660"/>
                <a:gd name="connsiteX2" fmla="*/ 160277 w 451673"/>
                <a:gd name="connsiteY2" fmla="*/ 1146660 h 1146660"/>
                <a:gd name="connsiteX0" fmla="*/ 0 w 451673"/>
                <a:gd name="connsiteY0" fmla="*/ 0 h 1146660"/>
                <a:gd name="connsiteX1" fmla="*/ 443844 w 451673"/>
                <a:gd name="connsiteY1" fmla="*/ 554836 h 1146660"/>
                <a:gd name="connsiteX2" fmla="*/ 160277 w 451673"/>
                <a:gd name="connsiteY2" fmla="*/ 1146660 h 1146660"/>
                <a:gd name="connsiteX0" fmla="*/ 0 w 754565"/>
                <a:gd name="connsiteY0" fmla="*/ 1089906 h 1090872"/>
                <a:gd name="connsiteX1" fmla="*/ 734497 w 754565"/>
                <a:gd name="connsiteY1" fmla="*/ 8331 h 1090872"/>
                <a:gd name="connsiteX2" fmla="*/ 450930 w 754565"/>
                <a:gd name="connsiteY2" fmla="*/ 600155 h 1090872"/>
                <a:gd name="connsiteX0" fmla="*/ 0 w 1169000"/>
                <a:gd name="connsiteY0" fmla="*/ 1110287 h 1111294"/>
                <a:gd name="connsiteX1" fmla="*/ 734497 w 1169000"/>
                <a:gd name="connsiteY1" fmla="*/ 28712 h 1111294"/>
                <a:gd name="connsiteX2" fmla="*/ 1108060 w 1169000"/>
                <a:gd name="connsiteY2" fmla="*/ 355172 h 1111294"/>
                <a:gd name="connsiteX0" fmla="*/ 969226 w 2092605"/>
                <a:gd name="connsiteY0" fmla="*/ 1407685 h 1408457"/>
                <a:gd name="connsiteX1" fmla="*/ 16669 w 2092605"/>
                <a:gd name="connsiteY1" fmla="*/ 16518 h 1408457"/>
                <a:gd name="connsiteX2" fmla="*/ 2077286 w 2092605"/>
                <a:gd name="connsiteY2" fmla="*/ 652570 h 1408457"/>
                <a:gd name="connsiteX0" fmla="*/ 956027 w 1452284"/>
                <a:gd name="connsiteY0" fmla="*/ 1423591 h 1424383"/>
                <a:gd name="connsiteX1" fmla="*/ 3470 w 1452284"/>
                <a:gd name="connsiteY1" fmla="*/ 32424 h 1424383"/>
                <a:gd name="connsiteX2" fmla="*/ 1432232 w 1452284"/>
                <a:gd name="connsiteY2" fmla="*/ 472612 h 1424383"/>
                <a:gd name="connsiteX0" fmla="*/ 956027 w 1432232"/>
                <a:gd name="connsiteY0" fmla="*/ 1422324 h 1423116"/>
                <a:gd name="connsiteX1" fmla="*/ 3470 w 1432232"/>
                <a:gd name="connsiteY1" fmla="*/ 31157 h 1423116"/>
                <a:gd name="connsiteX2" fmla="*/ 1432232 w 1432232"/>
                <a:gd name="connsiteY2" fmla="*/ 471345 h 1423116"/>
                <a:gd name="connsiteX0" fmla="*/ 801315 w 1435484"/>
                <a:gd name="connsiteY0" fmla="*/ 1144301 h 1145256"/>
                <a:gd name="connsiteX1" fmla="*/ 6722 w 1435484"/>
                <a:gd name="connsiteY1" fmla="*/ 18498 h 1145256"/>
                <a:gd name="connsiteX2" fmla="*/ 1435484 w 1435484"/>
                <a:gd name="connsiteY2" fmla="*/ 458686 h 1145256"/>
                <a:gd name="connsiteX0" fmla="*/ 804988 w 1439157"/>
                <a:gd name="connsiteY0" fmla="*/ 1144301 h 1144301"/>
                <a:gd name="connsiteX1" fmla="*/ 10395 w 1439157"/>
                <a:gd name="connsiteY1" fmla="*/ 18498 h 1144301"/>
                <a:gd name="connsiteX2" fmla="*/ 1439157 w 1439157"/>
                <a:gd name="connsiteY2" fmla="*/ 458686 h 1144301"/>
                <a:gd name="connsiteX0" fmla="*/ 1031814 w 1432196"/>
                <a:gd name="connsiteY0" fmla="*/ 1741895 h 1741895"/>
                <a:gd name="connsiteX1" fmla="*/ 3434 w 1432196"/>
                <a:gd name="connsiteY1" fmla="*/ 47455 h 1741895"/>
                <a:gd name="connsiteX2" fmla="*/ 1432196 w 1432196"/>
                <a:gd name="connsiteY2" fmla="*/ 487643 h 1741895"/>
                <a:gd name="connsiteX0" fmla="*/ 1031814 w 1432196"/>
                <a:gd name="connsiteY0" fmla="*/ 1741895 h 1741895"/>
                <a:gd name="connsiteX1" fmla="*/ 3434 w 1432196"/>
                <a:gd name="connsiteY1" fmla="*/ 47455 h 1741895"/>
                <a:gd name="connsiteX2" fmla="*/ 1432196 w 1432196"/>
                <a:gd name="connsiteY2" fmla="*/ 487643 h 1741895"/>
                <a:gd name="connsiteX0" fmla="*/ 1028380 w 1428762"/>
                <a:gd name="connsiteY0" fmla="*/ 1741895 h 1741895"/>
                <a:gd name="connsiteX1" fmla="*/ 0 w 1428762"/>
                <a:gd name="connsiteY1" fmla="*/ 47455 h 1741895"/>
                <a:gd name="connsiteX2" fmla="*/ 1428762 w 1428762"/>
                <a:gd name="connsiteY2" fmla="*/ 487643 h 1741895"/>
                <a:gd name="connsiteX0" fmla="*/ 1028380 w 1428762"/>
                <a:gd name="connsiteY0" fmla="*/ 1694440 h 1694440"/>
                <a:gd name="connsiteX1" fmla="*/ 0 w 1428762"/>
                <a:gd name="connsiteY1" fmla="*/ 0 h 1694440"/>
                <a:gd name="connsiteX2" fmla="*/ 1428762 w 1428762"/>
                <a:gd name="connsiteY2" fmla="*/ 440188 h 1694440"/>
                <a:gd name="connsiteX0" fmla="*/ 1028380 w 1618319"/>
                <a:gd name="connsiteY0" fmla="*/ 1694440 h 1694440"/>
                <a:gd name="connsiteX1" fmla="*/ 0 w 1618319"/>
                <a:gd name="connsiteY1" fmla="*/ 0 h 1694440"/>
                <a:gd name="connsiteX2" fmla="*/ 1618319 w 1618319"/>
                <a:gd name="connsiteY2" fmla="*/ 604461 h 1694440"/>
                <a:gd name="connsiteX0" fmla="*/ 1028380 w 1510904"/>
                <a:gd name="connsiteY0" fmla="*/ 1694440 h 1694440"/>
                <a:gd name="connsiteX1" fmla="*/ 0 w 1510904"/>
                <a:gd name="connsiteY1" fmla="*/ 0 h 1694440"/>
                <a:gd name="connsiteX2" fmla="*/ 1510904 w 1510904"/>
                <a:gd name="connsiteY2" fmla="*/ 560234 h 1694440"/>
                <a:gd name="connsiteX0" fmla="*/ 1028380 w 1510904"/>
                <a:gd name="connsiteY0" fmla="*/ 1694440 h 1694440"/>
                <a:gd name="connsiteX1" fmla="*/ 0 w 1510904"/>
                <a:gd name="connsiteY1" fmla="*/ 0 h 1694440"/>
                <a:gd name="connsiteX2" fmla="*/ 1510904 w 1510904"/>
                <a:gd name="connsiteY2" fmla="*/ 560234 h 1694440"/>
                <a:gd name="connsiteX0" fmla="*/ 1028380 w 1510904"/>
                <a:gd name="connsiteY0" fmla="*/ 1694440 h 1694440"/>
                <a:gd name="connsiteX1" fmla="*/ 0 w 1510904"/>
                <a:gd name="connsiteY1" fmla="*/ 0 h 1694440"/>
                <a:gd name="connsiteX2" fmla="*/ 1510904 w 1510904"/>
                <a:gd name="connsiteY2" fmla="*/ 560234 h 1694440"/>
                <a:gd name="connsiteX0" fmla="*/ 933601 w 1416125"/>
                <a:gd name="connsiteY0" fmla="*/ 1650212 h 1650212"/>
                <a:gd name="connsiteX1" fmla="*/ 0 w 1416125"/>
                <a:gd name="connsiteY1" fmla="*/ 0 h 1650212"/>
                <a:gd name="connsiteX2" fmla="*/ 1416125 w 1416125"/>
                <a:gd name="connsiteY2" fmla="*/ 516006 h 1650212"/>
                <a:gd name="connsiteX0" fmla="*/ 933601 w 1466673"/>
                <a:gd name="connsiteY0" fmla="*/ 1650212 h 1650212"/>
                <a:gd name="connsiteX1" fmla="*/ 0 w 1466673"/>
                <a:gd name="connsiteY1" fmla="*/ 0 h 1650212"/>
                <a:gd name="connsiteX2" fmla="*/ 1466673 w 1466673"/>
                <a:gd name="connsiteY2" fmla="*/ 541278 h 1650212"/>
                <a:gd name="connsiteX0" fmla="*/ 0 w 533072"/>
                <a:gd name="connsiteY0" fmla="*/ 1108934 h 1108934"/>
                <a:gd name="connsiteX1" fmla="*/ 533072 w 533072"/>
                <a:gd name="connsiteY1" fmla="*/ 0 h 1108934"/>
                <a:gd name="connsiteX0" fmla="*/ 0 w 520435"/>
                <a:gd name="connsiteY0" fmla="*/ 1014161 h 1014161"/>
                <a:gd name="connsiteX1" fmla="*/ 520435 w 520435"/>
                <a:gd name="connsiteY1" fmla="*/ 0 h 1014161"/>
                <a:gd name="connsiteX0" fmla="*/ 0 w 886911"/>
                <a:gd name="connsiteY0" fmla="*/ 1336389 h 1336389"/>
                <a:gd name="connsiteX1" fmla="*/ 886911 w 886911"/>
                <a:gd name="connsiteY1" fmla="*/ 0 h 1336389"/>
                <a:gd name="connsiteX0" fmla="*/ 0 w 931141"/>
                <a:gd name="connsiteY0" fmla="*/ 1330071 h 1330071"/>
                <a:gd name="connsiteX1" fmla="*/ 931141 w 931141"/>
                <a:gd name="connsiteY1" fmla="*/ 0 h 1330071"/>
                <a:gd name="connsiteX0" fmla="*/ 0 w 733433"/>
                <a:gd name="connsiteY0" fmla="*/ 1379498 h 1379498"/>
                <a:gd name="connsiteX1" fmla="*/ 733433 w 733433"/>
                <a:gd name="connsiteY1" fmla="*/ 0 h 1379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33433" h="1379498">
                  <a:moveTo>
                    <a:pt x="0" y="1379498"/>
                  </a:moveTo>
                  <a:cubicBezTo>
                    <a:pt x="310380" y="936141"/>
                    <a:pt x="423053" y="443357"/>
                    <a:pt x="733433" y="0"/>
                  </a:cubicBezTo>
                </a:path>
              </a:pathLst>
            </a:custGeom>
            <a:ln w="25400">
              <a:solidFill>
                <a:srgbClr val="C00000">
                  <a:alpha val="68000"/>
                </a:srgbClr>
              </a:solidFill>
              <a:headEnd type="triangl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104B8BBA-F5B2-DA4A-8028-9E922E0EEDAA}"/>
                </a:ext>
              </a:extLst>
            </p:cNvPr>
            <p:cNvGrpSpPr/>
            <p:nvPr/>
          </p:nvGrpSpPr>
          <p:grpSpPr>
            <a:xfrm>
              <a:off x="5840610" y="3409989"/>
              <a:ext cx="464084" cy="369332"/>
              <a:chOff x="4620433" y="4568517"/>
              <a:chExt cx="464084" cy="369332"/>
            </a:xfrm>
          </p:grpSpPr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5A0061C8-4418-9A4E-ACB6-879E10712810}"/>
                  </a:ext>
                </a:extLst>
              </p:cNvPr>
              <p:cNvSpPr/>
              <p:nvPr/>
            </p:nvSpPr>
            <p:spPr>
              <a:xfrm>
                <a:off x="4654797" y="4601908"/>
                <a:ext cx="318711" cy="318711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rgbClr val="C00000">
                    <a:alpha val="66000"/>
                  </a:srgb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972D838E-55A2-194E-A51D-E329C55C51E8}"/>
                  </a:ext>
                </a:extLst>
              </p:cNvPr>
              <p:cNvSpPr txBox="1"/>
              <p:nvPr/>
            </p:nvSpPr>
            <p:spPr>
              <a:xfrm>
                <a:off x="4620433" y="4568517"/>
                <a:ext cx="4640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4a</a:t>
                </a:r>
              </a:p>
            </p:txBody>
          </p:sp>
        </p:grp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BEF2FF40-530D-A040-991B-F5101F3D7955}"/>
                </a:ext>
              </a:extLst>
            </p:cNvPr>
            <p:cNvGrpSpPr/>
            <p:nvPr/>
          </p:nvGrpSpPr>
          <p:grpSpPr>
            <a:xfrm>
              <a:off x="6032356" y="4558079"/>
              <a:ext cx="464084" cy="369332"/>
              <a:chOff x="4604558" y="4574867"/>
              <a:chExt cx="464084" cy="369332"/>
            </a:xfrm>
          </p:grpSpPr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35E0ED51-7040-F84F-BCB0-57949432F4CB}"/>
                  </a:ext>
                </a:extLst>
              </p:cNvPr>
              <p:cNvSpPr/>
              <p:nvPr/>
            </p:nvSpPr>
            <p:spPr>
              <a:xfrm>
                <a:off x="4654797" y="4601908"/>
                <a:ext cx="318711" cy="318711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rgbClr val="C00000">
                    <a:alpha val="66000"/>
                  </a:srgb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7A60306B-6194-444D-B073-1650D30F3D45}"/>
                  </a:ext>
                </a:extLst>
              </p:cNvPr>
              <p:cNvSpPr txBox="1"/>
              <p:nvPr/>
            </p:nvSpPr>
            <p:spPr>
              <a:xfrm>
                <a:off x="4604558" y="4574867"/>
                <a:ext cx="4640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4b</a:t>
                </a:r>
              </a:p>
            </p:txBody>
          </p:sp>
        </p:grp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F68DFBE-B94F-704C-B900-18F3AA2CDC03}"/>
              </a:ext>
            </a:extLst>
          </p:cNvPr>
          <p:cNvGrpSpPr/>
          <p:nvPr/>
        </p:nvGrpSpPr>
        <p:grpSpPr>
          <a:xfrm>
            <a:off x="7834184" y="2693773"/>
            <a:ext cx="4188941" cy="1231837"/>
            <a:chOff x="7834184" y="2693773"/>
            <a:chExt cx="4188941" cy="1231837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54D1966-EEFB-A446-81A7-764F9DFE84E0}"/>
                </a:ext>
              </a:extLst>
            </p:cNvPr>
            <p:cNvSpPr txBox="1"/>
            <p:nvPr/>
          </p:nvSpPr>
          <p:spPr>
            <a:xfrm>
              <a:off x="9030943" y="2891481"/>
              <a:ext cx="2992182" cy="10341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2400" dirty="0"/>
                <a:t>visited gateway router forwards to mobile</a:t>
              </a:r>
            </a:p>
            <a:p>
              <a:endParaRPr lang="en-US" dirty="0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DE429D3-F105-0546-8130-BF938851DD45}"/>
                </a:ext>
              </a:extLst>
            </p:cNvPr>
            <p:cNvCxnSpPr/>
            <p:nvPr/>
          </p:nvCxnSpPr>
          <p:spPr>
            <a:xfrm>
              <a:off x="7834184" y="2693773"/>
              <a:ext cx="1285102" cy="383059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AF7E5C9E-5D05-D741-8FBC-C346AA9FBCE0}"/>
              </a:ext>
            </a:extLst>
          </p:cNvPr>
          <p:cNvGrpSpPr/>
          <p:nvPr/>
        </p:nvGrpSpPr>
        <p:grpSpPr>
          <a:xfrm>
            <a:off x="6760175" y="4032422"/>
            <a:ext cx="5301049" cy="1761944"/>
            <a:chOff x="6598508" y="1989438"/>
            <a:chExt cx="5301049" cy="1761944"/>
          </a:xfrm>
        </p:grpSpPr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CA7F1DE8-477D-B945-B7F0-3DD2EB634E9F}"/>
                </a:ext>
              </a:extLst>
            </p:cNvPr>
            <p:cNvSpPr txBox="1"/>
            <p:nvPr/>
          </p:nvSpPr>
          <p:spPr>
            <a:xfrm>
              <a:off x="7615881" y="2384854"/>
              <a:ext cx="4283676" cy="13665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2400" dirty="0"/>
                <a:t>visited gateway router forwards reply to correspondent via home network (4a) or directly (4b)</a:t>
              </a:r>
            </a:p>
            <a:p>
              <a:endParaRPr lang="en-US" dirty="0"/>
            </a:p>
          </p:txBody>
        </p: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AAF43734-07B0-4E47-B538-7C3FD63BEB3E}"/>
                </a:ext>
              </a:extLst>
            </p:cNvPr>
            <p:cNvCxnSpPr>
              <a:cxnSpLocks/>
            </p:cNvCxnSpPr>
            <p:nvPr/>
          </p:nvCxnSpPr>
          <p:spPr>
            <a:xfrm>
              <a:off x="6598508" y="1989438"/>
              <a:ext cx="1054444" cy="601362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6" name="Group 201">
            <a:extLst>
              <a:ext uri="{FF2B5EF4-FFF2-40B4-BE49-F238E27FC236}">
                <a16:creationId xmlns:a16="http://schemas.microsoft.com/office/drawing/2014/main" id="{C3E7B863-7224-DC44-A05F-1CE7E305D3E3}"/>
              </a:ext>
            </a:extLst>
          </p:cNvPr>
          <p:cNvGrpSpPr>
            <a:grpSpLocks/>
          </p:cNvGrpSpPr>
          <p:nvPr/>
        </p:nvGrpSpPr>
        <p:grpSpPr bwMode="auto">
          <a:xfrm>
            <a:off x="5251621" y="4691746"/>
            <a:ext cx="358347" cy="362168"/>
            <a:chOff x="375561" y="297711"/>
            <a:chExt cx="1252683" cy="2138362"/>
          </a:xfrm>
        </p:grpSpPr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B1C86697-925D-0D40-AC34-1105DDBDBC48}"/>
                </a:ext>
              </a:extLst>
            </p:cNvPr>
            <p:cNvSpPr/>
            <p:nvPr/>
          </p:nvSpPr>
          <p:spPr>
            <a:xfrm>
              <a:off x="375561" y="297711"/>
              <a:ext cx="971072" cy="2138362"/>
            </a:xfrm>
            <a:custGeom>
              <a:avLst/>
              <a:gdLst>
                <a:gd name="connsiteX0" fmla="*/ 0 w 966787"/>
                <a:gd name="connsiteY0" fmla="*/ 0 h 2138362"/>
                <a:gd name="connsiteX1" fmla="*/ 0 w 966787"/>
                <a:gd name="connsiteY1" fmla="*/ 1190625 h 2138362"/>
                <a:gd name="connsiteX2" fmla="*/ 966787 w 966787"/>
                <a:gd name="connsiteY2" fmla="*/ 2138362 h 2138362"/>
                <a:gd name="connsiteX3" fmla="*/ 962025 w 966787"/>
                <a:gd name="connsiteY3" fmla="*/ 742950 h 2138362"/>
                <a:gd name="connsiteX4" fmla="*/ 0 w 966787"/>
                <a:gd name="connsiteY4" fmla="*/ 0 h 213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6787" h="2138362">
                  <a:moveTo>
                    <a:pt x="0" y="0"/>
                  </a:moveTo>
                  <a:lnTo>
                    <a:pt x="0" y="1190625"/>
                  </a:lnTo>
                  <a:lnTo>
                    <a:pt x="966787" y="2138362"/>
                  </a:lnTo>
                  <a:cubicBezTo>
                    <a:pt x="965200" y="1673225"/>
                    <a:pt x="963612" y="1208087"/>
                    <a:pt x="962025" y="74295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0DE2FA55-678C-4043-B50E-8079535A18B5}"/>
                </a:ext>
              </a:extLst>
            </p:cNvPr>
            <p:cNvSpPr/>
            <p:nvPr/>
          </p:nvSpPr>
          <p:spPr>
            <a:xfrm>
              <a:off x="375561" y="309724"/>
              <a:ext cx="1247826" cy="768849"/>
            </a:xfrm>
            <a:custGeom>
              <a:avLst/>
              <a:gdLst>
                <a:gd name="connsiteX0" fmla="*/ 0 w 966787"/>
                <a:gd name="connsiteY0" fmla="*/ 0 h 2138362"/>
                <a:gd name="connsiteX1" fmla="*/ 0 w 966787"/>
                <a:gd name="connsiteY1" fmla="*/ 1190625 h 2138362"/>
                <a:gd name="connsiteX2" fmla="*/ 966787 w 966787"/>
                <a:gd name="connsiteY2" fmla="*/ 2138362 h 2138362"/>
                <a:gd name="connsiteX3" fmla="*/ 962025 w 966787"/>
                <a:gd name="connsiteY3" fmla="*/ 742950 h 2138362"/>
                <a:gd name="connsiteX4" fmla="*/ 0 w 966787"/>
                <a:gd name="connsiteY4" fmla="*/ 0 h 2138362"/>
                <a:gd name="connsiteX0" fmla="*/ 928688 w 1895475"/>
                <a:gd name="connsiteY0" fmla="*/ 0 h 2138362"/>
                <a:gd name="connsiteX1" fmla="*/ 0 w 1895475"/>
                <a:gd name="connsiteY1" fmla="*/ 461963 h 2138362"/>
                <a:gd name="connsiteX2" fmla="*/ 1895475 w 1895475"/>
                <a:gd name="connsiteY2" fmla="*/ 2138362 h 2138362"/>
                <a:gd name="connsiteX3" fmla="*/ 1890713 w 1895475"/>
                <a:gd name="connsiteY3" fmla="*/ 742950 h 2138362"/>
                <a:gd name="connsiteX4" fmla="*/ 928688 w 1895475"/>
                <a:gd name="connsiteY4" fmla="*/ 0 h 213836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890713 w 1895475"/>
                <a:gd name="connsiteY3" fmla="*/ 342900 h 1738312"/>
                <a:gd name="connsiteX4" fmla="*/ 247650 w 1895475"/>
                <a:gd name="connsiteY4" fmla="*/ 0 h 173831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143000 w 1895475"/>
                <a:gd name="connsiteY3" fmla="*/ 776288 h 1738312"/>
                <a:gd name="connsiteX4" fmla="*/ 247650 w 1895475"/>
                <a:gd name="connsiteY4" fmla="*/ 0 h 173831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143000 w 1895475"/>
                <a:gd name="connsiteY3" fmla="*/ 776288 h 1738312"/>
                <a:gd name="connsiteX4" fmla="*/ 247650 w 1895475"/>
                <a:gd name="connsiteY4" fmla="*/ 0 h 173831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238250 w 1895475"/>
                <a:gd name="connsiteY3" fmla="*/ 814388 h 1738312"/>
                <a:gd name="connsiteX4" fmla="*/ 247650 w 1895475"/>
                <a:gd name="connsiteY4" fmla="*/ 0 h 173831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238250 w 1895475"/>
                <a:gd name="connsiteY3" fmla="*/ 814388 h 1738312"/>
                <a:gd name="connsiteX4" fmla="*/ 247650 w 1895475"/>
                <a:gd name="connsiteY4" fmla="*/ 0 h 1738312"/>
                <a:gd name="connsiteX0" fmla="*/ 247650 w 1238250"/>
                <a:gd name="connsiteY0" fmla="*/ 0 h 862012"/>
                <a:gd name="connsiteX1" fmla="*/ 0 w 1238250"/>
                <a:gd name="connsiteY1" fmla="*/ 61913 h 862012"/>
                <a:gd name="connsiteX2" fmla="*/ 947738 w 1238250"/>
                <a:gd name="connsiteY2" fmla="*/ 862012 h 862012"/>
                <a:gd name="connsiteX3" fmla="*/ 1238250 w 1238250"/>
                <a:gd name="connsiteY3" fmla="*/ 814388 h 862012"/>
                <a:gd name="connsiteX4" fmla="*/ 247650 w 1238250"/>
                <a:gd name="connsiteY4" fmla="*/ 0 h 862012"/>
                <a:gd name="connsiteX0" fmla="*/ 247650 w 1238250"/>
                <a:gd name="connsiteY0" fmla="*/ 0 h 823912"/>
                <a:gd name="connsiteX1" fmla="*/ 0 w 1238250"/>
                <a:gd name="connsiteY1" fmla="*/ 61913 h 823912"/>
                <a:gd name="connsiteX2" fmla="*/ 952500 w 1238250"/>
                <a:gd name="connsiteY2" fmla="*/ 823912 h 823912"/>
                <a:gd name="connsiteX3" fmla="*/ 1238250 w 1238250"/>
                <a:gd name="connsiteY3" fmla="*/ 814388 h 823912"/>
                <a:gd name="connsiteX4" fmla="*/ 247650 w 1238250"/>
                <a:gd name="connsiteY4" fmla="*/ 0 h 823912"/>
                <a:gd name="connsiteX0" fmla="*/ 247650 w 1238250"/>
                <a:gd name="connsiteY0" fmla="*/ 0 h 823912"/>
                <a:gd name="connsiteX1" fmla="*/ 0 w 1238250"/>
                <a:gd name="connsiteY1" fmla="*/ 61913 h 823912"/>
                <a:gd name="connsiteX2" fmla="*/ 952500 w 1238250"/>
                <a:gd name="connsiteY2" fmla="*/ 823912 h 823912"/>
                <a:gd name="connsiteX3" fmla="*/ 1238250 w 1238250"/>
                <a:gd name="connsiteY3" fmla="*/ 814388 h 823912"/>
                <a:gd name="connsiteX4" fmla="*/ 247650 w 1238250"/>
                <a:gd name="connsiteY4" fmla="*/ 0 h 823912"/>
                <a:gd name="connsiteX0" fmla="*/ 233363 w 1238250"/>
                <a:gd name="connsiteY0" fmla="*/ 0 h 766762"/>
                <a:gd name="connsiteX1" fmla="*/ 0 w 1238250"/>
                <a:gd name="connsiteY1" fmla="*/ 4763 h 766762"/>
                <a:gd name="connsiteX2" fmla="*/ 952500 w 1238250"/>
                <a:gd name="connsiteY2" fmla="*/ 766762 h 766762"/>
                <a:gd name="connsiteX3" fmla="*/ 1238250 w 1238250"/>
                <a:gd name="connsiteY3" fmla="*/ 757238 h 766762"/>
                <a:gd name="connsiteX4" fmla="*/ 233363 w 1238250"/>
                <a:gd name="connsiteY4" fmla="*/ 0 h 766762"/>
                <a:gd name="connsiteX0" fmla="*/ 233363 w 1238250"/>
                <a:gd name="connsiteY0" fmla="*/ 0 h 773376"/>
                <a:gd name="connsiteX1" fmla="*/ 0 w 1238250"/>
                <a:gd name="connsiteY1" fmla="*/ 4763 h 773376"/>
                <a:gd name="connsiteX2" fmla="*/ 952500 w 1238250"/>
                <a:gd name="connsiteY2" fmla="*/ 766762 h 773376"/>
                <a:gd name="connsiteX3" fmla="*/ 1238250 w 1238250"/>
                <a:gd name="connsiteY3" fmla="*/ 771525 h 773376"/>
                <a:gd name="connsiteX4" fmla="*/ 233363 w 1238250"/>
                <a:gd name="connsiteY4" fmla="*/ 0 h 773376"/>
                <a:gd name="connsiteX0" fmla="*/ 233363 w 1238250"/>
                <a:gd name="connsiteY0" fmla="*/ 0 h 766762"/>
                <a:gd name="connsiteX1" fmla="*/ 0 w 1238250"/>
                <a:gd name="connsiteY1" fmla="*/ 4763 h 766762"/>
                <a:gd name="connsiteX2" fmla="*/ 952500 w 1238250"/>
                <a:gd name="connsiteY2" fmla="*/ 766762 h 766762"/>
                <a:gd name="connsiteX3" fmla="*/ 1238250 w 1238250"/>
                <a:gd name="connsiteY3" fmla="*/ 757236 h 766762"/>
                <a:gd name="connsiteX4" fmla="*/ 233363 w 1238250"/>
                <a:gd name="connsiteY4" fmla="*/ 0 h 766762"/>
                <a:gd name="connsiteX0" fmla="*/ 233363 w 1238250"/>
                <a:gd name="connsiteY0" fmla="*/ 0 h 773375"/>
                <a:gd name="connsiteX1" fmla="*/ 0 w 1238250"/>
                <a:gd name="connsiteY1" fmla="*/ 4763 h 773375"/>
                <a:gd name="connsiteX2" fmla="*/ 952500 w 1238250"/>
                <a:gd name="connsiteY2" fmla="*/ 766762 h 773375"/>
                <a:gd name="connsiteX3" fmla="*/ 1238250 w 1238250"/>
                <a:gd name="connsiteY3" fmla="*/ 771523 h 773375"/>
                <a:gd name="connsiteX4" fmla="*/ 233363 w 1238250"/>
                <a:gd name="connsiteY4" fmla="*/ 0 h 773375"/>
                <a:gd name="connsiteX0" fmla="*/ 233363 w 1238250"/>
                <a:gd name="connsiteY0" fmla="*/ 0 h 771523"/>
                <a:gd name="connsiteX1" fmla="*/ 0 w 1238250"/>
                <a:gd name="connsiteY1" fmla="*/ 4763 h 771523"/>
                <a:gd name="connsiteX2" fmla="*/ 952500 w 1238250"/>
                <a:gd name="connsiteY2" fmla="*/ 766762 h 771523"/>
                <a:gd name="connsiteX3" fmla="*/ 1238250 w 1238250"/>
                <a:gd name="connsiteY3" fmla="*/ 771523 h 771523"/>
                <a:gd name="connsiteX4" fmla="*/ 233363 w 1238250"/>
                <a:gd name="connsiteY4" fmla="*/ 0 h 771523"/>
                <a:gd name="connsiteX0" fmla="*/ 233363 w 1238250"/>
                <a:gd name="connsiteY0" fmla="*/ 0 h 771523"/>
                <a:gd name="connsiteX1" fmla="*/ 0 w 1238250"/>
                <a:gd name="connsiteY1" fmla="*/ 23466 h 771523"/>
                <a:gd name="connsiteX2" fmla="*/ 952500 w 1238250"/>
                <a:gd name="connsiteY2" fmla="*/ 766762 h 771523"/>
                <a:gd name="connsiteX3" fmla="*/ 1238250 w 1238250"/>
                <a:gd name="connsiteY3" fmla="*/ 771523 h 771523"/>
                <a:gd name="connsiteX4" fmla="*/ 233363 w 1238250"/>
                <a:gd name="connsiteY4" fmla="*/ 0 h 771523"/>
                <a:gd name="connsiteX0" fmla="*/ 233363 w 1238250"/>
                <a:gd name="connsiteY0" fmla="*/ 0 h 757496"/>
                <a:gd name="connsiteX1" fmla="*/ 0 w 1238250"/>
                <a:gd name="connsiteY1" fmla="*/ 9439 h 757496"/>
                <a:gd name="connsiteX2" fmla="*/ 952500 w 1238250"/>
                <a:gd name="connsiteY2" fmla="*/ 752735 h 757496"/>
                <a:gd name="connsiteX3" fmla="*/ 1238250 w 1238250"/>
                <a:gd name="connsiteY3" fmla="*/ 757496 h 757496"/>
                <a:gd name="connsiteX4" fmla="*/ 233363 w 1238250"/>
                <a:gd name="connsiteY4" fmla="*/ 0 h 757496"/>
                <a:gd name="connsiteX0" fmla="*/ 233363 w 1238250"/>
                <a:gd name="connsiteY0" fmla="*/ 0 h 757496"/>
                <a:gd name="connsiteX1" fmla="*/ 0 w 1238250"/>
                <a:gd name="connsiteY1" fmla="*/ 9439 h 757496"/>
                <a:gd name="connsiteX2" fmla="*/ 952500 w 1238250"/>
                <a:gd name="connsiteY2" fmla="*/ 752735 h 757496"/>
                <a:gd name="connsiteX3" fmla="*/ 1238250 w 1238250"/>
                <a:gd name="connsiteY3" fmla="*/ 757496 h 757496"/>
                <a:gd name="connsiteX4" fmla="*/ 233363 w 1238250"/>
                <a:gd name="connsiteY4" fmla="*/ 0 h 757496"/>
                <a:gd name="connsiteX0" fmla="*/ 243561 w 1248448"/>
                <a:gd name="connsiteY0" fmla="*/ 573 h 758069"/>
                <a:gd name="connsiteX1" fmla="*/ 0 w 1248448"/>
                <a:gd name="connsiteY1" fmla="*/ 0 h 758069"/>
                <a:gd name="connsiteX2" fmla="*/ 962698 w 1248448"/>
                <a:gd name="connsiteY2" fmla="*/ 753308 h 758069"/>
                <a:gd name="connsiteX3" fmla="*/ 1248448 w 1248448"/>
                <a:gd name="connsiteY3" fmla="*/ 758069 h 758069"/>
                <a:gd name="connsiteX4" fmla="*/ 243561 w 1248448"/>
                <a:gd name="connsiteY4" fmla="*/ 573 h 758069"/>
                <a:gd name="connsiteX0" fmla="*/ 243561 w 1248448"/>
                <a:gd name="connsiteY0" fmla="*/ 573 h 758069"/>
                <a:gd name="connsiteX1" fmla="*/ 0 w 1248448"/>
                <a:gd name="connsiteY1" fmla="*/ 0 h 758069"/>
                <a:gd name="connsiteX2" fmla="*/ 962698 w 1248448"/>
                <a:gd name="connsiteY2" fmla="*/ 753308 h 758069"/>
                <a:gd name="connsiteX3" fmla="*/ 1248448 w 1248448"/>
                <a:gd name="connsiteY3" fmla="*/ 758069 h 758069"/>
                <a:gd name="connsiteX4" fmla="*/ 243561 w 1248448"/>
                <a:gd name="connsiteY4" fmla="*/ 573 h 758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8448" h="758069">
                  <a:moveTo>
                    <a:pt x="243561" y="573"/>
                  </a:moveTo>
                  <a:cubicBezTo>
                    <a:pt x="162374" y="382"/>
                    <a:pt x="235530" y="6639"/>
                    <a:pt x="0" y="0"/>
                  </a:cubicBezTo>
                  <a:lnTo>
                    <a:pt x="962698" y="753308"/>
                  </a:lnTo>
                  <a:cubicBezTo>
                    <a:pt x="1114838" y="758721"/>
                    <a:pt x="1045247" y="751718"/>
                    <a:pt x="1248448" y="758069"/>
                  </a:cubicBezTo>
                  <a:lnTo>
                    <a:pt x="243561" y="573"/>
                  </a:lnTo>
                  <a:close/>
                </a:path>
              </a:pathLst>
            </a:custGeom>
            <a:solidFill>
              <a:srgbClr val="0099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B12C63D1-0F79-6D44-8BF0-9A35F665B243}"/>
                </a:ext>
              </a:extLst>
            </p:cNvPr>
            <p:cNvSpPr/>
            <p:nvPr/>
          </p:nvSpPr>
          <p:spPr>
            <a:xfrm>
              <a:off x="1332065" y="1066560"/>
              <a:ext cx="296179" cy="136350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solidFill>
                  <a:srgbClr val="FFFFFF"/>
                </a:solidFill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140" name="Group 201">
            <a:extLst>
              <a:ext uri="{FF2B5EF4-FFF2-40B4-BE49-F238E27FC236}">
                <a16:creationId xmlns:a16="http://schemas.microsoft.com/office/drawing/2014/main" id="{A82965DD-13BE-154C-A612-FDB3340B17CB}"/>
              </a:ext>
            </a:extLst>
          </p:cNvPr>
          <p:cNvGrpSpPr>
            <a:grpSpLocks/>
          </p:cNvGrpSpPr>
          <p:nvPr/>
        </p:nvGrpSpPr>
        <p:grpSpPr bwMode="auto">
          <a:xfrm>
            <a:off x="6602626" y="3497259"/>
            <a:ext cx="358347" cy="362168"/>
            <a:chOff x="375561" y="297711"/>
            <a:chExt cx="1252683" cy="2138362"/>
          </a:xfrm>
        </p:grpSpPr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41069D72-0BEF-CD49-80E1-B0B7FA3042F7}"/>
                </a:ext>
              </a:extLst>
            </p:cNvPr>
            <p:cNvSpPr/>
            <p:nvPr/>
          </p:nvSpPr>
          <p:spPr>
            <a:xfrm>
              <a:off x="375561" y="297711"/>
              <a:ext cx="971072" cy="2138362"/>
            </a:xfrm>
            <a:custGeom>
              <a:avLst/>
              <a:gdLst>
                <a:gd name="connsiteX0" fmla="*/ 0 w 966787"/>
                <a:gd name="connsiteY0" fmla="*/ 0 h 2138362"/>
                <a:gd name="connsiteX1" fmla="*/ 0 w 966787"/>
                <a:gd name="connsiteY1" fmla="*/ 1190625 h 2138362"/>
                <a:gd name="connsiteX2" fmla="*/ 966787 w 966787"/>
                <a:gd name="connsiteY2" fmla="*/ 2138362 h 2138362"/>
                <a:gd name="connsiteX3" fmla="*/ 962025 w 966787"/>
                <a:gd name="connsiteY3" fmla="*/ 742950 h 2138362"/>
                <a:gd name="connsiteX4" fmla="*/ 0 w 966787"/>
                <a:gd name="connsiteY4" fmla="*/ 0 h 213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6787" h="2138362">
                  <a:moveTo>
                    <a:pt x="0" y="0"/>
                  </a:moveTo>
                  <a:lnTo>
                    <a:pt x="0" y="1190625"/>
                  </a:lnTo>
                  <a:lnTo>
                    <a:pt x="966787" y="2138362"/>
                  </a:lnTo>
                  <a:cubicBezTo>
                    <a:pt x="965200" y="1673225"/>
                    <a:pt x="963612" y="1208087"/>
                    <a:pt x="962025" y="74295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CD7C30C9-5CD1-F442-906F-7107A9043963}"/>
                </a:ext>
              </a:extLst>
            </p:cNvPr>
            <p:cNvSpPr/>
            <p:nvPr/>
          </p:nvSpPr>
          <p:spPr>
            <a:xfrm>
              <a:off x="375561" y="309724"/>
              <a:ext cx="1247826" cy="768849"/>
            </a:xfrm>
            <a:custGeom>
              <a:avLst/>
              <a:gdLst>
                <a:gd name="connsiteX0" fmla="*/ 0 w 966787"/>
                <a:gd name="connsiteY0" fmla="*/ 0 h 2138362"/>
                <a:gd name="connsiteX1" fmla="*/ 0 w 966787"/>
                <a:gd name="connsiteY1" fmla="*/ 1190625 h 2138362"/>
                <a:gd name="connsiteX2" fmla="*/ 966787 w 966787"/>
                <a:gd name="connsiteY2" fmla="*/ 2138362 h 2138362"/>
                <a:gd name="connsiteX3" fmla="*/ 962025 w 966787"/>
                <a:gd name="connsiteY3" fmla="*/ 742950 h 2138362"/>
                <a:gd name="connsiteX4" fmla="*/ 0 w 966787"/>
                <a:gd name="connsiteY4" fmla="*/ 0 h 2138362"/>
                <a:gd name="connsiteX0" fmla="*/ 928688 w 1895475"/>
                <a:gd name="connsiteY0" fmla="*/ 0 h 2138362"/>
                <a:gd name="connsiteX1" fmla="*/ 0 w 1895475"/>
                <a:gd name="connsiteY1" fmla="*/ 461963 h 2138362"/>
                <a:gd name="connsiteX2" fmla="*/ 1895475 w 1895475"/>
                <a:gd name="connsiteY2" fmla="*/ 2138362 h 2138362"/>
                <a:gd name="connsiteX3" fmla="*/ 1890713 w 1895475"/>
                <a:gd name="connsiteY3" fmla="*/ 742950 h 2138362"/>
                <a:gd name="connsiteX4" fmla="*/ 928688 w 1895475"/>
                <a:gd name="connsiteY4" fmla="*/ 0 h 213836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890713 w 1895475"/>
                <a:gd name="connsiteY3" fmla="*/ 342900 h 1738312"/>
                <a:gd name="connsiteX4" fmla="*/ 247650 w 1895475"/>
                <a:gd name="connsiteY4" fmla="*/ 0 h 173831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143000 w 1895475"/>
                <a:gd name="connsiteY3" fmla="*/ 776288 h 1738312"/>
                <a:gd name="connsiteX4" fmla="*/ 247650 w 1895475"/>
                <a:gd name="connsiteY4" fmla="*/ 0 h 173831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143000 w 1895475"/>
                <a:gd name="connsiteY3" fmla="*/ 776288 h 1738312"/>
                <a:gd name="connsiteX4" fmla="*/ 247650 w 1895475"/>
                <a:gd name="connsiteY4" fmla="*/ 0 h 173831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238250 w 1895475"/>
                <a:gd name="connsiteY3" fmla="*/ 814388 h 1738312"/>
                <a:gd name="connsiteX4" fmla="*/ 247650 w 1895475"/>
                <a:gd name="connsiteY4" fmla="*/ 0 h 173831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238250 w 1895475"/>
                <a:gd name="connsiteY3" fmla="*/ 814388 h 1738312"/>
                <a:gd name="connsiteX4" fmla="*/ 247650 w 1895475"/>
                <a:gd name="connsiteY4" fmla="*/ 0 h 1738312"/>
                <a:gd name="connsiteX0" fmla="*/ 247650 w 1238250"/>
                <a:gd name="connsiteY0" fmla="*/ 0 h 862012"/>
                <a:gd name="connsiteX1" fmla="*/ 0 w 1238250"/>
                <a:gd name="connsiteY1" fmla="*/ 61913 h 862012"/>
                <a:gd name="connsiteX2" fmla="*/ 947738 w 1238250"/>
                <a:gd name="connsiteY2" fmla="*/ 862012 h 862012"/>
                <a:gd name="connsiteX3" fmla="*/ 1238250 w 1238250"/>
                <a:gd name="connsiteY3" fmla="*/ 814388 h 862012"/>
                <a:gd name="connsiteX4" fmla="*/ 247650 w 1238250"/>
                <a:gd name="connsiteY4" fmla="*/ 0 h 862012"/>
                <a:gd name="connsiteX0" fmla="*/ 247650 w 1238250"/>
                <a:gd name="connsiteY0" fmla="*/ 0 h 823912"/>
                <a:gd name="connsiteX1" fmla="*/ 0 w 1238250"/>
                <a:gd name="connsiteY1" fmla="*/ 61913 h 823912"/>
                <a:gd name="connsiteX2" fmla="*/ 952500 w 1238250"/>
                <a:gd name="connsiteY2" fmla="*/ 823912 h 823912"/>
                <a:gd name="connsiteX3" fmla="*/ 1238250 w 1238250"/>
                <a:gd name="connsiteY3" fmla="*/ 814388 h 823912"/>
                <a:gd name="connsiteX4" fmla="*/ 247650 w 1238250"/>
                <a:gd name="connsiteY4" fmla="*/ 0 h 823912"/>
                <a:gd name="connsiteX0" fmla="*/ 247650 w 1238250"/>
                <a:gd name="connsiteY0" fmla="*/ 0 h 823912"/>
                <a:gd name="connsiteX1" fmla="*/ 0 w 1238250"/>
                <a:gd name="connsiteY1" fmla="*/ 61913 h 823912"/>
                <a:gd name="connsiteX2" fmla="*/ 952500 w 1238250"/>
                <a:gd name="connsiteY2" fmla="*/ 823912 h 823912"/>
                <a:gd name="connsiteX3" fmla="*/ 1238250 w 1238250"/>
                <a:gd name="connsiteY3" fmla="*/ 814388 h 823912"/>
                <a:gd name="connsiteX4" fmla="*/ 247650 w 1238250"/>
                <a:gd name="connsiteY4" fmla="*/ 0 h 823912"/>
                <a:gd name="connsiteX0" fmla="*/ 233363 w 1238250"/>
                <a:gd name="connsiteY0" fmla="*/ 0 h 766762"/>
                <a:gd name="connsiteX1" fmla="*/ 0 w 1238250"/>
                <a:gd name="connsiteY1" fmla="*/ 4763 h 766762"/>
                <a:gd name="connsiteX2" fmla="*/ 952500 w 1238250"/>
                <a:gd name="connsiteY2" fmla="*/ 766762 h 766762"/>
                <a:gd name="connsiteX3" fmla="*/ 1238250 w 1238250"/>
                <a:gd name="connsiteY3" fmla="*/ 757238 h 766762"/>
                <a:gd name="connsiteX4" fmla="*/ 233363 w 1238250"/>
                <a:gd name="connsiteY4" fmla="*/ 0 h 766762"/>
                <a:gd name="connsiteX0" fmla="*/ 233363 w 1238250"/>
                <a:gd name="connsiteY0" fmla="*/ 0 h 773376"/>
                <a:gd name="connsiteX1" fmla="*/ 0 w 1238250"/>
                <a:gd name="connsiteY1" fmla="*/ 4763 h 773376"/>
                <a:gd name="connsiteX2" fmla="*/ 952500 w 1238250"/>
                <a:gd name="connsiteY2" fmla="*/ 766762 h 773376"/>
                <a:gd name="connsiteX3" fmla="*/ 1238250 w 1238250"/>
                <a:gd name="connsiteY3" fmla="*/ 771525 h 773376"/>
                <a:gd name="connsiteX4" fmla="*/ 233363 w 1238250"/>
                <a:gd name="connsiteY4" fmla="*/ 0 h 773376"/>
                <a:gd name="connsiteX0" fmla="*/ 233363 w 1238250"/>
                <a:gd name="connsiteY0" fmla="*/ 0 h 766762"/>
                <a:gd name="connsiteX1" fmla="*/ 0 w 1238250"/>
                <a:gd name="connsiteY1" fmla="*/ 4763 h 766762"/>
                <a:gd name="connsiteX2" fmla="*/ 952500 w 1238250"/>
                <a:gd name="connsiteY2" fmla="*/ 766762 h 766762"/>
                <a:gd name="connsiteX3" fmla="*/ 1238250 w 1238250"/>
                <a:gd name="connsiteY3" fmla="*/ 757236 h 766762"/>
                <a:gd name="connsiteX4" fmla="*/ 233363 w 1238250"/>
                <a:gd name="connsiteY4" fmla="*/ 0 h 766762"/>
                <a:gd name="connsiteX0" fmla="*/ 233363 w 1238250"/>
                <a:gd name="connsiteY0" fmla="*/ 0 h 773375"/>
                <a:gd name="connsiteX1" fmla="*/ 0 w 1238250"/>
                <a:gd name="connsiteY1" fmla="*/ 4763 h 773375"/>
                <a:gd name="connsiteX2" fmla="*/ 952500 w 1238250"/>
                <a:gd name="connsiteY2" fmla="*/ 766762 h 773375"/>
                <a:gd name="connsiteX3" fmla="*/ 1238250 w 1238250"/>
                <a:gd name="connsiteY3" fmla="*/ 771523 h 773375"/>
                <a:gd name="connsiteX4" fmla="*/ 233363 w 1238250"/>
                <a:gd name="connsiteY4" fmla="*/ 0 h 773375"/>
                <a:gd name="connsiteX0" fmla="*/ 233363 w 1238250"/>
                <a:gd name="connsiteY0" fmla="*/ 0 h 771523"/>
                <a:gd name="connsiteX1" fmla="*/ 0 w 1238250"/>
                <a:gd name="connsiteY1" fmla="*/ 4763 h 771523"/>
                <a:gd name="connsiteX2" fmla="*/ 952500 w 1238250"/>
                <a:gd name="connsiteY2" fmla="*/ 766762 h 771523"/>
                <a:gd name="connsiteX3" fmla="*/ 1238250 w 1238250"/>
                <a:gd name="connsiteY3" fmla="*/ 771523 h 771523"/>
                <a:gd name="connsiteX4" fmla="*/ 233363 w 1238250"/>
                <a:gd name="connsiteY4" fmla="*/ 0 h 771523"/>
                <a:gd name="connsiteX0" fmla="*/ 233363 w 1238250"/>
                <a:gd name="connsiteY0" fmla="*/ 0 h 771523"/>
                <a:gd name="connsiteX1" fmla="*/ 0 w 1238250"/>
                <a:gd name="connsiteY1" fmla="*/ 23466 h 771523"/>
                <a:gd name="connsiteX2" fmla="*/ 952500 w 1238250"/>
                <a:gd name="connsiteY2" fmla="*/ 766762 h 771523"/>
                <a:gd name="connsiteX3" fmla="*/ 1238250 w 1238250"/>
                <a:gd name="connsiteY3" fmla="*/ 771523 h 771523"/>
                <a:gd name="connsiteX4" fmla="*/ 233363 w 1238250"/>
                <a:gd name="connsiteY4" fmla="*/ 0 h 771523"/>
                <a:gd name="connsiteX0" fmla="*/ 233363 w 1238250"/>
                <a:gd name="connsiteY0" fmla="*/ 0 h 757496"/>
                <a:gd name="connsiteX1" fmla="*/ 0 w 1238250"/>
                <a:gd name="connsiteY1" fmla="*/ 9439 h 757496"/>
                <a:gd name="connsiteX2" fmla="*/ 952500 w 1238250"/>
                <a:gd name="connsiteY2" fmla="*/ 752735 h 757496"/>
                <a:gd name="connsiteX3" fmla="*/ 1238250 w 1238250"/>
                <a:gd name="connsiteY3" fmla="*/ 757496 h 757496"/>
                <a:gd name="connsiteX4" fmla="*/ 233363 w 1238250"/>
                <a:gd name="connsiteY4" fmla="*/ 0 h 757496"/>
                <a:gd name="connsiteX0" fmla="*/ 233363 w 1238250"/>
                <a:gd name="connsiteY0" fmla="*/ 0 h 757496"/>
                <a:gd name="connsiteX1" fmla="*/ 0 w 1238250"/>
                <a:gd name="connsiteY1" fmla="*/ 9439 h 757496"/>
                <a:gd name="connsiteX2" fmla="*/ 952500 w 1238250"/>
                <a:gd name="connsiteY2" fmla="*/ 752735 h 757496"/>
                <a:gd name="connsiteX3" fmla="*/ 1238250 w 1238250"/>
                <a:gd name="connsiteY3" fmla="*/ 757496 h 757496"/>
                <a:gd name="connsiteX4" fmla="*/ 233363 w 1238250"/>
                <a:gd name="connsiteY4" fmla="*/ 0 h 757496"/>
                <a:gd name="connsiteX0" fmla="*/ 243561 w 1248448"/>
                <a:gd name="connsiteY0" fmla="*/ 573 h 758069"/>
                <a:gd name="connsiteX1" fmla="*/ 0 w 1248448"/>
                <a:gd name="connsiteY1" fmla="*/ 0 h 758069"/>
                <a:gd name="connsiteX2" fmla="*/ 962698 w 1248448"/>
                <a:gd name="connsiteY2" fmla="*/ 753308 h 758069"/>
                <a:gd name="connsiteX3" fmla="*/ 1248448 w 1248448"/>
                <a:gd name="connsiteY3" fmla="*/ 758069 h 758069"/>
                <a:gd name="connsiteX4" fmla="*/ 243561 w 1248448"/>
                <a:gd name="connsiteY4" fmla="*/ 573 h 758069"/>
                <a:gd name="connsiteX0" fmla="*/ 243561 w 1248448"/>
                <a:gd name="connsiteY0" fmla="*/ 573 h 758069"/>
                <a:gd name="connsiteX1" fmla="*/ 0 w 1248448"/>
                <a:gd name="connsiteY1" fmla="*/ 0 h 758069"/>
                <a:gd name="connsiteX2" fmla="*/ 962698 w 1248448"/>
                <a:gd name="connsiteY2" fmla="*/ 753308 h 758069"/>
                <a:gd name="connsiteX3" fmla="*/ 1248448 w 1248448"/>
                <a:gd name="connsiteY3" fmla="*/ 758069 h 758069"/>
                <a:gd name="connsiteX4" fmla="*/ 243561 w 1248448"/>
                <a:gd name="connsiteY4" fmla="*/ 573 h 758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8448" h="758069">
                  <a:moveTo>
                    <a:pt x="243561" y="573"/>
                  </a:moveTo>
                  <a:cubicBezTo>
                    <a:pt x="162374" y="382"/>
                    <a:pt x="235530" y="6639"/>
                    <a:pt x="0" y="0"/>
                  </a:cubicBezTo>
                  <a:lnTo>
                    <a:pt x="962698" y="753308"/>
                  </a:lnTo>
                  <a:cubicBezTo>
                    <a:pt x="1114838" y="758721"/>
                    <a:pt x="1045247" y="751718"/>
                    <a:pt x="1248448" y="758069"/>
                  </a:cubicBezTo>
                  <a:lnTo>
                    <a:pt x="243561" y="573"/>
                  </a:lnTo>
                  <a:close/>
                </a:path>
              </a:pathLst>
            </a:custGeom>
            <a:solidFill>
              <a:srgbClr val="0099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E7DFB986-BE0D-184A-9AB9-D3D9D27D6AD6}"/>
                </a:ext>
              </a:extLst>
            </p:cNvPr>
            <p:cNvSpPr/>
            <p:nvPr/>
          </p:nvSpPr>
          <p:spPr>
            <a:xfrm>
              <a:off x="1332065" y="1066560"/>
              <a:ext cx="296179" cy="136350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solidFill>
                  <a:srgbClr val="FFFFFF"/>
                </a:solidFill>
                <a:ea typeface="ＭＳ Ｐゴシック" charset="0"/>
                <a:cs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7683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44660B0-B1C7-EC47-A4FF-C31002FDA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141" y="1469425"/>
            <a:ext cx="6226289" cy="1451659"/>
          </a:xfrm>
        </p:spPr>
        <p:txBody>
          <a:bodyPr>
            <a:normAutofit fontScale="92500" lnSpcReduction="10000"/>
          </a:bodyPr>
          <a:lstStyle/>
          <a:p>
            <a:r>
              <a:rPr lang="en-US" sz="3500" b="1" dirty="0">
                <a:solidFill>
                  <a:srgbClr val="0070C0"/>
                </a:solidFill>
              </a:rPr>
              <a:t>triangle routing:</a:t>
            </a:r>
          </a:p>
          <a:p>
            <a:pPr lvl="1"/>
            <a:r>
              <a:rPr lang="en-US" sz="3000" dirty="0"/>
              <a:t>inefficient when correspondent and mobile are in same network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31FB7CC-D2A5-C749-8D9F-01B9FA129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3079" y="-105142"/>
            <a:ext cx="10018713" cy="1752599"/>
          </a:xfrm>
        </p:spPr>
        <p:txBody>
          <a:bodyPr>
            <a:normAutofit/>
          </a:bodyPr>
          <a:lstStyle/>
          <a:p>
            <a:r>
              <a:rPr lang="en-US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Mobility with indirect routing: comments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79769-3B28-CC48-AFB2-345BF93C78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Wireless and Mobile Networks: 7- </a:t>
            </a:r>
            <a:fld id="{C4204591-24BD-A542-B9D5-F8D8A88D2FEE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71" name="Content Placeholder 1">
            <a:extLst>
              <a:ext uri="{FF2B5EF4-FFF2-40B4-BE49-F238E27FC236}">
                <a16:creationId xmlns:a16="http://schemas.microsoft.com/office/drawing/2014/main" id="{849E3BC1-CD52-9F4C-8EC5-72D5FA2A4513}"/>
              </a:ext>
            </a:extLst>
          </p:cNvPr>
          <p:cNvSpPr txBox="1">
            <a:spLocks/>
          </p:cNvSpPr>
          <p:nvPr/>
        </p:nvSpPr>
        <p:spPr>
          <a:xfrm>
            <a:off x="952705" y="3234112"/>
            <a:ext cx="10773033" cy="314041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/>
              <a:t>mobile moves among visited networks: transparent to correspondent!</a:t>
            </a:r>
          </a:p>
          <a:p>
            <a:pPr lvl="1">
              <a:defRPr/>
            </a:pPr>
            <a:r>
              <a:rPr lang="en-US" sz="2800" dirty="0"/>
              <a:t>registers in new visited network</a:t>
            </a:r>
          </a:p>
          <a:p>
            <a:pPr lvl="1">
              <a:defRPr/>
            </a:pPr>
            <a:r>
              <a:rPr lang="en-US" sz="2800" dirty="0"/>
              <a:t>new visited network registers with home HSS</a:t>
            </a:r>
          </a:p>
          <a:p>
            <a:pPr lvl="1">
              <a:defRPr/>
            </a:pPr>
            <a:r>
              <a:rPr lang="en-US" sz="2800" dirty="0"/>
              <a:t>datagrams continue to be forwarded from home network to mobile in new network  </a:t>
            </a:r>
          </a:p>
          <a:p>
            <a:pPr lvl="1">
              <a:defRPr/>
            </a:pPr>
            <a:r>
              <a:rPr lang="en-US" sz="2800" i="1" dirty="0">
                <a:solidFill>
                  <a:srgbClr val="011199"/>
                </a:solidFill>
              </a:rPr>
              <a:t>on-going (e.g., TCP) connections between correspondent and mobile can be maintained!</a:t>
            </a:r>
          </a:p>
          <a:p>
            <a:endParaRPr lang="en-US" dirty="0"/>
          </a:p>
          <a:p>
            <a:pPr marL="463550" lvl="1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</p:txBody>
      </p: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CA50DC78-A347-0D47-88E3-D499829F9A72}"/>
              </a:ext>
            </a:extLst>
          </p:cNvPr>
          <p:cNvGrpSpPr/>
          <p:nvPr/>
        </p:nvGrpSpPr>
        <p:grpSpPr>
          <a:xfrm>
            <a:off x="7249726" y="1470453"/>
            <a:ext cx="2295440" cy="1485237"/>
            <a:chOff x="2733837" y="1551322"/>
            <a:chExt cx="6172468" cy="4493558"/>
          </a:xfrm>
        </p:grpSpPr>
        <p:sp>
          <p:nvSpPr>
            <p:cNvPr id="174" name="Freeform 173">
              <a:extLst>
                <a:ext uri="{FF2B5EF4-FFF2-40B4-BE49-F238E27FC236}">
                  <a16:creationId xmlns:a16="http://schemas.microsoft.com/office/drawing/2014/main" id="{F1EBF5C8-49E1-AF4C-9EC4-87A2C48A9097}"/>
                </a:ext>
              </a:extLst>
            </p:cNvPr>
            <p:cNvSpPr/>
            <p:nvPr/>
          </p:nvSpPr>
          <p:spPr>
            <a:xfrm>
              <a:off x="2733837" y="1585690"/>
              <a:ext cx="2536501" cy="2518288"/>
            </a:xfrm>
            <a:custGeom>
              <a:avLst/>
              <a:gdLst>
                <a:gd name="connsiteX0" fmla="*/ 910971 w 2479694"/>
                <a:gd name="connsiteY0" fmla="*/ 57599 h 2518288"/>
                <a:gd name="connsiteX1" fmla="*/ 459082 w 2479694"/>
                <a:gd name="connsiteY1" fmla="*/ 200298 h 2518288"/>
                <a:gd name="connsiteX2" fmla="*/ 154652 w 2479694"/>
                <a:gd name="connsiteY2" fmla="*/ 647420 h 2518288"/>
                <a:gd name="connsiteX3" fmla="*/ 7194 w 2479694"/>
                <a:gd name="connsiteY3" fmla="*/ 1151621 h 2518288"/>
                <a:gd name="connsiteX4" fmla="*/ 50004 w 2479694"/>
                <a:gd name="connsiteY4" fmla="*/ 1679605 h 2518288"/>
                <a:gd name="connsiteX5" fmla="*/ 283084 w 2479694"/>
                <a:gd name="connsiteY5" fmla="*/ 2236129 h 2518288"/>
                <a:gd name="connsiteX6" fmla="*/ 929997 w 2479694"/>
                <a:gd name="connsiteY6" fmla="*/ 2502500 h 2518288"/>
                <a:gd name="connsiteX7" fmla="*/ 1434210 w 2479694"/>
                <a:gd name="connsiteY7" fmla="*/ 2483473 h 2518288"/>
                <a:gd name="connsiteX8" fmla="*/ 1919395 w 2479694"/>
                <a:gd name="connsiteY8" fmla="*/ 2450177 h 2518288"/>
                <a:gd name="connsiteX9" fmla="*/ 2380797 w 2479694"/>
                <a:gd name="connsiteY9" fmla="*/ 1831817 h 2518288"/>
                <a:gd name="connsiteX10" fmla="*/ 2471174 w 2479694"/>
                <a:gd name="connsiteY10" fmla="*/ 1246753 h 2518288"/>
                <a:gd name="connsiteX11" fmla="*/ 2242852 w 2479694"/>
                <a:gd name="connsiteY11" fmla="*/ 675959 h 2518288"/>
                <a:gd name="connsiteX12" fmla="*/ 2066853 w 2479694"/>
                <a:gd name="connsiteY12" fmla="*/ 371536 h 2518288"/>
                <a:gd name="connsiteX13" fmla="*/ 1838531 w 2479694"/>
                <a:gd name="connsiteY13" fmla="*/ 86139 h 2518288"/>
                <a:gd name="connsiteX14" fmla="*/ 1258211 w 2479694"/>
                <a:gd name="connsiteY14" fmla="*/ 520 h 2518288"/>
                <a:gd name="connsiteX15" fmla="*/ 910971 w 2479694"/>
                <a:gd name="connsiteY15" fmla="*/ 57599 h 2518288"/>
                <a:gd name="connsiteX0" fmla="*/ 910971 w 2491918"/>
                <a:gd name="connsiteY0" fmla="*/ 57599 h 2518288"/>
                <a:gd name="connsiteX1" fmla="*/ 459082 w 2491918"/>
                <a:gd name="connsiteY1" fmla="*/ 200298 h 2518288"/>
                <a:gd name="connsiteX2" fmla="*/ 154652 w 2491918"/>
                <a:gd name="connsiteY2" fmla="*/ 647420 h 2518288"/>
                <a:gd name="connsiteX3" fmla="*/ 7194 w 2491918"/>
                <a:gd name="connsiteY3" fmla="*/ 1151621 h 2518288"/>
                <a:gd name="connsiteX4" fmla="*/ 50004 w 2491918"/>
                <a:gd name="connsiteY4" fmla="*/ 1679605 h 2518288"/>
                <a:gd name="connsiteX5" fmla="*/ 283084 w 2491918"/>
                <a:gd name="connsiteY5" fmla="*/ 2236129 h 2518288"/>
                <a:gd name="connsiteX6" fmla="*/ 929997 w 2491918"/>
                <a:gd name="connsiteY6" fmla="*/ 2502500 h 2518288"/>
                <a:gd name="connsiteX7" fmla="*/ 1434210 w 2491918"/>
                <a:gd name="connsiteY7" fmla="*/ 2483473 h 2518288"/>
                <a:gd name="connsiteX8" fmla="*/ 1919395 w 2491918"/>
                <a:gd name="connsiteY8" fmla="*/ 2450177 h 2518288"/>
                <a:gd name="connsiteX9" fmla="*/ 2380797 w 2491918"/>
                <a:gd name="connsiteY9" fmla="*/ 1831817 h 2518288"/>
                <a:gd name="connsiteX10" fmla="*/ 2471174 w 2491918"/>
                <a:gd name="connsiteY10" fmla="*/ 1246753 h 2518288"/>
                <a:gd name="connsiteX11" fmla="*/ 2452444 w 2491918"/>
                <a:gd name="connsiteY11" fmla="*/ 688289 h 2518288"/>
                <a:gd name="connsiteX12" fmla="*/ 2066853 w 2491918"/>
                <a:gd name="connsiteY12" fmla="*/ 371536 h 2518288"/>
                <a:gd name="connsiteX13" fmla="*/ 1838531 w 2491918"/>
                <a:gd name="connsiteY13" fmla="*/ 86139 h 2518288"/>
                <a:gd name="connsiteX14" fmla="*/ 1258211 w 2491918"/>
                <a:gd name="connsiteY14" fmla="*/ 520 h 2518288"/>
                <a:gd name="connsiteX15" fmla="*/ 910971 w 2491918"/>
                <a:gd name="connsiteY15" fmla="*/ 57599 h 2518288"/>
                <a:gd name="connsiteX0" fmla="*/ 910971 w 2518269"/>
                <a:gd name="connsiteY0" fmla="*/ 57599 h 2518288"/>
                <a:gd name="connsiteX1" fmla="*/ 459082 w 2518269"/>
                <a:gd name="connsiteY1" fmla="*/ 200298 h 2518288"/>
                <a:gd name="connsiteX2" fmla="*/ 154652 w 2518269"/>
                <a:gd name="connsiteY2" fmla="*/ 647420 h 2518288"/>
                <a:gd name="connsiteX3" fmla="*/ 7194 w 2518269"/>
                <a:gd name="connsiteY3" fmla="*/ 1151621 h 2518288"/>
                <a:gd name="connsiteX4" fmla="*/ 50004 w 2518269"/>
                <a:gd name="connsiteY4" fmla="*/ 1679605 h 2518288"/>
                <a:gd name="connsiteX5" fmla="*/ 283084 w 2518269"/>
                <a:gd name="connsiteY5" fmla="*/ 2236129 h 2518288"/>
                <a:gd name="connsiteX6" fmla="*/ 929997 w 2518269"/>
                <a:gd name="connsiteY6" fmla="*/ 2502500 h 2518288"/>
                <a:gd name="connsiteX7" fmla="*/ 1434210 w 2518269"/>
                <a:gd name="connsiteY7" fmla="*/ 2483473 h 2518288"/>
                <a:gd name="connsiteX8" fmla="*/ 1919395 w 2518269"/>
                <a:gd name="connsiteY8" fmla="*/ 2450177 h 2518288"/>
                <a:gd name="connsiteX9" fmla="*/ 2380797 w 2518269"/>
                <a:gd name="connsiteY9" fmla="*/ 1831817 h 2518288"/>
                <a:gd name="connsiteX10" fmla="*/ 2471174 w 2518269"/>
                <a:gd name="connsiteY10" fmla="*/ 1246753 h 2518288"/>
                <a:gd name="connsiteX11" fmla="*/ 2452444 w 2518269"/>
                <a:gd name="connsiteY11" fmla="*/ 688289 h 2518288"/>
                <a:gd name="connsiteX12" fmla="*/ 2066853 w 2518269"/>
                <a:gd name="connsiteY12" fmla="*/ 371536 h 2518288"/>
                <a:gd name="connsiteX13" fmla="*/ 1838531 w 2518269"/>
                <a:gd name="connsiteY13" fmla="*/ 86139 h 2518288"/>
                <a:gd name="connsiteX14" fmla="*/ 1258211 w 2518269"/>
                <a:gd name="connsiteY14" fmla="*/ 520 h 2518288"/>
                <a:gd name="connsiteX15" fmla="*/ 910971 w 2518269"/>
                <a:gd name="connsiteY15" fmla="*/ 57599 h 2518288"/>
                <a:gd name="connsiteX0" fmla="*/ 910971 w 2536501"/>
                <a:gd name="connsiteY0" fmla="*/ 57599 h 2518288"/>
                <a:gd name="connsiteX1" fmla="*/ 459082 w 2536501"/>
                <a:gd name="connsiteY1" fmla="*/ 200298 h 2518288"/>
                <a:gd name="connsiteX2" fmla="*/ 154652 w 2536501"/>
                <a:gd name="connsiteY2" fmla="*/ 647420 h 2518288"/>
                <a:gd name="connsiteX3" fmla="*/ 7194 w 2536501"/>
                <a:gd name="connsiteY3" fmla="*/ 1151621 h 2518288"/>
                <a:gd name="connsiteX4" fmla="*/ 50004 w 2536501"/>
                <a:gd name="connsiteY4" fmla="*/ 1679605 h 2518288"/>
                <a:gd name="connsiteX5" fmla="*/ 283084 w 2536501"/>
                <a:gd name="connsiteY5" fmla="*/ 2236129 h 2518288"/>
                <a:gd name="connsiteX6" fmla="*/ 929997 w 2536501"/>
                <a:gd name="connsiteY6" fmla="*/ 2502500 h 2518288"/>
                <a:gd name="connsiteX7" fmla="*/ 1434210 w 2536501"/>
                <a:gd name="connsiteY7" fmla="*/ 2483473 h 2518288"/>
                <a:gd name="connsiteX8" fmla="*/ 1919395 w 2536501"/>
                <a:gd name="connsiteY8" fmla="*/ 2450177 h 2518288"/>
                <a:gd name="connsiteX9" fmla="*/ 2380797 w 2536501"/>
                <a:gd name="connsiteY9" fmla="*/ 1831817 h 2518288"/>
                <a:gd name="connsiteX10" fmla="*/ 2532819 w 2536501"/>
                <a:gd name="connsiteY10" fmla="*/ 1394709 h 2518288"/>
                <a:gd name="connsiteX11" fmla="*/ 2452444 w 2536501"/>
                <a:gd name="connsiteY11" fmla="*/ 688289 h 2518288"/>
                <a:gd name="connsiteX12" fmla="*/ 2066853 w 2536501"/>
                <a:gd name="connsiteY12" fmla="*/ 371536 h 2518288"/>
                <a:gd name="connsiteX13" fmla="*/ 1838531 w 2536501"/>
                <a:gd name="connsiteY13" fmla="*/ 86139 h 2518288"/>
                <a:gd name="connsiteX14" fmla="*/ 1258211 w 2536501"/>
                <a:gd name="connsiteY14" fmla="*/ 520 h 2518288"/>
                <a:gd name="connsiteX15" fmla="*/ 910971 w 2536501"/>
                <a:gd name="connsiteY15" fmla="*/ 57599 h 2518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536501" h="2518288">
                  <a:moveTo>
                    <a:pt x="910971" y="57599"/>
                  </a:moveTo>
                  <a:cubicBezTo>
                    <a:pt x="777783" y="90895"/>
                    <a:pt x="585135" y="101995"/>
                    <a:pt x="459082" y="200298"/>
                  </a:cubicBezTo>
                  <a:cubicBezTo>
                    <a:pt x="333029" y="298601"/>
                    <a:pt x="229967" y="488866"/>
                    <a:pt x="154652" y="647420"/>
                  </a:cubicBezTo>
                  <a:cubicBezTo>
                    <a:pt x="79337" y="805974"/>
                    <a:pt x="24635" y="979590"/>
                    <a:pt x="7194" y="1151621"/>
                  </a:cubicBezTo>
                  <a:cubicBezTo>
                    <a:pt x="-10247" y="1323652"/>
                    <a:pt x="4022" y="1498854"/>
                    <a:pt x="50004" y="1679605"/>
                  </a:cubicBezTo>
                  <a:cubicBezTo>
                    <a:pt x="95986" y="1860356"/>
                    <a:pt x="136419" y="2098980"/>
                    <a:pt x="283084" y="2236129"/>
                  </a:cubicBezTo>
                  <a:cubicBezTo>
                    <a:pt x="429749" y="2373278"/>
                    <a:pt x="738143" y="2461276"/>
                    <a:pt x="929997" y="2502500"/>
                  </a:cubicBezTo>
                  <a:cubicBezTo>
                    <a:pt x="1121851" y="2543724"/>
                    <a:pt x="1269310" y="2492193"/>
                    <a:pt x="1434210" y="2483473"/>
                  </a:cubicBezTo>
                  <a:cubicBezTo>
                    <a:pt x="1599110" y="2474753"/>
                    <a:pt x="1761631" y="2558786"/>
                    <a:pt x="1919395" y="2450177"/>
                  </a:cubicBezTo>
                  <a:cubicBezTo>
                    <a:pt x="2077160" y="2341568"/>
                    <a:pt x="2278560" y="2007728"/>
                    <a:pt x="2380797" y="1831817"/>
                  </a:cubicBezTo>
                  <a:cubicBezTo>
                    <a:pt x="2483034" y="1655906"/>
                    <a:pt x="2520878" y="1585297"/>
                    <a:pt x="2532819" y="1394709"/>
                  </a:cubicBezTo>
                  <a:cubicBezTo>
                    <a:pt x="2544760" y="1204121"/>
                    <a:pt x="2530105" y="858818"/>
                    <a:pt x="2452444" y="688289"/>
                  </a:cubicBezTo>
                  <a:cubicBezTo>
                    <a:pt x="2374783" y="517760"/>
                    <a:pt x="2169172" y="471894"/>
                    <a:pt x="2066853" y="371536"/>
                  </a:cubicBezTo>
                  <a:cubicBezTo>
                    <a:pt x="1964534" y="271178"/>
                    <a:pt x="1973305" y="147975"/>
                    <a:pt x="1838531" y="86139"/>
                  </a:cubicBezTo>
                  <a:cubicBezTo>
                    <a:pt x="1703757" y="24303"/>
                    <a:pt x="1414390" y="5277"/>
                    <a:pt x="1258211" y="520"/>
                  </a:cubicBezTo>
                  <a:cubicBezTo>
                    <a:pt x="1102032" y="-4237"/>
                    <a:pt x="1044159" y="24303"/>
                    <a:pt x="910971" y="57599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Freeform 174">
              <a:extLst>
                <a:ext uri="{FF2B5EF4-FFF2-40B4-BE49-F238E27FC236}">
                  <a16:creationId xmlns:a16="http://schemas.microsoft.com/office/drawing/2014/main" id="{36F2FDA7-2329-BE42-9F95-6E8865829CF0}"/>
                </a:ext>
              </a:extLst>
            </p:cNvPr>
            <p:cNvSpPr/>
            <p:nvPr/>
          </p:nvSpPr>
          <p:spPr>
            <a:xfrm>
              <a:off x="6426611" y="1551322"/>
              <a:ext cx="2479694" cy="2518288"/>
            </a:xfrm>
            <a:custGeom>
              <a:avLst/>
              <a:gdLst>
                <a:gd name="connsiteX0" fmla="*/ 910971 w 2479694"/>
                <a:gd name="connsiteY0" fmla="*/ 57599 h 2518288"/>
                <a:gd name="connsiteX1" fmla="*/ 459082 w 2479694"/>
                <a:gd name="connsiteY1" fmla="*/ 200298 h 2518288"/>
                <a:gd name="connsiteX2" fmla="*/ 154652 w 2479694"/>
                <a:gd name="connsiteY2" fmla="*/ 647420 h 2518288"/>
                <a:gd name="connsiteX3" fmla="*/ 7194 w 2479694"/>
                <a:gd name="connsiteY3" fmla="*/ 1151621 h 2518288"/>
                <a:gd name="connsiteX4" fmla="*/ 50004 w 2479694"/>
                <a:gd name="connsiteY4" fmla="*/ 1679605 h 2518288"/>
                <a:gd name="connsiteX5" fmla="*/ 283084 w 2479694"/>
                <a:gd name="connsiteY5" fmla="*/ 2236129 h 2518288"/>
                <a:gd name="connsiteX6" fmla="*/ 929997 w 2479694"/>
                <a:gd name="connsiteY6" fmla="*/ 2502500 h 2518288"/>
                <a:gd name="connsiteX7" fmla="*/ 1434210 w 2479694"/>
                <a:gd name="connsiteY7" fmla="*/ 2483473 h 2518288"/>
                <a:gd name="connsiteX8" fmla="*/ 1919395 w 2479694"/>
                <a:gd name="connsiteY8" fmla="*/ 2450177 h 2518288"/>
                <a:gd name="connsiteX9" fmla="*/ 2380797 w 2479694"/>
                <a:gd name="connsiteY9" fmla="*/ 1831817 h 2518288"/>
                <a:gd name="connsiteX10" fmla="*/ 2471174 w 2479694"/>
                <a:gd name="connsiteY10" fmla="*/ 1246753 h 2518288"/>
                <a:gd name="connsiteX11" fmla="*/ 2242852 w 2479694"/>
                <a:gd name="connsiteY11" fmla="*/ 675959 h 2518288"/>
                <a:gd name="connsiteX12" fmla="*/ 2066853 w 2479694"/>
                <a:gd name="connsiteY12" fmla="*/ 371536 h 2518288"/>
                <a:gd name="connsiteX13" fmla="*/ 1838531 w 2479694"/>
                <a:gd name="connsiteY13" fmla="*/ 86139 h 2518288"/>
                <a:gd name="connsiteX14" fmla="*/ 1258211 w 2479694"/>
                <a:gd name="connsiteY14" fmla="*/ 520 h 2518288"/>
                <a:gd name="connsiteX15" fmla="*/ 910971 w 2479694"/>
                <a:gd name="connsiteY15" fmla="*/ 57599 h 2518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79694" h="2518288">
                  <a:moveTo>
                    <a:pt x="910971" y="57599"/>
                  </a:moveTo>
                  <a:cubicBezTo>
                    <a:pt x="777783" y="90895"/>
                    <a:pt x="585135" y="101995"/>
                    <a:pt x="459082" y="200298"/>
                  </a:cubicBezTo>
                  <a:cubicBezTo>
                    <a:pt x="333029" y="298601"/>
                    <a:pt x="229967" y="488866"/>
                    <a:pt x="154652" y="647420"/>
                  </a:cubicBezTo>
                  <a:cubicBezTo>
                    <a:pt x="79337" y="805974"/>
                    <a:pt x="24635" y="979590"/>
                    <a:pt x="7194" y="1151621"/>
                  </a:cubicBezTo>
                  <a:cubicBezTo>
                    <a:pt x="-10247" y="1323652"/>
                    <a:pt x="4022" y="1498854"/>
                    <a:pt x="50004" y="1679605"/>
                  </a:cubicBezTo>
                  <a:cubicBezTo>
                    <a:pt x="95986" y="1860356"/>
                    <a:pt x="136419" y="2098980"/>
                    <a:pt x="283084" y="2236129"/>
                  </a:cubicBezTo>
                  <a:cubicBezTo>
                    <a:pt x="429749" y="2373278"/>
                    <a:pt x="738143" y="2461276"/>
                    <a:pt x="929997" y="2502500"/>
                  </a:cubicBezTo>
                  <a:cubicBezTo>
                    <a:pt x="1121851" y="2543724"/>
                    <a:pt x="1269310" y="2492193"/>
                    <a:pt x="1434210" y="2483473"/>
                  </a:cubicBezTo>
                  <a:cubicBezTo>
                    <a:pt x="1599110" y="2474753"/>
                    <a:pt x="1761631" y="2558786"/>
                    <a:pt x="1919395" y="2450177"/>
                  </a:cubicBezTo>
                  <a:cubicBezTo>
                    <a:pt x="2077160" y="2341568"/>
                    <a:pt x="2288834" y="2032388"/>
                    <a:pt x="2380797" y="1831817"/>
                  </a:cubicBezTo>
                  <a:cubicBezTo>
                    <a:pt x="2472760" y="1631246"/>
                    <a:pt x="2494165" y="1439396"/>
                    <a:pt x="2471174" y="1246753"/>
                  </a:cubicBezTo>
                  <a:cubicBezTo>
                    <a:pt x="2448183" y="1054110"/>
                    <a:pt x="2310239" y="821828"/>
                    <a:pt x="2242852" y="675959"/>
                  </a:cubicBezTo>
                  <a:cubicBezTo>
                    <a:pt x="2175465" y="530090"/>
                    <a:pt x="2134240" y="469839"/>
                    <a:pt x="2066853" y="371536"/>
                  </a:cubicBezTo>
                  <a:cubicBezTo>
                    <a:pt x="1999466" y="273233"/>
                    <a:pt x="1973305" y="147975"/>
                    <a:pt x="1838531" y="86139"/>
                  </a:cubicBezTo>
                  <a:cubicBezTo>
                    <a:pt x="1703757" y="24303"/>
                    <a:pt x="1414390" y="5277"/>
                    <a:pt x="1258211" y="520"/>
                  </a:cubicBezTo>
                  <a:cubicBezTo>
                    <a:pt x="1102032" y="-4237"/>
                    <a:pt x="1044159" y="24303"/>
                    <a:pt x="910971" y="57599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6" name="Freeform 175">
              <a:extLst>
                <a:ext uri="{FF2B5EF4-FFF2-40B4-BE49-F238E27FC236}">
                  <a16:creationId xmlns:a16="http://schemas.microsoft.com/office/drawing/2014/main" id="{5410CA62-8E88-844D-93D1-7B14217A0F5E}"/>
                </a:ext>
              </a:extLst>
            </p:cNvPr>
            <p:cNvSpPr/>
            <p:nvPr/>
          </p:nvSpPr>
          <p:spPr>
            <a:xfrm flipV="1">
              <a:off x="4827446" y="4937117"/>
              <a:ext cx="2158078" cy="1107763"/>
            </a:xfrm>
            <a:custGeom>
              <a:avLst/>
              <a:gdLst>
                <a:gd name="connsiteX0" fmla="*/ 793763 w 1763990"/>
                <a:gd name="connsiteY0" fmla="*/ 21490 h 1007767"/>
                <a:gd name="connsiteX1" fmla="*/ 343771 w 1763990"/>
                <a:gd name="connsiteY1" fmla="*/ 101492 h 1007767"/>
                <a:gd name="connsiteX2" fmla="*/ 133775 w 1763990"/>
                <a:gd name="connsiteY2" fmla="*/ 356499 h 1007767"/>
                <a:gd name="connsiteX3" fmla="*/ 3777 w 1763990"/>
                <a:gd name="connsiteY3" fmla="*/ 616506 h 1007767"/>
                <a:gd name="connsiteX4" fmla="*/ 278772 w 1763990"/>
                <a:gd name="connsiteY4" fmla="*/ 951515 h 1007767"/>
                <a:gd name="connsiteX5" fmla="*/ 868762 w 1763990"/>
                <a:gd name="connsiteY5" fmla="*/ 1006517 h 1007767"/>
                <a:gd name="connsiteX6" fmla="*/ 1228755 w 1763990"/>
                <a:gd name="connsiteY6" fmla="*/ 941515 h 1007767"/>
                <a:gd name="connsiteX7" fmla="*/ 1688747 w 1763990"/>
                <a:gd name="connsiteY7" fmla="*/ 916514 h 1007767"/>
                <a:gd name="connsiteX8" fmla="*/ 1743746 w 1763990"/>
                <a:gd name="connsiteY8" fmla="*/ 556504 h 1007767"/>
                <a:gd name="connsiteX9" fmla="*/ 1483750 w 1763990"/>
                <a:gd name="connsiteY9" fmla="*/ 156493 h 1007767"/>
                <a:gd name="connsiteX10" fmla="*/ 1013759 w 1763990"/>
                <a:gd name="connsiteY10" fmla="*/ 11489 h 1007767"/>
                <a:gd name="connsiteX11" fmla="*/ 793763 w 1763990"/>
                <a:gd name="connsiteY11" fmla="*/ 21490 h 1007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63990" h="1007767">
                  <a:moveTo>
                    <a:pt x="793763" y="21490"/>
                  </a:moveTo>
                  <a:cubicBezTo>
                    <a:pt x="682098" y="36490"/>
                    <a:pt x="453769" y="45657"/>
                    <a:pt x="343771" y="101492"/>
                  </a:cubicBezTo>
                  <a:cubicBezTo>
                    <a:pt x="233773" y="157327"/>
                    <a:pt x="190441" y="270663"/>
                    <a:pt x="133775" y="356499"/>
                  </a:cubicBezTo>
                  <a:cubicBezTo>
                    <a:pt x="77109" y="442335"/>
                    <a:pt x="-20389" y="517337"/>
                    <a:pt x="3777" y="616506"/>
                  </a:cubicBezTo>
                  <a:cubicBezTo>
                    <a:pt x="27943" y="715675"/>
                    <a:pt x="134608" y="886513"/>
                    <a:pt x="278772" y="951515"/>
                  </a:cubicBezTo>
                  <a:cubicBezTo>
                    <a:pt x="422936" y="1016517"/>
                    <a:pt x="710432" y="1008184"/>
                    <a:pt x="868762" y="1006517"/>
                  </a:cubicBezTo>
                  <a:cubicBezTo>
                    <a:pt x="1027092" y="1004850"/>
                    <a:pt x="1092091" y="956516"/>
                    <a:pt x="1228755" y="941515"/>
                  </a:cubicBezTo>
                  <a:cubicBezTo>
                    <a:pt x="1365419" y="926515"/>
                    <a:pt x="1602915" y="980683"/>
                    <a:pt x="1688747" y="916514"/>
                  </a:cubicBezTo>
                  <a:cubicBezTo>
                    <a:pt x="1774579" y="852346"/>
                    <a:pt x="1777912" y="683174"/>
                    <a:pt x="1743746" y="556504"/>
                  </a:cubicBezTo>
                  <a:cubicBezTo>
                    <a:pt x="1709580" y="429834"/>
                    <a:pt x="1605415" y="247329"/>
                    <a:pt x="1483750" y="156493"/>
                  </a:cubicBezTo>
                  <a:cubicBezTo>
                    <a:pt x="1362086" y="65657"/>
                    <a:pt x="1130423" y="35656"/>
                    <a:pt x="1013759" y="11489"/>
                  </a:cubicBezTo>
                  <a:cubicBezTo>
                    <a:pt x="897095" y="-12678"/>
                    <a:pt x="905428" y="6490"/>
                    <a:pt x="793763" y="21490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D0D0F482-BF3E-9D46-8349-7D42DC6BF349}"/>
                </a:ext>
              </a:extLst>
            </p:cNvPr>
            <p:cNvGrpSpPr/>
            <p:nvPr/>
          </p:nvGrpSpPr>
          <p:grpSpPr>
            <a:xfrm>
              <a:off x="4943128" y="3697579"/>
              <a:ext cx="1763990" cy="1007767"/>
              <a:chOff x="2611175" y="5012905"/>
              <a:chExt cx="1763990" cy="1007767"/>
            </a:xfrm>
          </p:grpSpPr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32410177-B1FF-4B42-A1F7-34710F963990}"/>
                  </a:ext>
                </a:extLst>
              </p:cNvPr>
              <p:cNvSpPr/>
              <p:nvPr/>
            </p:nvSpPr>
            <p:spPr>
              <a:xfrm>
                <a:off x="3161857" y="5183726"/>
                <a:ext cx="733868" cy="333063"/>
              </a:xfrm>
              <a:prstGeom prst="rect">
                <a:avLst/>
              </a:prstGeom>
              <a:solidFill>
                <a:srgbClr val="E0EAF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80" name="Straight Connector 179">
                <a:extLst>
                  <a:ext uri="{FF2B5EF4-FFF2-40B4-BE49-F238E27FC236}">
                    <a16:creationId xmlns:a16="http://schemas.microsoft.com/office/drawing/2014/main" id="{303494A4-B4E8-244F-A295-B98739F46F4C}"/>
                  </a:ext>
                </a:extLst>
              </p:cNvPr>
              <p:cNvCxnSpPr/>
              <p:nvPr/>
            </p:nvCxnSpPr>
            <p:spPr>
              <a:xfrm>
                <a:off x="3462434" y="5820469"/>
                <a:ext cx="0" cy="18991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1" name="Freeform 180">
                <a:extLst>
                  <a:ext uri="{FF2B5EF4-FFF2-40B4-BE49-F238E27FC236}">
                    <a16:creationId xmlns:a16="http://schemas.microsoft.com/office/drawing/2014/main" id="{9A964173-65DE-2C42-B415-52B1293E8FED}"/>
                  </a:ext>
                </a:extLst>
              </p:cNvPr>
              <p:cNvSpPr/>
              <p:nvPr/>
            </p:nvSpPr>
            <p:spPr>
              <a:xfrm>
                <a:off x="2611175" y="5012905"/>
                <a:ext cx="1763990" cy="1007767"/>
              </a:xfrm>
              <a:custGeom>
                <a:avLst/>
                <a:gdLst>
                  <a:gd name="connsiteX0" fmla="*/ 793763 w 1763990"/>
                  <a:gd name="connsiteY0" fmla="*/ 21490 h 1007767"/>
                  <a:gd name="connsiteX1" fmla="*/ 343771 w 1763990"/>
                  <a:gd name="connsiteY1" fmla="*/ 101492 h 1007767"/>
                  <a:gd name="connsiteX2" fmla="*/ 133775 w 1763990"/>
                  <a:gd name="connsiteY2" fmla="*/ 356499 h 1007767"/>
                  <a:gd name="connsiteX3" fmla="*/ 3777 w 1763990"/>
                  <a:gd name="connsiteY3" fmla="*/ 616506 h 1007767"/>
                  <a:gd name="connsiteX4" fmla="*/ 278772 w 1763990"/>
                  <a:gd name="connsiteY4" fmla="*/ 951515 h 1007767"/>
                  <a:gd name="connsiteX5" fmla="*/ 868762 w 1763990"/>
                  <a:gd name="connsiteY5" fmla="*/ 1006517 h 1007767"/>
                  <a:gd name="connsiteX6" fmla="*/ 1228755 w 1763990"/>
                  <a:gd name="connsiteY6" fmla="*/ 941515 h 1007767"/>
                  <a:gd name="connsiteX7" fmla="*/ 1688747 w 1763990"/>
                  <a:gd name="connsiteY7" fmla="*/ 916514 h 1007767"/>
                  <a:gd name="connsiteX8" fmla="*/ 1743746 w 1763990"/>
                  <a:gd name="connsiteY8" fmla="*/ 556504 h 1007767"/>
                  <a:gd name="connsiteX9" fmla="*/ 1483750 w 1763990"/>
                  <a:gd name="connsiteY9" fmla="*/ 156493 h 1007767"/>
                  <a:gd name="connsiteX10" fmla="*/ 1013759 w 1763990"/>
                  <a:gd name="connsiteY10" fmla="*/ 11489 h 1007767"/>
                  <a:gd name="connsiteX11" fmla="*/ 793763 w 1763990"/>
                  <a:gd name="connsiteY11" fmla="*/ 21490 h 1007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763990" h="1007767">
                    <a:moveTo>
                      <a:pt x="793763" y="21490"/>
                    </a:moveTo>
                    <a:cubicBezTo>
                      <a:pt x="682098" y="36490"/>
                      <a:pt x="453769" y="45657"/>
                      <a:pt x="343771" y="101492"/>
                    </a:cubicBezTo>
                    <a:cubicBezTo>
                      <a:pt x="233773" y="157327"/>
                      <a:pt x="190441" y="270663"/>
                      <a:pt x="133775" y="356499"/>
                    </a:cubicBezTo>
                    <a:cubicBezTo>
                      <a:pt x="77109" y="442335"/>
                      <a:pt x="-20389" y="517337"/>
                      <a:pt x="3777" y="616506"/>
                    </a:cubicBezTo>
                    <a:cubicBezTo>
                      <a:pt x="27943" y="715675"/>
                      <a:pt x="134608" y="886513"/>
                      <a:pt x="278772" y="951515"/>
                    </a:cubicBezTo>
                    <a:cubicBezTo>
                      <a:pt x="422936" y="1016517"/>
                      <a:pt x="710432" y="1008184"/>
                      <a:pt x="868762" y="1006517"/>
                    </a:cubicBezTo>
                    <a:cubicBezTo>
                      <a:pt x="1027092" y="1004850"/>
                      <a:pt x="1092091" y="956516"/>
                      <a:pt x="1228755" y="941515"/>
                    </a:cubicBezTo>
                    <a:cubicBezTo>
                      <a:pt x="1365419" y="926515"/>
                      <a:pt x="1602915" y="980683"/>
                      <a:pt x="1688747" y="916514"/>
                    </a:cubicBezTo>
                    <a:cubicBezTo>
                      <a:pt x="1774579" y="852346"/>
                      <a:pt x="1777912" y="683174"/>
                      <a:pt x="1743746" y="556504"/>
                    </a:cubicBezTo>
                    <a:cubicBezTo>
                      <a:pt x="1709580" y="429834"/>
                      <a:pt x="1605415" y="247329"/>
                      <a:pt x="1483750" y="156493"/>
                    </a:cubicBezTo>
                    <a:cubicBezTo>
                      <a:pt x="1362086" y="65657"/>
                      <a:pt x="1130423" y="35656"/>
                      <a:pt x="1013759" y="11489"/>
                    </a:cubicBezTo>
                    <a:cubicBezTo>
                      <a:pt x="897095" y="-12678"/>
                      <a:pt x="905428" y="6490"/>
                      <a:pt x="793763" y="21490"/>
                    </a:cubicBezTo>
                    <a:close/>
                  </a:path>
                </a:pathLst>
              </a:custGeom>
              <a:solidFill>
                <a:srgbClr val="9AE0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8" name="Triangle 177">
              <a:extLst>
                <a:ext uri="{FF2B5EF4-FFF2-40B4-BE49-F238E27FC236}">
                  <a16:creationId xmlns:a16="http://schemas.microsoft.com/office/drawing/2014/main" id="{0F6B556C-316F-6848-8A28-191C034EB300}"/>
                </a:ext>
              </a:extLst>
            </p:cNvPr>
            <p:cNvSpPr/>
            <p:nvPr/>
          </p:nvSpPr>
          <p:spPr>
            <a:xfrm flipV="1">
              <a:off x="4015945" y="2767912"/>
              <a:ext cx="3892378" cy="2755558"/>
            </a:xfrm>
            <a:prstGeom prst="triangle">
              <a:avLst>
                <a:gd name="adj" fmla="val 50327"/>
              </a:avLst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123A8993-DC1F-3A43-856B-385BBE477225}"/>
              </a:ext>
            </a:extLst>
          </p:cNvPr>
          <p:cNvGrpSpPr/>
          <p:nvPr/>
        </p:nvGrpSpPr>
        <p:grpSpPr>
          <a:xfrm>
            <a:off x="8999920" y="1469425"/>
            <a:ext cx="410780" cy="655938"/>
            <a:chOff x="3533208" y="1227996"/>
            <a:chExt cx="567057" cy="933976"/>
          </a:xfrm>
        </p:grpSpPr>
        <p:pic>
          <p:nvPicPr>
            <p:cNvPr id="186" name="Picture 185" descr="mobile_or_tablet.png">
              <a:extLst>
                <a:ext uri="{FF2B5EF4-FFF2-40B4-BE49-F238E27FC236}">
                  <a16:creationId xmlns:a16="http://schemas.microsoft.com/office/drawing/2014/main" id="{C47269DE-5032-5247-80C1-771E7D49C7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33208" y="1227996"/>
              <a:ext cx="567057" cy="933976"/>
            </a:xfrm>
            <a:prstGeom prst="rect">
              <a:avLst/>
            </a:prstGeom>
          </p:spPr>
        </p:pic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7EA2BD4A-48C7-314E-9CAD-B85E65583501}"/>
                </a:ext>
              </a:extLst>
            </p:cNvPr>
            <p:cNvSpPr/>
            <p:nvPr/>
          </p:nvSpPr>
          <p:spPr>
            <a:xfrm>
              <a:off x="3688667" y="1588335"/>
              <a:ext cx="243304" cy="420055"/>
            </a:xfrm>
            <a:prstGeom prst="rect">
              <a:avLst/>
            </a:prstGeom>
            <a:gradFill flip="none" rotWithShape="1">
              <a:gsLst>
                <a:gs pos="2000">
                  <a:srgbClr val="107AA7"/>
                </a:gs>
                <a:gs pos="100000">
                  <a:srgbClr val="107AA7"/>
                </a:gs>
                <a:gs pos="50000">
                  <a:schemeClr val="accent1">
                    <a:lumMod val="20000"/>
                    <a:lumOff val="80000"/>
                  </a:schemeClr>
                </a:gs>
              </a:gsLst>
              <a:lin ang="16200000" scaled="0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D57F32E4-F32D-B04C-BD83-B1F3C904E9C4}"/>
              </a:ext>
            </a:extLst>
          </p:cNvPr>
          <p:cNvGrpSpPr/>
          <p:nvPr/>
        </p:nvGrpSpPr>
        <p:grpSpPr>
          <a:xfrm>
            <a:off x="8118390" y="2607276"/>
            <a:ext cx="471234" cy="425450"/>
            <a:chOff x="283029" y="4319993"/>
            <a:chExt cx="1226174" cy="1258225"/>
          </a:xfrm>
        </p:grpSpPr>
        <p:pic>
          <p:nvPicPr>
            <p:cNvPr id="192" name="Picture 180" descr="desktop_computer_stylized_medium">
              <a:extLst>
                <a:ext uri="{FF2B5EF4-FFF2-40B4-BE49-F238E27FC236}">
                  <a16:creationId xmlns:a16="http://schemas.microsoft.com/office/drawing/2014/main" id="{60512D18-5AEF-5D4D-B300-69E9C82378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83029" y="4319993"/>
              <a:ext cx="1226174" cy="1258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3" name="Freeform 181">
              <a:extLst>
                <a:ext uri="{FF2B5EF4-FFF2-40B4-BE49-F238E27FC236}">
                  <a16:creationId xmlns:a16="http://schemas.microsoft.com/office/drawing/2014/main" id="{0955FDB5-5512-794B-BE7C-ED611F50A0F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805497" y="4440692"/>
              <a:ext cx="596213" cy="576165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99229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1FB7CC-D2A5-C749-8D9F-01B9FA129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146" y="380460"/>
            <a:ext cx="10965608" cy="894622"/>
          </a:xfrm>
        </p:spPr>
        <p:txBody>
          <a:bodyPr>
            <a:normAutofit/>
          </a:bodyPr>
          <a:lstStyle/>
          <a:p>
            <a:r>
              <a:rPr lang="en-US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Mobility with direct routing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79769-3B28-CC48-AFB2-345BF93C78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Wireless and Mobile Networks: 7- </a:t>
            </a:r>
            <a:fld id="{C4204591-24BD-A542-B9D5-F8D8A88D2FEE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5F70DFD1-5292-E04F-ABD4-9003C224C6CB}"/>
              </a:ext>
            </a:extLst>
          </p:cNvPr>
          <p:cNvSpPr txBox="1"/>
          <p:nvPr/>
        </p:nvSpPr>
        <p:spPr>
          <a:xfrm>
            <a:off x="3660514" y="3733288"/>
            <a:ext cx="1116933" cy="233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1100" dirty="0"/>
              <a:t>Home gateway</a:t>
            </a:r>
          </a:p>
        </p:txBody>
      </p:sp>
      <p:sp>
        <p:nvSpPr>
          <p:cNvPr id="159" name="Freeform 158">
            <a:extLst>
              <a:ext uri="{FF2B5EF4-FFF2-40B4-BE49-F238E27FC236}">
                <a16:creationId xmlns:a16="http://schemas.microsoft.com/office/drawing/2014/main" id="{CE1AE319-CAF1-F04D-A7C1-6AA22CFA9008}"/>
              </a:ext>
            </a:extLst>
          </p:cNvPr>
          <p:cNvSpPr/>
          <p:nvPr/>
        </p:nvSpPr>
        <p:spPr>
          <a:xfrm>
            <a:off x="2733837" y="1585690"/>
            <a:ext cx="2536501" cy="2518288"/>
          </a:xfrm>
          <a:custGeom>
            <a:avLst/>
            <a:gdLst>
              <a:gd name="connsiteX0" fmla="*/ 910971 w 2479694"/>
              <a:gd name="connsiteY0" fmla="*/ 57599 h 2518288"/>
              <a:gd name="connsiteX1" fmla="*/ 459082 w 2479694"/>
              <a:gd name="connsiteY1" fmla="*/ 200298 h 2518288"/>
              <a:gd name="connsiteX2" fmla="*/ 154652 w 2479694"/>
              <a:gd name="connsiteY2" fmla="*/ 647420 h 2518288"/>
              <a:gd name="connsiteX3" fmla="*/ 7194 w 2479694"/>
              <a:gd name="connsiteY3" fmla="*/ 1151621 h 2518288"/>
              <a:gd name="connsiteX4" fmla="*/ 50004 w 2479694"/>
              <a:gd name="connsiteY4" fmla="*/ 1679605 h 2518288"/>
              <a:gd name="connsiteX5" fmla="*/ 283084 w 2479694"/>
              <a:gd name="connsiteY5" fmla="*/ 2236129 h 2518288"/>
              <a:gd name="connsiteX6" fmla="*/ 929997 w 2479694"/>
              <a:gd name="connsiteY6" fmla="*/ 2502500 h 2518288"/>
              <a:gd name="connsiteX7" fmla="*/ 1434210 w 2479694"/>
              <a:gd name="connsiteY7" fmla="*/ 2483473 h 2518288"/>
              <a:gd name="connsiteX8" fmla="*/ 1919395 w 2479694"/>
              <a:gd name="connsiteY8" fmla="*/ 2450177 h 2518288"/>
              <a:gd name="connsiteX9" fmla="*/ 2380797 w 2479694"/>
              <a:gd name="connsiteY9" fmla="*/ 1831817 h 2518288"/>
              <a:gd name="connsiteX10" fmla="*/ 2471174 w 2479694"/>
              <a:gd name="connsiteY10" fmla="*/ 1246753 h 2518288"/>
              <a:gd name="connsiteX11" fmla="*/ 2242852 w 2479694"/>
              <a:gd name="connsiteY11" fmla="*/ 675959 h 2518288"/>
              <a:gd name="connsiteX12" fmla="*/ 2066853 w 2479694"/>
              <a:gd name="connsiteY12" fmla="*/ 371536 h 2518288"/>
              <a:gd name="connsiteX13" fmla="*/ 1838531 w 2479694"/>
              <a:gd name="connsiteY13" fmla="*/ 86139 h 2518288"/>
              <a:gd name="connsiteX14" fmla="*/ 1258211 w 2479694"/>
              <a:gd name="connsiteY14" fmla="*/ 520 h 2518288"/>
              <a:gd name="connsiteX15" fmla="*/ 910971 w 2479694"/>
              <a:gd name="connsiteY15" fmla="*/ 57599 h 2518288"/>
              <a:gd name="connsiteX0" fmla="*/ 910971 w 2491918"/>
              <a:gd name="connsiteY0" fmla="*/ 57599 h 2518288"/>
              <a:gd name="connsiteX1" fmla="*/ 459082 w 2491918"/>
              <a:gd name="connsiteY1" fmla="*/ 200298 h 2518288"/>
              <a:gd name="connsiteX2" fmla="*/ 154652 w 2491918"/>
              <a:gd name="connsiteY2" fmla="*/ 647420 h 2518288"/>
              <a:gd name="connsiteX3" fmla="*/ 7194 w 2491918"/>
              <a:gd name="connsiteY3" fmla="*/ 1151621 h 2518288"/>
              <a:gd name="connsiteX4" fmla="*/ 50004 w 2491918"/>
              <a:gd name="connsiteY4" fmla="*/ 1679605 h 2518288"/>
              <a:gd name="connsiteX5" fmla="*/ 283084 w 2491918"/>
              <a:gd name="connsiteY5" fmla="*/ 2236129 h 2518288"/>
              <a:gd name="connsiteX6" fmla="*/ 929997 w 2491918"/>
              <a:gd name="connsiteY6" fmla="*/ 2502500 h 2518288"/>
              <a:gd name="connsiteX7" fmla="*/ 1434210 w 2491918"/>
              <a:gd name="connsiteY7" fmla="*/ 2483473 h 2518288"/>
              <a:gd name="connsiteX8" fmla="*/ 1919395 w 2491918"/>
              <a:gd name="connsiteY8" fmla="*/ 2450177 h 2518288"/>
              <a:gd name="connsiteX9" fmla="*/ 2380797 w 2491918"/>
              <a:gd name="connsiteY9" fmla="*/ 1831817 h 2518288"/>
              <a:gd name="connsiteX10" fmla="*/ 2471174 w 2491918"/>
              <a:gd name="connsiteY10" fmla="*/ 1246753 h 2518288"/>
              <a:gd name="connsiteX11" fmla="*/ 2452444 w 2491918"/>
              <a:gd name="connsiteY11" fmla="*/ 688289 h 2518288"/>
              <a:gd name="connsiteX12" fmla="*/ 2066853 w 2491918"/>
              <a:gd name="connsiteY12" fmla="*/ 371536 h 2518288"/>
              <a:gd name="connsiteX13" fmla="*/ 1838531 w 2491918"/>
              <a:gd name="connsiteY13" fmla="*/ 86139 h 2518288"/>
              <a:gd name="connsiteX14" fmla="*/ 1258211 w 2491918"/>
              <a:gd name="connsiteY14" fmla="*/ 520 h 2518288"/>
              <a:gd name="connsiteX15" fmla="*/ 910971 w 2491918"/>
              <a:gd name="connsiteY15" fmla="*/ 57599 h 2518288"/>
              <a:gd name="connsiteX0" fmla="*/ 910971 w 2518269"/>
              <a:gd name="connsiteY0" fmla="*/ 57599 h 2518288"/>
              <a:gd name="connsiteX1" fmla="*/ 459082 w 2518269"/>
              <a:gd name="connsiteY1" fmla="*/ 200298 h 2518288"/>
              <a:gd name="connsiteX2" fmla="*/ 154652 w 2518269"/>
              <a:gd name="connsiteY2" fmla="*/ 647420 h 2518288"/>
              <a:gd name="connsiteX3" fmla="*/ 7194 w 2518269"/>
              <a:gd name="connsiteY3" fmla="*/ 1151621 h 2518288"/>
              <a:gd name="connsiteX4" fmla="*/ 50004 w 2518269"/>
              <a:gd name="connsiteY4" fmla="*/ 1679605 h 2518288"/>
              <a:gd name="connsiteX5" fmla="*/ 283084 w 2518269"/>
              <a:gd name="connsiteY5" fmla="*/ 2236129 h 2518288"/>
              <a:gd name="connsiteX6" fmla="*/ 929997 w 2518269"/>
              <a:gd name="connsiteY6" fmla="*/ 2502500 h 2518288"/>
              <a:gd name="connsiteX7" fmla="*/ 1434210 w 2518269"/>
              <a:gd name="connsiteY7" fmla="*/ 2483473 h 2518288"/>
              <a:gd name="connsiteX8" fmla="*/ 1919395 w 2518269"/>
              <a:gd name="connsiteY8" fmla="*/ 2450177 h 2518288"/>
              <a:gd name="connsiteX9" fmla="*/ 2380797 w 2518269"/>
              <a:gd name="connsiteY9" fmla="*/ 1831817 h 2518288"/>
              <a:gd name="connsiteX10" fmla="*/ 2471174 w 2518269"/>
              <a:gd name="connsiteY10" fmla="*/ 1246753 h 2518288"/>
              <a:gd name="connsiteX11" fmla="*/ 2452444 w 2518269"/>
              <a:gd name="connsiteY11" fmla="*/ 688289 h 2518288"/>
              <a:gd name="connsiteX12" fmla="*/ 2066853 w 2518269"/>
              <a:gd name="connsiteY12" fmla="*/ 371536 h 2518288"/>
              <a:gd name="connsiteX13" fmla="*/ 1838531 w 2518269"/>
              <a:gd name="connsiteY13" fmla="*/ 86139 h 2518288"/>
              <a:gd name="connsiteX14" fmla="*/ 1258211 w 2518269"/>
              <a:gd name="connsiteY14" fmla="*/ 520 h 2518288"/>
              <a:gd name="connsiteX15" fmla="*/ 910971 w 2518269"/>
              <a:gd name="connsiteY15" fmla="*/ 57599 h 2518288"/>
              <a:gd name="connsiteX0" fmla="*/ 910971 w 2536501"/>
              <a:gd name="connsiteY0" fmla="*/ 57599 h 2518288"/>
              <a:gd name="connsiteX1" fmla="*/ 459082 w 2536501"/>
              <a:gd name="connsiteY1" fmla="*/ 200298 h 2518288"/>
              <a:gd name="connsiteX2" fmla="*/ 154652 w 2536501"/>
              <a:gd name="connsiteY2" fmla="*/ 647420 h 2518288"/>
              <a:gd name="connsiteX3" fmla="*/ 7194 w 2536501"/>
              <a:gd name="connsiteY3" fmla="*/ 1151621 h 2518288"/>
              <a:gd name="connsiteX4" fmla="*/ 50004 w 2536501"/>
              <a:gd name="connsiteY4" fmla="*/ 1679605 h 2518288"/>
              <a:gd name="connsiteX5" fmla="*/ 283084 w 2536501"/>
              <a:gd name="connsiteY5" fmla="*/ 2236129 h 2518288"/>
              <a:gd name="connsiteX6" fmla="*/ 929997 w 2536501"/>
              <a:gd name="connsiteY6" fmla="*/ 2502500 h 2518288"/>
              <a:gd name="connsiteX7" fmla="*/ 1434210 w 2536501"/>
              <a:gd name="connsiteY7" fmla="*/ 2483473 h 2518288"/>
              <a:gd name="connsiteX8" fmla="*/ 1919395 w 2536501"/>
              <a:gd name="connsiteY8" fmla="*/ 2450177 h 2518288"/>
              <a:gd name="connsiteX9" fmla="*/ 2380797 w 2536501"/>
              <a:gd name="connsiteY9" fmla="*/ 1831817 h 2518288"/>
              <a:gd name="connsiteX10" fmla="*/ 2532819 w 2536501"/>
              <a:gd name="connsiteY10" fmla="*/ 1394709 h 2518288"/>
              <a:gd name="connsiteX11" fmla="*/ 2452444 w 2536501"/>
              <a:gd name="connsiteY11" fmla="*/ 688289 h 2518288"/>
              <a:gd name="connsiteX12" fmla="*/ 2066853 w 2536501"/>
              <a:gd name="connsiteY12" fmla="*/ 371536 h 2518288"/>
              <a:gd name="connsiteX13" fmla="*/ 1838531 w 2536501"/>
              <a:gd name="connsiteY13" fmla="*/ 86139 h 2518288"/>
              <a:gd name="connsiteX14" fmla="*/ 1258211 w 2536501"/>
              <a:gd name="connsiteY14" fmla="*/ 520 h 2518288"/>
              <a:gd name="connsiteX15" fmla="*/ 910971 w 2536501"/>
              <a:gd name="connsiteY15" fmla="*/ 57599 h 25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536501" h="2518288">
                <a:moveTo>
                  <a:pt x="910971" y="57599"/>
                </a:moveTo>
                <a:cubicBezTo>
                  <a:pt x="777783" y="90895"/>
                  <a:pt x="585135" y="101995"/>
                  <a:pt x="459082" y="200298"/>
                </a:cubicBezTo>
                <a:cubicBezTo>
                  <a:pt x="333029" y="298601"/>
                  <a:pt x="229967" y="488866"/>
                  <a:pt x="154652" y="647420"/>
                </a:cubicBezTo>
                <a:cubicBezTo>
                  <a:pt x="79337" y="805974"/>
                  <a:pt x="24635" y="979590"/>
                  <a:pt x="7194" y="1151621"/>
                </a:cubicBezTo>
                <a:cubicBezTo>
                  <a:pt x="-10247" y="1323652"/>
                  <a:pt x="4022" y="1498854"/>
                  <a:pt x="50004" y="1679605"/>
                </a:cubicBezTo>
                <a:cubicBezTo>
                  <a:pt x="95986" y="1860356"/>
                  <a:pt x="136419" y="2098980"/>
                  <a:pt x="283084" y="2236129"/>
                </a:cubicBezTo>
                <a:cubicBezTo>
                  <a:pt x="429749" y="2373278"/>
                  <a:pt x="738143" y="2461276"/>
                  <a:pt x="929997" y="2502500"/>
                </a:cubicBezTo>
                <a:cubicBezTo>
                  <a:pt x="1121851" y="2543724"/>
                  <a:pt x="1269310" y="2492193"/>
                  <a:pt x="1434210" y="2483473"/>
                </a:cubicBezTo>
                <a:cubicBezTo>
                  <a:pt x="1599110" y="2474753"/>
                  <a:pt x="1761631" y="2558786"/>
                  <a:pt x="1919395" y="2450177"/>
                </a:cubicBezTo>
                <a:cubicBezTo>
                  <a:pt x="2077160" y="2341568"/>
                  <a:pt x="2278560" y="2007728"/>
                  <a:pt x="2380797" y="1831817"/>
                </a:cubicBezTo>
                <a:cubicBezTo>
                  <a:pt x="2483034" y="1655906"/>
                  <a:pt x="2520878" y="1585297"/>
                  <a:pt x="2532819" y="1394709"/>
                </a:cubicBezTo>
                <a:cubicBezTo>
                  <a:pt x="2544760" y="1204121"/>
                  <a:pt x="2530105" y="858818"/>
                  <a:pt x="2452444" y="688289"/>
                </a:cubicBezTo>
                <a:cubicBezTo>
                  <a:pt x="2374783" y="517760"/>
                  <a:pt x="2169172" y="471894"/>
                  <a:pt x="2066853" y="371536"/>
                </a:cubicBezTo>
                <a:cubicBezTo>
                  <a:pt x="1964534" y="271178"/>
                  <a:pt x="1973305" y="147975"/>
                  <a:pt x="1838531" y="86139"/>
                </a:cubicBezTo>
                <a:cubicBezTo>
                  <a:pt x="1703757" y="24303"/>
                  <a:pt x="1414390" y="5277"/>
                  <a:pt x="1258211" y="520"/>
                </a:cubicBezTo>
                <a:cubicBezTo>
                  <a:pt x="1102032" y="-4237"/>
                  <a:pt x="1044159" y="24303"/>
                  <a:pt x="910971" y="57599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0" name="Freeform 159">
            <a:extLst>
              <a:ext uri="{FF2B5EF4-FFF2-40B4-BE49-F238E27FC236}">
                <a16:creationId xmlns:a16="http://schemas.microsoft.com/office/drawing/2014/main" id="{D4BA4872-27CD-6A48-92F2-E847FD1CC8C7}"/>
              </a:ext>
            </a:extLst>
          </p:cNvPr>
          <p:cNvSpPr/>
          <p:nvPr/>
        </p:nvSpPr>
        <p:spPr>
          <a:xfrm>
            <a:off x="6426611" y="1551322"/>
            <a:ext cx="2479694" cy="2518288"/>
          </a:xfrm>
          <a:custGeom>
            <a:avLst/>
            <a:gdLst>
              <a:gd name="connsiteX0" fmla="*/ 910971 w 2479694"/>
              <a:gd name="connsiteY0" fmla="*/ 57599 h 2518288"/>
              <a:gd name="connsiteX1" fmla="*/ 459082 w 2479694"/>
              <a:gd name="connsiteY1" fmla="*/ 200298 h 2518288"/>
              <a:gd name="connsiteX2" fmla="*/ 154652 w 2479694"/>
              <a:gd name="connsiteY2" fmla="*/ 647420 h 2518288"/>
              <a:gd name="connsiteX3" fmla="*/ 7194 w 2479694"/>
              <a:gd name="connsiteY3" fmla="*/ 1151621 h 2518288"/>
              <a:gd name="connsiteX4" fmla="*/ 50004 w 2479694"/>
              <a:gd name="connsiteY4" fmla="*/ 1679605 h 2518288"/>
              <a:gd name="connsiteX5" fmla="*/ 283084 w 2479694"/>
              <a:gd name="connsiteY5" fmla="*/ 2236129 h 2518288"/>
              <a:gd name="connsiteX6" fmla="*/ 929997 w 2479694"/>
              <a:gd name="connsiteY6" fmla="*/ 2502500 h 2518288"/>
              <a:gd name="connsiteX7" fmla="*/ 1434210 w 2479694"/>
              <a:gd name="connsiteY7" fmla="*/ 2483473 h 2518288"/>
              <a:gd name="connsiteX8" fmla="*/ 1919395 w 2479694"/>
              <a:gd name="connsiteY8" fmla="*/ 2450177 h 2518288"/>
              <a:gd name="connsiteX9" fmla="*/ 2380797 w 2479694"/>
              <a:gd name="connsiteY9" fmla="*/ 1831817 h 2518288"/>
              <a:gd name="connsiteX10" fmla="*/ 2471174 w 2479694"/>
              <a:gd name="connsiteY10" fmla="*/ 1246753 h 2518288"/>
              <a:gd name="connsiteX11" fmla="*/ 2242852 w 2479694"/>
              <a:gd name="connsiteY11" fmla="*/ 675959 h 2518288"/>
              <a:gd name="connsiteX12" fmla="*/ 2066853 w 2479694"/>
              <a:gd name="connsiteY12" fmla="*/ 371536 h 2518288"/>
              <a:gd name="connsiteX13" fmla="*/ 1838531 w 2479694"/>
              <a:gd name="connsiteY13" fmla="*/ 86139 h 2518288"/>
              <a:gd name="connsiteX14" fmla="*/ 1258211 w 2479694"/>
              <a:gd name="connsiteY14" fmla="*/ 520 h 2518288"/>
              <a:gd name="connsiteX15" fmla="*/ 910971 w 2479694"/>
              <a:gd name="connsiteY15" fmla="*/ 57599 h 25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79694" h="2518288">
                <a:moveTo>
                  <a:pt x="910971" y="57599"/>
                </a:moveTo>
                <a:cubicBezTo>
                  <a:pt x="777783" y="90895"/>
                  <a:pt x="585135" y="101995"/>
                  <a:pt x="459082" y="200298"/>
                </a:cubicBezTo>
                <a:cubicBezTo>
                  <a:pt x="333029" y="298601"/>
                  <a:pt x="229967" y="488866"/>
                  <a:pt x="154652" y="647420"/>
                </a:cubicBezTo>
                <a:cubicBezTo>
                  <a:pt x="79337" y="805974"/>
                  <a:pt x="24635" y="979590"/>
                  <a:pt x="7194" y="1151621"/>
                </a:cubicBezTo>
                <a:cubicBezTo>
                  <a:pt x="-10247" y="1323652"/>
                  <a:pt x="4022" y="1498854"/>
                  <a:pt x="50004" y="1679605"/>
                </a:cubicBezTo>
                <a:cubicBezTo>
                  <a:pt x="95986" y="1860356"/>
                  <a:pt x="136419" y="2098980"/>
                  <a:pt x="283084" y="2236129"/>
                </a:cubicBezTo>
                <a:cubicBezTo>
                  <a:pt x="429749" y="2373278"/>
                  <a:pt x="738143" y="2461276"/>
                  <a:pt x="929997" y="2502500"/>
                </a:cubicBezTo>
                <a:cubicBezTo>
                  <a:pt x="1121851" y="2543724"/>
                  <a:pt x="1269310" y="2492193"/>
                  <a:pt x="1434210" y="2483473"/>
                </a:cubicBezTo>
                <a:cubicBezTo>
                  <a:pt x="1599110" y="2474753"/>
                  <a:pt x="1761631" y="2558786"/>
                  <a:pt x="1919395" y="2450177"/>
                </a:cubicBezTo>
                <a:cubicBezTo>
                  <a:pt x="2077160" y="2341568"/>
                  <a:pt x="2288834" y="2032388"/>
                  <a:pt x="2380797" y="1831817"/>
                </a:cubicBezTo>
                <a:cubicBezTo>
                  <a:pt x="2472760" y="1631246"/>
                  <a:pt x="2494165" y="1439396"/>
                  <a:pt x="2471174" y="1246753"/>
                </a:cubicBezTo>
                <a:cubicBezTo>
                  <a:pt x="2448183" y="1054110"/>
                  <a:pt x="2310239" y="821828"/>
                  <a:pt x="2242852" y="675959"/>
                </a:cubicBezTo>
                <a:cubicBezTo>
                  <a:pt x="2175465" y="530090"/>
                  <a:pt x="2134240" y="469839"/>
                  <a:pt x="2066853" y="371536"/>
                </a:cubicBezTo>
                <a:cubicBezTo>
                  <a:pt x="1999466" y="273233"/>
                  <a:pt x="1973305" y="147975"/>
                  <a:pt x="1838531" y="86139"/>
                </a:cubicBezTo>
                <a:cubicBezTo>
                  <a:pt x="1703757" y="24303"/>
                  <a:pt x="1414390" y="5277"/>
                  <a:pt x="1258211" y="520"/>
                </a:cubicBezTo>
                <a:cubicBezTo>
                  <a:pt x="1102032" y="-4237"/>
                  <a:pt x="1044159" y="24303"/>
                  <a:pt x="910971" y="57599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1" name="Freeform 160">
            <a:extLst>
              <a:ext uri="{FF2B5EF4-FFF2-40B4-BE49-F238E27FC236}">
                <a16:creationId xmlns:a16="http://schemas.microsoft.com/office/drawing/2014/main" id="{4BAF0F74-7C28-714E-9F17-A7173A0A4695}"/>
              </a:ext>
            </a:extLst>
          </p:cNvPr>
          <p:cNvSpPr/>
          <p:nvPr/>
        </p:nvSpPr>
        <p:spPr>
          <a:xfrm flipV="1">
            <a:off x="4827446" y="4937117"/>
            <a:ext cx="2158078" cy="1107763"/>
          </a:xfrm>
          <a:custGeom>
            <a:avLst/>
            <a:gdLst>
              <a:gd name="connsiteX0" fmla="*/ 793763 w 1763990"/>
              <a:gd name="connsiteY0" fmla="*/ 21490 h 1007767"/>
              <a:gd name="connsiteX1" fmla="*/ 343771 w 1763990"/>
              <a:gd name="connsiteY1" fmla="*/ 101492 h 1007767"/>
              <a:gd name="connsiteX2" fmla="*/ 133775 w 1763990"/>
              <a:gd name="connsiteY2" fmla="*/ 356499 h 1007767"/>
              <a:gd name="connsiteX3" fmla="*/ 3777 w 1763990"/>
              <a:gd name="connsiteY3" fmla="*/ 616506 h 1007767"/>
              <a:gd name="connsiteX4" fmla="*/ 278772 w 1763990"/>
              <a:gd name="connsiteY4" fmla="*/ 951515 h 1007767"/>
              <a:gd name="connsiteX5" fmla="*/ 868762 w 1763990"/>
              <a:gd name="connsiteY5" fmla="*/ 1006517 h 1007767"/>
              <a:gd name="connsiteX6" fmla="*/ 1228755 w 1763990"/>
              <a:gd name="connsiteY6" fmla="*/ 941515 h 1007767"/>
              <a:gd name="connsiteX7" fmla="*/ 1688747 w 1763990"/>
              <a:gd name="connsiteY7" fmla="*/ 916514 h 1007767"/>
              <a:gd name="connsiteX8" fmla="*/ 1743746 w 1763990"/>
              <a:gd name="connsiteY8" fmla="*/ 556504 h 1007767"/>
              <a:gd name="connsiteX9" fmla="*/ 1483750 w 1763990"/>
              <a:gd name="connsiteY9" fmla="*/ 156493 h 1007767"/>
              <a:gd name="connsiteX10" fmla="*/ 1013759 w 1763990"/>
              <a:gd name="connsiteY10" fmla="*/ 11489 h 1007767"/>
              <a:gd name="connsiteX11" fmla="*/ 793763 w 1763990"/>
              <a:gd name="connsiteY11" fmla="*/ 21490 h 1007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63990" h="1007767">
                <a:moveTo>
                  <a:pt x="793763" y="21490"/>
                </a:moveTo>
                <a:cubicBezTo>
                  <a:pt x="682098" y="36490"/>
                  <a:pt x="453769" y="45657"/>
                  <a:pt x="343771" y="101492"/>
                </a:cubicBezTo>
                <a:cubicBezTo>
                  <a:pt x="233773" y="157327"/>
                  <a:pt x="190441" y="270663"/>
                  <a:pt x="133775" y="356499"/>
                </a:cubicBezTo>
                <a:cubicBezTo>
                  <a:pt x="77109" y="442335"/>
                  <a:pt x="-20389" y="517337"/>
                  <a:pt x="3777" y="616506"/>
                </a:cubicBezTo>
                <a:cubicBezTo>
                  <a:pt x="27943" y="715675"/>
                  <a:pt x="134608" y="886513"/>
                  <a:pt x="278772" y="951515"/>
                </a:cubicBezTo>
                <a:cubicBezTo>
                  <a:pt x="422936" y="1016517"/>
                  <a:pt x="710432" y="1008184"/>
                  <a:pt x="868762" y="1006517"/>
                </a:cubicBezTo>
                <a:cubicBezTo>
                  <a:pt x="1027092" y="1004850"/>
                  <a:pt x="1092091" y="956516"/>
                  <a:pt x="1228755" y="941515"/>
                </a:cubicBezTo>
                <a:cubicBezTo>
                  <a:pt x="1365419" y="926515"/>
                  <a:pt x="1602915" y="980683"/>
                  <a:pt x="1688747" y="916514"/>
                </a:cubicBezTo>
                <a:cubicBezTo>
                  <a:pt x="1774579" y="852346"/>
                  <a:pt x="1777912" y="683174"/>
                  <a:pt x="1743746" y="556504"/>
                </a:cubicBezTo>
                <a:cubicBezTo>
                  <a:pt x="1709580" y="429834"/>
                  <a:pt x="1605415" y="247329"/>
                  <a:pt x="1483750" y="156493"/>
                </a:cubicBezTo>
                <a:cubicBezTo>
                  <a:pt x="1362086" y="65657"/>
                  <a:pt x="1130423" y="35656"/>
                  <a:pt x="1013759" y="11489"/>
                </a:cubicBezTo>
                <a:cubicBezTo>
                  <a:pt x="897095" y="-12678"/>
                  <a:pt x="905428" y="6490"/>
                  <a:pt x="793763" y="21490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A7B3FC8-0B6A-9749-A0D8-9F70F6C35488}"/>
              </a:ext>
            </a:extLst>
          </p:cNvPr>
          <p:cNvGrpSpPr/>
          <p:nvPr/>
        </p:nvGrpSpPr>
        <p:grpSpPr>
          <a:xfrm>
            <a:off x="3119550" y="1445494"/>
            <a:ext cx="1744394" cy="1538322"/>
            <a:chOff x="3119550" y="1445494"/>
            <a:chExt cx="1744394" cy="1538322"/>
          </a:xfrm>
        </p:grpSpPr>
        <p:pic>
          <p:nvPicPr>
            <p:cNvPr id="163" name="Picture 162" descr="mobile_or_tablet.png">
              <a:extLst>
                <a:ext uri="{FF2B5EF4-FFF2-40B4-BE49-F238E27FC236}">
                  <a16:creationId xmlns:a16="http://schemas.microsoft.com/office/drawing/2014/main" id="{0983C312-0633-C441-9BC1-232D90C703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32310" y="1445494"/>
              <a:ext cx="567057" cy="933976"/>
            </a:xfrm>
            <a:prstGeom prst="rect">
              <a:avLst/>
            </a:prstGeom>
          </p:spPr>
        </p:pic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4E40565C-0C6E-BA49-8851-CCDC0BEC0BE1}"/>
                </a:ext>
              </a:extLst>
            </p:cNvPr>
            <p:cNvSpPr txBox="1"/>
            <p:nvPr/>
          </p:nvSpPr>
          <p:spPr>
            <a:xfrm>
              <a:off x="3119550" y="2334407"/>
              <a:ext cx="1744394" cy="6494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1200" dirty="0"/>
                <a:t>Permanent IP: </a:t>
              </a:r>
            </a:p>
            <a:p>
              <a:pPr>
                <a:lnSpc>
                  <a:spcPct val="80000"/>
                </a:lnSpc>
              </a:pPr>
              <a:r>
                <a:rPr lang="en-US" sz="1200" dirty="0"/>
                <a:t>   </a:t>
              </a:r>
              <a:r>
                <a:rPr lang="en-US" sz="1000" dirty="0"/>
                <a:t>128.119.40.186</a:t>
              </a:r>
            </a:p>
            <a:p>
              <a:pPr>
                <a:lnSpc>
                  <a:spcPct val="80000"/>
                </a:lnSpc>
              </a:pPr>
              <a:r>
                <a:rPr lang="en-US" sz="1100" dirty="0"/>
                <a:t>IMSI</a:t>
              </a:r>
            </a:p>
            <a:p>
              <a:pPr>
                <a:lnSpc>
                  <a:spcPct val="80000"/>
                </a:lnSpc>
              </a:pPr>
              <a:r>
                <a:rPr lang="is-IS" sz="1000"/>
                <a:t>    78:4f:43:98:d9:27</a:t>
              </a:r>
              <a:endParaRPr lang="en-US" sz="1000" dirty="0"/>
            </a:p>
          </p:txBody>
        </p:sp>
      </p:grpSp>
      <p:sp>
        <p:nvSpPr>
          <p:cNvPr id="204" name="TextBox 203">
            <a:extLst>
              <a:ext uri="{FF2B5EF4-FFF2-40B4-BE49-F238E27FC236}">
                <a16:creationId xmlns:a16="http://schemas.microsoft.com/office/drawing/2014/main" id="{12AF797B-48A3-0045-B50E-60F89C271506}"/>
              </a:ext>
            </a:extLst>
          </p:cNvPr>
          <p:cNvSpPr txBox="1"/>
          <p:nvPr/>
        </p:nvSpPr>
        <p:spPr>
          <a:xfrm>
            <a:off x="7390058" y="3336525"/>
            <a:ext cx="1116933" cy="613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1400" dirty="0"/>
              <a:t>Visited network  gateway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9CDF00C-B973-CD46-A2F1-A918C98F0A5A}"/>
              </a:ext>
            </a:extLst>
          </p:cNvPr>
          <p:cNvGrpSpPr/>
          <p:nvPr/>
        </p:nvGrpSpPr>
        <p:grpSpPr>
          <a:xfrm>
            <a:off x="6620214" y="1514301"/>
            <a:ext cx="1744394" cy="1534683"/>
            <a:chOff x="6620214" y="1514301"/>
            <a:chExt cx="1744394" cy="1534683"/>
          </a:xfrm>
        </p:grpSpPr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73CE81A0-82DC-454A-BDC0-50B138BBC28F}"/>
                </a:ext>
              </a:extLst>
            </p:cNvPr>
            <p:cNvSpPr txBox="1"/>
            <p:nvPr/>
          </p:nvSpPr>
          <p:spPr>
            <a:xfrm>
              <a:off x="6620214" y="2399575"/>
              <a:ext cx="1744394" cy="6494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1200" dirty="0"/>
                <a:t>NAT IP: </a:t>
              </a:r>
            </a:p>
            <a:p>
              <a:pPr>
                <a:lnSpc>
                  <a:spcPct val="80000"/>
                </a:lnSpc>
              </a:pPr>
              <a:r>
                <a:rPr lang="en-US" sz="1200" dirty="0"/>
                <a:t>   </a:t>
              </a:r>
              <a:r>
                <a:rPr lang="en-US" sz="1000" dirty="0"/>
                <a:t>10.0.0.99</a:t>
              </a:r>
            </a:p>
            <a:p>
              <a:pPr>
                <a:lnSpc>
                  <a:spcPct val="80000"/>
                </a:lnSpc>
              </a:pPr>
              <a:r>
                <a:rPr lang="en-US" sz="1100" dirty="0"/>
                <a:t>IMSI</a:t>
              </a:r>
            </a:p>
            <a:p>
              <a:pPr>
                <a:lnSpc>
                  <a:spcPct val="80000"/>
                </a:lnSpc>
              </a:pPr>
              <a:r>
                <a:rPr lang="is-IS" sz="1000"/>
                <a:t>    78:4f:43:98:d9:27</a:t>
              </a:r>
              <a:endParaRPr lang="en-US" sz="800" dirty="0"/>
            </a:p>
          </p:txBody>
        </p:sp>
        <p:grpSp>
          <p:nvGrpSpPr>
            <p:cNvPr id="213" name="Group 212">
              <a:extLst>
                <a:ext uri="{FF2B5EF4-FFF2-40B4-BE49-F238E27FC236}">
                  <a16:creationId xmlns:a16="http://schemas.microsoft.com/office/drawing/2014/main" id="{018A4EF1-315F-A74F-89C7-B5A0A4AF1AC0}"/>
                </a:ext>
              </a:extLst>
            </p:cNvPr>
            <p:cNvGrpSpPr/>
            <p:nvPr/>
          </p:nvGrpSpPr>
          <p:grpSpPr>
            <a:xfrm>
              <a:off x="6743781" y="1514301"/>
              <a:ext cx="567057" cy="933976"/>
              <a:chOff x="3533208" y="1227996"/>
              <a:chExt cx="567057" cy="933976"/>
            </a:xfrm>
          </p:grpSpPr>
          <p:pic>
            <p:nvPicPr>
              <p:cNvPr id="214" name="Picture 213" descr="mobile_or_tablet.png">
                <a:extLst>
                  <a:ext uri="{FF2B5EF4-FFF2-40B4-BE49-F238E27FC236}">
                    <a16:creationId xmlns:a16="http://schemas.microsoft.com/office/drawing/2014/main" id="{03ED3F89-0F9E-A74D-ACF1-BAB5B755E5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533208" y="1227996"/>
                <a:ext cx="567057" cy="933976"/>
              </a:xfrm>
              <a:prstGeom prst="rect">
                <a:avLst/>
              </a:prstGeom>
            </p:spPr>
          </p:pic>
          <p:sp>
            <p:nvSpPr>
              <p:cNvPr id="215" name="Rectangle 214">
                <a:extLst>
                  <a:ext uri="{FF2B5EF4-FFF2-40B4-BE49-F238E27FC236}">
                    <a16:creationId xmlns:a16="http://schemas.microsoft.com/office/drawing/2014/main" id="{F71FDAE2-C7E1-9F48-91C0-5E0A83B0E248}"/>
                  </a:ext>
                </a:extLst>
              </p:cNvPr>
              <p:cNvSpPr/>
              <p:nvPr/>
            </p:nvSpPr>
            <p:spPr>
              <a:xfrm>
                <a:off x="3688667" y="1588335"/>
                <a:ext cx="243304" cy="420055"/>
              </a:xfrm>
              <a:prstGeom prst="rect">
                <a:avLst/>
              </a:prstGeom>
              <a:gradFill flip="none" rotWithShape="1">
                <a:gsLst>
                  <a:gs pos="2000">
                    <a:srgbClr val="107AA7"/>
                  </a:gs>
                  <a:gs pos="100000">
                    <a:srgbClr val="107AA7"/>
                  </a:gs>
                  <a:gs pos="50000">
                    <a:schemeClr val="accent1">
                      <a:lumMod val="20000"/>
                      <a:lumOff val="80000"/>
                    </a:schemeClr>
                  </a:gs>
                </a:gsLst>
                <a:lin ang="16200000" scaled="0"/>
                <a:tileRect/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7349B58B-970F-5C45-8801-AB49FC8075A1}"/>
              </a:ext>
            </a:extLst>
          </p:cNvPr>
          <p:cNvCxnSpPr/>
          <p:nvPr/>
        </p:nvCxnSpPr>
        <p:spPr>
          <a:xfrm flipV="1">
            <a:off x="5826528" y="4505143"/>
            <a:ext cx="0" cy="440981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12F0095C-8851-C142-8839-A58A9D5A0AF4}"/>
              </a:ext>
            </a:extLst>
          </p:cNvPr>
          <p:cNvGrpSpPr/>
          <p:nvPr/>
        </p:nvGrpSpPr>
        <p:grpSpPr>
          <a:xfrm>
            <a:off x="4943128" y="3697579"/>
            <a:ext cx="1763990" cy="1007767"/>
            <a:chOff x="2611175" y="5012905"/>
            <a:chExt cx="1763990" cy="1007767"/>
          </a:xfrm>
        </p:grpSpPr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B193D7C1-5727-1F41-BCE2-FCDF5888BFAD}"/>
                </a:ext>
              </a:extLst>
            </p:cNvPr>
            <p:cNvSpPr/>
            <p:nvPr/>
          </p:nvSpPr>
          <p:spPr>
            <a:xfrm>
              <a:off x="3161857" y="5183726"/>
              <a:ext cx="733868" cy="333063"/>
            </a:xfrm>
            <a:prstGeom prst="rect">
              <a:avLst/>
            </a:prstGeom>
            <a:solidFill>
              <a:srgbClr val="E0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D5D35F89-5A2F-1342-9878-315FF6E12493}"/>
                </a:ext>
              </a:extLst>
            </p:cNvPr>
            <p:cNvCxnSpPr/>
            <p:nvPr/>
          </p:nvCxnSpPr>
          <p:spPr>
            <a:xfrm>
              <a:off x="3462434" y="5820469"/>
              <a:ext cx="0" cy="189913"/>
            </a:xfrm>
            <a:prstGeom prst="line">
              <a:avLst/>
            </a:prstGeom>
            <a:ln w="158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3" name="Freeform 222">
              <a:extLst>
                <a:ext uri="{FF2B5EF4-FFF2-40B4-BE49-F238E27FC236}">
                  <a16:creationId xmlns:a16="http://schemas.microsoft.com/office/drawing/2014/main" id="{5DF4CA8F-4DAA-2840-B866-7A79200D52E2}"/>
                </a:ext>
              </a:extLst>
            </p:cNvPr>
            <p:cNvSpPr/>
            <p:nvPr/>
          </p:nvSpPr>
          <p:spPr>
            <a:xfrm>
              <a:off x="2611175" y="5012905"/>
              <a:ext cx="1763990" cy="1007767"/>
            </a:xfrm>
            <a:custGeom>
              <a:avLst/>
              <a:gdLst>
                <a:gd name="connsiteX0" fmla="*/ 793763 w 1763990"/>
                <a:gd name="connsiteY0" fmla="*/ 21490 h 1007767"/>
                <a:gd name="connsiteX1" fmla="*/ 343771 w 1763990"/>
                <a:gd name="connsiteY1" fmla="*/ 101492 h 1007767"/>
                <a:gd name="connsiteX2" fmla="*/ 133775 w 1763990"/>
                <a:gd name="connsiteY2" fmla="*/ 356499 h 1007767"/>
                <a:gd name="connsiteX3" fmla="*/ 3777 w 1763990"/>
                <a:gd name="connsiteY3" fmla="*/ 616506 h 1007767"/>
                <a:gd name="connsiteX4" fmla="*/ 278772 w 1763990"/>
                <a:gd name="connsiteY4" fmla="*/ 951515 h 1007767"/>
                <a:gd name="connsiteX5" fmla="*/ 868762 w 1763990"/>
                <a:gd name="connsiteY5" fmla="*/ 1006517 h 1007767"/>
                <a:gd name="connsiteX6" fmla="*/ 1228755 w 1763990"/>
                <a:gd name="connsiteY6" fmla="*/ 941515 h 1007767"/>
                <a:gd name="connsiteX7" fmla="*/ 1688747 w 1763990"/>
                <a:gd name="connsiteY7" fmla="*/ 916514 h 1007767"/>
                <a:gd name="connsiteX8" fmla="*/ 1743746 w 1763990"/>
                <a:gd name="connsiteY8" fmla="*/ 556504 h 1007767"/>
                <a:gd name="connsiteX9" fmla="*/ 1483750 w 1763990"/>
                <a:gd name="connsiteY9" fmla="*/ 156493 h 1007767"/>
                <a:gd name="connsiteX10" fmla="*/ 1013759 w 1763990"/>
                <a:gd name="connsiteY10" fmla="*/ 11489 h 1007767"/>
                <a:gd name="connsiteX11" fmla="*/ 793763 w 1763990"/>
                <a:gd name="connsiteY11" fmla="*/ 21490 h 1007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63990" h="1007767">
                  <a:moveTo>
                    <a:pt x="793763" y="21490"/>
                  </a:moveTo>
                  <a:cubicBezTo>
                    <a:pt x="682098" y="36490"/>
                    <a:pt x="453769" y="45657"/>
                    <a:pt x="343771" y="101492"/>
                  </a:cubicBezTo>
                  <a:cubicBezTo>
                    <a:pt x="233773" y="157327"/>
                    <a:pt x="190441" y="270663"/>
                    <a:pt x="133775" y="356499"/>
                  </a:cubicBezTo>
                  <a:cubicBezTo>
                    <a:pt x="77109" y="442335"/>
                    <a:pt x="-20389" y="517337"/>
                    <a:pt x="3777" y="616506"/>
                  </a:cubicBezTo>
                  <a:cubicBezTo>
                    <a:pt x="27943" y="715675"/>
                    <a:pt x="134608" y="886513"/>
                    <a:pt x="278772" y="951515"/>
                  </a:cubicBezTo>
                  <a:cubicBezTo>
                    <a:pt x="422936" y="1016517"/>
                    <a:pt x="710432" y="1008184"/>
                    <a:pt x="868762" y="1006517"/>
                  </a:cubicBezTo>
                  <a:cubicBezTo>
                    <a:pt x="1027092" y="1004850"/>
                    <a:pt x="1092091" y="956516"/>
                    <a:pt x="1228755" y="941515"/>
                  </a:cubicBezTo>
                  <a:cubicBezTo>
                    <a:pt x="1365419" y="926515"/>
                    <a:pt x="1602915" y="980683"/>
                    <a:pt x="1688747" y="916514"/>
                  </a:cubicBezTo>
                  <a:cubicBezTo>
                    <a:pt x="1774579" y="852346"/>
                    <a:pt x="1777912" y="683174"/>
                    <a:pt x="1743746" y="556504"/>
                  </a:cubicBezTo>
                  <a:cubicBezTo>
                    <a:pt x="1709580" y="429834"/>
                    <a:pt x="1605415" y="247329"/>
                    <a:pt x="1483750" y="156493"/>
                  </a:cubicBezTo>
                  <a:cubicBezTo>
                    <a:pt x="1362086" y="65657"/>
                    <a:pt x="1130423" y="35656"/>
                    <a:pt x="1013759" y="11489"/>
                  </a:cubicBezTo>
                  <a:cubicBezTo>
                    <a:pt x="897095" y="-12678"/>
                    <a:pt x="905428" y="6490"/>
                    <a:pt x="793763" y="21490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90FEE58C-5A52-3E4A-8F6F-B40544A31829}"/>
                </a:ext>
              </a:extLst>
            </p:cNvPr>
            <p:cNvSpPr txBox="1"/>
            <p:nvPr/>
          </p:nvSpPr>
          <p:spPr>
            <a:xfrm>
              <a:off x="2663349" y="5283327"/>
              <a:ext cx="1685932" cy="584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public or  private Internet</a:t>
              </a:r>
            </a:p>
          </p:txBody>
        </p:sp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159005BA-3A9B-D94C-86E8-8D78C618C9D6}"/>
              </a:ext>
            </a:extLst>
          </p:cNvPr>
          <p:cNvGrpSpPr/>
          <p:nvPr/>
        </p:nvGrpSpPr>
        <p:grpSpPr>
          <a:xfrm>
            <a:off x="6741352" y="3299610"/>
            <a:ext cx="763454" cy="668861"/>
            <a:chOff x="7270567" y="5238206"/>
            <a:chExt cx="763454" cy="668861"/>
          </a:xfrm>
        </p:grpSpPr>
        <p:grpSp>
          <p:nvGrpSpPr>
            <p:cNvPr id="226" name="Group 225">
              <a:extLst>
                <a:ext uri="{FF2B5EF4-FFF2-40B4-BE49-F238E27FC236}">
                  <a16:creationId xmlns:a16="http://schemas.microsoft.com/office/drawing/2014/main" id="{16932C61-B600-294D-930C-3EBBA35DB4BD}"/>
                </a:ext>
              </a:extLst>
            </p:cNvPr>
            <p:cNvGrpSpPr/>
            <p:nvPr/>
          </p:nvGrpSpPr>
          <p:grpSpPr>
            <a:xfrm>
              <a:off x="7302136" y="5238206"/>
              <a:ext cx="591681" cy="375090"/>
              <a:chOff x="7493876" y="2774731"/>
              <a:chExt cx="1481958" cy="894622"/>
            </a:xfrm>
          </p:grpSpPr>
          <p:sp>
            <p:nvSpPr>
              <p:cNvPr id="228" name="Freeform 227">
                <a:extLst>
                  <a:ext uri="{FF2B5EF4-FFF2-40B4-BE49-F238E27FC236}">
                    <a16:creationId xmlns:a16="http://schemas.microsoft.com/office/drawing/2014/main" id="{E0FDDE41-69FC-0A47-B73D-5A9DDE309F13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29" name="Oval 228">
                <a:extLst>
                  <a:ext uri="{FF2B5EF4-FFF2-40B4-BE49-F238E27FC236}">
                    <a16:creationId xmlns:a16="http://schemas.microsoft.com/office/drawing/2014/main" id="{EDDCD8A5-39BE-ED43-B2CF-1A6468A0D848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30" name="Group 229">
                <a:extLst>
                  <a:ext uri="{FF2B5EF4-FFF2-40B4-BE49-F238E27FC236}">
                    <a16:creationId xmlns:a16="http://schemas.microsoft.com/office/drawing/2014/main" id="{8A98B70F-38B6-8B4F-B578-F953270D9247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31" name="Freeform 230">
                  <a:extLst>
                    <a:ext uri="{FF2B5EF4-FFF2-40B4-BE49-F238E27FC236}">
                      <a16:creationId xmlns:a16="http://schemas.microsoft.com/office/drawing/2014/main" id="{BF2606B8-A9C8-D448-9277-F46152A36D9F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2" name="Freeform 231">
                  <a:extLst>
                    <a:ext uri="{FF2B5EF4-FFF2-40B4-BE49-F238E27FC236}">
                      <a16:creationId xmlns:a16="http://schemas.microsoft.com/office/drawing/2014/main" id="{00E1E009-F8E2-8A40-985B-DC0615F7FF01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3" name="Freeform 232">
                  <a:extLst>
                    <a:ext uri="{FF2B5EF4-FFF2-40B4-BE49-F238E27FC236}">
                      <a16:creationId xmlns:a16="http://schemas.microsoft.com/office/drawing/2014/main" id="{9216C4F6-497A-E745-8ECC-DFCC91B47845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4" name="Freeform 233">
                  <a:extLst>
                    <a:ext uri="{FF2B5EF4-FFF2-40B4-BE49-F238E27FC236}">
                      <a16:creationId xmlns:a16="http://schemas.microsoft.com/office/drawing/2014/main" id="{D95684B5-3939-5B42-AE95-CB5DE1A2F609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A1652FF5-F090-1342-B65E-DE3B2657933C}"/>
                </a:ext>
              </a:extLst>
            </p:cNvPr>
            <p:cNvSpPr txBox="1"/>
            <p:nvPr/>
          </p:nvSpPr>
          <p:spPr>
            <a:xfrm>
              <a:off x="7270567" y="5568513"/>
              <a:ext cx="76345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600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7BCB2056-63C8-3E41-B65A-131920C941C7}"/>
              </a:ext>
            </a:extLst>
          </p:cNvPr>
          <p:cNvGrpSpPr/>
          <p:nvPr/>
        </p:nvGrpSpPr>
        <p:grpSpPr>
          <a:xfrm>
            <a:off x="4162909" y="3130735"/>
            <a:ext cx="763454" cy="668861"/>
            <a:chOff x="7270567" y="5238206"/>
            <a:chExt cx="763454" cy="668861"/>
          </a:xfrm>
        </p:grpSpPr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4ECEBB3C-999F-7043-BC56-58E4CAFC6793}"/>
                </a:ext>
              </a:extLst>
            </p:cNvPr>
            <p:cNvGrpSpPr/>
            <p:nvPr/>
          </p:nvGrpSpPr>
          <p:grpSpPr>
            <a:xfrm>
              <a:off x="7302136" y="5238206"/>
              <a:ext cx="591681" cy="375090"/>
              <a:chOff x="7493876" y="2774731"/>
              <a:chExt cx="1481958" cy="894622"/>
            </a:xfrm>
          </p:grpSpPr>
          <p:sp>
            <p:nvSpPr>
              <p:cNvPr id="247" name="Freeform 246">
                <a:extLst>
                  <a:ext uri="{FF2B5EF4-FFF2-40B4-BE49-F238E27FC236}">
                    <a16:creationId xmlns:a16="http://schemas.microsoft.com/office/drawing/2014/main" id="{66E9A6B9-0497-9F40-B487-202A2AF2E2AA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48" name="Oval 247">
                <a:extLst>
                  <a:ext uri="{FF2B5EF4-FFF2-40B4-BE49-F238E27FC236}">
                    <a16:creationId xmlns:a16="http://schemas.microsoft.com/office/drawing/2014/main" id="{595DFBB9-653C-224D-AFCF-DCB9149473F4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50" name="Group 249">
                <a:extLst>
                  <a:ext uri="{FF2B5EF4-FFF2-40B4-BE49-F238E27FC236}">
                    <a16:creationId xmlns:a16="http://schemas.microsoft.com/office/drawing/2014/main" id="{E3CD00BF-5094-6D46-BCFF-0B0381166D57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58" name="Freeform 257">
                  <a:extLst>
                    <a:ext uri="{FF2B5EF4-FFF2-40B4-BE49-F238E27FC236}">
                      <a16:creationId xmlns:a16="http://schemas.microsoft.com/office/drawing/2014/main" id="{C1F95F32-4673-574D-893B-41AE234B96BE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9" name="Freeform 258">
                  <a:extLst>
                    <a:ext uri="{FF2B5EF4-FFF2-40B4-BE49-F238E27FC236}">
                      <a16:creationId xmlns:a16="http://schemas.microsoft.com/office/drawing/2014/main" id="{00CA5994-17AB-2847-AC81-9D91784CA62A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0" name="Freeform 259">
                  <a:extLst>
                    <a:ext uri="{FF2B5EF4-FFF2-40B4-BE49-F238E27FC236}">
                      <a16:creationId xmlns:a16="http://schemas.microsoft.com/office/drawing/2014/main" id="{95E3FA0A-EF4D-6C44-9C08-21FBBBD9A1A6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1" name="Freeform 260">
                  <a:extLst>
                    <a:ext uri="{FF2B5EF4-FFF2-40B4-BE49-F238E27FC236}">
                      <a16:creationId xmlns:a16="http://schemas.microsoft.com/office/drawing/2014/main" id="{2EDC280F-5480-2643-8919-DFCF164A370D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237" name="TextBox 236">
              <a:extLst>
                <a:ext uri="{FF2B5EF4-FFF2-40B4-BE49-F238E27FC236}">
                  <a16:creationId xmlns:a16="http://schemas.microsoft.com/office/drawing/2014/main" id="{80B72EB8-9745-604F-9B77-D5C95F95D261}"/>
                </a:ext>
              </a:extLst>
            </p:cNvPr>
            <p:cNvSpPr txBox="1"/>
            <p:nvPr/>
          </p:nvSpPr>
          <p:spPr>
            <a:xfrm>
              <a:off x="7270567" y="5568513"/>
              <a:ext cx="76345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600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3CFD4EFA-D8E3-4C46-B7EC-60DE96477B69}"/>
              </a:ext>
            </a:extLst>
          </p:cNvPr>
          <p:cNvGrpSpPr/>
          <p:nvPr/>
        </p:nvGrpSpPr>
        <p:grpSpPr>
          <a:xfrm>
            <a:off x="4317096" y="2216448"/>
            <a:ext cx="1442258" cy="736694"/>
            <a:chOff x="3056709" y="2599509"/>
            <a:chExt cx="1442258" cy="736694"/>
          </a:xfrm>
        </p:grpSpPr>
        <p:sp>
          <p:nvSpPr>
            <p:cNvPr id="264" name="TextBox 263">
              <a:extLst>
                <a:ext uri="{FF2B5EF4-FFF2-40B4-BE49-F238E27FC236}">
                  <a16:creationId xmlns:a16="http://schemas.microsoft.com/office/drawing/2014/main" id="{34BBD6BC-C243-8841-ABAA-B4D0EEA720B0}"/>
                </a:ext>
              </a:extLst>
            </p:cNvPr>
            <p:cNvSpPr txBox="1"/>
            <p:nvPr/>
          </p:nvSpPr>
          <p:spPr>
            <a:xfrm>
              <a:off x="3507285" y="2702843"/>
              <a:ext cx="991682" cy="6136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1400" dirty="0">
                  <a:solidFill>
                    <a:prstClr val="black"/>
                  </a:solidFill>
                  <a:latin typeface="Calibri"/>
                </a:rPr>
                <a:t>Home</a:t>
              </a:r>
            </a:p>
            <a:p>
              <a:pPr>
                <a:lnSpc>
                  <a:spcPct val="80000"/>
                </a:lnSpc>
              </a:pPr>
              <a:r>
                <a:rPr lang="en-US" sz="1400" dirty="0">
                  <a:solidFill>
                    <a:prstClr val="black"/>
                  </a:solidFill>
                  <a:latin typeface="Calibri"/>
                </a:rPr>
                <a:t>Subscriber </a:t>
              </a:r>
            </a:p>
            <a:p>
              <a:pPr>
                <a:lnSpc>
                  <a:spcPct val="80000"/>
                </a:lnSpc>
              </a:pPr>
              <a:r>
                <a:rPr lang="en-US" sz="1400" dirty="0">
                  <a:solidFill>
                    <a:prstClr val="black"/>
                  </a:solidFill>
                  <a:latin typeface="Calibri"/>
                </a:rPr>
                <a:t>Server</a:t>
              </a:r>
              <a:endParaRPr lang="en-US" sz="788" dirty="0">
                <a:solidFill>
                  <a:prstClr val="black"/>
                </a:solidFill>
                <a:latin typeface="Calibri"/>
              </a:endParaRPr>
            </a:p>
          </p:txBody>
        </p:sp>
        <p:grpSp>
          <p:nvGrpSpPr>
            <p:cNvPr id="265" name="Group 264">
              <a:extLst>
                <a:ext uri="{FF2B5EF4-FFF2-40B4-BE49-F238E27FC236}">
                  <a16:creationId xmlns:a16="http://schemas.microsoft.com/office/drawing/2014/main" id="{87BC9230-4DF9-7F43-BFC5-44D31780BC98}"/>
                </a:ext>
              </a:extLst>
            </p:cNvPr>
            <p:cNvGrpSpPr/>
            <p:nvPr/>
          </p:nvGrpSpPr>
          <p:grpSpPr>
            <a:xfrm>
              <a:off x="3056709" y="2599509"/>
              <a:ext cx="543008" cy="736694"/>
              <a:chOff x="9181074" y="2063579"/>
              <a:chExt cx="1008323" cy="1351004"/>
            </a:xfrm>
          </p:grpSpPr>
          <p:grpSp>
            <p:nvGrpSpPr>
              <p:cNvPr id="266" name="Group 265">
                <a:extLst>
                  <a:ext uri="{FF2B5EF4-FFF2-40B4-BE49-F238E27FC236}">
                    <a16:creationId xmlns:a16="http://schemas.microsoft.com/office/drawing/2014/main" id="{9507022A-4852-1B41-868D-3EA8C5D5B5D3}"/>
                  </a:ext>
                </a:extLst>
              </p:cNvPr>
              <p:cNvGrpSpPr/>
              <p:nvPr/>
            </p:nvGrpSpPr>
            <p:grpSpPr>
              <a:xfrm>
                <a:off x="9309047" y="2092807"/>
                <a:ext cx="439787" cy="517111"/>
                <a:chOff x="4501086" y="2717689"/>
                <a:chExt cx="347435" cy="424729"/>
              </a:xfrm>
            </p:grpSpPr>
            <p:sp>
              <p:nvSpPr>
                <p:cNvPr id="269" name="Rectangle 268">
                  <a:extLst>
                    <a:ext uri="{FF2B5EF4-FFF2-40B4-BE49-F238E27FC236}">
                      <a16:creationId xmlns:a16="http://schemas.microsoft.com/office/drawing/2014/main" id="{2C238316-2924-184E-8E7F-5F5AD5F8A331}"/>
                    </a:ext>
                  </a:extLst>
                </p:cNvPr>
                <p:cNvSpPr/>
                <p:nvPr/>
              </p:nvSpPr>
              <p:spPr>
                <a:xfrm>
                  <a:off x="4501086" y="2764691"/>
                  <a:ext cx="345572" cy="328307"/>
                </a:xfrm>
                <a:prstGeom prst="rect">
                  <a:avLst/>
                </a:prstGeom>
                <a:gradFill>
                  <a:gsLst>
                    <a:gs pos="1000">
                      <a:srgbClr val="CDD3D7"/>
                    </a:gs>
                    <a:gs pos="100000">
                      <a:srgbClr val="E7ECF0"/>
                    </a:gs>
                  </a:gsLst>
                </a:gradFill>
                <a:ln>
                  <a:solidFill>
                    <a:schemeClr val="bg1">
                      <a:lumMod val="50000"/>
                    </a:scheme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 dirty="0"/>
                </a:p>
              </p:txBody>
            </p:sp>
            <p:sp>
              <p:nvSpPr>
                <p:cNvPr id="270" name="Oval 269">
                  <a:extLst>
                    <a:ext uri="{FF2B5EF4-FFF2-40B4-BE49-F238E27FC236}">
                      <a16:creationId xmlns:a16="http://schemas.microsoft.com/office/drawing/2014/main" id="{05421A7D-8CAB-8044-8AFD-E06EB9C406E1}"/>
                    </a:ext>
                  </a:extLst>
                </p:cNvPr>
                <p:cNvSpPr/>
                <p:nvPr/>
              </p:nvSpPr>
              <p:spPr>
                <a:xfrm>
                  <a:off x="4501086" y="2717689"/>
                  <a:ext cx="345572" cy="98840"/>
                </a:xfrm>
                <a:prstGeom prst="ellipse">
                  <a:avLst/>
                </a:prstGeom>
                <a:solidFill>
                  <a:srgbClr val="E2E7EA"/>
                </a:solidFill>
                <a:ln w="6350">
                  <a:solidFill>
                    <a:schemeClr val="bg1">
                      <a:lumMod val="50000"/>
                    </a:scheme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 dirty="0"/>
                </a:p>
              </p:txBody>
            </p:sp>
            <p:sp>
              <p:nvSpPr>
                <p:cNvPr id="271" name="Oval 270">
                  <a:extLst>
                    <a:ext uri="{FF2B5EF4-FFF2-40B4-BE49-F238E27FC236}">
                      <a16:creationId xmlns:a16="http://schemas.microsoft.com/office/drawing/2014/main" id="{9502E7AE-4866-E94A-90F5-E829E3898D85}"/>
                    </a:ext>
                  </a:extLst>
                </p:cNvPr>
                <p:cNvSpPr/>
                <p:nvPr/>
              </p:nvSpPr>
              <p:spPr>
                <a:xfrm>
                  <a:off x="4502949" y="3043578"/>
                  <a:ext cx="345572" cy="98840"/>
                </a:xfrm>
                <a:prstGeom prst="ellipse">
                  <a:avLst/>
                </a:prstGeom>
                <a:solidFill>
                  <a:srgbClr val="CDD3D7"/>
                </a:solidFill>
                <a:ln w="6350">
                  <a:solidFill>
                    <a:schemeClr val="bg1">
                      <a:lumMod val="50000"/>
                    </a:scheme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 dirty="0"/>
                </a:p>
              </p:txBody>
            </p:sp>
            <p:sp>
              <p:nvSpPr>
                <p:cNvPr id="272" name="Rectangle 271">
                  <a:extLst>
                    <a:ext uri="{FF2B5EF4-FFF2-40B4-BE49-F238E27FC236}">
                      <a16:creationId xmlns:a16="http://schemas.microsoft.com/office/drawing/2014/main" id="{6FE1BC00-7844-6A49-8B97-60B8ED441843}"/>
                    </a:ext>
                  </a:extLst>
                </p:cNvPr>
                <p:cNvSpPr/>
                <p:nvPr/>
              </p:nvSpPr>
              <p:spPr>
                <a:xfrm>
                  <a:off x="4504261" y="3036961"/>
                  <a:ext cx="339222" cy="52862"/>
                </a:xfrm>
                <a:prstGeom prst="rect">
                  <a:avLst/>
                </a:prstGeom>
                <a:solidFill>
                  <a:srgbClr val="CDD3D7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 dirty="0"/>
                </a:p>
              </p:txBody>
            </p:sp>
          </p:grpSp>
          <p:sp>
            <p:nvSpPr>
              <p:cNvPr id="267" name="Can 266">
                <a:extLst>
                  <a:ext uri="{FF2B5EF4-FFF2-40B4-BE49-F238E27FC236}">
                    <a16:creationId xmlns:a16="http://schemas.microsoft.com/office/drawing/2014/main" id="{E22D9F4F-D5A2-764C-8C8A-6D3F60392BE7}"/>
                  </a:ext>
                </a:extLst>
              </p:cNvPr>
              <p:cNvSpPr/>
              <p:nvPr/>
            </p:nvSpPr>
            <p:spPr>
              <a:xfrm>
                <a:off x="9181074" y="2063579"/>
                <a:ext cx="630195" cy="568410"/>
              </a:xfrm>
              <a:prstGeom prst="can">
                <a:avLst/>
              </a:prstGeom>
              <a:gradFill>
                <a:gsLst>
                  <a:gs pos="38000">
                    <a:schemeClr val="bg1">
                      <a:lumMod val="95000"/>
                    </a:schemeClr>
                  </a:gs>
                  <a:gs pos="0">
                    <a:srgbClr val="C4CDD3"/>
                  </a:gs>
                  <a:gs pos="100000">
                    <a:schemeClr val="bg1">
                      <a:lumMod val="75000"/>
                    </a:schemeClr>
                  </a:gs>
                </a:gsLst>
                <a:lin ang="0" scaled="0"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268" name="Picture 267" descr="A screen shot of a computer&#10;&#10;Description automatically generated">
                <a:extLst>
                  <a:ext uri="{FF2B5EF4-FFF2-40B4-BE49-F238E27FC236}">
                    <a16:creationId xmlns:a16="http://schemas.microsoft.com/office/drawing/2014/main" id="{36D1C652-5306-2A4B-ACA4-F7062F63CD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543539" y="2209860"/>
                <a:ext cx="645858" cy="1204723"/>
              </a:xfrm>
              <a:prstGeom prst="rect">
                <a:avLst/>
              </a:prstGeom>
            </p:spPr>
          </p:pic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D111BBC-FDA4-6940-A994-E5F6484A34F4}"/>
              </a:ext>
            </a:extLst>
          </p:cNvPr>
          <p:cNvGrpSpPr/>
          <p:nvPr/>
        </p:nvGrpSpPr>
        <p:grpSpPr>
          <a:xfrm>
            <a:off x="2955342" y="3037620"/>
            <a:ext cx="1159776" cy="787410"/>
            <a:chOff x="2955342" y="3037620"/>
            <a:chExt cx="1159776" cy="787410"/>
          </a:xfrm>
        </p:grpSpPr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A0C3C8AE-65E6-DB48-8707-A29207510C2A}"/>
                </a:ext>
              </a:extLst>
            </p:cNvPr>
            <p:cNvSpPr txBox="1"/>
            <p:nvPr/>
          </p:nvSpPr>
          <p:spPr>
            <a:xfrm>
              <a:off x="3180573" y="3383755"/>
              <a:ext cx="934545" cy="4412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1400" dirty="0"/>
                <a:t>Mobility manager </a:t>
              </a:r>
            </a:p>
          </p:txBody>
        </p:sp>
        <p:pic>
          <p:nvPicPr>
            <p:cNvPr id="279" name="Picture 278" descr="A screen shot of a computer&#10;&#10;Description automatically generated">
              <a:extLst>
                <a:ext uri="{FF2B5EF4-FFF2-40B4-BE49-F238E27FC236}">
                  <a16:creationId xmlns:a16="http://schemas.microsoft.com/office/drawing/2014/main" id="{7329F15E-AED0-5840-9D69-61F1741450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55342" y="3037620"/>
              <a:ext cx="347811" cy="656928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FFA1318-3313-9B48-A3B3-EC14FA5BC199}"/>
              </a:ext>
            </a:extLst>
          </p:cNvPr>
          <p:cNvGrpSpPr/>
          <p:nvPr/>
        </p:nvGrpSpPr>
        <p:grpSpPr>
          <a:xfrm>
            <a:off x="7865093" y="2337403"/>
            <a:ext cx="1168254" cy="712787"/>
            <a:chOff x="7865093" y="2337403"/>
            <a:chExt cx="1168254" cy="712787"/>
          </a:xfrm>
        </p:grpSpPr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0FDDE4F5-CAFF-3243-9306-FE18C52FDE78}"/>
                </a:ext>
              </a:extLst>
            </p:cNvPr>
            <p:cNvSpPr txBox="1"/>
            <p:nvPr/>
          </p:nvSpPr>
          <p:spPr>
            <a:xfrm>
              <a:off x="8098802" y="2608915"/>
              <a:ext cx="934545" cy="4412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1400" dirty="0"/>
                <a:t>Mobility manager </a:t>
              </a:r>
            </a:p>
          </p:txBody>
        </p:sp>
        <p:pic>
          <p:nvPicPr>
            <p:cNvPr id="285" name="Picture 284" descr="A screen shot of a computer&#10;&#10;Description automatically generated">
              <a:extLst>
                <a:ext uri="{FF2B5EF4-FFF2-40B4-BE49-F238E27FC236}">
                  <a16:creationId xmlns:a16="http://schemas.microsoft.com/office/drawing/2014/main" id="{980555A2-C73B-E84A-B14D-DB0960D042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65093" y="2337403"/>
              <a:ext cx="347811" cy="656928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97EED75-423B-0940-BEC1-BFEB3508477F}"/>
              </a:ext>
            </a:extLst>
          </p:cNvPr>
          <p:cNvGrpSpPr/>
          <p:nvPr/>
        </p:nvGrpSpPr>
        <p:grpSpPr>
          <a:xfrm>
            <a:off x="5302322" y="5004486"/>
            <a:ext cx="1333256" cy="946030"/>
            <a:chOff x="5302322" y="5004486"/>
            <a:chExt cx="1333256" cy="946030"/>
          </a:xfrm>
        </p:grpSpPr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EA5736E7-E32E-AA4A-892A-5862CF9E6FA4}"/>
                </a:ext>
              </a:extLst>
            </p:cNvPr>
            <p:cNvSpPr txBox="1"/>
            <p:nvPr/>
          </p:nvSpPr>
          <p:spPr>
            <a:xfrm>
              <a:off x="5302322" y="5681596"/>
              <a:ext cx="1333256" cy="2689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1400" dirty="0"/>
                <a:t>Correspondent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B33C32C-5265-ED42-8FC0-1A9A5E970754}"/>
                </a:ext>
              </a:extLst>
            </p:cNvPr>
            <p:cNvGrpSpPr/>
            <p:nvPr/>
          </p:nvGrpSpPr>
          <p:grpSpPr>
            <a:xfrm>
              <a:off x="5338118" y="5004486"/>
              <a:ext cx="891365" cy="796154"/>
              <a:chOff x="283029" y="4319993"/>
              <a:chExt cx="1226174" cy="1258225"/>
            </a:xfrm>
          </p:grpSpPr>
          <p:pic>
            <p:nvPicPr>
              <p:cNvPr id="286" name="Picture 180" descr="desktop_computer_stylized_medium">
                <a:extLst>
                  <a:ext uri="{FF2B5EF4-FFF2-40B4-BE49-F238E27FC236}">
                    <a16:creationId xmlns:a16="http://schemas.microsoft.com/office/drawing/2014/main" id="{E24910B7-6FE8-8F4D-BE95-1265D48B6AD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283029" y="4319993"/>
                <a:ext cx="1226174" cy="1258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0" name="Freeform 181">
                <a:extLst>
                  <a:ext uri="{FF2B5EF4-FFF2-40B4-BE49-F238E27FC236}">
                    <a16:creationId xmlns:a16="http://schemas.microsoft.com/office/drawing/2014/main" id="{2D068B8E-96FB-2E4D-99CA-203353C2197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805497" y="4440692"/>
                <a:ext cx="596213" cy="576165"/>
              </a:xfrm>
              <a:custGeom>
                <a:avLst/>
                <a:gdLst>
                  <a:gd name="T0" fmla="*/ 0 w 356"/>
                  <a:gd name="T1" fmla="*/ 0 h 368"/>
                  <a:gd name="T2" fmla="*/ 5595 w 356"/>
                  <a:gd name="T3" fmla="*/ 341 h 368"/>
                  <a:gd name="T4" fmla="*/ 6638 w 356"/>
                  <a:gd name="T5" fmla="*/ 7113 h 368"/>
                  <a:gd name="T6" fmla="*/ 1463 w 356"/>
                  <a:gd name="T7" fmla="*/ 889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grpSp>
        <p:nvGrpSpPr>
          <p:cNvPr id="69" name="Group 137">
            <a:extLst>
              <a:ext uri="{FF2B5EF4-FFF2-40B4-BE49-F238E27FC236}">
                <a16:creationId xmlns:a16="http://schemas.microsoft.com/office/drawing/2014/main" id="{2AB802E8-5553-1949-92B2-BD00ADA614DC}"/>
              </a:ext>
            </a:extLst>
          </p:cNvPr>
          <p:cNvGrpSpPr>
            <a:grpSpLocks/>
          </p:cNvGrpSpPr>
          <p:nvPr/>
        </p:nvGrpSpPr>
        <p:grpSpPr bwMode="auto">
          <a:xfrm>
            <a:off x="4399311" y="3330061"/>
            <a:ext cx="1322389" cy="1905000"/>
            <a:chOff x="1915" y="2230"/>
            <a:chExt cx="833" cy="1200"/>
          </a:xfrm>
        </p:grpSpPr>
        <p:sp>
          <p:nvSpPr>
            <p:cNvPr id="70" name="Line 138">
              <a:extLst>
                <a:ext uri="{FF2B5EF4-FFF2-40B4-BE49-F238E27FC236}">
                  <a16:creationId xmlns:a16="http://schemas.microsoft.com/office/drawing/2014/main" id="{F645DD9B-BFC6-AD47-A583-03C22E37D7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915" y="2230"/>
              <a:ext cx="833" cy="1200"/>
            </a:xfrm>
            <a:custGeom>
              <a:avLst/>
              <a:gdLst>
                <a:gd name="connsiteX0" fmla="*/ 0 w 1350962"/>
                <a:gd name="connsiteY0" fmla="*/ 0 h 1498600"/>
                <a:gd name="connsiteX1" fmla="*/ 1350962 w 1350962"/>
                <a:gd name="connsiteY1" fmla="*/ 1498600 h 1498600"/>
                <a:gd name="connsiteX0" fmla="*/ 0 w 1177968"/>
                <a:gd name="connsiteY0" fmla="*/ 0 h 1708665"/>
                <a:gd name="connsiteX1" fmla="*/ 1177968 w 1177968"/>
                <a:gd name="connsiteY1" fmla="*/ 1708665 h 1708665"/>
                <a:gd name="connsiteX0" fmla="*/ 0 w 1239754"/>
                <a:gd name="connsiteY0" fmla="*/ 0 h 1708665"/>
                <a:gd name="connsiteX1" fmla="*/ 1239754 w 1239754"/>
                <a:gd name="connsiteY1" fmla="*/ 1708665 h 1708665"/>
                <a:gd name="connsiteX0" fmla="*/ 0 w 1260255"/>
                <a:gd name="connsiteY0" fmla="*/ 0 h 1889139"/>
                <a:gd name="connsiteX1" fmla="*/ 1260255 w 1260255"/>
                <a:gd name="connsiteY1" fmla="*/ 1889139 h 1889139"/>
                <a:gd name="connsiteX0" fmla="*/ 0 w 1321751"/>
                <a:gd name="connsiteY0" fmla="*/ 0 h 1905541"/>
                <a:gd name="connsiteX1" fmla="*/ 1321751 w 1321751"/>
                <a:gd name="connsiteY1" fmla="*/ 1905541 h 1905541"/>
                <a:gd name="connsiteX0" fmla="*/ 0 w 1321751"/>
                <a:gd name="connsiteY0" fmla="*/ 0 h 1905541"/>
                <a:gd name="connsiteX1" fmla="*/ 1321751 w 1321751"/>
                <a:gd name="connsiteY1" fmla="*/ 1905541 h 1905541"/>
                <a:gd name="connsiteX0" fmla="*/ 0 w 1321751"/>
                <a:gd name="connsiteY0" fmla="*/ 0 h 1905541"/>
                <a:gd name="connsiteX1" fmla="*/ 1321751 w 1321751"/>
                <a:gd name="connsiteY1" fmla="*/ 1905541 h 1905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21751" h="1905541">
                  <a:moveTo>
                    <a:pt x="0" y="0"/>
                  </a:moveTo>
                  <a:cubicBezTo>
                    <a:pt x="401139" y="520042"/>
                    <a:pt x="846840" y="1213232"/>
                    <a:pt x="1321751" y="1905541"/>
                  </a:cubicBezTo>
                </a:path>
              </a:pathLst>
            </a:custGeom>
            <a:noFill/>
            <a:ln w="25400">
              <a:solidFill>
                <a:srgbClr val="C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71" name="Group 139">
              <a:extLst>
                <a:ext uri="{FF2B5EF4-FFF2-40B4-BE49-F238E27FC236}">
                  <a16:creationId xmlns:a16="http://schemas.microsoft.com/office/drawing/2014/main" id="{D0EBFB04-6265-1142-A0D7-A07238C094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13" y="2836"/>
              <a:ext cx="203" cy="252"/>
              <a:chOff x="759" y="3634"/>
              <a:chExt cx="203" cy="252"/>
            </a:xfrm>
          </p:grpSpPr>
          <p:sp>
            <p:nvSpPr>
              <p:cNvPr id="72" name="Oval 140">
                <a:extLst>
                  <a:ext uri="{FF2B5EF4-FFF2-40B4-BE49-F238E27FC236}">
                    <a16:creationId xmlns:a16="http://schemas.microsoft.com/office/drawing/2014/main" id="{956F277D-6EAE-D84E-9D63-469DF5286C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0" y="3662"/>
                <a:ext cx="202" cy="201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73" name="Text Box 141">
                <a:extLst>
                  <a:ext uri="{FF2B5EF4-FFF2-40B4-BE49-F238E27FC236}">
                    <a16:creationId xmlns:a16="http://schemas.microsoft.com/office/drawing/2014/main" id="{4C52B198-A8EF-6A4F-B115-E0C06BC8DC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9" y="3634"/>
                <a:ext cx="198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2000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1</a:t>
                </a: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D18A5CE-5A7A-A849-88F0-035A21A77B6D}"/>
              </a:ext>
            </a:extLst>
          </p:cNvPr>
          <p:cNvGrpSpPr/>
          <p:nvPr/>
        </p:nvGrpSpPr>
        <p:grpSpPr>
          <a:xfrm>
            <a:off x="766635" y="4032423"/>
            <a:ext cx="4250208" cy="1343357"/>
            <a:chOff x="-493754" y="4847969"/>
            <a:chExt cx="4250208" cy="1343357"/>
          </a:xfrm>
        </p:grpSpPr>
        <p:sp>
          <p:nvSpPr>
            <p:cNvPr id="75" name="Text Box 143">
              <a:extLst>
                <a:ext uri="{FF2B5EF4-FFF2-40B4-BE49-F238E27FC236}">
                  <a16:creationId xmlns:a16="http://schemas.microsoft.com/office/drawing/2014/main" id="{1D7876B6-303D-6B42-A41C-968A91C464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493754" y="5101797"/>
              <a:ext cx="3484090" cy="10895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lnSpc>
                  <a:spcPct val="90000"/>
                </a:lnSpc>
                <a:defRPr/>
              </a:pPr>
              <a:r>
                <a:rPr lang="en-US" sz="2400" dirty="0">
                  <a:latin typeface="+mn-lt"/>
                  <a:cs typeface="Arial" charset="0"/>
                </a:rPr>
                <a:t>correspondent contacts </a:t>
              </a:r>
              <a:r>
                <a:rPr lang="en-US" sz="2400" i="1" dirty="0">
                  <a:solidFill>
                    <a:srgbClr val="011199"/>
                  </a:solidFill>
                  <a:latin typeface="+mn-lt"/>
                  <a:cs typeface="Arial" charset="0"/>
                </a:rPr>
                <a:t>home</a:t>
              </a:r>
              <a:r>
                <a:rPr lang="en-US" sz="2400" dirty="0">
                  <a:latin typeface="+mn-lt"/>
                  <a:cs typeface="Arial" charset="0"/>
                </a:rPr>
                <a:t> HSS, gets mobile’s visited network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9F89873-DBDC-7F44-A24E-F94A961D02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19632" y="5474045"/>
              <a:ext cx="1136822" cy="67962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AE2E1453-8E0F-7844-9F4A-D712B477D3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07276" y="4847969"/>
              <a:ext cx="1079157" cy="1305696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E66361E0-A6EC-1F48-A66F-64954E07E28D}"/>
              </a:ext>
            </a:extLst>
          </p:cNvPr>
          <p:cNvSpPr txBox="1"/>
          <p:nvPr/>
        </p:nvSpPr>
        <p:spPr>
          <a:xfrm>
            <a:off x="1408671" y="1482923"/>
            <a:ext cx="196472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11199"/>
                </a:solidFill>
              </a:rPr>
              <a:t>Home Network</a:t>
            </a:r>
          </a:p>
          <a:p>
            <a:pPr marL="171450" lvl="1"/>
            <a:r>
              <a:rPr lang="en-US" sz="1400" dirty="0"/>
              <a:t>e.g.,: 128.119/16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3A902D5-779F-A446-B758-106FBD4C1A45}"/>
              </a:ext>
            </a:extLst>
          </p:cNvPr>
          <p:cNvSpPr txBox="1"/>
          <p:nvPr/>
        </p:nvSpPr>
        <p:spPr>
          <a:xfrm>
            <a:off x="7761811" y="1499405"/>
            <a:ext cx="218537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11199"/>
                </a:solidFill>
              </a:rPr>
              <a:t>Visited Network</a:t>
            </a:r>
          </a:p>
          <a:p>
            <a:pPr marL="122238"/>
            <a:r>
              <a:rPr lang="en-US" sz="1400" dirty="0"/>
              <a:t>e.g.,: 79.129/16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6CD7987-5EA7-D042-BA46-B538C7D5C03F}"/>
              </a:ext>
            </a:extLst>
          </p:cNvPr>
          <p:cNvGrpSpPr/>
          <p:nvPr/>
        </p:nvGrpSpPr>
        <p:grpSpPr>
          <a:xfrm>
            <a:off x="7193386" y="2192404"/>
            <a:ext cx="589413" cy="1146660"/>
            <a:chOff x="7193386" y="2192404"/>
            <a:chExt cx="589413" cy="1146660"/>
          </a:xfrm>
        </p:grpSpPr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B812D4CC-F155-2341-8833-F9BD5013291A}"/>
                </a:ext>
              </a:extLst>
            </p:cNvPr>
            <p:cNvSpPr/>
            <p:nvPr/>
          </p:nvSpPr>
          <p:spPr>
            <a:xfrm>
              <a:off x="7193386" y="2192404"/>
              <a:ext cx="451673" cy="1146660"/>
            </a:xfrm>
            <a:custGeom>
              <a:avLst/>
              <a:gdLst>
                <a:gd name="connsiteX0" fmla="*/ 36987 w 36987"/>
                <a:gd name="connsiteY0" fmla="*/ 0 h 1232968"/>
                <a:gd name="connsiteX1" fmla="*/ 24658 w 36987"/>
                <a:gd name="connsiteY1" fmla="*/ 665803 h 1232968"/>
                <a:gd name="connsiteX2" fmla="*/ 0 w 36987"/>
                <a:gd name="connsiteY2" fmla="*/ 1232968 h 1232968"/>
                <a:gd name="connsiteX3" fmla="*/ 0 w 36987"/>
                <a:gd name="connsiteY3" fmla="*/ 1232968 h 1232968"/>
                <a:gd name="connsiteX0" fmla="*/ 36987 w 394528"/>
                <a:gd name="connsiteY0" fmla="*/ 0 h 1232968"/>
                <a:gd name="connsiteX1" fmla="*/ 394528 w 394528"/>
                <a:gd name="connsiteY1" fmla="*/ 665803 h 1232968"/>
                <a:gd name="connsiteX2" fmla="*/ 0 w 394528"/>
                <a:gd name="connsiteY2" fmla="*/ 1232968 h 1232968"/>
                <a:gd name="connsiteX3" fmla="*/ 0 w 394528"/>
                <a:gd name="connsiteY3" fmla="*/ 1232968 h 1232968"/>
                <a:gd name="connsiteX0" fmla="*/ 36987 w 398314"/>
                <a:gd name="connsiteY0" fmla="*/ 0 h 1232968"/>
                <a:gd name="connsiteX1" fmla="*/ 394528 w 398314"/>
                <a:gd name="connsiteY1" fmla="*/ 665803 h 1232968"/>
                <a:gd name="connsiteX2" fmla="*/ 0 w 398314"/>
                <a:gd name="connsiteY2" fmla="*/ 1232968 h 1232968"/>
                <a:gd name="connsiteX3" fmla="*/ 0 w 398314"/>
                <a:gd name="connsiteY3" fmla="*/ 1232968 h 1232968"/>
                <a:gd name="connsiteX0" fmla="*/ 36987 w 398314"/>
                <a:gd name="connsiteY0" fmla="*/ 0 h 1232968"/>
                <a:gd name="connsiteX1" fmla="*/ 394528 w 398314"/>
                <a:gd name="connsiteY1" fmla="*/ 665803 h 1232968"/>
                <a:gd name="connsiteX2" fmla="*/ 0 w 398314"/>
                <a:gd name="connsiteY2" fmla="*/ 1232968 h 1232968"/>
                <a:gd name="connsiteX3" fmla="*/ 0 w 398314"/>
                <a:gd name="connsiteY3" fmla="*/ 1232968 h 1232968"/>
                <a:gd name="connsiteX0" fmla="*/ 36987 w 398314"/>
                <a:gd name="connsiteY0" fmla="*/ 0 h 1232968"/>
                <a:gd name="connsiteX1" fmla="*/ 394528 w 398314"/>
                <a:gd name="connsiteY1" fmla="*/ 665803 h 1232968"/>
                <a:gd name="connsiteX2" fmla="*/ 0 w 398314"/>
                <a:gd name="connsiteY2" fmla="*/ 1232968 h 1232968"/>
                <a:gd name="connsiteX3" fmla="*/ 0 w 398314"/>
                <a:gd name="connsiteY3" fmla="*/ 1232968 h 1232968"/>
                <a:gd name="connsiteX0" fmla="*/ 332883 w 694038"/>
                <a:gd name="connsiteY0" fmla="*/ 0 h 1454902"/>
                <a:gd name="connsiteX1" fmla="*/ 690424 w 694038"/>
                <a:gd name="connsiteY1" fmla="*/ 665803 h 1454902"/>
                <a:gd name="connsiteX2" fmla="*/ 295896 w 694038"/>
                <a:gd name="connsiteY2" fmla="*/ 1232968 h 1454902"/>
                <a:gd name="connsiteX3" fmla="*/ 0 w 694038"/>
                <a:gd name="connsiteY3" fmla="*/ 1454902 h 1454902"/>
                <a:gd name="connsiteX0" fmla="*/ 36987 w 398142"/>
                <a:gd name="connsiteY0" fmla="*/ 0 h 1232968"/>
                <a:gd name="connsiteX1" fmla="*/ 394528 w 398142"/>
                <a:gd name="connsiteY1" fmla="*/ 665803 h 1232968"/>
                <a:gd name="connsiteX2" fmla="*/ 0 w 398142"/>
                <a:gd name="connsiteY2" fmla="*/ 1232968 h 1232968"/>
                <a:gd name="connsiteX0" fmla="*/ 36987 w 394572"/>
                <a:gd name="connsiteY0" fmla="*/ 0 h 1232968"/>
                <a:gd name="connsiteX1" fmla="*/ 394528 w 394572"/>
                <a:gd name="connsiteY1" fmla="*/ 665803 h 1232968"/>
                <a:gd name="connsiteX2" fmla="*/ 0 w 394572"/>
                <a:gd name="connsiteY2" fmla="*/ 1232968 h 1232968"/>
                <a:gd name="connsiteX0" fmla="*/ 24658 w 394577"/>
                <a:gd name="connsiteY0" fmla="*/ 0 h 1085012"/>
                <a:gd name="connsiteX1" fmla="*/ 394528 w 394577"/>
                <a:gd name="connsiteY1" fmla="*/ 517847 h 1085012"/>
                <a:gd name="connsiteX2" fmla="*/ 0 w 394577"/>
                <a:gd name="connsiteY2" fmla="*/ 1085012 h 1085012"/>
                <a:gd name="connsiteX0" fmla="*/ 24658 w 394630"/>
                <a:gd name="connsiteY0" fmla="*/ 0 h 1085012"/>
                <a:gd name="connsiteX1" fmla="*/ 394528 w 394630"/>
                <a:gd name="connsiteY1" fmla="*/ 517847 h 1085012"/>
                <a:gd name="connsiteX2" fmla="*/ 0 w 394630"/>
                <a:gd name="connsiteY2" fmla="*/ 1085012 h 1085012"/>
                <a:gd name="connsiteX0" fmla="*/ 24658 w 394630"/>
                <a:gd name="connsiteY0" fmla="*/ 0 h 1085044"/>
                <a:gd name="connsiteX1" fmla="*/ 394528 w 394630"/>
                <a:gd name="connsiteY1" fmla="*/ 517847 h 1085044"/>
                <a:gd name="connsiteX2" fmla="*/ 0 w 394630"/>
                <a:gd name="connsiteY2" fmla="*/ 1085012 h 1085044"/>
                <a:gd name="connsiteX0" fmla="*/ 24658 w 394630"/>
                <a:gd name="connsiteY0" fmla="*/ 0 h 1085053"/>
                <a:gd name="connsiteX1" fmla="*/ 394528 w 394630"/>
                <a:gd name="connsiteY1" fmla="*/ 604155 h 1085053"/>
                <a:gd name="connsiteX2" fmla="*/ 0 w 394630"/>
                <a:gd name="connsiteY2" fmla="*/ 1085012 h 1085053"/>
                <a:gd name="connsiteX0" fmla="*/ 24658 w 394630"/>
                <a:gd name="connsiteY0" fmla="*/ 0 h 1085085"/>
                <a:gd name="connsiteX1" fmla="*/ 394528 w 394630"/>
                <a:gd name="connsiteY1" fmla="*/ 604155 h 1085085"/>
                <a:gd name="connsiteX2" fmla="*/ 0 w 394630"/>
                <a:gd name="connsiteY2" fmla="*/ 1085012 h 1085085"/>
                <a:gd name="connsiteX0" fmla="*/ 24658 w 406950"/>
                <a:gd name="connsiteY0" fmla="*/ 0 h 1085063"/>
                <a:gd name="connsiteX1" fmla="*/ 406857 w 406950"/>
                <a:gd name="connsiteY1" fmla="*/ 530177 h 1085063"/>
                <a:gd name="connsiteX2" fmla="*/ 0 w 406950"/>
                <a:gd name="connsiteY2" fmla="*/ 1085012 h 1085063"/>
                <a:gd name="connsiteX0" fmla="*/ 0 w 544110"/>
                <a:gd name="connsiteY0" fmla="*/ 0 h 1109704"/>
                <a:gd name="connsiteX1" fmla="*/ 542476 w 544110"/>
                <a:gd name="connsiteY1" fmla="*/ 554836 h 1109704"/>
                <a:gd name="connsiteX2" fmla="*/ 135619 w 544110"/>
                <a:gd name="connsiteY2" fmla="*/ 1109671 h 1109704"/>
                <a:gd name="connsiteX0" fmla="*/ 0 w 544110"/>
                <a:gd name="connsiteY0" fmla="*/ 0 h 1109704"/>
                <a:gd name="connsiteX1" fmla="*/ 542476 w 544110"/>
                <a:gd name="connsiteY1" fmla="*/ 554836 h 1109704"/>
                <a:gd name="connsiteX2" fmla="*/ 135619 w 544110"/>
                <a:gd name="connsiteY2" fmla="*/ 1109671 h 1109704"/>
                <a:gd name="connsiteX0" fmla="*/ 0 w 544110"/>
                <a:gd name="connsiteY0" fmla="*/ 0 h 1109671"/>
                <a:gd name="connsiteX1" fmla="*/ 542476 w 544110"/>
                <a:gd name="connsiteY1" fmla="*/ 554836 h 1109671"/>
                <a:gd name="connsiteX2" fmla="*/ 135619 w 544110"/>
                <a:gd name="connsiteY2" fmla="*/ 1109671 h 1109671"/>
                <a:gd name="connsiteX0" fmla="*/ 0 w 544933"/>
                <a:gd name="connsiteY0" fmla="*/ 0 h 1146660"/>
                <a:gd name="connsiteX1" fmla="*/ 542476 w 544933"/>
                <a:gd name="connsiteY1" fmla="*/ 554836 h 1146660"/>
                <a:gd name="connsiteX2" fmla="*/ 160277 w 544933"/>
                <a:gd name="connsiteY2" fmla="*/ 1146660 h 1146660"/>
                <a:gd name="connsiteX0" fmla="*/ 0 w 547239"/>
                <a:gd name="connsiteY0" fmla="*/ 0 h 1146660"/>
                <a:gd name="connsiteX1" fmla="*/ 542476 w 547239"/>
                <a:gd name="connsiteY1" fmla="*/ 554836 h 1146660"/>
                <a:gd name="connsiteX2" fmla="*/ 160277 w 547239"/>
                <a:gd name="connsiteY2" fmla="*/ 1146660 h 1146660"/>
                <a:gd name="connsiteX0" fmla="*/ 0 w 451673"/>
                <a:gd name="connsiteY0" fmla="*/ 0 h 1146660"/>
                <a:gd name="connsiteX1" fmla="*/ 443844 w 451673"/>
                <a:gd name="connsiteY1" fmla="*/ 554836 h 1146660"/>
                <a:gd name="connsiteX2" fmla="*/ 160277 w 451673"/>
                <a:gd name="connsiteY2" fmla="*/ 1146660 h 1146660"/>
                <a:gd name="connsiteX0" fmla="*/ 0 w 451673"/>
                <a:gd name="connsiteY0" fmla="*/ 0 h 1146660"/>
                <a:gd name="connsiteX1" fmla="*/ 443844 w 451673"/>
                <a:gd name="connsiteY1" fmla="*/ 554836 h 1146660"/>
                <a:gd name="connsiteX2" fmla="*/ 160277 w 451673"/>
                <a:gd name="connsiteY2" fmla="*/ 1146660 h 1146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1673" h="1146660">
                  <a:moveTo>
                    <a:pt x="0" y="0"/>
                  </a:moveTo>
                  <a:cubicBezTo>
                    <a:pt x="279457" y="36988"/>
                    <a:pt x="404802" y="277418"/>
                    <a:pt x="443844" y="554836"/>
                  </a:cubicBezTo>
                  <a:cubicBezTo>
                    <a:pt x="482886" y="832254"/>
                    <a:pt x="373980" y="1015144"/>
                    <a:pt x="160277" y="1146660"/>
                  </a:cubicBezTo>
                </a:path>
              </a:pathLst>
            </a:custGeom>
            <a:ln w="25400">
              <a:solidFill>
                <a:srgbClr val="C0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38C1778D-DF34-644E-B576-52D0C4F0D710}"/>
                </a:ext>
              </a:extLst>
            </p:cNvPr>
            <p:cNvGrpSpPr/>
            <p:nvPr/>
          </p:nvGrpSpPr>
          <p:grpSpPr>
            <a:xfrm>
              <a:off x="7464088" y="2469046"/>
              <a:ext cx="318711" cy="369332"/>
              <a:chOff x="499844" y="5934173"/>
              <a:chExt cx="318711" cy="369332"/>
            </a:xfrm>
          </p:grpSpPr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795ADC7B-0B53-FE4F-80DB-349552A9777C}"/>
                  </a:ext>
                </a:extLst>
              </p:cNvPr>
              <p:cNvSpPr/>
              <p:nvPr/>
            </p:nvSpPr>
            <p:spPr>
              <a:xfrm>
                <a:off x="499844" y="5970739"/>
                <a:ext cx="318711" cy="318711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rgbClr val="C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4C992193-D570-3848-8B62-0B1B018C9AF7}"/>
                  </a:ext>
                </a:extLst>
              </p:cNvPr>
              <p:cNvSpPr txBox="1"/>
              <p:nvPr/>
            </p:nvSpPr>
            <p:spPr>
              <a:xfrm>
                <a:off x="520378" y="5934173"/>
                <a:ext cx="23985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4</a:t>
                </a:r>
              </a:p>
            </p:txBody>
          </p:sp>
        </p:grp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F68DFBE-B94F-704C-B900-18F3AA2CDC03}"/>
              </a:ext>
            </a:extLst>
          </p:cNvPr>
          <p:cNvGrpSpPr/>
          <p:nvPr/>
        </p:nvGrpSpPr>
        <p:grpSpPr>
          <a:xfrm>
            <a:off x="7834184" y="2693773"/>
            <a:ext cx="4188941" cy="1231837"/>
            <a:chOff x="7834184" y="2693773"/>
            <a:chExt cx="4188941" cy="1231837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54D1966-EEFB-A446-81A7-764F9DFE84E0}"/>
                </a:ext>
              </a:extLst>
            </p:cNvPr>
            <p:cNvSpPr txBox="1"/>
            <p:nvPr/>
          </p:nvSpPr>
          <p:spPr>
            <a:xfrm>
              <a:off x="9030943" y="2891481"/>
              <a:ext cx="2992182" cy="10341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2400" dirty="0"/>
                <a:t>visited gateway router forwards to mobile</a:t>
              </a:r>
            </a:p>
            <a:p>
              <a:endParaRPr lang="en-US" dirty="0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DE429D3-F105-0546-8130-BF938851DD45}"/>
                </a:ext>
              </a:extLst>
            </p:cNvPr>
            <p:cNvCxnSpPr>
              <a:cxnSpLocks/>
            </p:cNvCxnSpPr>
            <p:nvPr/>
          </p:nvCxnSpPr>
          <p:spPr>
            <a:xfrm>
              <a:off x="7834184" y="2693773"/>
              <a:ext cx="1198605" cy="357276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1" name="Group 137">
            <a:extLst>
              <a:ext uri="{FF2B5EF4-FFF2-40B4-BE49-F238E27FC236}">
                <a16:creationId xmlns:a16="http://schemas.microsoft.com/office/drawing/2014/main" id="{567C1314-3308-4E48-81E8-DFC6341689EE}"/>
              </a:ext>
            </a:extLst>
          </p:cNvPr>
          <p:cNvGrpSpPr>
            <a:grpSpLocks/>
          </p:cNvGrpSpPr>
          <p:nvPr/>
        </p:nvGrpSpPr>
        <p:grpSpPr bwMode="auto">
          <a:xfrm>
            <a:off x="4625851" y="3210611"/>
            <a:ext cx="1322389" cy="1905000"/>
            <a:chOff x="1915" y="2230"/>
            <a:chExt cx="833" cy="1200"/>
          </a:xfrm>
        </p:grpSpPr>
        <p:sp>
          <p:nvSpPr>
            <p:cNvPr id="122" name="Line 138">
              <a:extLst>
                <a:ext uri="{FF2B5EF4-FFF2-40B4-BE49-F238E27FC236}">
                  <a16:creationId xmlns:a16="http://schemas.microsoft.com/office/drawing/2014/main" id="{AA66713F-006C-A640-84B7-6F703C89BA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915" y="2230"/>
              <a:ext cx="833" cy="1200"/>
            </a:xfrm>
            <a:custGeom>
              <a:avLst/>
              <a:gdLst>
                <a:gd name="connsiteX0" fmla="*/ 0 w 1350962"/>
                <a:gd name="connsiteY0" fmla="*/ 0 h 1498600"/>
                <a:gd name="connsiteX1" fmla="*/ 1350962 w 1350962"/>
                <a:gd name="connsiteY1" fmla="*/ 1498600 h 1498600"/>
                <a:gd name="connsiteX0" fmla="*/ 0 w 1177968"/>
                <a:gd name="connsiteY0" fmla="*/ 0 h 1708665"/>
                <a:gd name="connsiteX1" fmla="*/ 1177968 w 1177968"/>
                <a:gd name="connsiteY1" fmla="*/ 1708665 h 1708665"/>
                <a:gd name="connsiteX0" fmla="*/ 0 w 1239754"/>
                <a:gd name="connsiteY0" fmla="*/ 0 h 1708665"/>
                <a:gd name="connsiteX1" fmla="*/ 1239754 w 1239754"/>
                <a:gd name="connsiteY1" fmla="*/ 1708665 h 1708665"/>
                <a:gd name="connsiteX0" fmla="*/ 0 w 1260255"/>
                <a:gd name="connsiteY0" fmla="*/ 0 h 1889139"/>
                <a:gd name="connsiteX1" fmla="*/ 1260255 w 1260255"/>
                <a:gd name="connsiteY1" fmla="*/ 1889139 h 1889139"/>
                <a:gd name="connsiteX0" fmla="*/ 0 w 1321751"/>
                <a:gd name="connsiteY0" fmla="*/ 0 h 1905541"/>
                <a:gd name="connsiteX1" fmla="*/ 1321751 w 1321751"/>
                <a:gd name="connsiteY1" fmla="*/ 1905541 h 1905541"/>
                <a:gd name="connsiteX0" fmla="*/ 0 w 1321751"/>
                <a:gd name="connsiteY0" fmla="*/ 0 h 1905541"/>
                <a:gd name="connsiteX1" fmla="*/ 1321751 w 1321751"/>
                <a:gd name="connsiteY1" fmla="*/ 1905541 h 1905541"/>
                <a:gd name="connsiteX0" fmla="*/ 0 w 1321751"/>
                <a:gd name="connsiteY0" fmla="*/ 0 h 1905541"/>
                <a:gd name="connsiteX1" fmla="*/ 1321751 w 1321751"/>
                <a:gd name="connsiteY1" fmla="*/ 1905541 h 1905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21751" h="1905541">
                  <a:moveTo>
                    <a:pt x="0" y="0"/>
                  </a:moveTo>
                  <a:cubicBezTo>
                    <a:pt x="401139" y="520042"/>
                    <a:pt x="846840" y="1213232"/>
                    <a:pt x="1321751" y="1905541"/>
                  </a:cubicBezTo>
                </a:path>
              </a:pathLst>
            </a:custGeom>
            <a:noFill/>
            <a:ln w="25400">
              <a:solidFill>
                <a:srgbClr val="C00000"/>
              </a:solidFill>
              <a:round/>
              <a:headEnd type="triangle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23" name="Group 139">
              <a:extLst>
                <a:ext uri="{FF2B5EF4-FFF2-40B4-BE49-F238E27FC236}">
                  <a16:creationId xmlns:a16="http://schemas.microsoft.com/office/drawing/2014/main" id="{A1CAB2E9-58F0-4B49-B8CF-C51CAEAF0D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08" y="2539"/>
              <a:ext cx="202" cy="252"/>
              <a:chOff x="554" y="3337"/>
              <a:chExt cx="202" cy="252"/>
            </a:xfrm>
          </p:grpSpPr>
          <p:sp>
            <p:nvSpPr>
              <p:cNvPr id="124" name="Oval 140">
                <a:extLst>
                  <a:ext uri="{FF2B5EF4-FFF2-40B4-BE49-F238E27FC236}">
                    <a16:creationId xmlns:a16="http://schemas.microsoft.com/office/drawing/2014/main" id="{5E13FCDB-CB6E-754E-9F6E-82D90C8872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4" y="3374"/>
                <a:ext cx="202" cy="201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125" name="Text Box 141">
                <a:extLst>
                  <a:ext uri="{FF2B5EF4-FFF2-40B4-BE49-F238E27FC236}">
                    <a16:creationId xmlns:a16="http://schemas.microsoft.com/office/drawing/2014/main" id="{EFECD87D-AE0B-2340-A740-238167129B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7" y="3337"/>
                <a:ext cx="198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2000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2</a:t>
                </a:r>
              </a:p>
            </p:txBody>
          </p:sp>
        </p:grpSp>
      </p:grpSp>
      <p:grpSp>
        <p:nvGrpSpPr>
          <p:cNvPr id="126" name="Group 137">
            <a:extLst>
              <a:ext uri="{FF2B5EF4-FFF2-40B4-BE49-F238E27FC236}">
                <a16:creationId xmlns:a16="http://schemas.microsoft.com/office/drawing/2014/main" id="{7DCCFC3E-FF34-1C43-8781-E2F7B55DB97A}"/>
              </a:ext>
            </a:extLst>
          </p:cNvPr>
          <p:cNvGrpSpPr>
            <a:grpSpLocks/>
          </p:cNvGrpSpPr>
          <p:nvPr/>
        </p:nvGrpSpPr>
        <p:grpSpPr bwMode="auto">
          <a:xfrm>
            <a:off x="6286332" y="3699820"/>
            <a:ext cx="803276" cy="1604963"/>
            <a:chOff x="1028" y="1656"/>
            <a:chExt cx="506" cy="1011"/>
          </a:xfrm>
        </p:grpSpPr>
        <p:sp>
          <p:nvSpPr>
            <p:cNvPr id="127" name="Line 138">
              <a:extLst>
                <a:ext uri="{FF2B5EF4-FFF2-40B4-BE49-F238E27FC236}">
                  <a16:creationId xmlns:a16="http://schemas.microsoft.com/office/drawing/2014/main" id="{242F26A0-18FF-8C44-92B2-1684C63AB6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28" y="1656"/>
              <a:ext cx="506" cy="1011"/>
            </a:xfrm>
            <a:custGeom>
              <a:avLst/>
              <a:gdLst>
                <a:gd name="connsiteX0" fmla="*/ 0 w 1350962"/>
                <a:gd name="connsiteY0" fmla="*/ 0 h 1498600"/>
                <a:gd name="connsiteX1" fmla="*/ 1350962 w 1350962"/>
                <a:gd name="connsiteY1" fmla="*/ 1498600 h 1498600"/>
                <a:gd name="connsiteX0" fmla="*/ 0 w 1177968"/>
                <a:gd name="connsiteY0" fmla="*/ 0 h 1708665"/>
                <a:gd name="connsiteX1" fmla="*/ 1177968 w 1177968"/>
                <a:gd name="connsiteY1" fmla="*/ 1708665 h 1708665"/>
                <a:gd name="connsiteX0" fmla="*/ 0 w 1239754"/>
                <a:gd name="connsiteY0" fmla="*/ 0 h 1708665"/>
                <a:gd name="connsiteX1" fmla="*/ 1239754 w 1239754"/>
                <a:gd name="connsiteY1" fmla="*/ 1708665 h 1708665"/>
                <a:gd name="connsiteX0" fmla="*/ 0 w 1260255"/>
                <a:gd name="connsiteY0" fmla="*/ 0 h 1889139"/>
                <a:gd name="connsiteX1" fmla="*/ 1260255 w 1260255"/>
                <a:gd name="connsiteY1" fmla="*/ 1889139 h 1889139"/>
                <a:gd name="connsiteX0" fmla="*/ 0 w 1321751"/>
                <a:gd name="connsiteY0" fmla="*/ 0 h 1905541"/>
                <a:gd name="connsiteX1" fmla="*/ 1321751 w 1321751"/>
                <a:gd name="connsiteY1" fmla="*/ 1905541 h 1905541"/>
                <a:gd name="connsiteX0" fmla="*/ 0 w 1321751"/>
                <a:gd name="connsiteY0" fmla="*/ 0 h 1905541"/>
                <a:gd name="connsiteX1" fmla="*/ 1321751 w 1321751"/>
                <a:gd name="connsiteY1" fmla="*/ 1905541 h 1905541"/>
                <a:gd name="connsiteX0" fmla="*/ 0 w 1321751"/>
                <a:gd name="connsiteY0" fmla="*/ 0 h 1905541"/>
                <a:gd name="connsiteX1" fmla="*/ 1321751 w 1321751"/>
                <a:gd name="connsiteY1" fmla="*/ 1905541 h 1905541"/>
                <a:gd name="connsiteX0" fmla="*/ 0 w 2729741"/>
                <a:gd name="connsiteY0" fmla="*/ 0 h 1213365"/>
                <a:gd name="connsiteX1" fmla="*/ 2729741 w 2729741"/>
                <a:gd name="connsiteY1" fmla="*/ 1213365 h 1213365"/>
                <a:gd name="connsiteX0" fmla="*/ 0 w 802625"/>
                <a:gd name="connsiteY0" fmla="*/ 1715344 h 1779818"/>
                <a:gd name="connsiteX1" fmla="*/ 802625 w 802625"/>
                <a:gd name="connsiteY1" fmla="*/ 110172 h 1779818"/>
                <a:gd name="connsiteX0" fmla="*/ 0 w 802625"/>
                <a:gd name="connsiteY0" fmla="*/ 1764540 h 1764540"/>
                <a:gd name="connsiteX1" fmla="*/ 802625 w 802625"/>
                <a:gd name="connsiteY1" fmla="*/ 159368 h 1764540"/>
                <a:gd name="connsiteX0" fmla="*/ 0 w 802625"/>
                <a:gd name="connsiteY0" fmla="*/ 1605172 h 1605172"/>
                <a:gd name="connsiteX1" fmla="*/ 802625 w 802625"/>
                <a:gd name="connsiteY1" fmla="*/ 0 h 1605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02625" h="1605172">
                  <a:moveTo>
                    <a:pt x="0" y="1605172"/>
                  </a:moveTo>
                  <a:cubicBezTo>
                    <a:pt x="191244" y="1062396"/>
                    <a:pt x="352408" y="865372"/>
                    <a:pt x="802625" y="0"/>
                  </a:cubicBezTo>
                </a:path>
              </a:pathLst>
            </a:custGeom>
            <a:noFill/>
            <a:ln w="25400">
              <a:solidFill>
                <a:srgbClr val="C00000"/>
              </a:solidFill>
              <a:round/>
              <a:headEnd type="triangle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28" name="Group 139">
              <a:extLst>
                <a:ext uri="{FF2B5EF4-FFF2-40B4-BE49-F238E27FC236}">
                  <a16:creationId xmlns:a16="http://schemas.microsoft.com/office/drawing/2014/main" id="{4C08F486-76E9-FF49-BFD8-662FFB21C9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01" y="1838"/>
              <a:ext cx="207" cy="252"/>
              <a:chOff x="-253" y="2636"/>
              <a:chExt cx="207" cy="252"/>
            </a:xfrm>
          </p:grpSpPr>
          <p:sp>
            <p:nvSpPr>
              <p:cNvPr id="129" name="Oval 140">
                <a:extLst>
                  <a:ext uri="{FF2B5EF4-FFF2-40B4-BE49-F238E27FC236}">
                    <a16:creationId xmlns:a16="http://schemas.microsoft.com/office/drawing/2014/main" id="{D7F72C4A-7E0C-6D46-9672-E3DB86AE40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48" y="2650"/>
                <a:ext cx="202" cy="201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130" name="Text Box 141">
                <a:extLst>
                  <a:ext uri="{FF2B5EF4-FFF2-40B4-BE49-F238E27FC236}">
                    <a16:creationId xmlns:a16="http://schemas.microsoft.com/office/drawing/2014/main" id="{DE3F69BA-E896-E44D-8CA7-3D158B6C5C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53" y="2636"/>
                <a:ext cx="198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2000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3</a:t>
                </a:r>
              </a:p>
            </p:txBody>
          </p:sp>
        </p:grpSp>
      </p:grpSp>
      <p:grpSp>
        <p:nvGrpSpPr>
          <p:cNvPr id="136" name="Group 201">
            <a:extLst>
              <a:ext uri="{FF2B5EF4-FFF2-40B4-BE49-F238E27FC236}">
                <a16:creationId xmlns:a16="http://schemas.microsoft.com/office/drawing/2014/main" id="{C3E7B863-7224-DC44-A05F-1CE7E305D3E3}"/>
              </a:ext>
            </a:extLst>
          </p:cNvPr>
          <p:cNvGrpSpPr>
            <a:grpSpLocks/>
          </p:cNvGrpSpPr>
          <p:nvPr/>
        </p:nvGrpSpPr>
        <p:grpSpPr bwMode="auto">
          <a:xfrm>
            <a:off x="6215448" y="4840028"/>
            <a:ext cx="358347" cy="362168"/>
            <a:chOff x="375561" y="297711"/>
            <a:chExt cx="1252683" cy="2138362"/>
          </a:xfrm>
        </p:grpSpPr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B1C86697-925D-0D40-AC34-1105DDBDBC48}"/>
                </a:ext>
              </a:extLst>
            </p:cNvPr>
            <p:cNvSpPr/>
            <p:nvPr/>
          </p:nvSpPr>
          <p:spPr>
            <a:xfrm>
              <a:off x="375561" y="297711"/>
              <a:ext cx="971072" cy="2138362"/>
            </a:xfrm>
            <a:custGeom>
              <a:avLst/>
              <a:gdLst>
                <a:gd name="connsiteX0" fmla="*/ 0 w 966787"/>
                <a:gd name="connsiteY0" fmla="*/ 0 h 2138362"/>
                <a:gd name="connsiteX1" fmla="*/ 0 w 966787"/>
                <a:gd name="connsiteY1" fmla="*/ 1190625 h 2138362"/>
                <a:gd name="connsiteX2" fmla="*/ 966787 w 966787"/>
                <a:gd name="connsiteY2" fmla="*/ 2138362 h 2138362"/>
                <a:gd name="connsiteX3" fmla="*/ 962025 w 966787"/>
                <a:gd name="connsiteY3" fmla="*/ 742950 h 2138362"/>
                <a:gd name="connsiteX4" fmla="*/ 0 w 966787"/>
                <a:gd name="connsiteY4" fmla="*/ 0 h 213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6787" h="2138362">
                  <a:moveTo>
                    <a:pt x="0" y="0"/>
                  </a:moveTo>
                  <a:lnTo>
                    <a:pt x="0" y="1190625"/>
                  </a:lnTo>
                  <a:lnTo>
                    <a:pt x="966787" y="2138362"/>
                  </a:lnTo>
                  <a:cubicBezTo>
                    <a:pt x="965200" y="1673225"/>
                    <a:pt x="963612" y="1208087"/>
                    <a:pt x="962025" y="74295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0DE2FA55-678C-4043-B50E-8079535A18B5}"/>
                </a:ext>
              </a:extLst>
            </p:cNvPr>
            <p:cNvSpPr/>
            <p:nvPr/>
          </p:nvSpPr>
          <p:spPr>
            <a:xfrm>
              <a:off x="375561" y="309724"/>
              <a:ext cx="1247826" cy="768849"/>
            </a:xfrm>
            <a:custGeom>
              <a:avLst/>
              <a:gdLst>
                <a:gd name="connsiteX0" fmla="*/ 0 w 966787"/>
                <a:gd name="connsiteY0" fmla="*/ 0 h 2138362"/>
                <a:gd name="connsiteX1" fmla="*/ 0 w 966787"/>
                <a:gd name="connsiteY1" fmla="*/ 1190625 h 2138362"/>
                <a:gd name="connsiteX2" fmla="*/ 966787 w 966787"/>
                <a:gd name="connsiteY2" fmla="*/ 2138362 h 2138362"/>
                <a:gd name="connsiteX3" fmla="*/ 962025 w 966787"/>
                <a:gd name="connsiteY3" fmla="*/ 742950 h 2138362"/>
                <a:gd name="connsiteX4" fmla="*/ 0 w 966787"/>
                <a:gd name="connsiteY4" fmla="*/ 0 h 2138362"/>
                <a:gd name="connsiteX0" fmla="*/ 928688 w 1895475"/>
                <a:gd name="connsiteY0" fmla="*/ 0 h 2138362"/>
                <a:gd name="connsiteX1" fmla="*/ 0 w 1895475"/>
                <a:gd name="connsiteY1" fmla="*/ 461963 h 2138362"/>
                <a:gd name="connsiteX2" fmla="*/ 1895475 w 1895475"/>
                <a:gd name="connsiteY2" fmla="*/ 2138362 h 2138362"/>
                <a:gd name="connsiteX3" fmla="*/ 1890713 w 1895475"/>
                <a:gd name="connsiteY3" fmla="*/ 742950 h 2138362"/>
                <a:gd name="connsiteX4" fmla="*/ 928688 w 1895475"/>
                <a:gd name="connsiteY4" fmla="*/ 0 h 213836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890713 w 1895475"/>
                <a:gd name="connsiteY3" fmla="*/ 342900 h 1738312"/>
                <a:gd name="connsiteX4" fmla="*/ 247650 w 1895475"/>
                <a:gd name="connsiteY4" fmla="*/ 0 h 173831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143000 w 1895475"/>
                <a:gd name="connsiteY3" fmla="*/ 776288 h 1738312"/>
                <a:gd name="connsiteX4" fmla="*/ 247650 w 1895475"/>
                <a:gd name="connsiteY4" fmla="*/ 0 h 173831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143000 w 1895475"/>
                <a:gd name="connsiteY3" fmla="*/ 776288 h 1738312"/>
                <a:gd name="connsiteX4" fmla="*/ 247650 w 1895475"/>
                <a:gd name="connsiteY4" fmla="*/ 0 h 173831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238250 w 1895475"/>
                <a:gd name="connsiteY3" fmla="*/ 814388 h 1738312"/>
                <a:gd name="connsiteX4" fmla="*/ 247650 w 1895475"/>
                <a:gd name="connsiteY4" fmla="*/ 0 h 173831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238250 w 1895475"/>
                <a:gd name="connsiteY3" fmla="*/ 814388 h 1738312"/>
                <a:gd name="connsiteX4" fmla="*/ 247650 w 1895475"/>
                <a:gd name="connsiteY4" fmla="*/ 0 h 1738312"/>
                <a:gd name="connsiteX0" fmla="*/ 247650 w 1238250"/>
                <a:gd name="connsiteY0" fmla="*/ 0 h 862012"/>
                <a:gd name="connsiteX1" fmla="*/ 0 w 1238250"/>
                <a:gd name="connsiteY1" fmla="*/ 61913 h 862012"/>
                <a:gd name="connsiteX2" fmla="*/ 947738 w 1238250"/>
                <a:gd name="connsiteY2" fmla="*/ 862012 h 862012"/>
                <a:gd name="connsiteX3" fmla="*/ 1238250 w 1238250"/>
                <a:gd name="connsiteY3" fmla="*/ 814388 h 862012"/>
                <a:gd name="connsiteX4" fmla="*/ 247650 w 1238250"/>
                <a:gd name="connsiteY4" fmla="*/ 0 h 862012"/>
                <a:gd name="connsiteX0" fmla="*/ 247650 w 1238250"/>
                <a:gd name="connsiteY0" fmla="*/ 0 h 823912"/>
                <a:gd name="connsiteX1" fmla="*/ 0 w 1238250"/>
                <a:gd name="connsiteY1" fmla="*/ 61913 h 823912"/>
                <a:gd name="connsiteX2" fmla="*/ 952500 w 1238250"/>
                <a:gd name="connsiteY2" fmla="*/ 823912 h 823912"/>
                <a:gd name="connsiteX3" fmla="*/ 1238250 w 1238250"/>
                <a:gd name="connsiteY3" fmla="*/ 814388 h 823912"/>
                <a:gd name="connsiteX4" fmla="*/ 247650 w 1238250"/>
                <a:gd name="connsiteY4" fmla="*/ 0 h 823912"/>
                <a:gd name="connsiteX0" fmla="*/ 247650 w 1238250"/>
                <a:gd name="connsiteY0" fmla="*/ 0 h 823912"/>
                <a:gd name="connsiteX1" fmla="*/ 0 w 1238250"/>
                <a:gd name="connsiteY1" fmla="*/ 61913 h 823912"/>
                <a:gd name="connsiteX2" fmla="*/ 952500 w 1238250"/>
                <a:gd name="connsiteY2" fmla="*/ 823912 h 823912"/>
                <a:gd name="connsiteX3" fmla="*/ 1238250 w 1238250"/>
                <a:gd name="connsiteY3" fmla="*/ 814388 h 823912"/>
                <a:gd name="connsiteX4" fmla="*/ 247650 w 1238250"/>
                <a:gd name="connsiteY4" fmla="*/ 0 h 823912"/>
                <a:gd name="connsiteX0" fmla="*/ 233363 w 1238250"/>
                <a:gd name="connsiteY0" fmla="*/ 0 h 766762"/>
                <a:gd name="connsiteX1" fmla="*/ 0 w 1238250"/>
                <a:gd name="connsiteY1" fmla="*/ 4763 h 766762"/>
                <a:gd name="connsiteX2" fmla="*/ 952500 w 1238250"/>
                <a:gd name="connsiteY2" fmla="*/ 766762 h 766762"/>
                <a:gd name="connsiteX3" fmla="*/ 1238250 w 1238250"/>
                <a:gd name="connsiteY3" fmla="*/ 757238 h 766762"/>
                <a:gd name="connsiteX4" fmla="*/ 233363 w 1238250"/>
                <a:gd name="connsiteY4" fmla="*/ 0 h 766762"/>
                <a:gd name="connsiteX0" fmla="*/ 233363 w 1238250"/>
                <a:gd name="connsiteY0" fmla="*/ 0 h 773376"/>
                <a:gd name="connsiteX1" fmla="*/ 0 w 1238250"/>
                <a:gd name="connsiteY1" fmla="*/ 4763 h 773376"/>
                <a:gd name="connsiteX2" fmla="*/ 952500 w 1238250"/>
                <a:gd name="connsiteY2" fmla="*/ 766762 h 773376"/>
                <a:gd name="connsiteX3" fmla="*/ 1238250 w 1238250"/>
                <a:gd name="connsiteY3" fmla="*/ 771525 h 773376"/>
                <a:gd name="connsiteX4" fmla="*/ 233363 w 1238250"/>
                <a:gd name="connsiteY4" fmla="*/ 0 h 773376"/>
                <a:gd name="connsiteX0" fmla="*/ 233363 w 1238250"/>
                <a:gd name="connsiteY0" fmla="*/ 0 h 766762"/>
                <a:gd name="connsiteX1" fmla="*/ 0 w 1238250"/>
                <a:gd name="connsiteY1" fmla="*/ 4763 h 766762"/>
                <a:gd name="connsiteX2" fmla="*/ 952500 w 1238250"/>
                <a:gd name="connsiteY2" fmla="*/ 766762 h 766762"/>
                <a:gd name="connsiteX3" fmla="*/ 1238250 w 1238250"/>
                <a:gd name="connsiteY3" fmla="*/ 757236 h 766762"/>
                <a:gd name="connsiteX4" fmla="*/ 233363 w 1238250"/>
                <a:gd name="connsiteY4" fmla="*/ 0 h 766762"/>
                <a:gd name="connsiteX0" fmla="*/ 233363 w 1238250"/>
                <a:gd name="connsiteY0" fmla="*/ 0 h 773375"/>
                <a:gd name="connsiteX1" fmla="*/ 0 w 1238250"/>
                <a:gd name="connsiteY1" fmla="*/ 4763 h 773375"/>
                <a:gd name="connsiteX2" fmla="*/ 952500 w 1238250"/>
                <a:gd name="connsiteY2" fmla="*/ 766762 h 773375"/>
                <a:gd name="connsiteX3" fmla="*/ 1238250 w 1238250"/>
                <a:gd name="connsiteY3" fmla="*/ 771523 h 773375"/>
                <a:gd name="connsiteX4" fmla="*/ 233363 w 1238250"/>
                <a:gd name="connsiteY4" fmla="*/ 0 h 773375"/>
                <a:gd name="connsiteX0" fmla="*/ 233363 w 1238250"/>
                <a:gd name="connsiteY0" fmla="*/ 0 h 771523"/>
                <a:gd name="connsiteX1" fmla="*/ 0 w 1238250"/>
                <a:gd name="connsiteY1" fmla="*/ 4763 h 771523"/>
                <a:gd name="connsiteX2" fmla="*/ 952500 w 1238250"/>
                <a:gd name="connsiteY2" fmla="*/ 766762 h 771523"/>
                <a:gd name="connsiteX3" fmla="*/ 1238250 w 1238250"/>
                <a:gd name="connsiteY3" fmla="*/ 771523 h 771523"/>
                <a:gd name="connsiteX4" fmla="*/ 233363 w 1238250"/>
                <a:gd name="connsiteY4" fmla="*/ 0 h 771523"/>
                <a:gd name="connsiteX0" fmla="*/ 233363 w 1238250"/>
                <a:gd name="connsiteY0" fmla="*/ 0 h 771523"/>
                <a:gd name="connsiteX1" fmla="*/ 0 w 1238250"/>
                <a:gd name="connsiteY1" fmla="*/ 23466 h 771523"/>
                <a:gd name="connsiteX2" fmla="*/ 952500 w 1238250"/>
                <a:gd name="connsiteY2" fmla="*/ 766762 h 771523"/>
                <a:gd name="connsiteX3" fmla="*/ 1238250 w 1238250"/>
                <a:gd name="connsiteY3" fmla="*/ 771523 h 771523"/>
                <a:gd name="connsiteX4" fmla="*/ 233363 w 1238250"/>
                <a:gd name="connsiteY4" fmla="*/ 0 h 771523"/>
                <a:gd name="connsiteX0" fmla="*/ 233363 w 1238250"/>
                <a:gd name="connsiteY0" fmla="*/ 0 h 757496"/>
                <a:gd name="connsiteX1" fmla="*/ 0 w 1238250"/>
                <a:gd name="connsiteY1" fmla="*/ 9439 h 757496"/>
                <a:gd name="connsiteX2" fmla="*/ 952500 w 1238250"/>
                <a:gd name="connsiteY2" fmla="*/ 752735 h 757496"/>
                <a:gd name="connsiteX3" fmla="*/ 1238250 w 1238250"/>
                <a:gd name="connsiteY3" fmla="*/ 757496 h 757496"/>
                <a:gd name="connsiteX4" fmla="*/ 233363 w 1238250"/>
                <a:gd name="connsiteY4" fmla="*/ 0 h 757496"/>
                <a:gd name="connsiteX0" fmla="*/ 233363 w 1238250"/>
                <a:gd name="connsiteY0" fmla="*/ 0 h 757496"/>
                <a:gd name="connsiteX1" fmla="*/ 0 w 1238250"/>
                <a:gd name="connsiteY1" fmla="*/ 9439 h 757496"/>
                <a:gd name="connsiteX2" fmla="*/ 952500 w 1238250"/>
                <a:gd name="connsiteY2" fmla="*/ 752735 h 757496"/>
                <a:gd name="connsiteX3" fmla="*/ 1238250 w 1238250"/>
                <a:gd name="connsiteY3" fmla="*/ 757496 h 757496"/>
                <a:gd name="connsiteX4" fmla="*/ 233363 w 1238250"/>
                <a:gd name="connsiteY4" fmla="*/ 0 h 757496"/>
                <a:gd name="connsiteX0" fmla="*/ 243561 w 1248448"/>
                <a:gd name="connsiteY0" fmla="*/ 573 h 758069"/>
                <a:gd name="connsiteX1" fmla="*/ 0 w 1248448"/>
                <a:gd name="connsiteY1" fmla="*/ 0 h 758069"/>
                <a:gd name="connsiteX2" fmla="*/ 962698 w 1248448"/>
                <a:gd name="connsiteY2" fmla="*/ 753308 h 758069"/>
                <a:gd name="connsiteX3" fmla="*/ 1248448 w 1248448"/>
                <a:gd name="connsiteY3" fmla="*/ 758069 h 758069"/>
                <a:gd name="connsiteX4" fmla="*/ 243561 w 1248448"/>
                <a:gd name="connsiteY4" fmla="*/ 573 h 758069"/>
                <a:gd name="connsiteX0" fmla="*/ 243561 w 1248448"/>
                <a:gd name="connsiteY0" fmla="*/ 573 h 758069"/>
                <a:gd name="connsiteX1" fmla="*/ 0 w 1248448"/>
                <a:gd name="connsiteY1" fmla="*/ 0 h 758069"/>
                <a:gd name="connsiteX2" fmla="*/ 962698 w 1248448"/>
                <a:gd name="connsiteY2" fmla="*/ 753308 h 758069"/>
                <a:gd name="connsiteX3" fmla="*/ 1248448 w 1248448"/>
                <a:gd name="connsiteY3" fmla="*/ 758069 h 758069"/>
                <a:gd name="connsiteX4" fmla="*/ 243561 w 1248448"/>
                <a:gd name="connsiteY4" fmla="*/ 573 h 758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8448" h="758069">
                  <a:moveTo>
                    <a:pt x="243561" y="573"/>
                  </a:moveTo>
                  <a:cubicBezTo>
                    <a:pt x="162374" y="382"/>
                    <a:pt x="235530" y="6639"/>
                    <a:pt x="0" y="0"/>
                  </a:cubicBezTo>
                  <a:lnTo>
                    <a:pt x="962698" y="753308"/>
                  </a:lnTo>
                  <a:cubicBezTo>
                    <a:pt x="1114838" y="758721"/>
                    <a:pt x="1045247" y="751718"/>
                    <a:pt x="1248448" y="758069"/>
                  </a:cubicBezTo>
                  <a:lnTo>
                    <a:pt x="243561" y="573"/>
                  </a:lnTo>
                  <a:close/>
                </a:path>
              </a:pathLst>
            </a:custGeom>
            <a:solidFill>
              <a:srgbClr val="0099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B12C63D1-0F79-6D44-8BF0-9A35F665B243}"/>
                </a:ext>
              </a:extLst>
            </p:cNvPr>
            <p:cNvSpPr/>
            <p:nvPr/>
          </p:nvSpPr>
          <p:spPr>
            <a:xfrm>
              <a:off x="1332065" y="1066560"/>
              <a:ext cx="296179" cy="136350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solidFill>
                  <a:srgbClr val="FFFFFF"/>
                </a:solidFill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3A89977-F97D-CE45-B70C-F8C7A9697953}"/>
              </a:ext>
            </a:extLst>
          </p:cNvPr>
          <p:cNvGrpSpPr/>
          <p:nvPr/>
        </p:nvGrpSpPr>
        <p:grpSpPr>
          <a:xfrm>
            <a:off x="7133968" y="4291913"/>
            <a:ext cx="4287794" cy="1871922"/>
            <a:chOff x="7133968" y="4291913"/>
            <a:chExt cx="4287794" cy="1871922"/>
          </a:xfrm>
        </p:grpSpPr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4ACBF94F-50D2-6F47-B6ED-DDEBB305C324}"/>
                </a:ext>
              </a:extLst>
            </p:cNvPr>
            <p:cNvSpPr txBox="1"/>
            <p:nvPr/>
          </p:nvSpPr>
          <p:spPr>
            <a:xfrm>
              <a:off x="8429580" y="4464908"/>
              <a:ext cx="2992182" cy="16989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2400" dirty="0"/>
                <a:t>Correspondent addresses datagram to visited network address</a:t>
              </a:r>
            </a:p>
            <a:p>
              <a:endParaRPr lang="en-US" dirty="0"/>
            </a:p>
          </p:txBody>
        </p: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F7EBF82F-DD0C-894E-A6FA-96E9442AA281}"/>
                </a:ext>
              </a:extLst>
            </p:cNvPr>
            <p:cNvCxnSpPr/>
            <p:nvPr/>
          </p:nvCxnSpPr>
          <p:spPr>
            <a:xfrm>
              <a:off x="7133968" y="4291913"/>
              <a:ext cx="1285102" cy="383059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93925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9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1FB7CC-D2A5-C749-8D9F-01B9FA129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43" y="49786"/>
            <a:ext cx="10018713" cy="1490816"/>
          </a:xfrm>
        </p:spPr>
        <p:txBody>
          <a:bodyPr>
            <a:normAutofit/>
          </a:bodyPr>
          <a:lstStyle/>
          <a:p>
            <a:r>
              <a:rPr sz="3200"/>
              <a:t>Direct vs. Indirect Routing: Which Is Better?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79769-3B28-CC48-AFB2-345BF93C78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Wireless and Mobile Networks: 7- </a:t>
            </a:r>
            <a:fld id="{C4204591-24BD-A542-B9D5-F8D8A88D2FEE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1170432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1">
                <a:solidFill>
                  <a:srgbClr val="155A82"/>
                </a:solidFill>
                <a:latin typeface="Calibri"/>
              </a:rPr>
              <a:t>If you were designing the network, which one would you choose?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91640"/>
            <a:ext cx="5212080" cy="457200"/>
          </a:xfrm>
          <a:prstGeom prst="roundRect">
            <a:avLst>
              <a:gd name="adj" fmla="val 15000"/>
            </a:avLst>
          </a:prstGeom>
          <a:solidFill>
            <a:srgbClr val="A66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Indirect Routing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48840"/>
            <a:ext cx="5212080" cy="1737360"/>
          </a:xfrm>
          <a:prstGeom prst="roundRect">
            <a:avLst>
              <a:gd name="adj" fmla="val 6000"/>
            </a:avLst>
          </a:prstGeom>
          <a:solidFill>
            <a:srgbClr val="F3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228600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4E2C82"/>
                </a:solidFill>
                <a:latin typeface="Calibri"/>
              </a:rPr>
              <a:t>Correspondent → Home → Mobile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9748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3E6E1E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69748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Calibri"/>
              </a:rPr>
              <a:t>Simple for correspondent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81528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3E6E1E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081528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Calibri"/>
              </a:rPr>
              <a:t>Mobile can move without informing correspondent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465576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D64A3B"/>
                </a:solidFill>
                <a:latin typeface="Calibri"/>
              </a:rPr>
              <a:t>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465576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Calibri"/>
              </a:rPr>
              <a:t>Triangle routing — longer path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691640"/>
            <a:ext cx="5212080" cy="457200"/>
          </a:xfrm>
          <a:prstGeom prst="roundRect">
            <a:avLst>
              <a:gd name="adj" fmla="val 15000"/>
            </a:avLst>
          </a:prstGeom>
          <a:solidFill>
            <a:srgbClr val="30A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1691640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Direct Routing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148840"/>
            <a:ext cx="5212080" cy="1737360"/>
          </a:xfrm>
          <a:prstGeom prst="roundRect">
            <a:avLst>
              <a:gd name="adj" fmla="val 6000"/>
            </a:avLst>
          </a:prstGeom>
          <a:solidFill>
            <a:srgbClr val="E9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75120" y="228600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155A82"/>
                </a:solidFill>
                <a:latin typeface="Calibri"/>
              </a:rPr>
              <a:t>Correspondent → Mobile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69748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3E6E1E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69748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Calibri"/>
              </a:rPr>
              <a:t>Shorter path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081528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D64A3B"/>
                </a:solidFill>
                <a:latin typeface="Calibri"/>
              </a:rPr>
              <a:t>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081528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Calibri"/>
              </a:rPr>
              <a:t>Correspondent needs current location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465576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D64A3B"/>
                </a:solidFill>
                <a:latin typeface="Calibri"/>
              </a:rPr>
              <a:t>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3465576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Calibri"/>
              </a:rPr>
              <a:t>More signaling / complexity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11480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E8E8E8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11480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  <a:latin typeface="Calibri"/>
              </a:rPr>
              <a:t>Corresp.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80360" y="379476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E3F6DE"/>
          </a:solidFill>
          <a:ln w="12700">
            <a:solidFill>
              <a:srgbClr val="3E6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880360" y="379476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  <a:latin typeface="Calibri"/>
              </a:rPr>
              <a:t>Home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46320" y="411480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F3ECFB"/>
          </a:solidFill>
          <a:ln w="12700">
            <a:solidFill>
              <a:srgbClr val="4E2C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46320" y="411480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  <a:latin typeface="Calibri"/>
              </a:rPr>
              <a:t>Mobile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2286000" y="4023360"/>
            <a:ext cx="594360" cy="320040"/>
          </a:xfrm>
          <a:prstGeom prst="line">
            <a:avLst/>
          </a:prstGeom>
          <a:ln w="19050">
            <a:solidFill>
              <a:srgbClr val="4E2C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251960" y="4023360"/>
            <a:ext cx="594360" cy="320040"/>
          </a:xfrm>
          <a:prstGeom prst="line">
            <a:avLst/>
          </a:prstGeom>
          <a:ln w="19050">
            <a:solidFill>
              <a:srgbClr val="4E2C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14400" y="470916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1">
                <a:solidFill>
                  <a:srgbClr val="4E2C82"/>
                </a:solidFill>
                <a:latin typeface="Calibri"/>
              </a:rPr>
              <a:t>Longer path — triangle routing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411480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E8E8E8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0" y="411480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  <a:latin typeface="Calibri"/>
              </a:rPr>
              <a:t>Corresp.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241280" y="411480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E9F4FC"/>
          </a:solidFill>
          <a:ln w="12700">
            <a:solidFill>
              <a:srgbClr val="15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241280" y="411480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  <a:latin typeface="Calibri"/>
              </a:rPr>
              <a:t>Mobile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772400" y="4343400"/>
            <a:ext cx="2468880" cy="0"/>
          </a:xfrm>
          <a:prstGeom prst="line">
            <a:avLst/>
          </a:prstGeom>
          <a:ln w="19050">
            <a:solidFill>
              <a:srgbClr val="155A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400800" y="470916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1">
                <a:solidFill>
                  <a:srgbClr val="155A82"/>
                </a:solidFill>
                <a:latin typeface="Calibri"/>
              </a:rPr>
              <a:t>Shorter path — direct routing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" y="5074920"/>
            <a:ext cx="10332720" cy="685800"/>
          </a:xfrm>
          <a:prstGeom prst="roundRect">
            <a:avLst>
              <a:gd name="adj" fmla="val 20000"/>
            </a:avLst>
          </a:prstGeom>
          <a:solidFill>
            <a:srgbClr val="E29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97280" y="5148072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There is no free lunch!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422392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1">
                <a:solidFill>
                  <a:srgbClr val="7A5114"/>
                </a:solidFill>
                <a:latin typeface="Calibri"/>
              </a:rPr>
              <a:t>Simple &amp; transparent  ↔  Efficient but more complex</a:t>
            </a:r>
          </a:p>
        </p:txBody>
      </p:sp>
    </p:spTree>
    <p:extLst>
      <p:ext uri="{BB962C8B-B14F-4D97-AF65-F5344CB8AC3E}">
        <p14:creationId xmlns:p14="http://schemas.microsoft.com/office/powerpoint/2010/main" val="2674608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E8B54-121C-8149-86C0-E5DFC27DE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5088" y="49787"/>
            <a:ext cx="10018713" cy="1035302"/>
          </a:xfrm>
        </p:spPr>
        <p:txBody>
          <a:bodyPr>
            <a:normAutofit/>
          </a:bodyPr>
          <a:lstStyle/>
          <a:p>
            <a:r>
              <a:rPr sz="3000"/>
              <a:t>Mobile IP: An Early Solution to the Mobility Problem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673516-BC03-C34C-B61C-E8F0BCD70F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Wireless and Mobile Networks: 7- </a:t>
            </a:r>
            <a:fld id="{C4204591-24BD-A542-B9D5-F8D8A88D2FEE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1170432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1">
                <a:solidFill>
                  <a:srgbClr val="155A82"/>
                </a:solidFill>
                <a:latin typeface="Calibri"/>
              </a:rPr>
              <a:t>Idea: keep a mobile device reachable using its permanent identity, even after it moves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572768"/>
            <a:ext cx="10332720" cy="777240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 w="12700">
            <a:solidFill>
              <a:srgbClr val="C9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1664208"/>
            <a:ext cx="9784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55A82"/>
                </a:solidFill>
                <a:latin typeface="Calibri"/>
              </a:rPr>
              <a:t>The problem: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956816"/>
            <a:ext cx="9784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Calibri"/>
              </a:rPr>
              <a:t>A mobile device moves to a different network. How can we still reach it using its permanent IP address?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532888"/>
            <a:ext cx="34290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80C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363724" y="2596896"/>
            <a:ext cx="530352" cy="530352"/>
          </a:xfrm>
          <a:prstGeom prst="ellipse">
            <a:avLst/>
          </a:prstGeom>
          <a:solidFill>
            <a:srgbClr val="80C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191256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>
                <a:solidFill>
                  <a:srgbClr val="212121"/>
                </a:solidFill>
                <a:latin typeface="Calibri"/>
              </a:rPr>
              <a:t>Home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493008"/>
            <a:ext cx="3063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Calibri"/>
              </a:rPr>
              <a:t>Keeps track of where the mobile currently 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36008" y="2532888"/>
            <a:ext cx="34290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66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085332" y="2596896"/>
            <a:ext cx="530352" cy="530352"/>
          </a:xfrm>
          <a:prstGeom prst="ellipse">
            <a:avLst/>
          </a:prstGeom>
          <a:solidFill>
            <a:srgbClr val="A66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3168" y="3191256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>
                <a:solidFill>
                  <a:srgbClr val="212121"/>
                </a:solidFill>
                <a:latin typeface="Calibri"/>
              </a:rPr>
              <a:t>Foreign / Visited Network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18888" y="3493008"/>
            <a:ext cx="3063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Calibri"/>
              </a:rPr>
              <a:t>The network the mobile connects to after it moves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57616" y="2532888"/>
            <a:ext cx="34290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0A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806940" y="2596896"/>
            <a:ext cx="530352" cy="530352"/>
          </a:xfrm>
          <a:prstGeom prst="ellipse">
            <a:avLst/>
          </a:prstGeom>
          <a:solidFill>
            <a:srgbClr val="30A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94776" y="3191256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>
                <a:solidFill>
                  <a:srgbClr val="212121"/>
                </a:solidFill>
                <a:latin typeface="Calibri"/>
              </a:rPr>
              <a:t>Tunneling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0496" y="3493008"/>
            <a:ext cx="3063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Calibri"/>
              </a:rPr>
              <a:t>Packets are forwarded from home to the mobile's current location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91840" y="4361688"/>
            <a:ext cx="2011680" cy="548640"/>
          </a:xfrm>
          <a:prstGeom prst="roundRect">
            <a:avLst>
              <a:gd name="adj" fmla="val 15000"/>
            </a:avLst>
          </a:prstGeom>
          <a:solidFill>
            <a:srgbClr val="E3F6DE"/>
          </a:solidFill>
          <a:ln w="15875">
            <a:solidFill>
              <a:srgbClr val="3E6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91840" y="4361688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3E6E1E"/>
                </a:solidFill>
                <a:latin typeface="Calibri"/>
              </a:rPr>
              <a:t>Home Network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0" y="4361688"/>
            <a:ext cx="2011680" cy="548640"/>
          </a:xfrm>
          <a:prstGeom prst="roundRect">
            <a:avLst>
              <a:gd name="adj" fmla="val 15000"/>
            </a:avLst>
          </a:prstGeom>
          <a:solidFill>
            <a:srgbClr val="F3ECFB"/>
          </a:solidFill>
          <a:ln w="15875">
            <a:solidFill>
              <a:srgbClr val="4E2C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89520" y="4361688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4E2C82"/>
                </a:solidFill>
                <a:latin typeface="Calibri"/>
              </a:rPr>
              <a:t>Visited Network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303520" y="4636007"/>
            <a:ext cx="2286000" cy="0"/>
          </a:xfrm>
          <a:prstGeom prst="line">
            <a:avLst/>
          </a:prstGeom>
          <a:ln w="22225">
            <a:solidFill>
              <a:srgbClr val="155A8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394960" y="4069079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155A82"/>
                </a:solidFill>
                <a:latin typeface="Calibri"/>
              </a:rPr>
              <a:t>tunnel</a:t>
            </a:r>
          </a:p>
        </p:txBody>
      </p:sp>
      <p:sp>
        <p:nvSpPr>
          <p:cNvPr id="28" name="Oval 27"/>
          <p:cNvSpPr/>
          <p:nvPr/>
        </p:nvSpPr>
        <p:spPr>
          <a:xfrm>
            <a:off x="9784080" y="4407407"/>
            <a:ext cx="457200" cy="457200"/>
          </a:xfrm>
          <a:prstGeom prst="ellipse">
            <a:avLst/>
          </a:prstGeom>
          <a:solidFill>
            <a:srgbClr val="15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📱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601200" y="4636007"/>
            <a:ext cx="182880" cy="0"/>
          </a:xfrm>
          <a:prstGeom prst="line">
            <a:avLst/>
          </a:prstGeom>
          <a:ln w="15875">
            <a:solidFill>
              <a:srgbClr val="155A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14400" y="5166359"/>
            <a:ext cx="10332720" cy="502920"/>
          </a:xfrm>
          <a:prstGeom prst="roundRect">
            <a:avLst>
              <a:gd name="adj" fmla="val 25000"/>
            </a:avLst>
          </a:prstGeom>
          <a:solidFill>
            <a:srgbClr val="E29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97280" y="5166359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Permanent identity  +  changing location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5788151"/>
            <a:ext cx="10332720" cy="621792"/>
          </a:xfrm>
          <a:prstGeom prst="roundRect">
            <a:avLst>
              <a:gd name="adj" fmla="val 15000"/>
            </a:avLst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88720" y="5870447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1">
                <a:solidFill>
                  <a:srgbClr val="FFFFFF"/>
                </a:solidFill>
                <a:latin typeface="Calibri"/>
              </a:rPr>
              <a:t>The mobile moved. Its location changed. But how can its identity stay the same?</a:t>
            </a:r>
          </a:p>
        </p:txBody>
      </p:sp>
    </p:spTree>
    <p:extLst>
      <p:ext uri="{BB962C8B-B14F-4D97-AF65-F5344CB8AC3E}">
        <p14:creationId xmlns:p14="http://schemas.microsoft.com/office/powerpoint/2010/main" val="3147026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105"/>
          <p:cNvSpPr txBox="1"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The End </a:t>
            </a:r>
            <a:endParaRPr/>
          </a:p>
        </p:txBody>
      </p:sp>
      <p:sp>
        <p:nvSpPr>
          <p:cNvPr id="969" name="Google Shape;969;p105"/>
          <p:cNvSpPr txBox="1"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49580" algn="r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Font typeface="Noto Sans"/>
              <a:buNone/>
            </a:pP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1384</Words>
  <Application>Microsoft Office PowerPoint</Application>
  <PresentationFormat>Widescreen</PresentationFormat>
  <Paragraphs>308</Paragraphs>
  <Slides>20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Corbel</vt:lpstr>
      <vt:lpstr>Tahoma</vt:lpstr>
      <vt:lpstr>Symbol</vt:lpstr>
      <vt:lpstr>Wingdings</vt:lpstr>
      <vt:lpstr>Noto Sans</vt:lpstr>
      <vt:lpstr>Arial</vt:lpstr>
      <vt:lpstr>Verdana</vt:lpstr>
      <vt:lpstr>Calibri</vt:lpstr>
      <vt:lpstr>ＭＳ Ｐゴシック</vt:lpstr>
      <vt:lpstr>Parallax</vt:lpstr>
      <vt:lpstr>Wireless and Mobile Networks</vt:lpstr>
      <vt:lpstr>PowerPoint Presentation</vt:lpstr>
      <vt:lpstr>PowerPoint Presentation</vt:lpstr>
      <vt:lpstr>PowerPoint Presentation</vt:lpstr>
      <vt:lpstr>Elements of a wireless network</vt:lpstr>
      <vt:lpstr>Wireless link characteristics: hidden terminals</vt:lpstr>
      <vt:lpstr>802.11 LAN architecture</vt:lpstr>
      <vt:lpstr>IEEE 802.11: multiple access</vt:lpstr>
      <vt:lpstr>IEEE 802.11 MAC Protocol: CSMA/CA</vt:lpstr>
      <vt:lpstr>Collision Avoidance: RTS-CTS exchange</vt:lpstr>
      <vt:lpstr>802.11: mobility within same subnet</vt:lpstr>
      <vt:lpstr>What is mobility?</vt:lpstr>
      <vt:lpstr>Mobility approaches</vt:lpstr>
      <vt:lpstr>Contacting a mobile friend:</vt:lpstr>
      <vt:lpstr>Mobility with indirect routing</vt:lpstr>
      <vt:lpstr>Mobility with indirect routing: comments</vt:lpstr>
      <vt:lpstr>Mobility with direct routing</vt:lpstr>
      <vt:lpstr>Direct vs. Indirect Routing: Which Is Better?</vt:lpstr>
      <vt:lpstr>Mobile IP: An Early Solution to the Mobility Problem</vt:lpstr>
      <vt:lpstr>The End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Transport Layer (TCP)</dc:title>
  <dc:creator>Arif Shakil</dc:creator>
  <cp:lastModifiedBy>Md. Sakir Hossain</cp:lastModifiedBy>
  <cp:revision>17</cp:revision>
  <cp:lastPrinted>2025-11-09T11:13:08Z</cp:lastPrinted>
  <dcterms:created xsi:type="dcterms:W3CDTF">2020-06-17T13:03:26Z</dcterms:created>
  <dcterms:modified xsi:type="dcterms:W3CDTF">2026-09-05T06:06:04Z</dcterms:modified>
</cp:coreProperties>
</file>