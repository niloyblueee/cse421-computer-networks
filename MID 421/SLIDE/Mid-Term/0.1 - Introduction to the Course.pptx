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80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orbel" panose="020B0503020204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Jeb5fCueUM+lYzZlSjp9DDLC/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A35FD8-AFA9-4E17-BBC5-AB9B44231282}">
  <a:tblStyle styleId="{9DA35FD8-AFA9-4E17-BBC5-AB9B44231282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tcBdr/>
        <a:fill>
          <a:solidFill>
            <a:srgbClr val="CCE2F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CE2F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1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1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1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1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1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1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1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9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0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30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3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2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2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3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3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3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4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4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4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34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3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5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5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35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3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6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3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7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0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0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0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0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0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0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0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fewire.com/cisco-systems-corporation-817476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0.1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Internet today</a:t>
            </a:r>
            <a:endParaRPr/>
          </a:p>
          <a:p>
            <a:pPr marL="285750" lvl="0" indent="-331470" algn="l" rtl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Network in our lives</a:t>
            </a:r>
            <a:endParaRPr/>
          </a:p>
          <a:p>
            <a:pPr marL="285750" lvl="0" indent="-331470" algn="l" rtl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Course outline</a:t>
            </a:r>
            <a:endParaRPr/>
          </a:p>
          <a:p>
            <a:pPr marL="285750" lvl="0" indent="-331470" algn="l" rtl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Online Learning</a:t>
            </a:r>
            <a:endParaRPr/>
          </a:p>
          <a:p>
            <a:pPr marL="285750" lvl="0" indent="-331470" algn="l" rtl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Marks Distribution</a:t>
            </a:r>
            <a:endParaRPr/>
          </a:p>
          <a:p>
            <a:pPr marL="285750" lvl="0" indent="-331470" algn="l" rtl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Books</a:t>
            </a:r>
            <a:endParaRPr/>
          </a:p>
          <a:p>
            <a:pPr marL="285750" lvl="0" indent="-331470" algn="l" rtl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About CCNA</a:t>
            </a:r>
            <a:endParaRPr/>
          </a:p>
          <a:p>
            <a:pPr marL="285750" lvl="0" indent="-81343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Applications (2020)</a:t>
            </a:r>
            <a:endParaRPr/>
          </a:p>
        </p:txBody>
      </p:sp>
      <p:sp>
        <p:nvSpPr>
          <p:cNvPr id="162" name="Google Shape;162;p3"/>
          <p:cNvSpPr txBox="1">
            <a:spLocks noGrp="1"/>
          </p:cNvSpPr>
          <p:nvPr>
            <p:ph type="body" idx="1"/>
          </p:nvPr>
        </p:nvSpPr>
        <p:spPr>
          <a:xfrm>
            <a:off x="1484311" y="1133642"/>
            <a:ext cx="4705268" cy="5096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94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 b="1">
                <a:solidFill>
                  <a:srgbClr val="FF6600"/>
                </a:solidFill>
              </a:rPr>
              <a:t>Internet Users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3366FF"/>
                </a:solidFill>
              </a:rPr>
              <a:t>5.52B</a:t>
            </a:r>
            <a:r>
              <a:rPr lang="en-US" sz="2800"/>
              <a:t> users worldwide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3366FF"/>
                </a:solidFill>
              </a:rPr>
              <a:t>2.92B</a:t>
            </a:r>
            <a:r>
              <a:rPr lang="en-US" sz="2800"/>
              <a:t> in Asia</a:t>
            </a:r>
            <a:endParaRPr/>
          </a:p>
          <a:p>
            <a:pPr marL="28575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 b="1">
                <a:solidFill>
                  <a:srgbClr val="FF6600"/>
                </a:solidFill>
              </a:rPr>
              <a:t>Web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0000FF"/>
                </a:solidFill>
              </a:rPr>
              <a:t>1.13B </a:t>
            </a:r>
            <a:r>
              <a:rPr lang="en-US" sz="2400" b="1"/>
              <a:t>–</a:t>
            </a:r>
            <a:r>
              <a:rPr lang="en-US" sz="2400"/>
              <a:t> Number of websites (December).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0000FF"/>
                </a:solidFill>
              </a:rPr>
              <a:t>252,000 </a:t>
            </a:r>
            <a:r>
              <a:rPr lang="en-US" sz="2800">
                <a:solidFill>
                  <a:schemeClr val="dk1"/>
                </a:solidFill>
              </a:rPr>
              <a:t>new websites created every day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"/>
          <p:cNvSpPr txBox="1"/>
          <p:nvPr/>
        </p:nvSpPr>
        <p:spPr>
          <a:xfrm>
            <a:off x="6256793" y="1075764"/>
            <a:ext cx="5520785" cy="5514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94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2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Email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4.5B</a:t>
            </a: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people used email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946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2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Facebook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3.07 B</a:t>
            </a: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users in 2025 December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60 billion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reacts on Facebook every day.</a:t>
            </a:r>
            <a:endParaRPr sz="24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Other Social Media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600+ m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users in Twitter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500 million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of tweets sent </a:t>
            </a:r>
            <a:r>
              <a:rPr lang="en-US" sz="2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every day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2107825" y="2330738"/>
            <a:ext cx="1217563" cy="772548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reflection stA="26000" endPos="32000" dist="12700" dir="5400000" sy="-100000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6973374" y="3491379"/>
            <a:ext cx="1366281" cy="672524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reflection stA="26000" endPos="32000" dist="12700" dir="5400000" sy="-100000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7007945" y="5490038"/>
            <a:ext cx="1803025" cy="782004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reflection stA="26000" endPos="32000" dist="12700" dir="5400000" sy="-100000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2285161" y="4397601"/>
            <a:ext cx="1217563" cy="772548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reflection stA="26000" endPos="32000" dist="12700" dir="5400000" sy="-100000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6850840" y="1653486"/>
            <a:ext cx="1217563" cy="772548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reflection stA="26000" endPos="32000" dist="12700" dir="5400000" sy="-100000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Statistics (2019)</a:t>
            </a:r>
            <a:endParaRPr/>
          </a:p>
        </p:txBody>
      </p:sp>
      <p:pic>
        <p:nvPicPr>
          <p:cNvPr id="175" name="Google Shape;17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4"/>
          <p:cNvPicPr preferRelativeResize="0"/>
          <p:nvPr/>
        </p:nvPicPr>
        <p:blipFill rotWithShape="1">
          <a:blip r:embed="rId4">
            <a:alphaModFix/>
          </a:blip>
          <a:srcRect b="20739"/>
          <a:stretch/>
        </p:blipFill>
        <p:spPr>
          <a:xfrm>
            <a:off x="1002632" y="962814"/>
            <a:ext cx="6889833" cy="302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1297" y="3854720"/>
            <a:ext cx="7655376" cy="2816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9744" y="1230174"/>
            <a:ext cx="4723279" cy="55744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/>
          <p:nvPr/>
        </p:nvSpPr>
        <p:spPr>
          <a:xfrm>
            <a:off x="5476171" y="1574922"/>
            <a:ext cx="1803025" cy="782004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reflection stA="26000" endPos="32000" dist="12700" dir="5400000" sy="-100000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Statistics (2019) - Bangladesh</a:t>
            </a:r>
            <a:endParaRPr/>
          </a:p>
        </p:txBody>
      </p:sp>
      <p:pic>
        <p:nvPicPr>
          <p:cNvPr id="185" name="Google Shape;18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7033" y="2095500"/>
            <a:ext cx="9997160" cy="305134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/>
          <p:nvPr/>
        </p:nvSpPr>
        <p:spPr>
          <a:xfrm>
            <a:off x="1713664" y="5217026"/>
            <a:ext cx="44066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Source; http://www.internetworldstats.com/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125774" y="3656873"/>
            <a:ext cx="1803025" cy="782004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reflection stA="26000" endPos="32000" dist="12700" dir="5400000" sy="-100000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2229335" y="4128259"/>
            <a:ext cx="1803025" cy="782004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reflection stA="26000" endPos="32000" dist="12700" dir="5400000" sy="-100000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Networks supporting the way we live</a:t>
            </a:r>
            <a:endParaRPr/>
          </a:p>
        </p:txBody>
      </p:sp>
      <p:pic>
        <p:nvPicPr>
          <p:cNvPr id="195" name="Google Shape;19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4077" y="1281862"/>
            <a:ext cx="8886559" cy="5190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Networks supporting the way we learn</a:t>
            </a:r>
            <a:endParaRPr/>
          </a:p>
        </p:txBody>
      </p:sp>
      <p:pic>
        <p:nvPicPr>
          <p:cNvPr id="202" name="Google Shape;20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5583" y="1243012"/>
            <a:ext cx="9712542" cy="484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Networks supporting the way we work</a:t>
            </a:r>
            <a:endParaRPr/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3166" y="1322294"/>
            <a:ext cx="8001000" cy="45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Networks supporting the way we play</a:t>
            </a:r>
            <a:endParaRPr/>
          </a:p>
        </p:txBody>
      </p:sp>
      <p:pic>
        <p:nvPicPr>
          <p:cNvPr id="216" name="Google Shape;2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16180" y="1247859"/>
            <a:ext cx="8470576" cy="5284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961" y="1479626"/>
            <a:ext cx="10629674" cy="528671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 txBox="1">
            <a:spLocks noGrp="1"/>
          </p:cNvSpPr>
          <p:nvPr>
            <p:ph type="title"/>
          </p:nvPr>
        </p:nvSpPr>
        <p:spPr>
          <a:xfrm>
            <a:off x="1387761" y="384639"/>
            <a:ext cx="10115263" cy="113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How?</a:t>
            </a:r>
            <a:endParaRPr/>
          </a:p>
        </p:txBody>
      </p:sp>
      <p:pic>
        <p:nvPicPr>
          <p:cNvPr id="224" name="Google Shape;22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2779" y="4588004"/>
            <a:ext cx="688664" cy="823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105" y="3485923"/>
            <a:ext cx="641683" cy="599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9759" y="4378499"/>
            <a:ext cx="601878" cy="616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 txBox="1">
            <a:spLocks noGrp="1"/>
          </p:cNvSpPr>
          <p:nvPr>
            <p:ph type="title"/>
          </p:nvPr>
        </p:nvSpPr>
        <p:spPr>
          <a:xfrm>
            <a:off x="1143916" y="279886"/>
            <a:ext cx="10018713" cy="780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Course Outline</a:t>
            </a:r>
            <a:endParaRPr/>
          </a:p>
        </p:txBody>
      </p:sp>
      <p:sp>
        <p:nvSpPr>
          <p:cNvPr id="232" name="Google Shape;232;p11"/>
          <p:cNvSpPr txBox="1">
            <a:spLocks noGrp="1"/>
          </p:cNvSpPr>
          <p:nvPr>
            <p:ph type="body" idx="1"/>
          </p:nvPr>
        </p:nvSpPr>
        <p:spPr>
          <a:xfrm>
            <a:off x="1484310" y="1270121"/>
            <a:ext cx="10403299" cy="5587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 dirty="0">
                <a:solidFill>
                  <a:srgbClr val="FF6600"/>
                </a:solidFill>
              </a:rPr>
              <a:t>Protocols and Network Architecture </a:t>
            </a:r>
            <a:r>
              <a:rPr lang="en-US" b="1" dirty="0">
                <a:solidFill>
                  <a:srgbClr val="00B050"/>
                </a:solidFill>
              </a:rPr>
              <a:t>[Mid-Term]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Introduce the concepts of network architectures, topologies, layering and protocols.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 dirty="0">
                <a:solidFill>
                  <a:srgbClr val="FF6600"/>
                </a:solidFill>
              </a:rPr>
              <a:t>Application Layer </a:t>
            </a:r>
            <a:r>
              <a:rPr lang="en-US" b="1" dirty="0">
                <a:solidFill>
                  <a:srgbClr val="00B050"/>
                </a:solidFill>
              </a:rPr>
              <a:t>[Mid-Term]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Describe key application layer concepts such as network services required by applications, clients and servers.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 dirty="0">
                <a:solidFill>
                  <a:srgbClr val="FF6600"/>
                </a:solidFill>
              </a:rPr>
              <a:t>Transport Layer  </a:t>
            </a:r>
            <a:r>
              <a:rPr lang="en-US" b="1" dirty="0">
                <a:solidFill>
                  <a:srgbClr val="00B050"/>
                </a:solidFill>
              </a:rPr>
              <a:t>[Mid-Term]</a:t>
            </a:r>
            <a:endParaRPr dirty="0">
              <a:solidFill>
                <a:srgbClr val="00B05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Explain transport layer concepts, relationship with the network and application layers, and services such as principles of reliable data transfer and congestion.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 dirty="0">
                <a:solidFill>
                  <a:srgbClr val="FF6600"/>
                </a:solidFill>
              </a:rPr>
              <a:t>Network Layer </a:t>
            </a:r>
            <a:r>
              <a:rPr lang="en-US" b="1" dirty="0">
                <a:solidFill>
                  <a:srgbClr val="00B050"/>
                </a:solidFill>
              </a:rPr>
              <a:t>[Final-Term]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dirty="0"/>
              <a:t>Teach network layer concepts, routing principles, algorithms, and addressing and Internet’s various protocols.</a:t>
            </a:r>
            <a:endParaRPr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 txBox="1">
            <a:spLocks noGrp="1"/>
          </p:cNvSpPr>
          <p:nvPr>
            <p:ph type="title"/>
          </p:nvPr>
        </p:nvSpPr>
        <p:spPr>
          <a:xfrm>
            <a:off x="1143916" y="279886"/>
            <a:ext cx="10018713" cy="780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Course Outline</a:t>
            </a:r>
            <a:endParaRPr/>
          </a:p>
        </p:txBody>
      </p:sp>
      <p:sp>
        <p:nvSpPr>
          <p:cNvPr id="238" name="Google Shape;238;p12"/>
          <p:cNvSpPr txBox="1">
            <a:spLocks noGrp="1"/>
          </p:cNvSpPr>
          <p:nvPr>
            <p:ph type="body" idx="1"/>
          </p:nvPr>
        </p:nvSpPr>
        <p:spPr>
          <a:xfrm>
            <a:off x="1484310" y="1270121"/>
            <a:ext cx="10403299" cy="5587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Data Link Layer </a:t>
            </a:r>
            <a:r>
              <a:rPr lang="en-US" b="1">
                <a:solidFill>
                  <a:srgbClr val="00B050"/>
                </a:solidFill>
              </a:rPr>
              <a:t>[Final-Term]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Identify link layer services, link layer address and multi-access techniques.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Network Security </a:t>
            </a:r>
            <a:r>
              <a:rPr lang="en-US" b="1">
                <a:solidFill>
                  <a:srgbClr val="00B050"/>
                </a:solidFill>
              </a:rPr>
              <a:t>[Final-Term]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Teach basic knowledge of the use of cryptography and network security.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Wireless Networks </a:t>
            </a:r>
            <a:r>
              <a:rPr lang="en-US" b="1">
                <a:solidFill>
                  <a:srgbClr val="00B050"/>
                </a:solidFill>
              </a:rPr>
              <a:t>[Final-Term]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Explain the operation of wireless LANs based on the IEEE802.11 standards, and mobility.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Labs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Using simulation tools to observe and analyze behaviors of networking protocols.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Outcome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Design and create a small network for an organization.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8781-77B1-41C2-A0FD-272F0C9D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317" y="0"/>
            <a:ext cx="10018713" cy="870155"/>
          </a:xfrm>
        </p:spPr>
        <p:txBody>
          <a:bodyPr/>
          <a:lstStyle/>
          <a:p>
            <a:r>
              <a:rPr lang="en-IN" dirty="0"/>
              <a:t>Mid-Term Schedule (Tentative)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44E5D4-CAE4-467A-A2C3-DC45431A6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516975"/>
              </p:ext>
            </p:extLst>
          </p:nvPr>
        </p:nvGraphicFramePr>
        <p:xfrm>
          <a:off x="2861187" y="1028970"/>
          <a:ext cx="6386052" cy="5765760"/>
        </p:xfrm>
        <a:graphic>
          <a:graphicData uri="http://schemas.openxmlformats.org/drawingml/2006/table">
            <a:tbl>
              <a:tblPr/>
              <a:tblGrid>
                <a:gridCol w="1033037">
                  <a:extLst>
                    <a:ext uri="{9D8B030D-6E8A-4147-A177-3AD203B41FA5}">
                      <a16:colId xmlns:a16="http://schemas.microsoft.com/office/drawing/2014/main" val="1412202633"/>
                    </a:ext>
                  </a:extLst>
                </a:gridCol>
                <a:gridCol w="1033037">
                  <a:extLst>
                    <a:ext uri="{9D8B030D-6E8A-4147-A177-3AD203B41FA5}">
                      <a16:colId xmlns:a16="http://schemas.microsoft.com/office/drawing/2014/main" val="2753270582"/>
                    </a:ext>
                  </a:extLst>
                </a:gridCol>
                <a:gridCol w="4319978">
                  <a:extLst>
                    <a:ext uri="{9D8B030D-6E8A-4147-A177-3AD203B41FA5}">
                      <a16:colId xmlns:a16="http://schemas.microsoft.com/office/drawing/2014/main" val="555020419"/>
                    </a:ext>
                  </a:extLst>
                </a:gridCol>
              </a:tblGrid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effectLst/>
                        </a:rPr>
                        <a:t>Date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effectLst/>
                        </a:rPr>
                        <a:t>Day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effectLst/>
                        </a:rPr>
                        <a:t>Topic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635603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09 Jun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effectLst/>
                        </a:rPr>
                        <a:t>Intro Class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980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14 Jun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Sun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1 - Protocols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795996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16 Jun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effectLst/>
                        </a:rPr>
                        <a:t>2 - AL - HTTP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68551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21 Jun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Sun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2 - AL - HTTP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898578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23 Jun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effectLst/>
                        </a:rPr>
                        <a:t>3 - AL - Email, DNS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029767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28 Jun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Sun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4 - TL - Intro and UDP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098610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30 Jun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effectLst/>
                        </a:rPr>
                        <a:t>5 - TL - TCP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352199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05 Jul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Sun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5 - TL - TCP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69466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07 Jul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6 - TL - TCP Congestion Control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647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12 Jul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Sun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7 - NL - IPv4 &amp; IPv6 Addressing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564055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14 Jul </a:t>
                      </a:r>
                    </a:p>
                  </a:txBody>
                  <a:tcPr marL="17460" marR="17460" marT="11640" marB="1164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effectLst/>
                        </a:rPr>
                        <a:t>8 - NL - Subnetting</a:t>
                      </a:r>
                    </a:p>
                  </a:txBody>
                  <a:tcPr marL="17460" marR="17460" marT="11640" marB="1164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812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564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8781-77B1-41C2-A0FD-272F0C9D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317" y="0"/>
            <a:ext cx="10018713" cy="870155"/>
          </a:xfrm>
        </p:spPr>
        <p:txBody>
          <a:bodyPr/>
          <a:lstStyle/>
          <a:p>
            <a:r>
              <a:rPr lang="en-IN" dirty="0"/>
              <a:t>Final-Term Schedule (Tentative)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69FE66-3FF7-411B-A2AF-6DA8E1888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221379"/>
              </p:ext>
            </p:extLst>
          </p:nvPr>
        </p:nvGraphicFramePr>
        <p:xfrm>
          <a:off x="2934928" y="1118936"/>
          <a:ext cx="6666271" cy="5088690"/>
        </p:xfrm>
        <a:graphic>
          <a:graphicData uri="http://schemas.openxmlformats.org/drawingml/2006/table">
            <a:tbl>
              <a:tblPr/>
              <a:tblGrid>
                <a:gridCol w="1078367">
                  <a:extLst>
                    <a:ext uri="{9D8B030D-6E8A-4147-A177-3AD203B41FA5}">
                      <a16:colId xmlns:a16="http://schemas.microsoft.com/office/drawing/2014/main" val="4243714123"/>
                    </a:ext>
                  </a:extLst>
                </a:gridCol>
                <a:gridCol w="1078367">
                  <a:extLst>
                    <a:ext uri="{9D8B030D-6E8A-4147-A177-3AD203B41FA5}">
                      <a16:colId xmlns:a16="http://schemas.microsoft.com/office/drawing/2014/main" val="3755469494"/>
                    </a:ext>
                  </a:extLst>
                </a:gridCol>
                <a:gridCol w="4509537">
                  <a:extLst>
                    <a:ext uri="{9D8B030D-6E8A-4147-A177-3AD203B41FA5}">
                      <a16:colId xmlns:a16="http://schemas.microsoft.com/office/drawing/2014/main" val="398943573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 b="1" dirty="0">
                          <a:effectLst/>
                        </a:rPr>
                        <a:t>Date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 b="1" dirty="0">
                          <a:effectLst/>
                        </a:rPr>
                        <a:t>Day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en-IN" sz="2000" b="1" dirty="0">
                          <a:effectLst/>
                        </a:rPr>
                        <a:t>Topic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624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04 Aug 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 dirty="0">
                          <a:effectLst/>
                        </a:rPr>
                        <a:t>Tue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9 - NL - IPv4 Functions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91272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09 Aug 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 dirty="0">
                          <a:effectLst/>
                        </a:rPr>
                        <a:t>Sun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WEDNESDAY CLASS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885968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11 Aug 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sv-SE" sz="2000">
                          <a:effectLst/>
                        </a:rPr>
                        <a:t>10 - NL - DHCPv4, NAT/PAT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2263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16 Aug 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Sun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sv-SE" sz="2000">
                          <a:effectLst/>
                        </a:rPr>
                        <a:t>10 - NL - DHCPv4, NAT/PAT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214688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18 Aug 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11 - NL - Static Routing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44851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23 Aug 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Sun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12 &amp; 13 - NL - Dynamic Routing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03293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25 Aug 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Tue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en-IN" sz="2000" dirty="0">
                          <a:effectLst/>
                        </a:rPr>
                        <a:t>14 - NL - IPv6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0023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30 Aug </a:t>
                      </a:r>
                    </a:p>
                  </a:txBody>
                  <a:tcPr marL="24008" marR="24008" marT="16005" marB="1600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200000"/>
                        </a:lnSpc>
                      </a:pPr>
                      <a:r>
                        <a:rPr lang="en-IN" sz="2000">
                          <a:effectLst/>
                        </a:rPr>
                        <a:t>Sun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lnSpc>
                          <a:spcPct val="200000"/>
                        </a:lnSpc>
                      </a:pPr>
                      <a:r>
                        <a:rPr lang="en-IN" sz="2000" dirty="0">
                          <a:effectLst/>
                        </a:rPr>
                        <a:t>15 - Data Link Layer</a:t>
                      </a:r>
                    </a:p>
                  </a:txBody>
                  <a:tcPr marL="24008" marR="24008" marT="16005" marB="1600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28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830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 txBox="1">
            <a:spLocks noGrp="1"/>
          </p:cNvSpPr>
          <p:nvPr>
            <p:ph type="title"/>
          </p:nvPr>
        </p:nvSpPr>
        <p:spPr>
          <a:xfrm>
            <a:off x="1458127" y="240604"/>
            <a:ext cx="10018713" cy="1081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Online Learning</a:t>
            </a:r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body" idx="1"/>
          </p:nvPr>
        </p:nvSpPr>
        <p:spPr>
          <a:xfrm>
            <a:off x="1497402" y="1034429"/>
            <a:ext cx="10403299" cy="5116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Video Lectures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Uploaded before class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Live Class Sessions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For clarifications. Question and answer sessions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Quizzes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6~8 quizzes (Best N-2 at max will be taken)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6600"/>
                </a:solidFill>
              </a:rPr>
              <a:t>Assignments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6 to 8 assignments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0000FF"/>
                </a:solidFill>
              </a:rPr>
              <a:t>**Quizzes and Assignments are section based.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0000FF"/>
                </a:solidFill>
              </a:rPr>
              <a:t>** Grading policy according to the University.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>
            <a:spLocks noGrp="1"/>
          </p:cNvSpPr>
          <p:nvPr>
            <p:ph type="title"/>
          </p:nvPr>
        </p:nvSpPr>
        <p:spPr>
          <a:xfrm>
            <a:off x="1484311" y="188227"/>
            <a:ext cx="10018713" cy="126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Tentative Marks Distribution</a:t>
            </a:r>
            <a:endParaRPr/>
          </a:p>
        </p:txBody>
      </p:sp>
      <p:graphicFrame>
        <p:nvGraphicFramePr>
          <p:cNvPr id="250" name="Google Shape;250;p14"/>
          <p:cNvGraphicFramePr/>
          <p:nvPr/>
        </p:nvGraphicFramePr>
        <p:xfrm>
          <a:off x="1979632" y="1950505"/>
          <a:ext cx="8128000" cy="4633040"/>
        </p:xfrm>
        <a:graphic>
          <a:graphicData uri="http://schemas.openxmlformats.org/drawingml/2006/table">
            <a:tbl>
              <a:tblPr firstRow="1" bandRow="1">
                <a:noFill/>
                <a:tableStyleId>{9DA35FD8-AFA9-4E17-BBC5-AB9B44231282}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Category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Distribution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Assignments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4%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Moral Assessment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2%</a:t>
                      </a:r>
                      <a:endParaRPr sz="32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Quizzes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15%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Midterm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2</a:t>
                      </a:r>
                      <a:r>
                        <a:rPr lang="en-US" sz="3200"/>
                        <a:t>5</a:t>
                      </a:r>
                      <a:r>
                        <a:rPr lang="en-US" sz="3200" u="none" strike="noStrike" cap="none"/>
                        <a:t>%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Labs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15%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Finals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35%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/>
                        <a:t>Attendance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dirty="0"/>
                        <a:t>4</a:t>
                      </a:r>
                      <a:r>
                        <a:rPr lang="en-US" sz="3200" u="none" strike="noStrike" cap="none" dirty="0"/>
                        <a:t>%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"/>
          <p:cNvSpPr txBox="1">
            <a:spLocks noGrp="1"/>
          </p:cNvSpPr>
          <p:nvPr>
            <p:ph type="title"/>
          </p:nvPr>
        </p:nvSpPr>
        <p:spPr>
          <a:xfrm>
            <a:off x="1484311" y="489390"/>
            <a:ext cx="10018713" cy="87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Books </a:t>
            </a:r>
            <a:endParaRPr/>
          </a:p>
        </p:txBody>
      </p:sp>
      <p:graphicFrame>
        <p:nvGraphicFramePr>
          <p:cNvPr id="256" name="Google Shape;256;p15"/>
          <p:cNvGraphicFramePr/>
          <p:nvPr/>
        </p:nvGraphicFramePr>
        <p:xfrm>
          <a:off x="1154831" y="1924318"/>
          <a:ext cx="10785175" cy="3753800"/>
        </p:xfrm>
        <a:graphic>
          <a:graphicData uri="http://schemas.openxmlformats.org/drawingml/2006/table">
            <a:tbl>
              <a:tblPr firstRow="1" bandRow="1">
                <a:noFill/>
                <a:tableStyleId>{9DA35FD8-AFA9-4E17-BBC5-AB9B44231282}</a:tableStyleId>
              </a:tblPr>
              <a:tblGrid>
                <a:gridCol w="355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Title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Author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Edition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Year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Publisher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ISBN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Computer Networking: A Top-Down Approach Featuring the Internet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Jim Kurose and Keith Ross</a:t>
                      </a:r>
                      <a:r>
                        <a:rPr lang="en-US" sz="1800" u="none" strike="noStrike" cap="none"/>
                        <a:t>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7th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2017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Pearson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ISBN-13: 978-0133594140</a:t>
                      </a:r>
                      <a:r>
                        <a:rPr lang="en-US" sz="1800" u="none" strike="noStrike" cap="none"/>
                        <a:t>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/>
                        <a:t>Data Communication and Networking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Behrouz Fourazan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5th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2017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Mac-Graw Hill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ISBN-13: 9780073376226    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CCNA 200-301 Official Cert Guide, Volume 1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Wendell Odom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2019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Cisco Press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ISBN-13: 978-0-13-579273-5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/>
        </p:nvSpPr>
        <p:spPr>
          <a:xfrm>
            <a:off x="5175849" y="1190445"/>
            <a:ext cx="15276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Marks: 45</a:t>
            </a:r>
            <a:endParaRPr/>
          </a:p>
        </p:txBody>
      </p:sp>
      <p:sp>
        <p:nvSpPr>
          <p:cNvPr id="262" name="Google Shape;262;p38"/>
          <p:cNvSpPr txBox="1"/>
          <p:nvPr/>
        </p:nvSpPr>
        <p:spPr>
          <a:xfrm>
            <a:off x="2704381" y="257801"/>
            <a:ext cx="669409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Analysis of Previous Semesters' Questions</a:t>
            </a:r>
            <a:endParaRPr/>
          </a:p>
        </p:txBody>
      </p:sp>
      <p:pic>
        <p:nvPicPr>
          <p:cNvPr id="263" name="Google Shape;26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54" y="1770744"/>
            <a:ext cx="12132091" cy="3316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/>
          </a:p>
        </p:txBody>
      </p:sp>
      <p:pic>
        <p:nvPicPr>
          <p:cNvPr id="269" name="Google Shape;26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298" y="1669648"/>
            <a:ext cx="11453414" cy="397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275" name="Google Shape;275;p40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/>
          </a:p>
        </p:txBody>
      </p:sp>
      <p:pic>
        <p:nvPicPr>
          <p:cNvPr id="276" name="Google Shape;27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4293" y="1220500"/>
            <a:ext cx="10168413" cy="4570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 txBox="1">
            <a:spLocks noGrp="1"/>
          </p:cNvSpPr>
          <p:nvPr>
            <p:ph type="title"/>
          </p:nvPr>
        </p:nvSpPr>
        <p:spPr>
          <a:xfrm>
            <a:off x="1471219" y="240603"/>
            <a:ext cx="10018713" cy="101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CCNA</a:t>
            </a:r>
            <a:endParaRPr/>
          </a:p>
        </p:txBody>
      </p:sp>
      <p:sp>
        <p:nvSpPr>
          <p:cNvPr id="282" name="Google Shape;282;p16"/>
          <p:cNvSpPr txBox="1">
            <a:spLocks noGrp="1"/>
          </p:cNvSpPr>
          <p:nvPr>
            <p:ph type="body" idx="1"/>
          </p:nvPr>
        </p:nvSpPr>
        <p:spPr>
          <a:xfrm>
            <a:off x="1340295" y="1126087"/>
            <a:ext cx="6501861" cy="573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70"/>
              <a:buChar char="•"/>
            </a:pPr>
            <a:r>
              <a:rPr lang="en-US" sz="2600" b="1">
                <a:solidFill>
                  <a:srgbClr val="FF6600"/>
                </a:solidFill>
              </a:rPr>
              <a:t>Cisco Certified Network Associate (CCNA)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 popular industry certification program in computer networking developed by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Cisco Systems</a:t>
            </a:r>
            <a:r>
              <a:rPr lang="en-US"/>
              <a:t>.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Cisco created the CCNA to recognize basic competency in the installation and support of medium-sized networks.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Globally recognized and it is respected by most companies across the globe.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This certificate, not only enhances the career growth opportunities, but also provide the candidates with a higher pay scale.   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283" name="Google Shape;28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8437" y="3600860"/>
            <a:ext cx="2988779" cy="2988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80863" y="204443"/>
            <a:ext cx="2103393" cy="154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52231" y="1876932"/>
            <a:ext cx="2785511" cy="14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>
            <a:spLocks noGrp="1"/>
          </p:cNvSpPr>
          <p:nvPr>
            <p:ph type="title"/>
          </p:nvPr>
        </p:nvSpPr>
        <p:spPr>
          <a:xfrm>
            <a:off x="1458127" y="188226"/>
            <a:ext cx="10018713" cy="1029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CCNA Certification</a:t>
            </a:r>
            <a:endParaRPr/>
          </a:p>
        </p:txBody>
      </p:sp>
      <p:sp>
        <p:nvSpPr>
          <p:cNvPr id="291" name="Google Shape;291;p17"/>
          <p:cNvSpPr txBox="1">
            <a:spLocks noGrp="1"/>
          </p:cNvSpPr>
          <p:nvPr>
            <p:ph type="body" idx="1"/>
          </p:nvPr>
        </p:nvSpPr>
        <p:spPr>
          <a:xfrm>
            <a:off x="1287929" y="1252843"/>
            <a:ext cx="10018713" cy="4246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 dirty="0">
                <a:solidFill>
                  <a:srgbClr val="FF6600"/>
                </a:solidFill>
              </a:rPr>
              <a:t>Eligibility Criteria</a:t>
            </a:r>
            <a:endParaRPr sz="2800"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To receive the CCNA certificate an individual must have passed the following Exam:</a:t>
            </a:r>
            <a:endParaRPr dirty="0"/>
          </a:p>
          <a:p>
            <a:pPr marL="742950" lvl="1" indent="-285750">
              <a:spcBef>
                <a:spcPts val="1080"/>
              </a:spcBef>
              <a:buSzPts val="3480"/>
            </a:pPr>
            <a:r>
              <a:rPr lang="en-US" b="1" dirty="0">
                <a:solidFill>
                  <a:srgbClr val="00B050"/>
                </a:solidFill>
              </a:rPr>
              <a:t>Combined CCNA Exam (200-301) (Cost $300) (120 mins)</a:t>
            </a:r>
            <a:endParaRPr b="1" dirty="0">
              <a:solidFill>
                <a:srgbClr val="00B050"/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Validity 3 years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dirty="0"/>
              <a:t>Exam must be given at a Pearson VUE center</a:t>
            </a:r>
            <a:endParaRPr dirty="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 dirty="0"/>
          </a:p>
        </p:txBody>
      </p:sp>
      <p:pic>
        <p:nvPicPr>
          <p:cNvPr id="292" name="Google Shape;29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7361" y="4269943"/>
            <a:ext cx="3086735" cy="22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>
            <a:spLocks noGrp="1"/>
          </p:cNvSpPr>
          <p:nvPr>
            <p:ph type="title"/>
          </p:nvPr>
        </p:nvSpPr>
        <p:spPr>
          <a:xfrm>
            <a:off x="1379574" y="279885"/>
            <a:ext cx="10018713" cy="121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CCNA Content</a:t>
            </a:r>
            <a:endParaRPr/>
          </a:p>
        </p:txBody>
      </p:sp>
      <p:graphicFrame>
        <p:nvGraphicFramePr>
          <p:cNvPr id="298" name="Google Shape;298;p18"/>
          <p:cNvGraphicFramePr/>
          <p:nvPr/>
        </p:nvGraphicFramePr>
        <p:xfrm>
          <a:off x="2058185" y="1688625"/>
          <a:ext cx="9423575" cy="3863275"/>
        </p:xfrm>
        <a:graphic>
          <a:graphicData uri="http://schemas.openxmlformats.org/drawingml/2006/table">
            <a:tbl>
              <a:tblPr firstRow="1" bandRow="1">
                <a:noFill/>
                <a:tableStyleId>{9DA35FD8-AFA9-4E17-BBC5-AB9B44231282}</a:tableStyleId>
              </a:tblPr>
              <a:tblGrid>
                <a:gridCol w="19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CCNA Module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Name of Module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Aligned with which Bracu Courses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CCNA 1 v7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Introduction to Networks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CSE421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CCNA2 v7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Routing, Switching &amp; Wireless Essentials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CSE490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(WAN Routing)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6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CCNA3 v7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Enterprise Networking, Security &amp; Automation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CSE490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(WAN Routing)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 txBox="1">
            <a:spLocks noGrp="1"/>
          </p:cNvSpPr>
          <p:nvPr>
            <p:ph type="ctrTitle"/>
          </p:nvPr>
        </p:nvSpPr>
        <p:spPr>
          <a:xfrm>
            <a:off x="2928401" y="654702"/>
            <a:ext cx="8574622" cy="3341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For Queries be present in the live sessions.</a:t>
            </a:r>
            <a:br>
              <a:rPr lang="en-US"/>
            </a:br>
            <a:r>
              <a:rPr lang="en-US"/>
              <a:t>Or post your queries in the discussion board</a:t>
            </a:r>
            <a:endParaRPr/>
          </a:p>
        </p:txBody>
      </p:sp>
      <p:sp>
        <p:nvSpPr>
          <p:cNvPr id="305" name="Google Shape;305;p19"/>
          <p:cNvSpPr txBox="1">
            <a:spLocks noGrp="1"/>
          </p:cNvSpPr>
          <p:nvPr>
            <p:ph type="subTitle" idx="1"/>
          </p:nvPr>
        </p:nvSpPr>
        <p:spPr>
          <a:xfrm>
            <a:off x="4515377" y="3983173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lang="en-US" sz="3600" b="1">
                <a:solidFill>
                  <a:srgbClr val="FF6600"/>
                </a:solidFill>
              </a:rPr>
              <a:t>Thank you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Widescreen</PresentationFormat>
  <Paragraphs>204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Corbel</vt:lpstr>
      <vt:lpstr>Arial</vt:lpstr>
      <vt:lpstr>Parallax</vt:lpstr>
      <vt:lpstr>Introduction</vt:lpstr>
      <vt:lpstr>Objectives</vt:lpstr>
      <vt:lpstr>Internet Applications (2020)</vt:lpstr>
      <vt:lpstr>Internet Statistics (2019)</vt:lpstr>
      <vt:lpstr>Internet Statistics (2019) - Bangladesh</vt:lpstr>
      <vt:lpstr>Networks supporting the way we live</vt:lpstr>
      <vt:lpstr>Networks supporting the way we learn</vt:lpstr>
      <vt:lpstr>Networks supporting the way we work</vt:lpstr>
      <vt:lpstr>Networks supporting the way we play</vt:lpstr>
      <vt:lpstr>How?</vt:lpstr>
      <vt:lpstr>Course Outline</vt:lpstr>
      <vt:lpstr>Course Outline</vt:lpstr>
      <vt:lpstr>Mid-Term Schedule (Tentative)</vt:lpstr>
      <vt:lpstr>Final-Term Schedule (Tentative)</vt:lpstr>
      <vt:lpstr>Online Learning</vt:lpstr>
      <vt:lpstr>Tentative Marks Distribution</vt:lpstr>
      <vt:lpstr>Books </vt:lpstr>
      <vt:lpstr>PowerPoint Presentation</vt:lpstr>
      <vt:lpstr>PowerPoint Presentation</vt:lpstr>
      <vt:lpstr>PowerPoint Presentation</vt:lpstr>
      <vt:lpstr>CCNA</vt:lpstr>
      <vt:lpstr>CCNA Certification</vt:lpstr>
      <vt:lpstr>CCNA Content</vt:lpstr>
      <vt:lpstr>For Queries be present in the live sessions. Or post your queries in the discussion 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Arif Shakil</dc:creator>
  <cp:lastModifiedBy>Md. Sakir Hossain</cp:lastModifiedBy>
  <cp:revision>1</cp:revision>
  <dcterms:created xsi:type="dcterms:W3CDTF">2020-06-17T13:03:26Z</dcterms:created>
  <dcterms:modified xsi:type="dcterms:W3CDTF">2026-06-09T03:20:51Z</dcterms:modified>
</cp:coreProperties>
</file>