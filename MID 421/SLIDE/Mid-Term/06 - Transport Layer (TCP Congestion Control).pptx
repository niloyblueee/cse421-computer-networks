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6858000" cx="12192000"/>
  <p:notesSz cx="6858000" cy="9144000"/>
  <p:embeddedFontLst>
    <p:embeddedFont>
      <p:font typeface="Corbel"/>
      <p:regular r:id="rId46"/>
      <p:bold r:id="rId47"/>
      <p:italic r:id="rId48"/>
      <p:boldItalic r:id="rId49"/>
    </p:embeddedFont>
    <p:embeddedFont>
      <p:font typeface="Tahoma"/>
      <p:regular r:id="rId50"/>
      <p:bold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2" roundtripDataSignature="AMtx7mhYg5aAM4tAIwVFbFNVaYuqQ7ig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C42BAC-BB38-41E2-948B-934AD47EC33A}">
  <a:tblStyle styleId="{1AC42BAC-BB38-41E2-948B-934AD47EC33A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B"/>
          </a:solidFill>
        </a:fill>
      </a:tcStyle>
    </a:wholeTbl>
    <a:band1H>
      <a:tcTxStyle/>
      <a:tcStyle>
        <a:fill>
          <a:solidFill>
            <a:srgbClr val="CCE2F8"/>
          </a:solidFill>
        </a:fill>
      </a:tcStyle>
    </a:band1H>
    <a:band2H>
      <a:tcTxStyle/>
    </a:band2H>
    <a:band1V>
      <a:tcTxStyle/>
      <a:tcStyle>
        <a:fill>
          <a:solidFill>
            <a:srgbClr val="CCE2F8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Corbel-regular.fntdata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Corbel-italic.fntdata"/><Relationship Id="rId47" Type="http://schemas.openxmlformats.org/officeDocument/2006/relationships/font" Target="fonts/Corbel-bold.fntdata"/><Relationship Id="rId49" Type="http://schemas.openxmlformats.org/officeDocument/2006/relationships/font" Target="fonts/Corbel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Tahoma-bold.fntdata"/><Relationship Id="rId50" Type="http://schemas.openxmlformats.org/officeDocument/2006/relationships/font" Target="fonts/Tahoma-regular.fntdata"/><Relationship Id="rId52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6" name="Google Shape;336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5" name="Google Shape;345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" name="Google Shape;36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1" name="Google Shape;381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a07f41303d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g3a07f41303d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g3a07f41303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01" name="Google Shape;40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4" name="Google Shape;414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7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27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27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27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27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27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27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27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ts val="2610"/>
              <a:buFont typeface="Noto Sans"/>
              <a:buChar char="▪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0"/>
          <p:cNvSpPr txBox="1"/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3" name="Google Shape;53;p11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4" name="Google Shape;54;p1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4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0" name="Google Shape;60;p3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5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5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66" name="Google Shape;66;p35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67" name="Google Shape;67;p3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6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4" name="Google Shape;74;p3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7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7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1" name="Google Shape;81;p3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8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8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7" name="Google Shape;87;p3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9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9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9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9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95" name="Google Shape;95;p39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3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0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0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2" name="Google Shape;102;p4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1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1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1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1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0" name="Google Shape;110;p41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4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2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2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7" name="Google Shape;117;p42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4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3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4" name="Google Shape;124;p4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4"/>
          <p:cNvSpPr txBox="1"/>
          <p:nvPr>
            <p:ph type="title"/>
          </p:nvPr>
        </p:nvSpPr>
        <p:spPr>
          <a:xfrm rot="5400000">
            <a:off x="8065140" y="2353315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4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0" name="Google Shape;130;p4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26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26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26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26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26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26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2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6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2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2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2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5"/>
          <p:cNvSpPr txBox="1"/>
          <p:nvPr>
            <p:ph type="ctrTitle"/>
          </p:nvPr>
        </p:nvSpPr>
        <p:spPr>
          <a:xfrm>
            <a:off x="3107201" y="1323943"/>
            <a:ext cx="8574600" cy="26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Transport Layer 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(TCP Congestion Control)</a:t>
            </a:r>
            <a:endParaRPr/>
          </a:p>
        </p:txBody>
      </p:sp>
      <p:sp>
        <p:nvSpPr>
          <p:cNvPr id="139" name="Google Shape;139;p45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6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0" name="Google Shape;14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3600"/>
              <a:t>Congestion Control Vs Flow Control</a:t>
            </a:r>
            <a:endParaRPr/>
          </a:p>
        </p:txBody>
      </p:sp>
      <p:sp>
        <p:nvSpPr>
          <p:cNvPr id="146" name="Google Shape;146;p1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>
                <a:solidFill>
                  <a:schemeClr val="accent1"/>
                </a:solidFill>
              </a:rPr>
              <a:t>Congestion control </a:t>
            </a:r>
            <a:r>
              <a:rPr lang="en-US"/>
              <a:t>try to make sure subnet can carry oﬀered traﬃc, a global issue involving all the hosts and routers. 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It can be open-loop based or involving feedback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>
                <a:solidFill>
                  <a:schemeClr val="accent1"/>
                </a:solidFill>
              </a:rPr>
              <a:t>Flow control </a:t>
            </a:r>
            <a:r>
              <a:rPr lang="en-US"/>
              <a:t>is related to point-to-point traﬃc between given sender and receiver.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it always involves direct feedback from receiver to sender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 txBox="1"/>
          <p:nvPr/>
        </p:nvSpPr>
        <p:spPr>
          <a:xfrm>
            <a:off x="9753600" y="6400801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1905000" y="1371600"/>
            <a:ext cx="8229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Congestion occurs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load on the network </a:t>
            </a:r>
            <a:r>
              <a:rPr b="0" i="0" lang="en-US" sz="4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&gt;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the capacity of the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2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1828800" y="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Congestion: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5272087" y="3470274"/>
            <a:ext cx="53054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number of packets sent to the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2057400" y="3124201"/>
            <a:ext cx="54879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number of packets a network can handle.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2590800" y="2057400"/>
            <a:ext cx="1066800" cy="6858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7924800" y="2133600"/>
            <a:ext cx="1676400" cy="6858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59" name="Google Shape;15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3962400"/>
            <a:ext cx="7761288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" name="Google Shape;165;p3"/>
          <p:cNvCxnSpPr/>
          <p:nvPr/>
        </p:nvCxnSpPr>
        <p:spPr>
          <a:xfrm>
            <a:off x="1676400" y="1371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3"/>
          <p:cNvSpPr txBox="1"/>
          <p:nvPr/>
        </p:nvSpPr>
        <p:spPr>
          <a:xfrm>
            <a:off x="1828801" y="481013"/>
            <a:ext cx="4792663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Queues in a 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714500"/>
            <a:ext cx="7761288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"/>
          <p:cNvSpPr/>
          <p:nvPr/>
        </p:nvSpPr>
        <p:spPr>
          <a:xfrm>
            <a:off x="2057400" y="4350217"/>
            <a:ext cx="822960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packet arrival rate &gt; the  packet processing rate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input queues becomes longer and longer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1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packet departure rate &lt; the  packet processing rate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output queues becomes longer and longer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 txBox="1"/>
          <p:nvPr/>
        </p:nvSpPr>
        <p:spPr>
          <a:xfrm>
            <a:off x="1828801" y="500063"/>
            <a:ext cx="55213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r>
              <a:rPr b="0" i="0" lang="en-US" sz="44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5" name="Google Shape;175;p4"/>
          <p:cNvGraphicFramePr/>
          <p:nvPr/>
        </p:nvGraphicFramePr>
        <p:xfrm>
          <a:off x="3829050" y="1438275"/>
          <a:ext cx="4324350" cy="3371850"/>
        </p:xfrm>
        <a:graphic>
          <a:graphicData uri="http://schemas.openxmlformats.org/presentationml/2006/ole">
            <mc:AlternateContent>
              <mc:Choice Requires="v">
                <p:oleObj r:id="rId4" imgH="3371850" imgW="4324350" progId="Paint.Picture" spid="_x0000_s1">
                  <p:embed/>
                </p:oleObj>
              </mc:Choice>
              <mc:Fallback>
                <p:oleObj r:id="rId5" imgH="3371850" imgW="4324350" progId="Paint.Picture">
                  <p:embed/>
                  <p:pic>
                    <p:nvPicPr>
                      <p:cNvPr id="175" name="Google Shape;175;p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829050" y="1438275"/>
                        <a:ext cx="4324350" cy="337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" name="Google Shape;176;p4"/>
          <p:cNvSpPr/>
          <p:nvPr/>
        </p:nvSpPr>
        <p:spPr>
          <a:xfrm>
            <a:off x="1905000" y="4868258"/>
            <a:ext cx="82296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Delay has a negative effect on the load consequently the congestion.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When a packet is delayed, no ack for source, so source retransmits, making the delay and congestion worse.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" name="Google Shape;181;p5"/>
          <p:cNvGraphicFramePr/>
          <p:nvPr/>
        </p:nvGraphicFramePr>
        <p:xfrm>
          <a:off x="3276600" y="1447800"/>
          <a:ext cx="4838700" cy="3754438"/>
        </p:xfrm>
        <a:graphic>
          <a:graphicData uri="http://schemas.openxmlformats.org/presentationml/2006/ole">
            <mc:AlternateContent>
              <mc:Choice Requires="v">
                <p:oleObj r:id="rId4" imgH="3754438" imgW="4838700" progId="Paint.Picture" spid="_x0000_s1">
                  <p:embed/>
                </p:oleObj>
              </mc:Choice>
              <mc:Fallback>
                <p:oleObj r:id="rId5" imgH="3754438" imgW="4838700" progId="Paint.Picture">
                  <p:embed/>
                  <p:pic>
                    <p:nvPicPr>
                      <p:cNvPr id="181" name="Google Shape;181;p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276600" y="1447800"/>
                        <a:ext cx="4838700" cy="3754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" name="Google Shape;182;p5"/>
          <p:cNvSpPr/>
          <p:nvPr/>
        </p:nvSpPr>
        <p:spPr>
          <a:xfrm>
            <a:off x="2057400" y="5437615"/>
            <a:ext cx="8229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Why does the throughput sharply decline after the load reaches capacity instead of remaining constant?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1828801" y="500063"/>
            <a:ext cx="55213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r>
              <a:rPr b="0" i="0" lang="en-US" sz="44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/>
          <p:nvPr>
            <p:ph type="title"/>
          </p:nvPr>
        </p:nvSpPr>
        <p:spPr>
          <a:xfrm>
            <a:off x="1484310" y="1905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Congestion Control</a:t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1752599" y="1600201"/>
            <a:ext cx="9750423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What is Congestion Control?</a:t>
            </a:r>
            <a:endParaRPr b="0" i="0" sz="28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2" marL="1600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mechanisms and techniques to control the congestion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600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and keep the load below the capacity.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1752600" y="4143375"/>
            <a:ext cx="9750422" cy="1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Two categories of Congestion Control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2" marL="1714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Open Loop  (Prevention)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2" marL="1714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Closed Loop ( Removal)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828801"/>
            <a:ext cx="79248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7"/>
          <p:cNvSpPr/>
          <p:nvPr/>
        </p:nvSpPr>
        <p:spPr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Congestion Control Categories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 txBox="1"/>
          <p:nvPr>
            <p:ph type="ctrTitle"/>
          </p:nvPr>
        </p:nvSpPr>
        <p:spPr>
          <a:xfrm>
            <a:off x="3425822" y="1550894"/>
            <a:ext cx="8077200" cy="2445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Open Loop Congestion Control</a:t>
            </a:r>
            <a:endParaRPr/>
          </a:p>
        </p:txBody>
      </p:sp>
      <p:sp>
        <p:nvSpPr>
          <p:cNvPr id="203" name="Google Shape;203;p18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/>
          <p:nvPr>
            <p:ph type="title"/>
          </p:nvPr>
        </p:nvSpPr>
        <p:spPr>
          <a:xfrm>
            <a:off x="1360486" y="123825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Open Loop Congestion Control</a:t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1752599" y="1447800"/>
            <a:ext cx="9839325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Retransmission /Window Policy:</a:t>
            </a:r>
            <a:endParaRPr b="0" i="0" sz="28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2" marL="1600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Retransmission in general increases congestion. (Example-later)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600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Go-Back N ARQ window vs Selective Repeat window.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1752600" y="4114800"/>
            <a:ext cx="9839324" cy="2616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Acknowledgement Policy: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 acknowledging every packet slows down sender and helps prevent congestion.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Acks are also part of the load in the network.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"/>
          <p:cNvSpPr txBox="1"/>
          <p:nvPr>
            <p:ph type="title"/>
          </p:nvPr>
        </p:nvSpPr>
        <p:spPr>
          <a:xfrm>
            <a:off x="1484310" y="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Open Loop Congestion Control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1752599" y="1447800"/>
            <a:ext cx="9839325" cy="2616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Discarding Policy:</a:t>
            </a:r>
            <a:endParaRPr b="0" i="0" sz="28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May choose to drop some packets </a:t>
            </a:r>
            <a:endParaRPr/>
          </a:p>
          <a:p>
            <a:pPr indent="-45720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good policy by routers may prevent congestion and at the same time may not harm the integrity of the transmission.</a:t>
            </a:r>
            <a:endParaRPr b="0" i="0" sz="5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1797049" y="4053683"/>
            <a:ext cx="9750423" cy="2103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Admission Policy: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Check resource requirement before sending packet.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Allow no new virtual circuits.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Closed Loop</a:t>
            </a:r>
            <a:endParaRPr/>
          </a:p>
        </p:txBody>
      </p:sp>
      <p:sp>
        <p:nvSpPr>
          <p:cNvPr id="223" name="Google Shape;223;p2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8950" y="1828800"/>
            <a:ext cx="8528050" cy="137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/>
          <p:nvPr/>
        </p:nvSpPr>
        <p:spPr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Backpressure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2057400" y="3886200"/>
            <a:ext cx="882015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Congestion node stops receiving data from upstream nodes.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Upstream nodes may get congested, they in turn reject data from their upstream nodes.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Used in Virtual Circuits.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5150" y="1600200"/>
            <a:ext cx="8528050" cy="2338388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/>
          <p:nvPr/>
        </p:nvSpPr>
        <p:spPr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Choke packet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2057400" y="4343400"/>
            <a:ext cx="77724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From a router to source directly.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Immediate nodes are not warned.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 ICMP-source quench message. Immediate routers take no action.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Implicit Signaling</a:t>
            </a:r>
            <a:endParaRPr/>
          </a:p>
        </p:txBody>
      </p:sp>
      <p:sp>
        <p:nvSpPr>
          <p:cNvPr id="245" name="Google Shape;245;p24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/>
              <a:t>No communication between the congested node or nodes and the source.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/>
              <a:t>Source guesses congestion by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/>
              <a:t>No acknowledgement for sent packets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/>
              <a:t>Delayed acknowledgements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/>
              <a:t>Then source slows down.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Explicit Signaling</a:t>
            </a:r>
            <a:endParaRPr/>
          </a:p>
        </p:txBody>
      </p:sp>
      <p:sp>
        <p:nvSpPr>
          <p:cNvPr id="251" name="Google Shape;251;p25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The node experiencing congestion sends signal to the source.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Not a separate packet like the “choke”packet.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Signal included in the data packet itself.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Can be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Backward Signaling-Source warned, slows data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Forward Signaling-Receiver warned, slows acks. 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Congestion Control in TCP</a:t>
            </a:r>
            <a:endParaRPr/>
          </a:p>
        </p:txBody>
      </p:sp>
      <p:sp>
        <p:nvSpPr>
          <p:cNvPr id="257" name="Google Shape;257;p29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3239" y="1123950"/>
            <a:ext cx="8613775" cy="271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0"/>
          <p:cNvSpPr txBox="1"/>
          <p:nvPr/>
        </p:nvSpPr>
        <p:spPr>
          <a:xfrm>
            <a:off x="1653988" y="165847"/>
            <a:ext cx="955189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TCP Window – Sender Window (Review)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0"/>
          <p:cNvSpPr txBox="1"/>
          <p:nvPr/>
        </p:nvSpPr>
        <p:spPr>
          <a:xfrm>
            <a:off x="1905000" y="4419600"/>
            <a:ext cx="84582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Sender Window Size is dictated by the receiver window.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Usually sender window size is determined by the available buffer space in the receiver (rwnd).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1"/>
          <p:cNvSpPr txBox="1"/>
          <p:nvPr/>
        </p:nvSpPr>
        <p:spPr>
          <a:xfrm>
            <a:off x="1618129" y="219635"/>
            <a:ext cx="982083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TCP Window – Receiver Window (Review)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076325"/>
            <a:ext cx="7824788" cy="5259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"/>
          <p:cNvSpPr txBox="1"/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Normal Flow Control (Review)</a:t>
            </a:r>
            <a:endParaRPr/>
          </a:p>
        </p:txBody>
      </p:sp>
      <p:pic>
        <p:nvPicPr>
          <p:cNvPr id="278" name="Google Shape;27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1219201"/>
            <a:ext cx="5791200" cy="548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TCP Window</a:t>
            </a:r>
            <a:endParaRPr/>
          </a:p>
        </p:txBody>
      </p:sp>
      <p:sp>
        <p:nvSpPr>
          <p:cNvPr id="284" name="Google Shape;284;p46"/>
          <p:cNvSpPr txBox="1"/>
          <p:nvPr>
            <p:ph idx="1" type="body"/>
          </p:nvPr>
        </p:nvSpPr>
        <p:spPr>
          <a:xfrm>
            <a:off x="1484310" y="1990724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Today, TCP protocols include that the sender’s window size is not only determined by the receiver but also by congestion in the network.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Windows Size of TCP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Minimum of rwnd and cwnd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Where rwnd is the receiver advertised window size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And cwnd is the networks congestion window size</a:t>
            </a:r>
            <a:endParaRPr/>
          </a:p>
        </p:txBody>
      </p:sp>
      <p:sp>
        <p:nvSpPr>
          <p:cNvPr id="285" name="Google Shape;285;p46"/>
          <p:cNvSpPr/>
          <p:nvPr/>
        </p:nvSpPr>
        <p:spPr>
          <a:xfrm>
            <a:off x="2113867" y="5239543"/>
            <a:ext cx="8001000" cy="5191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2"/>
                </a:solidFill>
                <a:latin typeface="Comic Sans MS"/>
                <a:ea typeface="Comic Sans MS"/>
                <a:cs typeface="Comic Sans MS"/>
                <a:sym typeface="Comic Sans MS"/>
              </a:rPr>
              <a:t>Actual window size = minimum of (rwnd,cwnd)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TCP congestion control</a:t>
            </a:r>
            <a:endParaRPr/>
          </a:p>
        </p:txBody>
      </p:sp>
      <p:sp>
        <p:nvSpPr>
          <p:cNvPr id="291" name="Google Shape;291;p48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4000"/>
              <a:t>TCP does congestion control in </a:t>
            </a:r>
            <a:r>
              <a:rPr lang="en-US" sz="4000">
                <a:solidFill>
                  <a:schemeClr val="accent1"/>
                </a:solidFill>
              </a:rPr>
              <a:t>three phases: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3600"/>
              <a:t>Slow Start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3600"/>
              <a:t>Congestion Avoidance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3600"/>
              <a:t>Congestion Detection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9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Slow Start</a:t>
            </a:r>
            <a:endParaRPr/>
          </a:p>
        </p:txBody>
      </p:sp>
      <p:sp>
        <p:nvSpPr>
          <p:cNvPr id="297" name="Google Shape;297;p49"/>
          <p:cNvSpPr txBox="1"/>
          <p:nvPr>
            <p:ph idx="1" type="body"/>
          </p:nvPr>
        </p:nvSpPr>
        <p:spPr>
          <a:xfrm>
            <a:off x="2057400" y="1600200"/>
            <a:ext cx="77724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cwnd starts with one maximum segment size(MSS).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MSS determined during connection establishment.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MSS increases exponentially after each acknowledgement.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1" y="1600200"/>
            <a:ext cx="6149975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50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Slow Start- Exponential Increase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700213"/>
            <a:ext cx="6591300" cy="4565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51"/>
          <p:cNvSpPr txBox="1"/>
          <p:nvPr/>
        </p:nvSpPr>
        <p:spPr>
          <a:xfrm>
            <a:off x="2116139" y="1844675"/>
            <a:ext cx="273985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MSS (max. segment size)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51"/>
          <p:cNvCxnSpPr/>
          <p:nvPr/>
        </p:nvCxnSpPr>
        <p:spPr>
          <a:xfrm>
            <a:off x="3052763" y="2133601"/>
            <a:ext cx="1223962" cy="574675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12" name="Google Shape;312;p51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Slow Start- Exponential Increase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8" name="Google Shape;318;p52"/>
          <p:cNvCxnSpPr/>
          <p:nvPr/>
        </p:nvCxnSpPr>
        <p:spPr>
          <a:xfrm>
            <a:off x="1905000" y="40386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9" name="Google Shape;319;p52"/>
          <p:cNvCxnSpPr/>
          <p:nvPr/>
        </p:nvCxnSpPr>
        <p:spPr>
          <a:xfrm>
            <a:off x="1905000" y="62484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p52"/>
          <p:cNvSpPr/>
          <p:nvPr/>
        </p:nvSpPr>
        <p:spPr>
          <a:xfrm>
            <a:off x="1981200" y="4112449"/>
            <a:ext cx="8077200" cy="2062103"/>
          </a:xfrm>
          <a:prstGeom prst="rect">
            <a:avLst/>
          </a:prstGeom>
          <a:solidFill>
            <a:srgbClr val="82CCF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slow-start algorithm, the size of the congestion window increases exponentially until it reaches a threshold.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52"/>
          <p:cNvSpPr txBox="1"/>
          <p:nvPr/>
        </p:nvSpPr>
        <p:spPr>
          <a:xfrm>
            <a:off x="2057400" y="1447800"/>
            <a:ext cx="77724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Assumptions: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rwnd&gt;cwnd , so sender window=cwnd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segment 1 byte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segment is acknowledged individually*.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177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52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Slow Start- Exponential Increase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8" name="Google Shape;328;p53"/>
          <p:cNvCxnSpPr/>
          <p:nvPr/>
        </p:nvCxnSpPr>
        <p:spPr>
          <a:xfrm>
            <a:off x="2428875" y="4449762"/>
            <a:ext cx="8458200" cy="4603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53"/>
          <p:cNvCxnSpPr/>
          <p:nvPr/>
        </p:nvCxnSpPr>
        <p:spPr>
          <a:xfrm>
            <a:off x="2352675" y="6583362"/>
            <a:ext cx="8534400" cy="4603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53"/>
          <p:cNvSpPr/>
          <p:nvPr/>
        </p:nvSpPr>
        <p:spPr>
          <a:xfrm>
            <a:off x="2314575" y="4627562"/>
            <a:ext cx="8610600" cy="1816100"/>
          </a:xfrm>
          <a:prstGeom prst="rect">
            <a:avLst/>
          </a:prstGeom>
          <a:solidFill>
            <a:srgbClr val="82CCF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Sender keeps track of a variable named </a:t>
            </a:r>
            <a:r>
              <a:rPr b="1" i="1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ssthresh</a:t>
            </a: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window reaches </a:t>
            </a: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ssthresh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next phase starts.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implementation </a:t>
            </a: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ssthresh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65,535 bytes.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990600"/>
            <a:ext cx="6324600" cy="3335338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53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Slow 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8" name="Google Shape;338;p54"/>
          <p:cNvCxnSpPr/>
          <p:nvPr/>
        </p:nvCxnSpPr>
        <p:spPr>
          <a:xfrm>
            <a:off x="1981200" y="22860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54"/>
          <p:cNvCxnSpPr/>
          <p:nvPr/>
        </p:nvCxnSpPr>
        <p:spPr>
          <a:xfrm>
            <a:off x="1982788" y="44958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54"/>
          <p:cNvSpPr/>
          <p:nvPr/>
        </p:nvSpPr>
        <p:spPr>
          <a:xfrm>
            <a:off x="2019300" y="2378076"/>
            <a:ext cx="8077200" cy="2062163"/>
          </a:xfrm>
          <a:prstGeom prst="rect">
            <a:avLst/>
          </a:prstGeom>
          <a:solidFill>
            <a:srgbClr val="82CCF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congestion avoidance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algorithm, the size of the congestion window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increases additively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until </a:t>
            </a:r>
            <a:b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congestion is detected.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54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Congestion Avoidance: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6714" y="1476376"/>
            <a:ext cx="5856287" cy="431482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5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Congestion Avoidance: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1524000"/>
            <a:ext cx="5715000" cy="46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68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Congestion Avoidance: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0" name="Google Shape;360;p74"/>
          <p:cNvCxnSpPr/>
          <p:nvPr/>
        </p:nvCxnSpPr>
        <p:spPr>
          <a:xfrm>
            <a:off x="2038350" y="20574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74"/>
          <p:cNvCxnSpPr/>
          <p:nvPr/>
        </p:nvCxnSpPr>
        <p:spPr>
          <a:xfrm>
            <a:off x="2038350" y="52578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74"/>
          <p:cNvSpPr/>
          <p:nvPr/>
        </p:nvSpPr>
        <p:spPr>
          <a:xfrm>
            <a:off x="1943100" y="2149476"/>
            <a:ext cx="8343900" cy="3046413"/>
          </a:xfrm>
          <a:prstGeom prst="rect">
            <a:avLst/>
          </a:prstGeom>
          <a:solidFill>
            <a:srgbClr val="82CCF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implementation reacts to congestion detection in one of the following ways: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❏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detection is by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time-out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new </a:t>
            </a:r>
            <a:r>
              <a:rPr b="1" i="0" lang="en-US" sz="3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slow</a:t>
            </a:r>
            <a:br>
              <a:rPr b="1" i="0" lang="en-US" sz="3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 start phase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starts.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❏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detection is by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three ACKs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new</a:t>
            </a:r>
            <a:b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1" i="0" lang="en-US" sz="3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congestion avoidance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starts.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74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Congestion Detection: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7"/>
          <p:cNvSpPr txBox="1"/>
          <p:nvPr/>
        </p:nvSpPr>
        <p:spPr>
          <a:xfrm>
            <a:off x="1905000" y="20955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Congestion Detection: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7"/>
          <p:cNvSpPr txBox="1"/>
          <p:nvPr/>
        </p:nvSpPr>
        <p:spPr>
          <a:xfrm>
            <a:off x="1819275" y="1628774"/>
            <a:ext cx="10018713" cy="4524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380922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80617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Congestion detected by </a:t>
            </a:r>
            <a:r>
              <a:rPr b="0" i="0" lang="en-US" sz="3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time-out (severe congestion)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897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8175"/>
              <a:buFont typeface="Arial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starts new slow start phase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897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8175"/>
              <a:buFont typeface="Arial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ssthresh = max(2, floor(cwnd/2))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897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8175"/>
              <a:buFont typeface="Arial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cwnd=1</a:t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922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80617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Congestion detected by three </a:t>
            </a:r>
            <a:r>
              <a:rPr b="0" i="0" lang="en-US" sz="3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ACKs (less severe congestion)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897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8175"/>
              <a:buFont typeface="Arial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starts new congestion avoidance phase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897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8175"/>
              <a:buFont typeface="Arial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ssthresh = max(2, floor(cwnd/2))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897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8175"/>
              <a:buFont typeface="Arial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cwnd= ssthresh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80617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2006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75"/>
          <p:cNvSpPr txBox="1"/>
          <p:nvPr/>
        </p:nvSpPr>
        <p:spPr>
          <a:xfrm>
            <a:off x="1828800" y="4572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TCP Congestion Policy: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7" name="Google Shape;377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2150" y="1700213"/>
            <a:ext cx="8401050" cy="437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8176" y="1524000"/>
            <a:ext cx="8378825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77"/>
          <p:cNvSpPr txBox="1"/>
          <p:nvPr/>
        </p:nvSpPr>
        <p:spPr>
          <a:xfrm>
            <a:off x="1828800" y="4572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TCP Congestion 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a07f41303d_0_4"/>
          <p:cNvSpPr txBox="1"/>
          <p:nvPr/>
        </p:nvSpPr>
        <p:spPr>
          <a:xfrm>
            <a:off x="1566450" y="438100"/>
            <a:ext cx="991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AIMD: Additive Increase Multiplicative Decrease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1" name="Google Shape;391;g3a07f41303d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0188" y="1471613"/>
            <a:ext cx="9496425" cy="421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9810" y="0"/>
            <a:ext cx="9172575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8"/>
          <p:cNvSpPr txBox="1"/>
          <p:nvPr/>
        </p:nvSpPr>
        <p:spPr>
          <a:xfrm>
            <a:off x="1798820" y="3882452"/>
            <a:ext cx="411522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400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romanUcPeriod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Cwnd touches the threshold</a:t>
            </a:r>
            <a:endParaRPr/>
          </a:p>
          <a:p>
            <a:pPr indent="-400050" lvl="0" marL="400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romanUcPeriod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/>
          </a:p>
          <a:p>
            <a:pPr indent="-400050" lvl="0" marL="400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romanUcPeriod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as timeout occurs on this round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9"/>
          <p:cNvSpPr txBox="1"/>
          <p:nvPr/>
        </p:nvSpPr>
        <p:spPr>
          <a:xfrm>
            <a:off x="479686" y="329784"/>
            <a:ext cx="10810800" cy="2709000"/>
          </a:xfrm>
          <a:prstGeom prst="rect">
            <a:avLst/>
          </a:prstGeom>
          <a:solidFill>
            <a:srgbClr val="F3D7B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file transfer starts at cwnd=1 MSS; ssthresh=9; round=0. The system faces a time-out at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around 6 and then a 3-dup-ack on round 11.</a:t>
            </a:r>
            <a:endParaRPr/>
          </a:p>
          <a:p>
            <a:pPr indent="-342900" lvl="1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the cwnd size on round 15.</a:t>
            </a:r>
            <a:endParaRPr/>
          </a:p>
          <a:p>
            <a:pPr indent="-342900" lvl="1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the ssthresh on round 15.</a:t>
            </a:r>
            <a:endParaRPr/>
          </a:p>
          <a:p>
            <a:pPr indent="-342900" lvl="1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of how many bytes were successfully sent till round 15 if each MSS held 3 bytes of data?</a:t>
            </a:r>
            <a:endParaRPr/>
          </a:p>
        </p:txBody>
      </p:sp>
      <p:graphicFrame>
        <p:nvGraphicFramePr>
          <p:cNvPr id="404" name="Google Shape;404;p9"/>
          <p:cNvGraphicFramePr/>
          <p:nvPr/>
        </p:nvGraphicFramePr>
        <p:xfrm>
          <a:off x="434715" y="38137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{1AC42BAC-BB38-41E2-948B-934AD47EC33A}</a:tableStyleId>
              </a:tblPr>
              <a:tblGrid>
                <a:gridCol w="1258700"/>
                <a:gridCol w="590825"/>
                <a:gridCol w="590825"/>
                <a:gridCol w="590825"/>
                <a:gridCol w="590825"/>
                <a:gridCol w="590825"/>
                <a:gridCol w="590825"/>
                <a:gridCol w="590825"/>
                <a:gridCol w="590825"/>
                <a:gridCol w="590825"/>
                <a:gridCol w="590825"/>
                <a:gridCol w="590825"/>
                <a:gridCol w="590825"/>
                <a:gridCol w="590825"/>
                <a:gridCol w="590825"/>
                <a:gridCol w="590825"/>
                <a:gridCol w="590825"/>
                <a:gridCol w="590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Round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cwnd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11-&gt;1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7-&gt;3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05" name="Google Shape;405;p9"/>
          <p:cNvSpPr txBox="1"/>
          <p:nvPr/>
        </p:nvSpPr>
        <p:spPr>
          <a:xfrm>
            <a:off x="5261548" y="4886793"/>
            <a:ext cx="10951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Ssthresh=5</a:t>
            </a:r>
            <a:endParaRPr/>
          </a:p>
        </p:txBody>
      </p:sp>
      <p:sp>
        <p:nvSpPr>
          <p:cNvPr id="406" name="Google Shape;406;p9"/>
          <p:cNvSpPr txBox="1"/>
          <p:nvPr/>
        </p:nvSpPr>
        <p:spPr>
          <a:xfrm>
            <a:off x="8217109" y="4702722"/>
            <a:ext cx="10951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Ssthresh=3</a:t>
            </a:r>
            <a:endParaRPr/>
          </a:p>
        </p:txBody>
      </p:sp>
      <p:sp>
        <p:nvSpPr>
          <p:cNvPr id="407" name="Google Shape;407;p9"/>
          <p:cNvSpPr txBox="1"/>
          <p:nvPr/>
        </p:nvSpPr>
        <p:spPr>
          <a:xfrm>
            <a:off x="1439056" y="5426439"/>
            <a:ext cx="6742551" cy="1156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Cwnd on round 15: 7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Ssthresh on round 15: 3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bytes upt to round 15: 3*(1+2+4+8+9+10+1+2+4+5+6+3+4+5+6+7) 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05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The End </a:t>
            </a:r>
            <a:endParaRPr/>
          </a:p>
        </p:txBody>
      </p:sp>
      <p:sp>
        <p:nvSpPr>
          <p:cNvPr id="417" name="Google Shape;417;p105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Font typeface="Noto Sans"/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