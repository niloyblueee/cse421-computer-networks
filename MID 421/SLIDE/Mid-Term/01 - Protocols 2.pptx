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328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26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7" r:id="rId67"/>
    <p:sldId id="324" r:id="rId68"/>
    <p:sldId id="325" r:id="rId69"/>
  </p:sldIdLst>
  <p:sldSz cx="12192000" cy="6858000"/>
  <p:notesSz cx="6858000" cy="9144000"/>
  <p:embeddedFontLst>
    <p:embeddedFont>
      <p:font typeface="Arial Black" panose="020B0A04020102020204" pitchFamily="34" charset="0"/>
      <p:regular r:id="rId71"/>
      <p:bold r:id="rId72"/>
    </p:embeddedFont>
    <p:embeddedFont>
      <p:font typeface="Calibri" panose="020F0502020204030204" pitchFamily="34" charset="0"/>
      <p:regular r:id="rId73"/>
      <p:bold r:id="rId74"/>
      <p:italic r:id="rId75"/>
      <p:boldItalic r:id="rId76"/>
    </p:embeddedFont>
    <p:embeddedFont>
      <p:font typeface="Corbel" panose="020B0503020204020204" pitchFamily="34" charset="0"/>
      <p:regular r:id="rId77"/>
      <p:bold r:id="rId78"/>
      <p:italic r:id="rId79"/>
      <p:boldItalic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1" roundtripDataSignature="AMtx7mjzysK3KtHtC4BItdZm71rlwe9/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55769D-D141-4992-859C-A79873A83F92}">
  <a:tblStyle styleId="{1D55769D-D141-4992-859C-A79873A83F92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openxmlformats.org/officeDocument/2006/relationships/font" Target="fonts/font10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3" name="Google Shape;32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8" name="Google Shape;33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" name="Google Shape;42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8" name="Google Shape;51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2" name="Google Shape;53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9" name="Google Shape;53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0" name="Google Shape;56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7" name="Google Shape;56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8" name="Google Shape;58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8" name="Google Shape;59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9" name="Google Shape;61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7" name="Google Shape;62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5" name="Google Shape;66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3" name="Google Shape;67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6" name="Google Shape;68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9" name="Google Shape;69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4" name="Google Shape;71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2" name="Google Shape;72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3" name="Google Shape;74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0" name="Google Shape;75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7" name="Google Shape;75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6" name="Google Shape;77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8" name="Google Shape;80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3" name="Google Shape;83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0" name="Google Shape;85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7" name="Google Shape;85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4" name="Google Shape;86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4" name="Google Shape;89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4" name="Google Shape;904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8" name="Google Shape;91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5" name="Google Shape;92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3" name="Google Shape;933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2" name="Google Shape;972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8" name="Google Shape;97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4" name="Google Shape;98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3" name="Google Shape;99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0" name="Google Shape;100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7" name="Google Shape;100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8" name="Google Shape;1038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9" name="Google Shape;108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7" name="Google Shape;109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6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66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66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66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66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66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66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66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6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6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7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7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7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8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8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6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9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9"/>
          <p:cNvSpPr txBox="1">
            <a:spLocks noGrp="1"/>
          </p:cNvSpPr>
          <p:nvPr>
            <p:ph type="body" idx="1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69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1" name="Google Shape;51;p6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0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70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8" name="Google Shape;58;p70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70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0" name="Google Shape;60;p7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3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3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75" name="Google Shape;75;p73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7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4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4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4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7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5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5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75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90" name="Google Shape;90;p7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6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6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7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7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7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7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7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7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77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7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7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7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8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8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7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7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7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9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9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79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7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7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7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0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80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80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8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8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8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81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8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8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8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2"/>
          <p:cNvSpPr txBox="1">
            <a:spLocks noGrp="1"/>
          </p:cNvSpPr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82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8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8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5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65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65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65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65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65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65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65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65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6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6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6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Models &amp;</a:t>
            </a:r>
            <a:br>
              <a:rPr lang="en-US"/>
            </a:br>
            <a:r>
              <a:rPr lang="en-US"/>
              <a:t>Protocol Architectures</a:t>
            </a:r>
            <a:endParaRPr/>
          </a:p>
        </p:txBody>
      </p:sp>
      <p:sp>
        <p:nvSpPr>
          <p:cNvPr id="148" name="Google Shape;148;p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88" name="Google Shape;188;p2"/>
          <p:cNvSpPr txBox="1">
            <a:spLocks noGrp="1"/>
          </p:cNvSpPr>
          <p:nvPr>
            <p:ph type="body" idx="1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Layering in communication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Standards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 Suites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OSI Model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TCP/IP Model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Addressing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189" name="Google Shape;18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Layering</a:t>
            </a:r>
            <a:endParaRPr/>
          </a:p>
        </p:txBody>
      </p:sp>
      <p:sp>
        <p:nvSpPr>
          <p:cNvPr id="195" name="Google Shape;195;p3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/>
              <a:t>Tasks of communication are broken up into </a:t>
            </a:r>
            <a:r>
              <a:rPr lang="en-US" b="1"/>
              <a:t>layers</a:t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3910914" y="2520778"/>
            <a:ext cx="2082113" cy="2174789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Communication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7149883" y="2520777"/>
            <a:ext cx="2082113" cy="586947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</a:t>
            </a: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7157563" y="3314698"/>
            <a:ext cx="2082113" cy="586947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7157563" y="4108620"/>
            <a:ext cx="2082113" cy="586947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3"/>
          <p:cNvCxnSpPr/>
          <p:nvPr/>
        </p:nvCxnSpPr>
        <p:spPr>
          <a:xfrm>
            <a:off x="6023917" y="2814250"/>
            <a:ext cx="1132144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3"/>
          <p:cNvCxnSpPr/>
          <p:nvPr/>
        </p:nvCxnSpPr>
        <p:spPr>
          <a:xfrm>
            <a:off x="6025419" y="3596843"/>
            <a:ext cx="1132144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3"/>
          <p:cNvCxnSpPr/>
          <p:nvPr/>
        </p:nvCxnSpPr>
        <p:spPr>
          <a:xfrm>
            <a:off x="6025419" y="4402093"/>
            <a:ext cx="1132144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03" name="Google Shape;20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Layers: Sending a letter</a:t>
            </a:r>
            <a:endParaRPr/>
          </a:p>
        </p:txBody>
      </p:sp>
      <p:pic>
        <p:nvPicPr>
          <p:cNvPr id="209" name="Google Shape;20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0779" y="1412532"/>
            <a:ext cx="6762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19601" y="1364907"/>
            <a:ext cx="73342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"/>
          <p:cNvSpPr/>
          <p:nvPr/>
        </p:nvSpPr>
        <p:spPr>
          <a:xfrm>
            <a:off x="3136554" y="2681417"/>
            <a:ext cx="1964724" cy="741405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written, put in an envelope, and dropped in a mailbox.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3136554" y="3828536"/>
            <a:ext cx="1964724" cy="741405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carried from the mailbox to a post office.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3136554" y="4975655"/>
            <a:ext cx="1964724" cy="741405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delivered to a carrier by the post office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7941272" y="2681417"/>
            <a:ext cx="1964724" cy="741405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picked up, removed from the envelope, and read.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7941272" y="3828536"/>
            <a:ext cx="1964724" cy="741405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carried from the post office to the mailbox.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7941272" y="4975655"/>
            <a:ext cx="1964724" cy="741405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received from the carrier to the post office.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4"/>
          <p:cNvCxnSpPr>
            <a:stCxn id="209" idx="2"/>
            <a:endCxn id="211" idx="0"/>
          </p:cNvCxnSpPr>
          <p:nvPr/>
        </p:nvCxnSpPr>
        <p:spPr>
          <a:xfrm>
            <a:off x="4118917" y="2269782"/>
            <a:ext cx="0" cy="411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8" name="Google Shape;218;p4"/>
          <p:cNvCxnSpPr>
            <a:stCxn id="211" idx="2"/>
            <a:endCxn id="212" idx="0"/>
          </p:cNvCxnSpPr>
          <p:nvPr/>
        </p:nvCxnSpPr>
        <p:spPr>
          <a:xfrm>
            <a:off x="4118916" y="3422822"/>
            <a:ext cx="0" cy="405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4"/>
          <p:cNvCxnSpPr/>
          <p:nvPr/>
        </p:nvCxnSpPr>
        <p:spPr>
          <a:xfrm>
            <a:off x="4139508" y="4569941"/>
            <a:ext cx="0" cy="40571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4"/>
          <p:cNvCxnSpPr>
            <a:stCxn id="216" idx="0"/>
          </p:cNvCxnSpPr>
          <p:nvPr/>
        </p:nvCxnSpPr>
        <p:spPr>
          <a:xfrm rot="10800000">
            <a:off x="8923634" y="4570055"/>
            <a:ext cx="0" cy="405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4"/>
          <p:cNvCxnSpPr/>
          <p:nvPr/>
        </p:nvCxnSpPr>
        <p:spPr>
          <a:xfrm rot="10800000">
            <a:off x="8923634" y="3422824"/>
            <a:ext cx="0" cy="40571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4"/>
          <p:cNvCxnSpPr/>
          <p:nvPr/>
        </p:nvCxnSpPr>
        <p:spPr>
          <a:xfrm rot="10800000">
            <a:off x="8886313" y="2269782"/>
            <a:ext cx="0" cy="40571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3" name="Google Shape;223;p4"/>
          <p:cNvSpPr txBox="1"/>
          <p:nvPr/>
        </p:nvSpPr>
        <p:spPr>
          <a:xfrm>
            <a:off x="5802168" y="2867453"/>
            <a:ext cx="14382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Higher layers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5768147" y="4014572"/>
            <a:ext cx="1451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Middle layers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 txBox="1"/>
          <p:nvPr/>
        </p:nvSpPr>
        <p:spPr>
          <a:xfrm>
            <a:off x="5824251" y="5161691"/>
            <a:ext cx="13949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Lower layers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4"/>
          <p:cNvCxnSpPr>
            <a:stCxn id="213" idx="2"/>
          </p:cNvCxnSpPr>
          <p:nvPr/>
        </p:nvCxnSpPr>
        <p:spPr>
          <a:xfrm>
            <a:off x="4118916" y="5717060"/>
            <a:ext cx="0" cy="364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7" name="Google Shape;227;p4"/>
          <p:cNvCxnSpPr/>
          <p:nvPr/>
        </p:nvCxnSpPr>
        <p:spPr>
          <a:xfrm>
            <a:off x="4118916" y="6081585"/>
            <a:ext cx="4804718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" name="Google Shape;228;p4"/>
          <p:cNvCxnSpPr/>
          <p:nvPr/>
        </p:nvCxnSpPr>
        <p:spPr>
          <a:xfrm rot="10800000">
            <a:off x="8923634" y="5717060"/>
            <a:ext cx="0" cy="36452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9" name="Google Shape;229;p4"/>
          <p:cNvSpPr txBox="1"/>
          <p:nvPr/>
        </p:nvSpPr>
        <p:spPr>
          <a:xfrm>
            <a:off x="5365349" y="5825012"/>
            <a:ext cx="231185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parcel is carried from</a:t>
            </a:r>
            <a:br>
              <a:rPr lang="en-US"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source to the destination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Benefits of using a layered model</a:t>
            </a:r>
            <a:endParaRPr/>
          </a:p>
        </p:txBody>
      </p:sp>
      <p:sp>
        <p:nvSpPr>
          <p:cNvPr id="236" name="Google Shape;236;p5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Fosters </a:t>
            </a:r>
            <a:r>
              <a:rPr lang="en-US" b="1" dirty="0"/>
              <a:t>competition</a:t>
            </a:r>
            <a:r>
              <a:rPr lang="en-US" dirty="0"/>
              <a:t>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 dirty="0"/>
              <a:t>Technology changes </a:t>
            </a:r>
            <a:r>
              <a:rPr lang="en-US" dirty="0"/>
              <a:t>in one layer do not affect other layers.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Each layer have </a:t>
            </a:r>
            <a:r>
              <a:rPr lang="en-US" b="1" dirty="0"/>
              <a:t>defined functions </a:t>
            </a:r>
            <a:r>
              <a:rPr lang="en-US" dirty="0"/>
              <a:t>that they act upon.</a:t>
            </a:r>
            <a:endParaRPr dirty="0"/>
          </a:p>
        </p:txBody>
      </p:sp>
      <p:pic>
        <p:nvPicPr>
          <p:cNvPr id="237" name="Google Shape;23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9204" y="3311530"/>
            <a:ext cx="5943599" cy="354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Protocols</a:t>
            </a:r>
            <a:endParaRPr/>
          </a:p>
        </p:txBody>
      </p:sp>
      <p:pic>
        <p:nvPicPr>
          <p:cNvPr id="244" name="Google Shape;24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7266" y="3095110"/>
            <a:ext cx="335280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Protocols</a:t>
            </a:r>
            <a:endParaRPr/>
          </a:p>
        </p:txBody>
      </p:sp>
      <p:sp>
        <p:nvSpPr>
          <p:cNvPr id="251" name="Google Shape;251;p7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All communications are governed by protocols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are the rules that communications will follow.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These rules will vary depending on the protocol.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b="1"/>
          </a:p>
        </p:txBody>
      </p:sp>
      <p:pic>
        <p:nvPicPr>
          <p:cNvPr id="252" name="Google Shape;25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0775" y="3572558"/>
            <a:ext cx="5333999" cy="3214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Protocols</a:t>
            </a:r>
            <a:endParaRPr/>
          </a:p>
        </p:txBody>
      </p:sp>
      <p:sp>
        <p:nvSpPr>
          <p:cNvPr id="259" name="Google Shape;259;p8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/>
              <a:t>Protocols must account for the following requirements: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An identified sender and receiver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Common language and grammar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Speed and timing of delivery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Confirmation or acknowledgment requirements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/>
              <a:t>Common computer protocols must agree in: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encoding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formatting and encapsulation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size, timing, delivery option.</a:t>
            </a:r>
            <a:endParaRPr/>
          </a:p>
        </p:txBody>
      </p:sp>
      <p:pic>
        <p:nvPicPr>
          <p:cNvPr id="260" name="Google Shape;26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Standards</a:t>
            </a:r>
            <a:endParaRPr/>
          </a:p>
        </p:txBody>
      </p:sp>
      <p:pic>
        <p:nvPicPr>
          <p:cNvPr id="266" name="Google Shape;26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9666" y="2732903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Standards</a:t>
            </a:r>
            <a:endParaRPr/>
          </a:p>
        </p:txBody>
      </p:sp>
      <p:sp>
        <p:nvSpPr>
          <p:cNvPr id="273" name="Google Shape;273;p10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Standards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Standards Organizations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Internet Standards</a:t>
            </a:r>
            <a:endParaRPr/>
          </a:p>
        </p:txBody>
      </p:sp>
      <p:pic>
        <p:nvPicPr>
          <p:cNvPr id="274" name="Google Shape;27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Standards</a:t>
            </a:r>
            <a:endParaRPr/>
          </a:p>
        </p:txBody>
      </p:sp>
      <p:sp>
        <p:nvSpPr>
          <p:cNvPr id="280" name="Google Shape;280;p11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Endorsed by the networking industry and approved by a standards organization. 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Benefits: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Create and maintain an open and competitive market.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Ensured greater compatibility and interoperability.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Categories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>
                <a:solidFill>
                  <a:schemeClr val="dk2"/>
                </a:solidFill>
              </a:rPr>
              <a:t>De facto – TCP/IP Protocol Model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>
                <a:solidFill>
                  <a:schemeClr val="dk2"/>
                </a:solidFill>
              </a:rPr>
              <a:t>De jure – OSI Reference Model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281" name="Google Shape;28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Open Standards</a:t>
            </a:r>
            <a:endParaRPr/>
          </a:p>
        </p:txBody>
      </p:sp>
      <p:sp>
        <p:nvSpPr>
          <p:cNvPr id="287" name="Google Shape;287;p12"/>
          <p:cNvSpPr txBox="1">
            <a:spLocks noGrp="1"/>
          </p:cNvSpPr>
          <p:nvPr>
            <p:ph type="body" idx="1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Open standards encourage: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Interoperability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Competition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Innovation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Standards organizations are: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vendor-neutral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non-profit organizations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established to develop and promote the concept of open standards. </a:t>
            </a:r>
            <a:endParaRPr b="1"/>
          </a:p>
        </p:txBody>
      </p:sp>
      <p:pic>
        <p:nvPicPr>
          <p:cNvPr id="288" name="Google Shape;28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94548" y="1421027"/>
            <a:ext cx="4308475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</a:t>
            </a:r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body" idx="1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b="1"/>
              <a:t>Internet Society (ISOC)</a:t>
            </a:r>
            <a:r>
              <a:rPr lang="en-US"/>
              <a:t> - Promotes the open development and evolution of internet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b="1"/>
              <a:t>Internet Architecture Board (IAB)</a:t>
            </a:r>
            <a:r>
              <a:rPr lang="en-US"/>
              <a:t> - Responsible for management and development of internet standards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b="1"/>
              <a:t>Internet Engineering Task Force (IETF) </a:t>
            </a:r>
            <a:r>
              <a:rPr lang="en-US"/>
              <a:t>- Develops, updates, and maintains internet and TCP/IP technologies</a:t>
            </a:r>
            <a:endParaRPr/>
          </a:p>
          <a:p>
            <a:pPr marL="285750" lvl="0" indent="-285749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207360"/>
              <a:buFont typeface="Arial"/>
              <a:buChar char="•"/>
            </a:pPr>
            <a:r>
              <a:rPr lang="en-US" b="1"/>
              <a:t>Internet Research Task Force (IRTF) </a:t>
            </a:r>
            <a:r>
              <a:rPr lang="en-US"/>
              <a:t>- Focused on long-term research related to internet and TCP/IP protocols</a:t>
            </a:r>
            <a:endParaRPr sz="2000" b="1"/>
          </a:p>
        </p:txBody>
      </p:sp>
      <p:pic>
        <p:nvPicPr>
          <p:cNvPr id="296" name="Google Shape;29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5709" y="1392194"/>
            <a:ext cx="4289066" cy="431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 (Continued)</a:t>
            </a:r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body" idx="1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Noto Sans Symbols"/>
              <a:buNone/>
            </a:pPr>
            <a:r>
              <a:rPr lang="en-US" sz="2000"/>
              <a:t>Standards organizations involved with the development and support of TCP/IP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/>
              <a:t>Internet Corporation for Assigned Names and Numbers (ICANN) </a:t>
            </a:r>
            <a:r>
              <a:rPr lang="en-US"/>
              <a:t>-  Coordinates IP address allocation, the management of domain names, and assignment of other information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/>
              <a:t>Internet Assigned Numbers Authority (IANA) </a:t>
            </a:r>
            <a:r>
              <a:rPr lang="en-US"/>
              <a:t>- Oversees and manages IP address allocation, domain name management, and protocol identifiers for ICANN</a:t>
            </a:r>
            <a:endParaRPr sz="1600"/>
          </a:p>
        </p:txBody>
      </p:sp>
      <p:pic>
        <p:nvPicPr>
          <p:cNvPr id="304" name="Google Shape;30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88280" y="1920867"/>
            <a:ext cx="3614266" cy="3016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 (Continued)</a:t>
            </a:r>
            <a:endParaRPr/>
          </a:p>
        </p:txBody>
      </p:sp>
      <p:sp>
        <p:nvSpPr>
          <p:cNvPr id="311" name="Google Shape;311;p15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5657895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Formalized regulations and specifications for the Internet by IETF.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Internet Draft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No official status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6 month lifetime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Request for comment (RFC)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Upon recommendation from Internet authorities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Different maturity levels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Internet Protocol – RFC : 791</a:t>
            </a:r>
            <a:endParaRPr/>
          </a:p>
        </p:txBody>
      </p:sp>
      <p:pic>
        <p:nvPicPr>
          <p:cNvPr id="312" name="Google Shape;3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5" descr="model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5496" y="2156254"/>
            <a:ext cx="5565123" cy="4034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Electronic and Communications Standards</a:t>
            </a:r>
            <a:endParaRPr/>
          </a:p>
        </p:txBody>
      </p:sp>
      <p:sp>
        <p:nvSpPr>
          <p:cNvPr id="319" name="Google Shape;319;p16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lang="en-US" b="1"/>
              <a:t>Institute of Electrical and Electronics Engineers </a:t>
            </a:r>
            <a:r>
              <a:rPr lang="en-US"/>
              <a:t>(</a:t>
            </a:r>
            <a:r>
              <a:rPr lang="en-US" b="1"/>
              <a:t>IEEE</a:t>
            </a:r>
            <a:r>
              <a:rPr lang="en-US"/>
              <a:t>, pronounced “I-triple-E”) - dedicated to creating standards in power and energy, healthcare, telecommunications, and networking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lang="en-US" b="1"/>
              <a:t>Electronic Industries Alliance (EIA) </a:t>
            </a:r>
            <a:r>
              <a:rPr lang="en-US"/>
              <a:t>- develops standards relating to electrical wiring, connectors, and the 19-inch racks used to mount networking equipment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lang="en-US" b="1"/>
              <a:t>Telecommunications Industry Association (TIA) </a:t>
            </a:r>
            <a:r>
              <a:rPr lang="en-US"/>
              <a:t>- develops communication standards in radio equipment, cellular towers, Voice over IP (VoIP) devices, satellite communications, and more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lang="en-US" b="1"/>
              <a:t>International Telecommunications Union-Telecommunication Standardization Sector (ITU-T</a:t>
            </a:r>
            <a:r>
              <a:rPr lang="en-US"/>
              <a:t>) - defines standards for video compression, Internet Protocol Television (IPTV), and broadband communications, such as a digital subscriber line (DSL)</a:t>
            </a:r>
            <a:endParaRPr/>
          </a:p>
        </p:txBody>
      </p:sp>
      <p:pic>
        <p:nvPicPr>
          <p:cNvPr id="320" name="Google Shape;32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Technology Independent Protocols</a:t>
            </a:r>
            <a:endParaRPr/>
          </a:p>
        </p:txBody>
      </p:sp>
      <p:sp>
        <p:nvSpPr>
          <p:cNvPr id="326" name="Google Shape;326;p17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are not dependent upon any specific technology.</a:t>
            </a:r>
            <a:endParaRPr/>
          </a:p>
          <a:p>
            <a:pPr marL="855663" lvl="1" indent="-2889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They describe </a:t>
            </a:r>
            <a:r>
              <a:rPr lang="en-US" b="1"/>
              <a:t>what</a:t>
            </a:r>
            <a:r>
              <a:rPr lang="en-US">
                <a:solidFill>
                  <a:schemeClr val="folHlink"/>
                </a:solidFill>
              </a:rPr>
              <a:t> </a:t>
            </a:r>
            <a:r>
              <a:rPr lang="en-US"/>
              <a:t>must be done to communicate but </a:t>
            </a:r>
            <a:r>
              <a:rPr lang="en-US" b="1"/>
              <a:t>not how </a:t>
            </a:r>
            <a:r>
              <a:rPr lang="en-US"/>
              <a:t>its is to be carried out.</a:t>
            </a:r>
            <a:endParaRPr/>
          </a:p>
        </p:txBody>
      </p:sp>
      <p:pic>
        <p:nvPicPr>
          <p:cNvPr id="327" name="Google Shape;32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1422" y="2588741"/>
            <a:ext cx="5424488" cy="29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800" cy="3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Protocol Suites</a:t>
            </a:r>
            <a:endParaRPr/>
          </a:p>
        </p:txBody>
      </p:sp>
      <p:pic>
        <p:nvPicPr>
          <p:cNvPr id="334" name="Google Shape;33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8" descr="TCP/IP vs OSI Model: What's the Difference?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3400" y="2835321"/>
            <a:ext cx="4305300" cy="3474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 Suites</a:t>
            </a:r>
            <a:endParaRPr/>
          </a:p>
        </p:txBody>
      </p:sp>
      <p:sp>
        <p:nvSpPr>
          <p:cNvPr id="341" name="Google Shape;341;p19"/>
          <p:cNvSpPr txBox="1">
            <a:spLocks noGrp="1"/>
          </p:cNvSpPr>
          <p:nvPr>
            <p:ph type="body" idx="1"/>
          </p:nvPr>
        </p:nvSpPr>
        <p:spPr>
          <a:xfrm>
            <a:off x="1484310" y="1410472"/>
            <a:ext cx="10018800" cy="43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TCP/IP Protocol Model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dirty="0"/>
              <a:t>Open De Facto Standard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dirty="0"/>
              <a:t>Governed by IETF  Working</a:t>
            </a:r>
            <a:br>
              <a:rPr lang="en-US" dirty="0"/>
            </a:br>
            <a:r>
              <a:rPr lang="en-US" dirty="0"/>
              <a:t>Groups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OSI Reference model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dirty="0"/>
              <a:t>De Jure Standard</a:t>
            </a:r>
            <a:endParaRPr dirty="0"/>
          </a:p>
        </p:txBody>
      </p:sp>
      <p:pic>
        <p:nvPicPr>
          <p:cNvPr id="342" name="Google Shape;34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OSI Model</a:t>
            </a:r>
            <a:br>
              <a:rPr lang="en-US" sz="7200"/>
            </a:br>
            <a:r>
              <a:rPr lang="en-US" sz="1800"/>
              <a:t>De Jure Standard</a:t>
            </a:r>
            <a:endParaRPr sz="7200"/>
          </a:p>
        </p:txBody>
      </p:sp>
      <p:pic>
        <p:nvPicPr>
          <p:cNvPr id="348" name="Google Shape;34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9" name="Google Shape;349;p20"/>
          <p:cNvGraphicFramePr/>
          <p:nvPr/>
        </p:nvGraphicFramePr>
        <p:xfrm>
          <a:off x="5718228" y="3209818"/>
          <a:ext cx="1771800" cy="2966800"/>
        </p:xfrm>
        <a:graphic>
          <a:graphicData uri="http://schemas.openxmlformats.org/drawingml/2006/table">
            <a:tbl>
              <a:tblPr firstRow="1" bandRow="1">
                <a:noFill/>
                <a:tableStyleId>{1D55769D-D141-4992-859C-A79873A83F92}</a:tableStyleId>
              </a:tblPr>
              <a:tblGrid>
                <a:gridCol w="28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Layers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Application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Presentation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Session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Transport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Network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Data Link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Physical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</a:t>
            </a:r>
            <a:endParaRPr/>
          </a:p>
        </p:txBody>
      </p:sp>
      <p:sp>
        <p:nvSpPr>
          <p:cNvPr id="355" name="Google Shape;355;p21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5688787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Open Systems Interconnection (OSI)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dirty="0"/>
              <a:t>Seven layers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dirty="0"/>
              <a:t>A theoretical system delivered too late!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dirty="0"/>
              <a:t>TCP/IP is the de facto standard</a:t>
            </a:r>
            <a:endParaRPr dirty="0"/>
          </a:p>
          <a:p>
            <a:pPr marL="285750" lvl="0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Developed by the International Organization for Standardization (ISO) in 1984.</a:t>
            </a:r>
            <a:endParaRPr dirty="0"/>
          </a:p>
          <a:p>
            <a:pPr marL="285750" lvl="0" indent="-6477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dirty="0"/>
          </a:p>
        </p:txBody>
      </p:sp>
      <p:pic>
        <p:nvPicPr>
          <p:cNvPr id="356" name="Google Shape;35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1" descr="model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30431" y="4734801"/>
            <a:ext cx="3452425" cy="2123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48451" y="1421027"/>
            <a:ext cx="3452417" cy="377087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1"/>
          <p:cNvSpPr txBox="1"/>
          <p:nvPr/>
        </p:nvSpPr>
        <p:spPr>
          <a:xfrm>
            <a:off x="7247996" y="5369011"/>
            <a:ext cx="415187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ISO is the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organization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OSI is the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model</a:t>
            </a: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 - Layers</a:t>
            </a:r>
            <a:endParaRPr/>
          </a:p>
        </p:txBody>
      </p:sp>
      <p:pic>
        <p:nvPicPr>
          <p:cNvPr id="365" name="Google Shape;36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6" name="Google Shape;366;p22"/>
          <p:cNvGraphicFramePr/>
          <p:nvPr/>
        </p:nvGraphicFramePr>
        <p:xfrm>
          <a:off x="2392062" y="1291282"/>
          <a:ext cx="7407850" cy="4701800"/>
        </p:xfrm>
        <a:graphic>
          <a:graphicData uri="http://schemas.openxmlformats.org/drawingml/2006/table">
            <a:tbl>
              <a:tblPr firstRow="1" bandRow="1">
                <a:noFill/>
                <a:tableStyleId>{1D55769D-D141-4992-859C-A79873A83F92}</a:tableStyleId>
              </a:tblPr>
              <a:tblGrid>
                <a:gridCol w="271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Primary Concern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Layers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Cisco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725">
                <a:tc row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Communications between applications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Application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A</a:t>
                      </a:r>
                      <a:r>
                        <a:rPr lang="en-US" sz="2400" u="none" strike="noStrike" cap="none"/>
                        <a:t>ll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Presentation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P</a:t>
                      </a:r>
                      <a:r>
                        <a:rPr lang="en-US" sz="2400" u="none" strike="noStrike" cap="none"/>
                        <a:t>eople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Session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S</a:t>
                      </a:r>
                      <a:r>
                        <a:rPr lang="en-US" sz="2400" u="none" strike="noStrike" cap="none"/>
                        <a:t>eem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Transport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T</a:t>
                      </a:r>
                      <a:r>
                        <a:rPr lang="en-US" sz="2400" u="none" strike="noStrike" cap="none"/>
                        <a:t>o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Network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N</a:t>
                      </a:r>
                      <a:r>
                        <a:rPr lang="en-US" sz="2400" u="none" strike="noStrike" cap="none"/>
                        <a:t>eed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725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Moving raw data across the network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Data Link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D</a:t>
                      </a:r>
                      <a:r>
                        <a:rPr lang="en-US" sz="2400" u="none" strike="noStrike" cap="none"/>
                        <a:t>ata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7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Physical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P</a:t>
                      </a:r>
                      <a:r>
                        <a:rPr lang="en-US" sz="2400" u="none" strike="noStrike" cap="none"/>
                        <a:t>rocessing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 - Layers</a:t>
            </a:r>
            <a:endParaRPr/>
          </a:p>
        </p:txBody>
      </p:sp>
      <p:pic>
        <p:nvPicPr>
          <p:cNvPr id="372" name="Google Shape;37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3"/>
          <p:cNvSpPr/>
          <p:nvPr/>
        </p:nvSpPr>
        <p:spPr>
          <a:xfrm>
            <a:off x="2381250" y="1385888"/>
            <a:ext cx="7429500" cy="4783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74" name="Google Shape;374;p23"/>
          <p:cNvCxnSpPr/>
          <p:nvPr/>
        </p:nvCxnSpPr>
        <p:spPr>
          <a:xfrm>
            <a:off x="5102225" y="1387475"/>
            <a:ext cx="0" cy="471646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5" name="Google Shape;375;p23"/>
          <p:cNvCxnSpPr/>
          <p:nvPr/>
        </p:nvCxnSpPr>
        <p:spPr>
          <a:xfrm>
            <a:off x="5732463" y="1974850"/>
            <a:ext cx="0" cy="41290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6" name="Google Shape;376;p23"/>
          <p:cNvCxnSpPr/>
          <p:nvPr/>
        </p:nvCxnSpPr>
        <p:spPr>
          <a:xfrm>
            <a:off x="7629525" y="1387475"/>
            <a:ext cx="0" cy="471646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7" name="Google Shape;377;p23"/>
          <p:cNvCxnSpPr/>
          <p:nvPr/>
        </p:nvCxnSpPr>
        <p:spPr>
          <a:xfrm>
            <a:off x="2382838" y="1981200"/>
            <a:ext cx="7421563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8" name="Google Shape;378;p23"/>
          <p:cNvCxnSpPr/>
          <p:nvPr/>
        </p:nvCxnSpPr>
        <p:spPr>
          <a:xfrm>
            <a:off x="5095875" y="2568575"/>
            <a:ext cx="4708525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9" name="Google Shape;379;p23"/>
          <p:cNvCxnSpPr/>
          <p:nvPr/>
        </p:nvCxnSpPr>
        <p:spPr>
          <a:xfrm>
            <a:off x="5095875" y="3157538"/>
            <a:ext cx="4708525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0" name="Google Shape;380;p23"/>
          <p:cNvCxnSpPr/>
          <p:nvPr/>
        </p:nvCxnSpPr>
        <p:spPr>
          <a:xfrm>
            <a:off x="5095875" y="3744913"/>
            <a:ext cx="4708525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1" name="Google Shape;381;p23"/>
          <p:cNvCxnSpPr/>
          <p:nvPr/>
        </p:nvCxnSpPr>
        <p:spPr>
          <a:xfrm>
            <a:off x="5095875" y="4332288"/>
            <a:ext cx="4708525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2" name="Google Shape;382;p23"/>
          <p:cNvCxnSpPr/>
          <p:nvPr/>
        </p:nvCxnSpPr>
        <p:spPr>
          <a:xfrm>
            <a:off x="2382838" y="4921250"/>
            <a:ext cx="7421563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3" name="Google Shape;383;p23"/>
          <p:cNvCxnSpPr/>
          <p:nvPr/>
        </p:nvCxnSpPr>
        <p:spPr>
          <a:xfrm>
            <a:off x="5095875" y="5508625"/>
            <a:ext cx="4708525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4" name="Google Shape;384;p23"/>
          <p:cNvCxnSpPr/>
          <p:nvPr/>
        </p:nvCxnSpPr>
        <p:spPr>
          <a:xfrm>
            <a:off x="2389188" y="1387475"/>
            <a:ext cx="0" cy="471646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5" name="Google Shape;385;p23"/>
          <p:cNvCxnSpPr/>
          <p:nvPr/>
        </p:nvCxnSpPr>
        <p:spPr>
          <a:xfrm>
            <a:off x="9798050" y="1387475"/>
            <a:ext cx="0" cy="471646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6" name="Google Shape;386;p23"/>
          <p:cNvCxnSpPr/>
          <p:nvPr/>
        </p:nvCxnSpPr>
        <p:spPr>
          <a:xfrm>
            <a:off x="2382838" y="1393825"/>
            <a:ext cx="7421563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7" name="Google Shape;387;p23"/>
          <p:cNvCxnSpPr/>
          <p:nvPr/>
        </p:nvCxnSpPr>
        <p:spPr>
          <a:xfrm>
            <a:off x="2382838" y="6097588"/>
            <a:ext cx="7421563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8" name="Google Shape;388;p23"/>
          <p:cNvSpPr/>
          <p:nvPr/>
        </p:nvSpPr>
        <p:spPr>
          <a:xfrm>
            <a:off x="2654300" y="1497013"/>
            <a:ext cx="236061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Primary Concern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5930900" y="1497013"/>
            <a:ext cx="10366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Layers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8369300" y="1497013"/>
            <a:ext cx="854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Cisco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2481263" y="2895600"/>
            <a:ext cx="2363788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Communications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2481263" y="3263900"/>
            <a:ext cx="1325563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between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2481263" y="3627438"/>
            <a:ext cx="1684338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5351463" y="2087563"/>
            <a:ext cx="290513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5824538" y="2087563"/>
            <a:ext cx="1604963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7721600" y="2087563"/>
            <a:ext cx="366713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7920038" y="2087563"/>
            <a:ext cx="30480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ll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5337175" y="2673350"/>
            <a:ext cx="322263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5824538" y="2673350"/>
            <a:ext cx="17811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Presentation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7721600" y="2673350"/>
            <a:ext cx="350838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7904163" y="2673350"/>
            <a:ext cx="86042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eople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5343525" y="3263900"/>
            <a:ext cx="3079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5824538" y="3263900"/>
            <a:ext cx="1122363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Session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7721600" y="3263900"/>
            <a:ext cx="344488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7896225" y="3263900"/>
            <a:ext cx="719138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eem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5338763" y="3851275"/>
            <a:ext cx="319088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5824538" y="3851275"/>
            <a:ext cx="139700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Transport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7721600" y="3851275"/>
            <a:ext cx="34290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7894638" y="3851275"/>
            <a:ext cx="3238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5348288" y="4437063"/>
            <a:ext cx="300038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5824538" y="4437063"/>
            <a:ext cx="1262063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7721600" y="4437063"/>
            <a:ext cx="388938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7943850" y="4437063"/>
            <a:ext cx="6286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eed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2481263" y="5138738"/>
            <a:ext cx="23272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Moving raw data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2481263" y="5502275"/>
            <a:ext cx="25431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across the network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5338763" y="5027613"/>
            <a:ext cx="31750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5824538" y="5027613"/>
            <a:ext cx="1370013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Data Link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7721600" y="5027613"/>
            <a:ext cx="376238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7931150" y="5027613"/>
            <a:ext cx="566738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ata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5348288" y="5613400"/>
            <a:ext cx="2984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5824538" y="5613400"/>
            <a:ext cx="1192213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Physical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7721600" y="5613400"/>
            <a:ext cx="350838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7904163" y="5613400"/>
            <a:ext cx="13525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rocessing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 exchange using the OSI Model</a:t>
            </a:r>
            <a:endParaRPr/>
          </a:p>
        </p:txBody>
      </p:sp>
      <p:pic>
        <p:nvPicPr>
          <p:cNvPr id="429" name="Google Shape;42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0927" y="1514989"/>
            <a:ext cx="116205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6758" y="1514988"/>
            <a:ext cx="116205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4"/>
          <p:cNvSpPr/>
          <p:nvPr/>
        </p:nvSpPr>
        <p:spPr>
          <a:xfrm>
            <a:off x="4308518" y="2664329"/>
            <a:ext cx="581025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3908983" y="2664329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3908983" y="3151206"/>
            <a:ext cx="980560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3509447" y="3151206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3511379" y="3638548"/>
            <a:ext cx="1378164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3111843" y="3638548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3111844" y="4124961"/>
            <a:ext cx="1777699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2712309" y="4124961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2712310" y="4607403"/>
            <a:ext cx="2177235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2312775" y="4607403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2312775" y="5093816"/>
            <a:ext cx="2576769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1913240" y="5093816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1913240" y="5583841"/>
            <a:ext cx="3375838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01010111100001101010101110011101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1513704" y="5583841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4889543" y="5093340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10387783" y="2664329"/>
            <a:ext cx="581025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9988248" y="2664329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9988248" y="3151206"/>
            <a:ext cx="980560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9588712" y="3151206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9590644" y="3638548"/>
            <a:ext cx="1378164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9191108" y="3638548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9191109" y="4124961"/>
            <a:ext cx="1777699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8791574" y="4124961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8791575" y="4607403"/>
            <a:ext cx="2177235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8392040" y="4607403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8392040" y="5093816"/>
            <a:ext cx="2576769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7992505" y="5093816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7992505" y="5583841"/>
            <a:ext cx="2976304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01010111100001101010101110011101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7592969" y="5583841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10968808" y="5093340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24"/>
          <p:cNvCxnSpPr>
            <a:stCxn id="432" idx="2"/>
            <a:endCxn id="434" idx="0"/>
          </p:cNvCxnSpPr>
          <p:nvPr/>
        </p:nvCxnSpPr>
        <p:spPr>
          <a:xfrm rot="5400000">
            <a:off x="4366831" y="2919151"/>
            <a:ext cx="264600" cy="199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3" name="Google Shape;463;p24"/>
          <p:cNvCxnSpPr>
            <a:stCxn id="433" idx="2"/>
            <a:endCxn id="434" idx="0"/>
          </p:cNvCxnSpPr>
          <p:nvPr/>
        </p:nvCxnSpPr>
        <p:spPr>
          <a:xfrm rot="-5400000" flipH="1">
            <a:off x="4121651" y="2873851"/>
            <a:ext cx="264600" cy="290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4" name="Google Shape;464;p24"/>
          <p:cNvCxnSpPr>
            <a:stCxn id="434" idx="2"/>
          </p:cNvCxnSpPr>
          <p:nvPr/>
        </p:nvCxnSpPr>
        <p:spPr>
          <a:xfrm rot="5400000">
            <a:off x="4166313" y="3402578"/>
            <a:ext cx="261900" cy="204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5" name="Google Shape;465;p24"/>
          <p:cNvCxnSpPr>
            <a:stCxn id="435" idx="2"/>
            <a:endCxn id="436" idx="0"/>
          </p:cNvCxnSpPr>
          <p:nvPr/>
        </p:nvCxnSpPr>
        <p:spPr>
          <a:xfrm rot="-5400000" flipH="1">
            <a:off x="3822315" y="3260528"/>
            <a:ext cx="264900" cy="491100"/>
          </a:xfrm>
          <a:prstGeom prst="bentConnector3">
            <a:avLst>
              <a:gd name="adj1" fmla="val 5000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6" name="Google Shape;466;p24"/>
          <p:cNvCxnSpPr>
            <a:stCxn id="437" idx="2"/>
            <a:endCxn id="438" idx="0"/>
          </p:cNvCxnSpPr>
          <p:nvPr/>
        </p:nvCxnSpPr>
        <p:spPr>
          <a:xfrm rot="-5400000" flipH="1">
            <a:off x="3524161" y="3648420"/>
            <a:ext cx="264000" cy="6891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7" name="Google Shape;467;p24"/>
          <p:cNvCxnSpPr>
            <a:stCxn id="436" idx="2"/>
            <a:endCxn id="438" idx="0"/>
          </p:cNvCxnSpPr>
          <p:nvPr/>
        </p:nvCxnSpPr>
        <p:spPr>
          <a:xfrm rot="5400000">
            <a:off x="3968561" y="3893070"/>
            <a:ext cx="264000" cy="199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8" name="Google Shape;468;p24"/>
          <p:cNvCxnSpPr>
            <a:stCxn id="439" idx="2"/>
            <a:endCxn id="440" idx="0"/>
          </p:cNvCxnSpPr>
          <p:nvPr/>
        </p:nvCxnSpPr>
        <p:spPr>
          <a:xfrm rot="-5400000" flipH="1">
            <a:off x="3226477" y="4032983"/>
            <a:ext cx="260100" cy="888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9" name="Google Shape;469;p24"/>
          <p:cNvCxnSpPr>
            <a:stCxn id="438" idx="2"/>
            <a:endCxn id="440" idx="0"/>
          </p:cNvCxnSpPr>
          <p:nvPr/>
        </p:nvCxnSpPr>
        <p:spPr>
          <a:xfrm rot="5400000">
            <a:off x="3770744" y="4377533"/>
            <a:ext cx="260100" cy="199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0" name="Google Shape;470;p24"/>
          <p:cNvCxnSpPr>
            <a:stCxn id="441" idx="2"/>
            <a:endCxn id="442" idx="0"/>
          </p:cNvCxnSpPr>
          <p:nvPr/>
        </p:nvCxnSpPr>
        <p:spPr>
          <a:xfrm rot="-5400000" flipH="1">
            <a:off x="2924893" y="4417475"/>
            <a:ext cx="264000" cy="1088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1" name="Google Shape;471;p24"/>
          <p:cNvCxnSpPr>
            <a:stCxn id="440" idx="2"/>
            <a:endCxn id="442" idx="0"/>
          </p:cNvCxnSpPr>
          <p:nvPr/>
        </p:nvCxnSpPr>
        <p:spPr>
          <a:xfrm rot="5400000">
            <a:off x="3569028" y="4861925"/>
            <a:ext cx="264000" cy="199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2" name="Google Shape;472;p24"/>
          <p:cNvCxnSpPr>
            <a:stCxn id="443" idx="2"/>
            <a:endCxn id="444" idx="0"/>
          </p:cNvCxnSpPr>
          <p:nvPr/>
        </p:nvCxnSpPr>
        <p:spPr>
          <a:xfrm rot="-5400000" flipH="1">
            <a:off x="2723358" y="4705888"/>
            <a:ext cx="267600" cy="1488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3" name="Google Shape;473;p24"/>
          <p:cNvCxnSpPr>
            <a:stCxn id="442" idx="2"/>
            <a:endCxn id="444" idx="0"/>
          </p:cNvCxnSpPr>
          <p:nvPr/>
        </p:nvCxnSpPr>
        <p:spPr>
          <a:xfrm rot="-5400000" flipH="1">
            <a:off x="3467660" y="5449738"/>
            <a:ext cx="2676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4" name="Google Shape;474;p24"/>
          <p:cNvCxnSpPr>
            <a:stCxn id="444" idx="2"/>
            <a:endCxn id="459" idx="2"/>
          </p:cNvCxnSpPr>
          <p:nvPr/>
        </p:nvCxnSpPr>
        <p:spPr>
          <a:xfrm rot="-5400000" flipH="1">
            <a:off x="6540559" y="2866863"/>
            <a:ext cx="600" cy="5879400"/>
          </a:xfrm>
          <a:prstGeom prst="bentConnector3">
            <a:avLst>
              <a:gd name="adj1" fmla="val 37041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5" name="Google Shape;475;p24"/>
          <p:cNvCxnSpPr>
            <a:stCxn id="459" idx="0"/>
            <a:endCxn id="458" idx="2"/>
          </p:cNvCxnSpPr>
          <p:nvPr/>
        </p:nvCxnSpPr>
        <p:spPr>
          <a:xfrm rot="5400000" flipH="1">
            <a:off x="8702607" y="4805791"/>
            <a:ext cx="267600" cy="12885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6" name="Google Shape;476;p24"/>
          <p:cNvCxnSpPr>
            <a:stCxn id="459" idx="0"/>
            <a:endCxn id="457" idx="2"/>
          </p:cNvCxnSpPr>
          <p:nvPr/>
        </p:nvCxnSpPr>
        <p:spPr>
          <a:xfrm rot="-5400000">
            <a:off x="9446757" y="5350141"/>
            <a:ext cx="267600" cy="199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7" name="Google Shape;477;p24"/>
          <p:cNvCxnSpPr>
            <a:stCxn id="457" idx="0"/>
            <a:endCxn id="456" idx="2"/>
          </p:cNvCxnSpPr>
          <p:nvPr/>
        </p:nvCxnSpPr>
        <p:spPr>
          <a:xfrm rot="5400000" flipH="1">
            <a:off x="9004075" y="4417466"/>
            <a:ext cx="264000" cy="1088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8" name="Google Shape;478;p24"/>
          <p:cNvCxnSpPr>
            <a:stCxn id="457" idx="0"/>
            <a:endCxn id="455" idx="2"/>
          </p:cNvCxnSpPr>
          <p:nvPr/>
        </p:nvCxnSpPr>
        <p:spPr>
          <a:xfrm rot="-5400000">
            <a:off x="9648325" y="4861916"/>
            <a:ext cx="264000" cy="199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9" name="Google Shape;479;p24"/>
          <p:cNvCxnSpPr>
            <a:stCxn id="455" idx="0"/>
            <a:endCxn id="454" idx="2"/>
          </p:cNvCxnSpPr>
          <p:nvPr/>
        </p:nvCxnSpPr>
        <p:spPr>
          <a:xfrm rot="5400000" flipH="1">
            <a:off x="9305693" y="4032903"/>
            <a:ext cx="260100" cy="888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0" name="Google Shape;480;p24"/>
          <p:cNvCxnSpPr>
            <a:stCxn id="455" idx="0"/>
            <a:endCxn id="453" idx="2"/>
          </p:cNvCxnSpPr>
          <p:nvPr/>
        </p:nvCxnSpPr>
        <p:spPr>
          <a:xfrm rot="-5400000">
            <a:off x="9850043" y="4377453"/>
            <a:ext cx="260100" cy="199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1" name="Google Shape;481;p24"/>
          <p:cNvCxnSpPr>
            <a:stCxn id="453" idx="0"/>
            <a:endCxn id="452" idx="2"/>
          </p:cNvCxnSpPr>
          <p:nvPr/>
        </p:nvCxnSpPr>
        <p:spPr>
          <a:xfrm rot="5400000" flipH="1">
            <a:off x="9603409" y="3648411"/>
            <a:ext cx="264000" cy="6891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2" name="Google Shape;482;p24"/>
          <p:cNvCxnSpPr>
            <a:stCxn id="453" idx="0"/>
            <a:endCxn id="451" idx="2"/>
          </p:cNvCxnSpPr>
          <p:nvPr/>
        </p:nvCxnSpPr>
        <p:spPr>
          <a:xfrm rot="-5400000">
            <a:off x="10047859" y="3893061"/>
            <a:ext cx="264000" cy="199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3" name="Google Shape;483;p24"/>
          <p:cNvCxnSpPr>
            <a:stCxn id="451" idx="0"/>
            <a:endCxn id="450" idx="2"/>
          </p:cNvCxnSpPr>
          <p:nvPr/>
        </p:nvCxnSpPr>
        <p:spPr>
          <a:xfrm rot="5400000" flipH="1">
            <a:off x="9901726" y="3260548"/>
            <a:ext cx="264900" cy="4911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4" name="Google Shape;484;p24"/>
          <p:cNvCxnSpPr>
            <a:stCxn id="451" idx="0"/>
            <a:endCxn id="449" idx="2"/>
          </p:cNvCxnSpPr>
          <p:nvPr/>
        </p:nvCxnSpPr>
        <p:spPr>
          <a:xfrm rot="-5400000">
            <a:off x="10246726" y="3406648"/>
            <a:ext cx="264900" cy="198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5" name="Google Shape;485;p24"/>
          <p:cNvCxnSpPr>
            <a:stCxn id="449" idx="0"/>
            <a:endCxn id="448" idx="2"/>
          </p:cNvCxnSpPr>
          <p:nvPr/>
        </p:nvCxnSpPr>
        <p:spPr>
          <a:xfrm rot="5400000" flipH="1">
            <a:off x="10201028" y="2873706"/>
            <a:ext cx="264600" cy="290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6" name="Google Shape;486;p24"/>
          <p:cNvCxnSpPr>
            <a:stCxn id="449" idx="0"/>
            <a:endCxn id="447" idx="2"/>
          </p:cNvCxnSpPr>
          <p:nvPr/>
        </p:nvCxnSpPr>
        <p:spPr>
          <a:xfrm rot="-5400000">
            <a:off x="10446128" y="2919006"/>
            <a:ext cx="264600" cy="199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7" name="Google Shape;487;p24"/>
          <p:cNvCxnSpPr>
            <a:stCxn id="446" idx="2"/>
            <a:endCxn id="444" idx="0"/>
          </p:cNvCxnSpPr>
          <p:nvPr/>
        </p:nvCxnSpPr>
        <p:spPr>
          <a:xfrm rot="5400000">
            <a:off x="4211061" y="4705712"/>
            <a:ext cx="268200" cy="1488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8" name="Google Shape;488;p24"/>
          <p:cNvCxnSpPr>
            <a:stCxn id="459" idx="0"/>
            <a:endCxn id="461" idx="2"/>
          </p:cNvCxnSpPr>
          <p:nvPr/>
        </p:nvCxnSpPr>
        <p:spPr>
          <a:xfrm rot="-5400000">
            <a:off x="10190457" y="4605841"/>
            <a:ext cx="268200" cy="1687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9" name="Google Shape;489;p24"/>
          <p:cNvCxnSpPr>
            <a:stCxn id="430" idx="2"/>
            <a:endCxn id="432" idx="0"/>
          </p:cNvCxnSpPr>
          <p:nvPr/>
        </p:nvCxnSpPr>
        <p:spPr>
          <a:xfrm rot="-5400000" flipH="1">
            <a:off x="4358852" y="2423914"/>
            <a:ext cx="263400" cy="217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0" name="Google Shape;490;p24"/>
          <p:cNvCxnSpPr>
            <a:stCxn id="447" idx="0"/>
            <a:endCxn id="431" idx="2"/>
          </p:cNvCxnSpPr>
          <p:nvPr/>
        </p:nvCxnSpPr>
        <p:spPr>
          <a:xfrm rot="5400000" flipH="1">
            <a:off x="10401396" y="2387429"/>
            <a:ext cx="263400" cy="290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1" name="Google Shape;491;p24"/>
          <p:cNvSpPr txBox="1"/>
          <p:nvPr/>
        </p:nvSpPr>
        <p:spPr>
          <a:xfrm>
            <a:off x="3946180" y="1207529"/>
            <a:ext cx="8643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4"/>
          <p:cNvSpPr txBox="1"/>
          <p:nvPr/>
        </p:nvSpPr>
        <p:spPr>
          <a:xfrm>
            <a:off x="9832814" y="1182420"/>
            <a:ext cx="1000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4"/>
          <p:cNvSpPr txBox="1"/>
          <p:nvPr/>
        </p:nvSpPr>
        <p:spPr>
          <a:xfrm>
            <a:off x="5521217" y="6022333"/>
            <a:ext cx="22715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Transmission medium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4" name="Google Shape;494;p24"/>
          <p:cNvGraphicFramePr/>
          <p:nvPr/>
        </p:nvGraphicFramePr>
        <p:xfrm>
          <a:off x="6120837" y="1510672"/>
          <a:ext cx="1771800" cy="2966800"/>
        </p:xfrm>
        <a:graphic>
          <a:graphicData uri="http://schemas.openxmlformats.org/drawingml/2006/table">
            <a:tbl>
              <a:tblPr firstRow="1" bandRow="1">
                <a:noFill/>
                <a:tableStyleId>{1D55769D-D141-4992-859C-A79873A83F92}</a:tableStyleId>
              </a:tblPr>
              <a:tblGrid>
                <a:gridCol w="28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Layers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Application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Presentation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Session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Transport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Network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Data Link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Physical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Application Layer</a:t>
            </a:r>
            <a:endParaRPr/>
          </a:p>
        </p:txBody>
      </p:sp>
      <p:pic>
        <p:nvPicPr>
          <p:cNvPr id="500" name="Google Shape;50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5"/>
          <p:cNvSpPr txBox="1"/>
          <p:nvPr/>
        </p:nvSpPr>
        <p:spPr>
          <a:xfrm>
            <a:off x="7132756" y="2583919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7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5"/>
          <p:cNvSpPr txBox="1"/>
          <p:nvPr/>
        </p:nvSpPr>
        <p:spPr>
          <a:xfrm>
            <a:off x="3058044" y="3510585"/>
            <a:ext cx="239520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Email/Other app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5"/>
          <p:cNvSpPr txBox="1"/>
          <p:nvPr/>
        </p:nvSpPr>
        <p:spPr>
          <a:xfrm>
            <a:off x="3077536" y="6046260"/>
            <a:ext cx="23757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Presentation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5"/>
          <p:cNvSpPr txBox="1"/>
          <p:nvPr/>
        </p:nvSpPr>
        <p:spPr>
          <a:xfrm>
            <a:off x="7478747" y="3524207"/>
            <a:ext cx="21144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Email/Other app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7282669" y="6046260"/>
            <a:ext cx="26564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Presentation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" name="Google Shape;508;p25"/>
          <p:cNvCxnSpPr>
            <a:stCxn id="502" idx="2"/>
            <a:endCxn id="506" idx="0"/>
          </p:cNvCxnSpPr>
          <p:nvPr/>
        </p:nvCxnSpPr>
        <p:spPr>
          <a:xfrm rot="-5400000" flipH="1">
            <a:off x="4278448" y="4134116"/>
            <a:ext cx="511500" cy="557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9" name="Google Shape;509;p25"/>
          <p:cNvCxnSpPr>
            <a:stCxn id="507" idx="2"/>
            <a:endCxn id="503" idx="0"/>
          </p:cNvCxnSpPr>
          <p:nvPr/>
        </p:nvCxnSpPr>
        <p:spPr>
          <a:xfrm rot="-5400000" flipH="1">
            <a:off x="3363413" y="5144290"/>
            <a:ext cx="731400" cy="1072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0" name="Google Shape;510;p25"/>
          <p:cNvCxnSpPr>
            <a:stCxn id="506" idx="2"/>
            <a:endCxn id="503" idx="0"/>
          </p:cNvCxnSpPr>
          <p:nvPr/>
        </p:nvCxnSpPr>
        <p:spPr>
          <a:xfrm rot="5400000">
            <a:off x="4173403" y="5406790"/>
            <a:ext cx="731400" cy="547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1" name="Google Shape;511;p25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p25"/>
          <p:cNvCxnSpPr>
            <a:stCxn id="505" idx="0"/>
            <a:endCxn id="512" idx="2"/>
          </p:cNvCxnSpPr>
          <p:nvPr/>
        </p:nvCxnSpPr>
        <p:spPr>
          <a:xfrm rot="5400000" flipH="1">
            <a:off x="7692467" y="5127810"/>
            <a:ext cx="731400" cy="1105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4" name="Google Shape;514;p25"/>
          <p:cNvCxnSpPr>
            <a:stCxn id="505" idx="0"/>
            <a:endCxn id="511" idx="2"/>
          </p:cNvCxnSpPr>
          <p:nvPr/>
        </p:nvCxnSpPr>
        <p:spPr>
          <a:xfrm rot="-5400000">
            <a:off x="8502467" y="5423310"/>
            <a:ext cx="731400" cy="514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5" name="Google Shape;515;p25"/>
          <p:cNvCxnSpPr>
            <a:stCxn id="511" idx="0"/>
            <a:endCxn id="504" idx="2"/>
          </p:cNvCxnSpPr>
          <p:nvPr/>
        </p:nvCxnSpPr>
        <p:spPr>
          <a:xfrm rot="5400000" flipH="1">
            <a:off x="8581615" y="4124759"/>
            <a:ext cx="498000" cy="589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Applications</a:t>
            </a:r>
            <a:endParaRPr/>
          </a:p>
        </p:txBody>
      </p:sp>
      <p:sp>
        <p:nvSpPr>
          <p:cNvPr id="521" name="Google Shape;521;p26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Interface Between Human and Data Networks</a:t>
            </a:r>
            <a:endParaRPr/>
          </a:p>
          <a:p>
            <a:pPr marL="285750" lvl="0" indent="-285750" algn="l" rtl="0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Responsible for providing services to the user.</a:t>
            </a:r>
            <a:endParaRPr/>
          </a:p>
        </p:txBody>
      </p:sp>
      <p:pic>
        <p:nvPicPr>
          <p:cNvPr id="522" name="Google Shape;52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5468" y="2720801"/>
            <a:ext cx="4629520" cy="2959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26" descr="How to get a cutting-edge web browser | Computerworl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13769" y="1244484"/>
            <a:ext cx="2797054" cy="2181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40471" y="3677622"/>
            <a:ext cx="3470352" cy="246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96096" y="4486292"/>
            <a:ext cx="3550894" cy="2219308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6"/>
          <p:cNvSpPr txBox="1"/>
          <p:nvPr/>
        </p:nvSpPr>
        <p:spPr>
          <a:xfrm>
            <a:off x="5972316" y="4116960"/>
            <a:ext cx="7216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Email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6"/>
          <p:cNvSpPr txBox="1"/>
          <p:nvPr/>
        </p:nvSpPr>
        <p:spPr>
          <a:xfrm>
            <a:off x="6693988" y="3601648"/>
            <a:ext cx="19207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Instant Messaging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6"/>
          <p:cNvSpPr txBox="1"/>
          <p:nvPr/>
        </p:nvSpPr>
        <p:spPr>
          <a:xfrm>
            <a:off x="8149054" y="2150759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Browsers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Examples: Application Layer Protocols</a:t>
            </a:r>
            <a:endParaRPr/>
          </a:p>
        </p:txBody>
      </p:sp>
      <p:pic>
        <p:nvPicPr>
          <p:cNvPr id="535" name="Google Shape;53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6" name="Google Shape;536;p27"/>
          <p:cNvGraphicFramePr/>
          <p:nvPr/>
        </p:nvGraphicFramePr>
        <p:xfrm>
          <a:off x="2093898" y="2271317"/>
          <a:ext cx="8799475" cy="2194600"/>
        </p:xfrm>
        <a:graphic>
          <a:graphicData uri="http://schemas.openxmlformats.org/drawingml/2006/table">
            <a:tbl>
              <a:tblPr firstRow="1" bandRow="1">
                <a:noFill/>
                <a:tableStyleId>{1D55769D-D141-4992-859C-A79873A83F92}</a:tableStyleId>
              </a:tblPr>
              <a:tblGrid>
                <a:gridCol w="17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Application Layer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Name System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Host Config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Email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File Transfer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Web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DNS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BOOTP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SMTP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FTP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HTTP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DHCP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POP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TFTP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HTTPS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IMAP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Presentation Layer</a:t>
            </a:r>
            <a:endParaRPr/>
          </a:p>
        </p:txBody>
      </p:sp>
      <p:pic>
        <p:nvPicPr>
          <p:cNvPr id="542" name="Google Shape;54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28"/>
          <p:cNvSpPr txBox="1"/>
          <p:nvPr/>
        </p:nvSpPr>
        <p:spPr>
          <a:xfrm>
            <a:off x="7132756" y="2583919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6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"/>
          <p:cNvSpPr txBox="1"/>
          <p:nvPr/>
        </p:nvSpPr>
        <p:spPr>
          <a:xfrm>
            <a:off x="3006204" y="3510585"/>
            <a:ext cx="249888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Application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8"/>
          <p:cNvSpPr txBox="1"/>
          <p:nvPr/>
        </p:nvSpPr>
        <p:spPr>
          <a:xfrm>
            <a:off x="3077536" y="6046260"/>
            <a:ext cx="18410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Session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8"/>
          <p:cNvSpPr txBox="1"/>
          <p:nvPr/>
        </p:nvSpPr>
        <p:spPr>
          <a:xfrm>
            <a:off x="7426906" y="3524207"/>
            <a:ext cx="221810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Application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8"/>
          <p:cNvSpPr txBox="1"/>
          <p:nvPr/>
        </p:nvSpPr>
        <p:spPr>
          <a:xfrm>
            <a:off x="7282669" y="6046260"/>
            <a:ext cx="21218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Session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8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28"/>
          <p:cNvCxnSpPr>
            <a:stCxn id="544" idx="2"/>
            <a:endCxn id="548" idx="0"/>
          </p:cNvCxnSpPr>
          <p:nvPr/>
        </p:nvCxnSpPr>
        <p:spPr>
          <a:xfrm rot="-5400000" flipH="1">
            <a:off x="4278449" y="4134116"/>
            <a:ext cx="511500" cy="557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1" name="Google Shape;551;p28"/>
          <p:cNvCxnSpPr>
            <a:stCxn id="549" idx="2"/>
            <a:endCxn id="545" idx="0"/>
          </p:cNvCxnSpPr>
          <p:nvPr/>
        </p:nvCxnSpPr>
        <p:spPr>
          <a:xfrm rot="-5400000" flipH="1">
            <a:off x="3229763" y="5277940"/>
            <a:ext cx="731400" cy="805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2" name="Google Shape;552;p28"/>
          <p:cNvCxnSpPr>
            <a:stCxn id="548" idx="2"/>
            <a:endCxn id="545" idx="0"/>
          </p:cNvCxnSpPr>
          <p:nvPr/>
        </p:nvCxnSpPr>
        <p:spPr>
          <a:xfrm rot="5400000">
            <a:off x="4039753" y="5273140"/>
            <a:ext cx="731400" cy="814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3" name="Google Shape;553;p28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5" name="Google Shape;555;p28"/>
          <p:cNvCxnSpPr>
            <a:stCxn id="547" idx="0"/>
            <a:endCxn id="554" idx="2"/>
          </p:cNvCxnSpPr>
          <p:nvPr/>
        </p:nvCxnSpPr>
        <p:spPr>
          <a:xfrm rot="5400000" flipH="1">
            <a:off x="7558801" y="5261460"/>
            <a:ext cx="731400" cy="8382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6" name="Google Shape;556;p28"/>
          <p:cNvCxnSpPr>
            <a:stCxn id="547" idx="0"/>
            <a:endCxn id="553" idx="2"/>
          </p:cNvCxnSpPr>
          <p:nvPr/>
        </p:nvCxnSpPr>
        <p:spPr>
          <a:xfrm rot="-5400000">
            <a:off x="8368801" y="5289660"/>
            <a:ext cx="731400" cy="7818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7" name="Google Shape;557;p28"/>
          <p:cNvCxnSpPr>
            <a:stCxn id="553" idx="0"/>
            <a:endCxn id="546" idx="2"/>
          </p:cNvCxnSpPr>
          <p:nvPr/>
        </p:nvCxnSpPr>
        <p:spPr>
          <a:xfrm rot="5400000" flipH="1">
            <a:off x="8581615" y="4124759"/>
            <a:ext cx="498000" cy="589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Presentation Layer</a:t>
            </a:r>
            <a:endParaRPr/>
          </a:p>
        </p:txBody>
      </p:sp>
      <p:sp>
        <p:nvSpPr>
          <p:cNvPr id="563" name="Google Shape;563;p29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The presentation layer is responsible for </a:t>
            </a:r>
            <a:r>
              <a:rPr lang="en-US" dirty="0">
                <a:solidFill>
                  <a:srgbClr val="00B050"/>
                </a:solidFill>
              </a:rPr>
              <a:t>translation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compression</a:t>
            </a:r>
            <a:r>
              <a:rPr lang="en-US" dirty="0"/>
              <a:t>, and </a:t>
            </a:r>
            <a:r>
              <a:rPr lang="en-US" dirty="0">
                <a:solidFill>
                  <a:schemeClr val="accent5"/>
                </a:solidFill>
              </a:rPr>
              <a:t>encryption</a:t>
            </a:r>
            <a:r>
              <a:rPr lang="en-US" dirty="0"/>
              <a:t>. i.e. the three primary functions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Presentation layer implementations are not typically associated with a particular protocol stack. </a:t>
            </a:r>
            <a:endParaRPr dirty="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dirty="0"/>
          </a:p>
        </p:txBody>
      </p:sp>
      <p:pic>
        <p:nvPicPr>
          <p:cNvPr id="564" name="Google Shape;56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0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Session Layer</a:t>
            </a:r>
            <a:endParaRPr/>
          </a:p>
        </p:txBody>
      </p:sp>
      <p:pic>
        <p:nvPicPr>
          <p:cNvPr id="570" name="Google Shape;57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0"/>
          <p:cNvSpPr txBox="1"/>
          <p:nvPr/>
        </p:nvSpPr>
        <p:spPr>
          <a:xfrm>
            <a:off x="6397529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5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0"/>
          <p:cNvSpPr txBox="1"/>
          <p:nvPr/>
        </p:nvSpPr>
        <p:spPr>
          <a:xfrm>
            <a:off x="2927401" y="3510585"/>
            <a:ext cx="26564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Presentation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0"/>
          <p:cNvSpPr txBox="1"/>
          <p:nvPr/>
        </p:nvSpPr>
        <p:spPr>
          <a:xfrm>
            <a:off x="3077536" y="6046260"/>
            <a:ext cx="2034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0"/>
          <p:cNvSpPr txBox="1"/>
          <p:nvPr/>
        </p:nvSpPr>
        <p:spPr>
          <a:xfrm>
            <a:off x="7348104" y="3524207"/>
            <a:ext cx="23757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Presentation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0"/>
          <p:cNvSpPr txBox="1"/>
          <p:nvPr/>
        </p:nvSpPr>
        <p:spPr>
          <a:xfrm>
            <a:off x="7282669" y="6046260"/>
            <a:ext cx="23150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0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0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8" name="Google Shape;578;p30"/>
          <p:cNvCxnSpPr>
            <a:stCxn id="572" idx="2"/>
            <a:endCxn id="576" idx="0"/>
          </p:cNvCxnSpPr>
          <p:nvPr/>
        </p:nvCxnSpPr>
        <p:spPr>
          <a:xfrm rot="-5400000" flipH="1">
            <a:off x="4278449" y="4134116"/>
            <a:ext cx="511500" cy="557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9" name="Google Shape;579;p30"/>
          <p:cNvCxnSpPr>
            <a:stCxn id="577" idx="2"/>
            <a:endCxn id="573" idx="0"/>
          </p:cNvCxnSpPr>
          <p:nvPr/>
        </p:nvCxnSpPr>
        <p:spPr>
          <a:xfrm rot="-5400000" flipH="1">
            <a:off x="3278063" y="5229640"/>
            <a:ext cx="731400" cy="901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80" name="Google Shape;580;p30"/>
          <p:cNvCxnSpPr>
            <a:stCxn id="576" idx="2"/>
            <a:endCxn id="573" idx="0"/>
          </p:cNvCxnSpPr>
          <p:nvPr/>
        </p:nvCxnSpPr>
        <p:spPr>
          <a:xfrm rot="5400000">
            <a:off x="4088053" y="5321440"/>
            <a:ext cx="731400" cy="718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1" name="Google Shape;581;p30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30"/>
          <p:cNvCxnSpPr>
            <a:stCxn id="575" idx="0"/>
            <a:endCxn id="582" idx="2"/>
          </p:cNvCxnSpPr>
          <p:nvPr/>
        </p:nvCxnSpPr>
        <p:spPr>
          <a:xfrm rot="5400000" flipH="1">
            <a:off x="7607098" y="5213160"/>
            <a:ext cx="731400" cy="9348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84" name="Google Shape;584;p30"/>
          <p:cNvCxnSpPr>
            <a:stCxn id="575" idx="0"/>
            <a:endCxn id="581" idx="2"/>
          </p:cNvCxnSpPr>
          <p:nvPr/>
        </p:nvCxnSpPr>
        <p:spPr>
          <a:xfrm rot="-5400000">
            <a:off x="8417098" y="5337960"/>
            <a:ext cx="731400" cy="6852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85" name="Google Shape;585;p30"/>
          <p:cNvCxnSpPr>
            <a:stCxn id="581" idx="0"/>
            <a:endCxn id="574" idx="2"/>
          </p:cNvCxnSpPr>
          <p:nvPr/>
        </p:nvCxnSpPr>
        <p:spPr>
          <a:xfrm rot="5400000" flipH="1">
            <a:off x="8581615" y="4124759"/>
            <a:ext cx="498000" cy="589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1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Session Layer</a:t>
            </a:r>
            <a:endParaRPr/>
          </a:p>
        </p:txBody>
      </p:sp>
      <p:sp>
        <p:nvSpPr>
          <p:cNvPr id="591" name="Google Shape;591;p31"/>
          <p:cNvSpPr txBox="1">
            <a:spLocks noGrp="1"/>
          </p:cNvSpPr>
          <p:nvPr>
            <p:ph type="body" idx="1"/>
          </p:nvPr>
        </p:nvSpPr>
        <p:spPr>
          <a:xfrm>
            <a:off x="965155" y="1326896"/>
            <a:ext cx="9927155" cy="2638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session layer is responsible for dialog control and synchronization.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It handles the exchange of information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to initiate dialogs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keep them active, and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to restart sessions that are disrupted or idle for a long period of time</a:t>
            </a:r>
            <a:endParaRPr/>
          </a:p>
        </p:txBody>
      </p:sp>
      <p:pic>
        <p:nvPicPr>
          <p:cNvPr id="592" name="Google Shape;59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8733" y="4771064"/>
            <a:ext cx="5680614" cy="26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1"/>
          <p:cNvSpPr txBox="1"/>
          <p:nvPr/>
        </p:nvSpPr>
        <p:spPr>
          <a:xfrm>
            <a:off x="1252960" y="4699665"/>
            <a:ext cx="4181400" cy="26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Most applications, like web browsers or e-mail clients, incorporate functionality of the OSI layers 5, 6 and 7.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1"/>
          <p:cNvSpPr txBox="1"/>
          <p:nvPr/>
        </p:nvSpPr>
        <p:spPr>
          <a:xfrm>
            <a:off x="6651224" y="1917577"/>
            <a:ext cx="568617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Establish, Maintain, and Terminate Session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 control: Half-duplex, full-duplex, simplex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Synchronization: </a:t>
            </a:r>
            <a:endParaRPr dirty="0"/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Adds checkpoints (synchronization points) in long data streams.</a:t>
            </a:r>
            <a:endParaRPr dirty="0"/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If a connection fails, communication can resume from the last      checkpoint instead of starting over.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Transport Layer</a:t>
            </a:r>
            <a:endParaRPr/>
          </a:p>
        </p:txBody>
      </p:sp>
      <p:pic>
        <p:nvPicPr>
          <p:cNvPr id="601" name="Google Shape;60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2"/>
          <p:cNvSpPr txBox="1"/>
          <p:nvPr/>
        </p:nvSpPr>
        <p:spPr>
          <a:xfrm>
            <a:off x="6791317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4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2"/>
          <p:cNvSpPr txBox="1"/>
          <p:nvPr/>
        </p:nvSpPr>
        <p:spPr>
          <a:xfrm>
            <a:off x="3194718" y="3510585"/>
            <a:ext cx="21218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Session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2"/>
          <p:cNvSpPr txBox="1"/>
          <p:nvPr/>
        </p:nvSpPr>
        <p:spPr>
          <a:xfrm>
            <a:off x="3077536" y="6046260"/>
            <a:ext cx="1960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Network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2"/>
          <p:cNvSpPr txBox="1"/>
          <p:nvPr/>
        </p:nvSpPr>
        <p:spPr>
          <a:xfrm>
            <a:off x="7615421" y="3524207"/>
            <a:ext cx="18410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Session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2"/>
          <p:cNvSpPr txBox="1"/>
          <p:nvPr/>
        </p:nvSpPr>
        <p:spPr>
          <a:xfrm>
            <a:off x="7282669" y="6046260"/>
            <a:ext cx="22413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2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2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32"/>
          <p:cNvCxnSpPr>
            <a:stCxn id="603" idx="2"/>
            <a:endCxn id="607" idx="0"/>
          </p:cNvCxnSpPr>
          <p:nvPr/>
        </p:nvCxnSpPr>
        <p:spPr>
          <a:xfrm rot="-5400000" flipH="1">
            <a:off x="4278450" y="4134116"/>
            <a:ext cx="511500" cy="557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0" name="Google Shape;610;p32"/>
          <p:cNvCxnSpPr>
            <a:stCxn id="608" idx="2"/>
            <a:endCxn id="604" idx="0"/>
          </p:cNvCxnSpPr>
          <p:nvPr/>
        </p:nvCxnSpPr>
        <p:spPr>
          <a:xfrm rot="-5400000" flipH="1">
            <a:off x="3259613" y="5248090"/>
            <a:ext cx="731400" cy="864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1" name="Google Shape;611;p32"/>
          <p:cNvCxnSpPr>
            <a:stCxn id="607" idx="2"/>
            <a:endCxn id="604" idx="0"/>
          </p:cNvCxnSpPr>
          <p:nvPr/>
        </p:nvCxnSpPr>
        <p:spPr>
          <a:xfrm rot="5400000">
            <a:off x="4069603" y="5302990"/>
            <a:ext cx="731400" cy="755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12" name="Google Shape;612;p32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2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4" name="Google Shape;614;p32"/>
          <p:cNvCxnSpPr>
            <a:stCxn id="606" idx="0"/>
            <a:endCxn id="613" idx="2"/>
          </p:cNvCxnSpPr>
          <p:nvPr/>
        </p:nvCxnSpPr>
        <p:spPr>
          <a:xfrm rot="5400000" flipH="1">
            <a:off x="7588679" y="5231610"/>
            <a:ext cx="731400" cy="8979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5" name="Google Shape;615;p32"/>
          <p:cNvCxnSpPr>
            <a:stCxn id="606" idx="0"/>
            <a:endCxn id="612" idx="2"/>
          </p:cNvCxnSpPr>
          <p:nvPr/>
        </p:nvCxnSpPr>
        <p:spPr>
          <a:xfrm rot="-5400000">
            <a:off x="8398679" y="5319510"/>
            <a:ext cx="731400" cy="7221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6" name="Google Shape;616;p32"/>
          <p:cNvCxnSpPr>
            <a:stCxn id="612" idx="0"/>
            <a:endCxn id="605" idx="2"/>
          </p:cNvCxnSpPr>
          <p:nvPr/>
        </p:nvCxnSpPr>
        <p:spPr>
          <a:xfrm rot="5400000" flipH="1">
            <a:off x="8581615" y="4124759"/>
            <a:ext cx="498000" cy="589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Transport Layer</a:t>
            </a:r>
            <a:endParaRPr/>
          </a:p>
        </p:txBody>
      </p:sp>
      <p:sp>
        <p:nvSpPr>
          <p:cNvPr id="622" name="Google Shape;622;p33"/>
          <p:cNvSpPr txBox="1">
            <a:spLocks noGrp="1"/>
          </p:cNvSpPr>
          <p:nvPr>
            <p:ph type="body" idx="1"/>
          </p:nvPr>
        </p:nvSpPr>
        <p:spPr>
          <a:xfrm>
            <a:off x="1484310" y="1421027"/>
            <a:ext cx="9927155" cy="5221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The transport layer is responsible for the delivery of a message from one process (sender) to another (receiver).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Transport Layer PDU is called  </a:t>
            </a:r>
            <a:r>
              <a:rPr lang="en-US" b="1"/>
              <a:t>Segments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Functions: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Segmentation and Reassembly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Adds Port Address and Sequence Number.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Connection Control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Flow and Error Control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Multiplexing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rPr lang="en-US" b="1"/>
              <a:t>Notes</a:t>
            </a:r>
            <a:endParaRPr/>
          </a:p>
          <a:p>
            <a:pPr marL="285750" lvl="0" indent="-285796" algn="l" rtl="0"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buSzPct val="145000"/>
              <a:buChar char="•"/>
            </a:pPr>
            <a:r>
              <a:rPr lang="en-US" sz="1900"/>
              <a:t>A common protocol used in Transport Layer is </a:t>
            </a:r>
            <a:r>
              <a:rPr lang="en-US" sz="1900" b="1"/>
              <a:t>TCP</a:t>
            </a:r>
            <a:r>
              <a:rPr lang="en-US" sz="1900"/>
              <a:t>.</a:t>
            </a:r>
            <a:endParaRPr/>
          </a:p>
          <a:p>
            <a:pPr marL="285750" lvl="0" indent="-285796" algn="l" rtl="0"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buSzPct val="145000"/>
              <a:buChar char="•"/>
            </a:pPr>
            <a:r>
              <a:rPr lang="en-US" sz="1900" i="1"/>
              <a:t>*PDU – Packet Data Unit</a:t>
            </a:r>
            <a:endParaRPr/>
          </a:p>
        </p:txBody>
      </p:sp>
      <p:pic>
        <p:nvPicPr>
          <p:cNvPr id="623" name="Google Shape;62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08241" y="3444832"/>
            <a:ext cx="5383749" cy="221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7E14-5F18-440B-8D03-42C6857F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300F8-D3B6-4F9E-A14D-B632922A8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0763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4"/>
          <p:cNvSpPr/>
          <p:nvPr/>
        </p:nvSpPr>
        <p:spPr>
          <a:xfrm>
            <a:off x="7222102" y="3984016"/>
            <a:ext cx="4696748" cy="53551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0" name="Google Shape;630;p34"/>
          <p:cNvSpPr/>
          <p:nvPr/>
        </p:nvSpPr>
        <p:spPr>
          <a:xfrm>
            <a:off x="7217953" y="3107536"/>
            <a:ext cx="4696747" cy="626558"/>
          </a:xfrm>
          <a:prstGeom prst="rect">
            <a:avLst/>
          </a:prstGeom>
          <a:solidFill>
            <a:schemeClr val="accent3"/>
          </a:solidFill>
          <a:ln w="15875" cap="rnd" cmpd="sng">
            <a:solidFill>
              <a:srgbClr val="A472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Segments: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– Segmentation/Reassembly</a:t>
            </a:r>
            <a:endParaRPr/>
          </a:p>
        </p:txBody>
      </p:sp>
      <p:pic>
        <p:nvPicPr>
          <p:cNvPr id="632" name="Google Shape;63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34"/>
          <p:cNvSpPr txBox="1">
            <a:spLocks noGrp="1"/>
          </p:cNvSpPr>
          <p:nvPr>
            <p:ph type="body" idx="1"/>
          </p:nvPr>
        </p:nvSpPr>
        <p:spPr>
          <a:xfrm>
            <a:off x="1484310" y="1392194"/>
            <a:ext cx="10018713" cy="1048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Segments data received from application layer into small parts</a:t>
            </a:r>
            <a:endParaRPr/>
          </a:p>
        </p:txBody>
      </p:sp>
      <p:sp>
        <p:nvSpPr>
          <p:cNvPr id="634" name="Google Shape;634;p34"/>
          <p:cNvSpPr txBox="1"/>
          <p:nvPr/>
        </p:nvSpPr>
        <p:spPr>
          <a:xfrm>
            <a:off x="1484310" y="1807479"/>
            <a:ext cx="6153620" cy="422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Steps (Sender):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Segments into small parts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Add a number to identify the application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Add a number sequence the segmented parts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What do you think will happen at the Receiver end?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Uses the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sequence number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order them sequentially, merges them and sends to the upper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4"/>
          <p:cNvSpPr/>
          <p:nvPr/>
        </p:nvSpPr>
        <p:spPr>
          <a:xfrm>
            <a:off x="8116413" y="3379194"/>
            <a:ext cx="581025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4"/>
          <p:cNvSpPr/>
          <p:nvPr/>
        </p:nvSpPr>
        <p:spPr>
          <a:xfrm>
            <a:off x="7716878" y="3379194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9614343" y="3379194"/>
            <a:ext cx="581025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4"/>
          <p:cNvSpPr/>
          <p:nvPr/>
        </p:nvSpPr>
        <p:spPr>
          <a:xfrm>
            <a:off x="9214808" y="3379194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4"/>
          <p:cNvSpPr/>
          <p:nvPr/>
        </p:nvSpPr>
        <p:spPr>
          <a:xfrm>
            <a:off x="11107226" y="3373893"/>
            <a:ext cx="581025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4"/>
          <p:cNvSpPr/>
          <p:nvPr/>
        </p:nvSpPr>
        <p:spPr>
          <a:xfrm>
            <a:off x="10707691" y="3373893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4"/>
          <p:cNvSpPr/>
          <p:nvPr/>
        </p:nvSpPr>
        <p:spPr>
          <a:xfrm>
            <a:off x="7734778" y="4135107"/>
            <a:ext cx="980559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4"/>
          <p:cNvSpPr/>
          <p:nvPr/>
        </p:nvSpPr>
        <p:spPr>
          <a:xfrm>
            <a:off x="7335243" y="4135107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4"/>
          <p:cNvSpPr/>
          <p:nvPr/>
        </p:nvSpPr>
        <p:spPr>
          <a:xfrm>
            <a:off x="10725591" y="4135107"/>
            <a:ext cx="980559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4"/>
          <p:cNvSpPr/>
          <p:nvPr/>
        </p:nvSpPr>
        <p:spPr>
          <a:xfrm>
            <a:off x="10326056" y="4135107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4"/>
          <p:cNvSpPr/>
          <p:nvPr/>
        </p:nvSpPr>
        <p:spPr>
          <a:xfrm>
            <a:off x="9232709" y="4137847"/>
            <a:ext cx="980559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4"/>
          <p:cNvSpPr/>
          <p:nvPr/>
        </p:nvSpPr>
        <p:spPr>
          <a:xfrm>
            <a:off x="8833174" y="4137847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4"/>
          <p:cNvSpPr/>
          <p:nvPr/>
        </p:nvSpPr>
        <p:spPr>
          <a:xfrm>
            <a:off x="7217953" y="2223956"/>
            <a:ext cx="4696747" cy="535510"/>
          </a:xfrm>
          <a:prstGeom prst="rect">
            <a:avLst/>
          </a:prstGeom>
          <a:solidFill>
            <a:schemeClr val="lt1"/>
          </a:solidFill>
          <a:ln w="158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8" name="Google Shape;648;p34"/>
          <p:cNvSpPr/>
          <p:nvPr/>
        </p:nvSpPr>
        <p:spPr>
          <a:xfrm>
            <a:off x="8846146" y="2387753"/>
            <a:ext cx="2070215" cy="22242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4"/>
          <p:cNvSpPr/>
          <p:nvPr/>
        </p:nvSpPr>
        <p:spPr>
          <a:xfrm>
            <a:off x="8446611" y="2387753"/>
            <a:ext cx="399535" cy="222422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0" name="Google Shape;650;p34"/>
          <p:cNvCxnSpPr>
            <a:stCxn id="647" idx="2"/>
            <a:endCxn id="635" idx="0"/>
          </p:cNvCxnSpPr>
          <p:nvPr/>
        </p:nvCxnSpPr>
        <p:spPr>
          <a:xfrm rot="5400000">
            <a:off x="8676677" y="2489616"/>
            <a:ext cx="619800" cy="11595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1" name="Google Shape;651;p34"/>
          <p:cNvCxnSpPr>
            <a:stCxn id="647" idx="2"/>
            <a:endCxn id="637" idx="0"/>
          </p:cNvCxnSpPr>
          <p:nvPr/>
        </p:nvCxnSpPr>
        <p:spPr>
          <a:xfrm rot="-5400000" flipH="1">
            <a:off x="9425627" y="2900166"/>
            <a:ext cx="619800" cy="338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2" name="Google Shape;652;p34"/>
          <p:cNvCxnSpPr>
            <a:stCxn id="647" idx="2"/>
            <a:endCxn id="639" idx="0"/>
          </p:cNvCxnSpPr>
          <p:nvPr/>
        </p:nvCxnSpPr>
        <p:spPr>
          <a:xfrm rot="-5400000" flipH="1">
            <a:off x="10174877" y="2150916"/>
            <a:ext cx="614400" cy="18315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3" name="Google Shape;653;p34"/>
          <p:cNvCxnSpPr>
            <a:stCxn id="636" idx="2"/>
            <a:endCxn id="641" idx="0"/>
          </p:cNvCxnSpPr>
          <p:nvPr/>
        </p:nvCxnSpPr>
        <p:spPr>
          <a:xfrm rot="-5400000" flipH="1">
            <a:off x="7804146" y="3714116"/>
            <a:ext cx="533400" cy="308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4" name="Google Shape;654;p34"/>
          <p:cNvCxnSpPr>
            <a:stCxn id="635" idx="2"/>
            <a:endCxn id="641" idx="0"/>
          </p:cNvCxnSpPr>
          <p:nvPr/>
        </p:nvCxnSpPr>
        <p:spPr>
          <a:xfrm rot="5400000">
            <a:off x="8049326" y="3777416"/>
            <a:ext cx="533400" cy="1818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5" name="Google Shape;655;p34"/>
          <p:cNvCxnSpPr>
            <a:endCxn id="645" idx="0"/>
          </p:cNvCxnSpPr>
          <p:nvPr/>
        </p:nvCxnSpPr>
        <p:spPr>
          <a:xfrm rot="5400000">
            <a:off x="9543139" y="3776197"/>
            <a:ext cx="541500" cy="1818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6" name="Google Shape;656;p34"/>
          <p:cNvCxnSpPr>
            <a:stCxn id="638" idx="2"/>
            <a:endCxn id="645" idx="0"/>
          </p:cNvCxnSpPr>
          <p:nvPr/>
        </p:nvCxnSpPr>
        <p:spPr>
          <a:xfrm rot="-5400000" flipH="1">
            <a:off x="9300726" y="3715466"/>
            <a:ext cx="536100" cy="308400"/>
          </a:xfrm>
          <a:prstGeom prst="bentConnector3">
            <a:avLst>
              <a:gd name="adj1" fmla="val 5001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7" name="Google Shape;657;p34"/>
          <p:cNvCxnSpPr>
            <a:stCxn id="640" idx="2"/>
            <a:endCxn id="643" idx="0"/>
          </p:cNvCxnSpPr>
          <p:nvPr/>
        </p:nvCxnSpPr>
        <p:spPr>
          <a:xfrm rot="-5400000" flipH="1">
            <a:off x="10792259" y="3711515"/>
            <a:ext cx="538800" cy="308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8" name="Google Shape;658;p34"/>
          <p:cNvCxnSpPr>
            <a:stCxn id="639" idx="2"/>
            <a:endCxn id="643" idx="0"/>
          </p:cNvCxnSpPr>
          <p:nvPr/>
        </p:nvCxnSpPr>
        <p:spPr>
          <a:xfrm rot="5400000">
            <a:off x="11037439" y="3774815"/>
            <a:ext cx="538800" cy="181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9" name="Google Shape;659;p34"/>
          <p:cNvSpPr/>
          <p:nvPr/>
        </p:nvSpPr>
        <p:spPr>
          <a:xfrm>
            <a:off x="10536640" y="5220808"/>
            <a:ext cx="1378060" cy="316258"/>
          </a:xfrm>
          <a:prstGeom prst="rect">
            <a:avLst/>
          </a:prstGeom>
          <a:solidFill>
            <a:schemeClr val="lt1"/>
          </a:solidFill>
          <a:ln w="158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Session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4"/>
          <p:cNvSpPr/>
          <p:nvPr/>
        </p:nvSpPr>
        <p:spPr>
          <a:xfrm>
            <a:off x="10536639" y="5543941"/>
            <a:ext cx="1378060" cy="316258"/>
          </a:xfrm>
          <a:prstGeom prst="rect">
            <a:avLst/>
          </a:prstGeom>
          <a:solidFill>
            <a:schemeClr val="accent3"/>
          </a:solidFill>
          <a:ln w="15875" cap="rnd" cmpd="sng">
            <a:solidFill>
              <a:srgbClr val="A472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10536639" y="5871727"/>
            <a:ext cx="1378060" cy="316258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4"/>
          <p:cNvSpPr txBox="1"/>
          <p:nvPr/>
        </p:nvSpPr>
        <p:spPr>
          <a:xfrm>
            <a:off x="10774263" y="4891970"/>
            <a:ext cx="9028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Identification Using Port Address</a:t>
            </a:r>
            <a:endParaRPr/>
          </a:p>
        </p:txBody>
      </p:sp>
      <p:sp>
        <p:nvSpPr>
          <p:cNvPr id="668" name="Google Shape;668;p35"/>
          <p:cNvSpPr txBox="1">
            <a:spLocks noGrp="1"/>
          </p:cNvSpPr>
          <p:nvPr>
            <p:ph type="body" idx="1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Port Numbers/Addresses are used to identify different applications/processes running in a computer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16-bit in length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Represented as one single decimal number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e.g. 80 – Web; 23 – TCP;</a:t>
            </a:r>
            <a:endParaRPr/>
          </a:p>
        </p:txBody>
      </p:sp>
      <p:pic>
        <p:nvPicPr>
          <p:cNvPr id="669" name="Google Shape;66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5127" y="3968990"/>
            <a:ext cx="5408796" cy="312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Connection Control</a:t>
            </a:r>
            <a:endParaRPr/>
          </a:p>
        </p:txBody>
      </p:sp>
      <p:sp>
        <p:nvSpPr>
          <p:cNvPr id="676" name="Google Shape;676;p36"/>
          <p:cNvSpPr txBox="1">
            <a:spLocks noGrp="1"/>
          </p:cNvSpPr>
          <p:nvPr>
            <p:ph type="body" idx="1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77" name="Google Shape;67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36"/>
          <p:cNvSpPr/>
          <p:nvPr/>
        </p:nvSpPr>
        <p:spPr>
          <a:xfrm>
            <a:off x="3482788" y="2971800"/>
            <a:ext cx="1337983" cy="336177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Are you up?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6"/>
          <p:cNvSpPr/>
          <p:nvPr/>
        </p:nvSpPr>
        <p:spPr>
          <a:xfrm>
            <a:off x="8287870" y="3092823"/>
            <a:ext cx="1337983" cy="336177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Yes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6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6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6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Flow Control</a:t>
            </a:r>
            <a:endParaRPr/>
          </a:p>
        </p:txBody>
      </p:sp>
      <p:sp>
        <p:nvSpPr>
          <p:cNvPr id="689" name="Google Shape;689;p37"/>
          <p:cNvSpPr txBox="1">
            <a:spLocks noGrp="1"/>
          </p:cNvSpPr>
          <p:nvPr>
            <p:ph type="body" idx="1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90" name="Google Shape;69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37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7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7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7"/>
          <p:cNvSpPr txBox="1"/>
          <p:nvPr/>
        </p:nvSpPr>
        <p:spPr>
          <a:xfrm>
            <a:off x="7681021" y="1921613"/>
            <a:ext cx="317733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At this point, this host has too many packets to process. Hence, the </a:t>
            </a:r>
            <a:r>
              <a:rPr lang="en-US" sz="1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buffer</a:t>
            </a:r>
            <a:r>
              <a:rPr lang="en-US"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to store incoming packets overflows.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7"/>
          <p:cNvSpPr/>
          <p:nvPr/>
        </p:nvSpPr>
        <p:spPr>
          <a:xfrm>
            <a:off x="8329424" y="2975967"/>
            <a:ext cx="1501588" cy="36979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Please, send less packets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Error Control</a:t>
            </a:r>
            <a:endParaRPr/>
          </a:p>
        </p:txBody>
      </p:sp>
      <p:sp>
        <p:nvSpPr>
          <p:cNvPr id="702" name="Google Shape;702;p38"/>
          <p:cNvSpPr txBox="1">
            <a:spLocks noGrp="1"/>
          </p:cNvSpPr>
          <p:nvPr>
            <p:ph type="body" idx="1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703" name="Google Shape;70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8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8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8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8"/>
          <p:cNvSpPr/>
          <p:nvPr/>
        </p:nvSpPr>
        <p:spPr>
          <a:xfrm>
            <a:off x="8329424" y="2975967"/>
            <a:ext cx="1501588" cy="36979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Please send Packet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8"/>
          <p:cNvSpPr/>
          <p:nvPr/>
        </p:nvSpPr>
        <p:spPr>
          <a:xfrm>
            <a:off x="6573460" y="3655478"/>
            <a:ext cx="356347" cy="295835"/>
          </a:xfrm>
          <a:prstGeom prst="rect">
            <a:avLst/>
          </a:prstGeom>
          <a:solidFill>
            <a:schemeClr val="accent4"/>
          </a:solidFill>
          <a:ln w="15875" cap="rnd" cmpd="sng">
            <a:solidFill>
              <a:srgbClr val="9C36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8"/>
          <p:cNvSpPr txBox="1"/>
          <p:nvPr/>
        </p:nvSpPr>
        <p:spPr>
          <a:xfrm>
            <a:off x="6131857" y="3345761"/>
            <a:ext cx="1430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Lost in transition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8"/>
          <p:cNvSpPr/>
          <p:nvPr/>
        </p:nvSpPr>
        <p:spPr>
          <a:xfrm>
            <a:off x="4108077" y="3655478"/>
            <a:ext cx="356347" cy="295835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Multiplexing</a:t>
            </a:r>
            <a:endParaRPr/>
          </a:p>
        </p:txBody>
      </p:sp>
      <p:pic>
        <p:nvPicPr>
          <p:cNvPr id="717" name="Google Shape;71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2935" y="1464846"/>
            <a:ext cx="6867453" cy="5079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39" descr="EENADU PRATIBHA ENGINEERI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91343" y="1464846"/>
            <a:ext cx="3346282" cy="1871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0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Network Layer</a:t>
            </a:r>
            <a:endParaRPr/>
          </a:p>
        </p:txBody>
      </p:sp>
      <p:pic>
        <p:nvPicPr>
          <p:cNvPr id="725" name="Google Shape;72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0"/>
          <p:cNvSpPr txBox="1"/>
          <p:nvPr/>
        </p:nvSpPr>
        <p:spPr>
          <a:xfrm>
            <a:off x="6791317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3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rd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0"/>
          <p:cNvSpPr txBox="1"/>
          <p:nvPr/>
        </p:nvSpPr>
        <p:spPr>
          <a:xfrm>
            <a:off x="3098122" y="3510585"/>
            <a:ext cx="231505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0"/>
          <p:cNvSpPr txBox="1"/>
          <p:nvPr/>
        </p:nvSpPr>
        <p:spPr>
          <a:xfrm>
            <a:off x="3077536" y="6046260"/>
            <a:ext cx="20454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Data Link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0"/>
          <p:cNvSpPr txBox="1"/>
          <p:nvPr/>
        </p:nvSpPr>
        <p:spPr>
          <a:xfrm>
            <a:off x="7518825" y="3524207"/>
            <a:ext cx="20342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0"/>
          <p:cNvSpPr txBox="1"/>
          <p:nvPr/>
        </p:nvSpPr>
        <p:spPr>
          <a:xfrm>
            <a:off x="7282669" y="6046260"/>
            <a:ext cx="23262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Data Link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0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0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3" name="Google Shape;733;p40"/>
          <p:cNvCxnSpPr>
            <a:stCxn id="727" idx="2"/>
            <a:endCxn id="731" idx="0"/>
          </p:cNvCxnSpPr>
          <p:nvPr/>
        </p:nvCxnSpPr>
        <p:spPr>
          <a:xfrm rot="-5400000" flipH="1">
            <a:off x="4278451" y="4134116"/>
            <a:ext cx="511500" cy="557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4" name="Google Shape;734;p40"/>
          <p:cNvCxnSpPr>
            <a:stCxn id="732" idx="2"/>
            <a:endCxn id="728" idx="0"/>
          </p:cNvCxnSpPr>
          <p:nvPr/>
        </p:nvCxnSpPr>
        <p:spPr>
          <a:xfrm rot="-5400000" flipH="1">
            <a:off x="3280913" y="5226790"/>
            <a:ext cx="731400" cy="907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5" name="Google Shape;735;p40"/>
          <p:cNvCxnSpPr>
            <a:stCxn id="731" idx="2"/>
            <a:endCxn id="728" idx="0"/>
          </p:cNvCxnSpPr>
          <p:nvPr/>
        </p:nvCxnSpPr>
        <p:spPr>
          <a:xfrm rot="5400000">
            <a:off x="4090903" y="5324290"/>
            <a:ext cx="731400" cy="712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36" name="Google Shape;736;p40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0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8" name="Google Shape;738;p40"/>
          <p:cNvCxnSpPr>
            <a:stCxn id="730" idx="0"/>
            <a:endCxn id="737" idx="2"/>
          </p:cNvCxnSpPr>
          <p:nvPr/>
        </p:nvCxnSpPr>
        <p:spPr>
          <a:xfrm rot="5400000" flipH="1">
            <a:off x="7609858" y="5210310"/>
            <a:ext cx="731400" cy="940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9" name="Google Shape;739;p40"/>
          <p:cNvCxnSpPr>
            <a:stCxn id="730" idx="0"/>
            <a:endCxn id="736" idx="2"/>
          </p:cNvCxnSpPr>
          <p:nvPr/>
        </p:nvCxnSpPr>
        <p:spPr>
          <a:xfrm rot="-5400000">
            <a:off x="8419858" y="5340810"/>
            <a:ext cx="731400" cy="679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0" name="Google Shape;740;p40"/>
          <p:cNvCxnSpPr>
            <a:stCxn id="736" idx="0"/>
            <a:endCxn id="729" idx="2"/>
          </p:cNvCxnSpPr>
          <p:nvPr/>
        </p:nvCxnSpPr>
        <p:spPr>
          <a:xfrm rot="5400000" flipH="1">
            <a:off x="8581615" y="4124759"/>
            <a:ext cx="498000" cy="589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1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</a:t>
            </a:r>
            <a:endParaRPr/>
          </a:p>
        </p:txBody>
      </p:sp>
      <p:sp>
        <p:nvSpPr>
          <p:cNvPr id="746" name="Google Shape;746;p41"/>
          <p:cNvSpPr txBox="1">
            <a:spLocks noGrp="1"/>
          </p:cNvSpPr>
          <p:nvPr>
            <p:ph type="body" idx="1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Network Layer PDU is called </a:t>
            </a:r>
            <a:r>
              <a:rPr lang="en-US" b="1"/>
              <a:t>Packet</a:t>
            </a:r>
            <a:r>
              <a:rPr lang="en-US"/>
              <a:t>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layer is responsible for the delivery of  individual packets from  the </a:t>
            </a:r>
            <a:r>
              <a:rPr lang="en-US" b="1"/>
              <a:t>source host </a:t>
            </a:r>
            <a:r>
              <a:rPr lang="en-US"/>
              <a:t>to the </a:t>
            </a:r>
            <a:r>
              <a:rPr lang="en-US" b="1"/>
              <a:t>destination host</a:t>
            </a:r>
            <a:r>
              <a:rPr lang="en-US"/>
              <a:t>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Common Network Layer Protocol is called </a:t>
            </a:r>
            <a:r>
              <a:rPr lang="en-US" b="1"/>
              <a:t>Internet Protocol (IP)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 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Adds an address (Logical Address) to identify sender and receiver hosts.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Decides which path to take (Routing).</a:t>
            </a:r>
            <a:endParaRPr/>
          </a:p>
        </p:txBody>
      </p:sp>
      <p:pic>
        <p:nvPicPr>
          <p:cNvPr id="747" name="Google Shape;74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– Logical Address</a:t>
            </a:r>
            <a:endParaRPr/>
          </a:p>
        </p:txBody>
      </p:sp>
      <p:sp>
        <p:nvSpPr>
          <p:cNvPr id="753" name="Google Shape;753;p42"/>
          <p:cNvSpPr txBox="1">
            <a:spLocks noGrp="1"/>
          </p:cNvSpPr>
          <p:nvPr>
            <p:ph type="body" idx="1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Universal address, each host uniquely defined.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32-bit address also known as IP Address.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bits are written in dotted decimal notation. Each decimal represented by 8 bits.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192.168.10.1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Independent of underlying physical networks.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754" name="Google Shape;75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43"/>
          <p:cNvPicPr preferRelativeResize="0"/>
          <p:nvPr/>
        </p:nvPicPr>
        <p:blipFill rotWithShape="1">
          <a:blip r:embed="rId3">
            <a:alphaModFix/>
          </a:blip>
          <a:srcRect b="39837"/>
          <a:stretch/>
        </p:blipFill>
        <p:spPr>
          <a:xfrm>
            <a:off x="3997781" y="2135265"/>
            <a:ext cx="5077362" cy="2471111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4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- Example</a:t>
            </a:r>
            <a:endParaRPr/>
          </a:p>
        </p:txBody>
      </p:sp>
      <p:pic>
        <p:nvPicPr>
          <p:cNvPr id="761" name="Google Shape;761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43"/>
          <p:cNvSpPr/>
          <p:nvPr/>
        </p:nvSpPr>
        <p:spPr>
          <a:xfrm>
            <a:off x="4028862" y="2564138"/>
            <a:ext cx="749396" cy="935025"/>
          </a:xfrm>
          <a:prstGeom prst="ellipse">
            <a:avLst/>
          </a:prstGeom>
          <a:noFill/>
          <a:ln w="38100" cap="flat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3" name="Google Shape;763;p43"/>
          <p:cNvSpPr/>
          <p:nvPr/>
        </p:nvSpPr>
        <p:spPr>
          <a:xfrm>
            <a:off x="8285749" y="3052275"/>
            <a:ext cx="749396" cy="935025"/>
          </a:xfrm>
          <a:prstGeom prst="ellipse">
            <a:avLst/>
          </a:prstGeom>
          <a:noFill/>
          <a:ln w="38100" cap="flat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4" name="Google Shape;764;p43"/>
          <p:cNvSpPr txBox="1"/>
          <p:nvPr/>
        </p:nvSpPr>
        <p:spPr>
          <a:xfrm>
            <a:off x="1575876" y="1558020"/>
            <a:ext cx="9927155" cy="93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Packet to be delivered from A to 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3"/>
          <p:cNvSpPr/>
          <p:nvPr/>
        </p:nvSpPr>
        <p:spPr>
          <a:xfrm>
            <a:off x="4283244" y="3277857"/>
            <a:ext cx="240632" cy="254381"/>
          </a:xfrm>
          <a:prstGeom prst="ellipse">
            <a:avLst/>
          </a:prstGeom>
          <a:noFill/>
          <a:ln w="381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6" name="Google Shape;766;p43"/>
          <p:cNvSpPr/>
          <p:nvPr/>
        </p:nvSpPr>
        <p:spPr>
          <a:xfrm>
            <a:off x="5693804" y="3265406"/>
            <a:ext cx="240632" cy="254381"/>
          </a:xfrm>
          <a:prstGeom prst="ellipse">
            <a:avLst/>
          </a:prstGeom>
          <a:noFill/>
          <a:ln w="381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7" name="Google Shape;767;p43"/>
          <p:cNvSpPr/>
          <p:nvPr/>
        </p:nvSpPr>
        <p:spPr>
          <a:xfrm>
            <a:off x="7075717" y="2777269"/>
            <a:ext cx="240632" cy="254381"/>
          </a:xfrm>
          <a:prstGeom prst="ellipse">
            <a:avLst/>
          </a:prstGeom>
          <a:noFill/>
          <a:ln w="381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8" name="Google Shape;768;p43"/>
          <p:cNvSpPr/>
          <p:nvPr/>
        </p:nvSpPr>
        <p:spPr>
          <a:xfrm>
            <a:off x="8540131" y="2821959"/>
            <a:ext cx="240632" cy="254381"/>
          </a:xfrm>
          <a:prstGeom prst="ellipse">
            <a:avLst/>
          </a:prstGeom>
          <a:noFill/>
          <a:ln w="381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9" name="Google Shape;769;p43"/>
          <p:cNvSpPr/>
          <p:nvPr/>
        </p:nvSpPr>
        <p:spPr>
          <a:xfrm>
            <a:off x="7075717" y="3737083"/>
            <a:ext cx="240632" cy="254381"/>
          </a:xfrm>
          <a:prstGeom prst="ellipse">
            <a:avLst/>
          </a:prstGeom>
          <a:noFill/>
          <a:ln w="381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70" name="Google Shape;770;p43"/>
          <p:cNvSpPr/>
          <p:nvPr/>
        </p:nvSpPr>
        <p:spPr>
          <a:xfrm>
            <a:off x="8540131" y="3760417"/>
            <a:ext cx="240632" cy="254381"/>
          </a:xfrm>
          <a:prstGeom prst="ellipse">
            <a:avLst/>
          </a:prstGeom>
          <a:noFill/>
          <a:ln w="381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71" name="Google Shape;771;p43"/>
          <p:cNvSpPr txBox="1"/>
          <p:nvPr/>
        </p:nvSpPr>
        <p:spPr>
          <a:xfrm>
            <a:off x="1575875" y="1098527"/>
            <a:ext cx="9927155" cy="93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A,B,C,D,E and F are Logical addresses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3"/>
          <p:cNvSpPr/>
          <p:nvPr/>
        </p:nvSpPr>
        <p:spPr>
          <a:xfrm>
            <a:off x="4276369" y="2887271"/>
            <a:ext cx="240632" cy="254226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73" name="Google Shape;773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97781" y="4585441"/>
            <a:ext cx="5077362" cy="1925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– Another Example</a:t>
            </a:r>
            <a:endParaRPr/>
          </a:p>
        </p:txBody>
      </p:sp>
      <p:pic>
        <p:nvPicPr>
          <p:cNvPr id="779" name="Google Shape;77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1866" y="1084305"/>
            <a:ext cx="5943600" cy="54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44"/>
          <p:cNvSpPr/>
          <p:nvPr/>
        </p:nvSpPr>
        <p:spPr>
          <a:xfrm>
            <a:off x="3348217" y="1326911"/>
            <a:ext cx="2076306" cy="5307645"/>
          </a:xfrm>
          <a:prstGeom prst="ellipse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2" name="Google Shape;782;p44"/>
          <p:cNvSpPr/>
          <p:nvPr/>
        </p:nvSpPr>
        <p:spPr>
          <a:xfrm>
            <a:off x="7562808" y="907526"/>
            <a:ext cx="2323711" cy="2521474"/>
          </a:xfrm>
          <a:prstGeom prst="ellipse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3" name="Google Shape;783;p44"/>
          <p:cNvSpPr/>
          <p:nvPr/>
        </p:nvSpPr>
        <p:spPr>
          <a:xfrm>
            <a:off x="7352281" y="3814216"/>
            <a:ext cx="2323711" cy="2521474"/>
          </a:xfrm>
          <a:prstGeom prst="ellipse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4" name="Google Shape;784;p44"/>
          <p:cNvSpPr/>
          <p:nvPr/>
        </p:nvSpPr>
        <p:spPr>
          <a:xfrm>
            <a:off x="5331810" y="1648931"/>
            <a:ext cx="2643408" cy="3882158"/>
          </a:xfrm>
          <a:prstGeom prst="ellipse">
            <a:avLst/>
          </a:prstGeom>
          <a:noFill/>
          <a:ln w="381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5" name="Google Shape;785;p44"/>
          <p:cNvSpPr txBox="1"/>
          <p:nvPr/>
        </p:nvSpPr>
        <p:spPr>
          <a:xfrm>
            <a:off x="3521866" y="1279599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4"/>
          <p:cNvSpPr txBox="1"/>
          <p:nvPr/>
        </p:nvSpPr>
        <p:spPr>
          <a:xfrm>
            <a:off x="7352281" y="1177648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4"/>
          <p:cNvSpPr txBox="1"/>
          <p:nvPr/>
        </p:nvSpPr>
        <p:spPr>
          <a:xfrm>
            <a:off x="8725280" y="3777486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4"/>
          <p:cNvSpPr txBox="1"/>
          <p:nvPr/>
        </p:nvSpPr>
        <p:spPr>
          <a:xfrm>
            <a:off x="4881845" y="1464265"/>
            <a:ext cx="24160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Inter-connections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4"/>
          <p:cNvSpPr/>
          <p:nvPr/>
        </p:nvSpPr>
        <p:spPr>
          <a:xfrm>
            <a:off x="3992507" y="5578401"/>
            <a:ext cx="328087" cy="313635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90" name="Google Shape;790;p44"/>
          <p:cNvCxnSpPr/>
          <p:nvPr/>
        </p:nvCxnSpPr>
        <p:spPr>
          <a:xfrm rot="10800000" flipH="1">
            <a:off x="5747657" y="2646947"/>
            <a:ext cx="226881" cy="467513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91" name="Google Shape;791;p44"/>
          <p:cNvSpPr txBox="1"/>
          <p:nvPr/>
        </p:nvSpPr>
        <p:spPr>
          <a:xfrm>
            <a:off x="5584792" y="2646947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44"/>
          <p:cNvCxnSpPr/>
          <p:nvPr/>
        </p:nvCxnSpPr>
        <p:spPr>
          <a:xfrm rot="10800000" flipH="1">
            <a:off x="6311423" y="3580014"/>
            <a:ext cx="534970" cy="70410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93" name="Google Shape;793;p44"/>
          <p:cNvSpPr txBox="1"/>
          <p:nvPr/>
        </p:nvSpPr>
        <p:spPr>
          <a:xfrm>
            <a:off x="6456647" y="3580012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4" name="Google Shape;794;p44"/>
          <p:cNvCxnSpPr/>
          <p:nvPr/>
        </p:nvCxnSpPr>
        <p:spPr>
          <a:xfrm rot="10800000">
            <a:off x="7019398" y="2473049"/>
            <a:ext cx="361527" cy="393406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95" name="Google Shape;795;p44"/>
          <p:cNvSpPr txBox="1"/>
          <p:nvPr/>
        </p:nvSpPr>
        <p:spPr>
          <a:xfrm>
            <a:off x="7141755" y="2443368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6" name="Google Shape;796;p44"/>
          <p:cNvCxnSpPr/>
          <p:nvPr/>
        </p:nvCxnSpPr>
        <p:spPr>
          <a:xfrm flipH="1">
            <a:off x="6961847" y="3715587"/>
            <a:ext cx="247504" cy="548016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97" name="Google Shape;797;p44"/>
          <p:cNvSpPr txBox="1"/>
          <p:nvPr/>
        </p:nvSpPr>
        <p:spPr>
          <a:xfrm>
            <a:off x="6808109" y="3715587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4"/>
          <p:cNvSpPr/>
          <p:nvPr/>
        </p:nvSpPr>
        <p:spPr>
          <a:xfrm>
            <a:off x="5667814" y="3216411"/>
            <a:ext cx="328087" cy="313635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9" name="Google Shape;799;p44"/>
          <p:cNvSpPr/>
          <p:nvPr/>
        </p:nvSpPr>
        <p:spPr>
          <a:xfrm>
            <a:off x="7694114" y="2999823"/>
            <a:ext cx="328087" cy="313635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0" name="Google Shape;800;p44"/>
          <p:cNvSpPr/>
          <p:nvPr/>
        </p:nvSpPr>
        <p:spPr>
          <a:xfrm>
            <a:off x="3750006" y="5330342"/>
            <a:ext cx="1032975" cy="1219768"/>
          </a:xfrm>
          <a:prstGeom prst="ellipse">
            <a:avLst/>
          </a:prstGeom>
          <a:noFill/>
          <a:ln w="38100" cap="flat" cmpd="sng">
            <a:solidFill>
              <a:srgbClr val="13FF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1" name="Google Shape;801;p44"/>
          <p:cNvSpPr txBox="1"/>
          <p:nvPr/>
        </p:nvSpPr>
        <p:spPr>
          <a:xfrm>
            <a:off x="4426763" y="5637654"/>
            <a:ext cx="891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4"/>
          <p:cNvSpPr/>
          <p:nvPr/>
        </p:nvSpPr>
        <p:spPr>
          <a:xfrm>
            <a:off x="8539433" y="4968517"/>
            <a:ext cx="1032975" cy="1219768"/>
          </a:xfrm>
          <a:prstGeom prst="ellipse">
            <a:avLst/>
          </a:prstGeom>
          <a:noFill/>
          <a:ln w="38100" cap="flat" cmpd="sng">
            <a:solidFill>
              <a:srgbClr val="13FF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3" name="Google Shape;803;p44"/>
          <p:cNvSpPr txBox="1"/>
          <p:nvPr/>
        </p:nvSpPr>
        <p:spPr>
          <a:xfrm>
            <a:off x="9195921" y="5268322"/>
            <a:ext cx="103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4" name="Google Shape;804;p44"/>
          <p:cNvCxnSpPr/>
          <p:nvPr/>
        </p:nvCxnSpPr>
        <p:spPr>
          <a:xfrm rot="10800000" flipH="1">
            <a:off x="6312570" y="3581164"/>
            <a:ext cx="534970" cy="70410"/>
          </a:xfrm>
          <a:prstGeom prst="straightConnector1">
            <a:avLst/>
          </a:prstGeom>
          <a:noFill/>
          <a:ln w="38100" cap="flat" cmpd="sng">
            <a:solidFill>
              <a:srgbClr val="13FF1E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5" name="Google Shape;805;p44"/>
          <p:cNvCxnSpPr/>
          <p:nvPr/>
        </p:nvCxnSpPr>
        <p:spPr>
          <a:xfrm flipH="1">
            <a:off x="6962997" y="3709862"/>
            <a:ext cx="247504" cy="548016"/>
          </a:xfrm>
          <a:prstGeom prst="straightConnector1">
            <a:avLst/>
          </a:prstGeom>
          <a:noFill/>
          <a:ln w="38100" cap="flat" cmpd="sng">
            <a:solidFill>
              <a:srgbClr val="13FF1E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Data Link Layer</a:t>
            </a:r>
            <a:endParaRPr/>
          </a:p>
        </p:txBody>
      </p:sp>
      <p:pic>
        <p:nvPicPr>
          <p:cNvPr id="811" name="Google Shape;81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45"/>
          <p:cNvSpPr txBox="1"/>
          <p:nvPr/>
        </p:nvSpPr>
        <p:spPr>
          <a:xfrm>
            <a:off x="6791317" y="2563674"/>
            <a:ext cx="28544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2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5"/>
          <p:cNvSpPr txBox="1"/>
          <p:nvPr/>
        </p:nvSpPr>
        <p:spPr>
          <a:xfrm>
            <a:off x="3134992" y="3510585"/>
            <a:ext cx="224131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5"/>
          <p:cNvSpPr txBox="1"/>
          <p:nvPr/>
        </p:nvSpPr>
        <p:spPr>
          <a:xfrm>
            <a:off x="3077536" y="6046260"/>
            <a:ext cx="19044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Physical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5"/>
          <p:cNvSpPr txBox="1"/>
          <p:nvPr/>
        </p:nvSpPr>
        <p:spPr>
          <a:xfrm>
            <a:off x="7555695" y="3524207"/>
            <a:ext cx="19605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Network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5"/>
          <p:cNvSpPr txBox="1"/>
          <p:nvPr/>
        </p:nvSpPr>
        <p:spPr>
          <a:xfrm>
            <a:off x="7282669" y="6046260"/>
            <a:ext cx="21852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Physical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5"/>
          <p:cNvSpPr/>
          <p:nvPr/>
        </p:nvSpPr>
        <p:spPr>
          <a:xfrm>
            <a:off x="3029772" y="4668510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45"/>
          <p:cNvSpPr/>
          <p:nvPr/>
        </p:nvSpPr>
        <p:spPr>
          <a:xfrm>
            <a:off x="1922927" y="4668510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9" name="Google Shape;819;p45"/>
          <p:cNvCxnSpPr>
            <a:stCxn id="813" idx="2"/>
            <a:endCxn id="817" idx="0"/>
          </p:cNvCxnSpPr>
          <p:nvPr/>
        </p:nvCxnSpPr>
        <p:spPr>
          <a:xfrm rot="5400000">
            <a:off x="3920252" y="4333016"/>
            <a:ext cx="511500" cy="159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0" name="Google Shape;820;p45"/>
          <p:cNvCxnSpPr>
            <a:stCxn id="818" idx="2"/>
            <a:endCxn id="814" idx="0"/>
          </p:cNvCxnSpPr>
          <p:nvPr/>
        </p:nvCxnSpPr>
        <p:spPr>
          <a:xfrm rot="-5400000" flipH="1">
            <a:off x="2887350" y="4903840"/>
            <a:ext cx="731400" cy="15534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1" name="Google Shape;821;p45"/>
          <p:cNvCxnSpPr>
            <a:stCxn id="817" idx="2"/>
            <a:endCxn id="814" idx="0"/>
          </p:cNvCxnSpPr>
          <p:nvPr/>
        </p:nvCxnSpPr>
        <p:spPr>
          <a:xfrm rot="5400000">
            <a:off x="3697339" y="5647240"/>
            <a:ext cx="731400" cy="66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22" name="Google Shape;822;p45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45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4" name="Google Shape;824;p45"/>
          <p:cNvCxnSpPr>
            <a:stCxn id="816" idx="0"/>
            <a:endCxn id="823" idx="2"/>
          </p:cNvCxnSpPr>
          <p:nvPr/>
        </p:nvCxnSpPr>
        <p:spPr>
          <a:xfrm rot="5400000" flipH="1">
            <a:off x="7574576" y="5245560"/>
            <a:ext cx="731400" cy="8700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5" name="Google Shape;825;p45"/>
          <p:cNvCxnSpPr>
            <a:stCxn id="816" idx="0"/>
            <a:endCxn id="822" idx="2"/>
          </p:cNvCxnSpPr>
          <p:nvPr/>
        </p:nvCxnSpPr>
        <p:spPr>
          <a:xfrm rot="-5400000">
            <a:off x="8384576" y="5305560"/>
            <a:ext cx="731400" cy="7500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6" name="Google Shape;826;p45"/>
          <p:cNvCxnSpPr>
            <a:stCxn id="822" idx="0"/>
            <a:endCxn id="815" idx="2"/>
          </p:cNvCxnSpPr>
          <p:nvPr/>
        </p:nvCxnSpPr>
        <p:spPr>
          <a:xfrm rot="5400000" flipH="1">
            <a:off x="8581615" y="4124759"/>
            <a:ext cx="498000" cy="589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27" name="Google Shape;827;p45"/>
          <p:cNvSpPr/>
          <p:nvPr/>
        </p:nvSpPr>
        <p:spPr>
          <a:xfrm>
            <a:off x="5163872" y="4668509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5"/>
          <p:cNvSpPr/>
          <p:nvPr/>
        </p:nvSpPr>
        <p:spPr>
          <a:xfrm>
            <a:off x="10191599" y="4668508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9" name="Google Shape;829;p45"/>
          <p:cNvCxnSpPr>
            <a:stCxn id="827" idx="2"/>
            <a:endCxn id="814" idx="0"/>
          </p:cNvCxnSpPr>
          <p:nvPr/>
        </p:nvCxnSpPr>
        <p:spPr>
          <a:xfrm rot="5400000">
            <a:off x="4507845" y="4836789"/>
            <a:ext cx="731400" cy="1687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0" name="Google Shape;830;p45"/>
          <p:cNvCxnSpPr>
            <a:stCxn id="816" idx="0"/>
            <a:endCxn id="828" idx="2"/>
          </p:cNvCxnSpPr>
          <p:nvPr/>
        </p:nvCxnSpPr>
        <p:spPr>
          <a:xfrm rot="-5400000">
            <a:off x="9194426" y="4495710"/>
            <a:ext cx="731400" cy="2369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Data Link Layer Layer</a:t>
            </a:r>
            <a:endParaRPr/>
          </a:p>
        </p:txBody>
      </p:sp>
      <p:sp>
        <p:nvSpPr>
          <p:cNvPr id="836" name="Google Shape;836;p46"/>
          <p:cNvSpPr txBox="1">
            <a:spLocks noGrp="1"/>
          </p:cNvSpPr>
          <p:nvPr>
            <p:ph type="body" idx="1"/>
          </p:nvPr>
        </p:nvSpPr>
        <p:spPr>
          <a:xfrm>
            <a:off x="1484310" y="1434775"/>
            <a:ext cx="9927155" cy="4631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Data Link Layer PDU is called </a:t>
            </a:r>
            <a:r>
              <a:rPr lang="en-US" b="1"/>
              <a:t>Frame</a:t>
            </a:r>
            <a:r>
              <a:rPr lang="en-US"/>
              <a:t>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data link layer is responsible for moving frames from one hop (node) to the next.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on this layer varies.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 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Framing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Physical Addressing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Flow Control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Error Control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Access Control</a:t>
            </a:r>
            <a:endParaRPr/>
          </a:p>
        </p:txBody>
      </p:sp>
      <p:pic>
        <p:nvPicPr>
          <p:cNvPr id="837" name="Google Shape;83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46"/>
          <p:cNvSpPr txBox="1"/>
          <p:nvPr/>
        </p:nvSpPr>
        <p:spPr>
          <a:xfrm>
            <a:off x="7399917" y="3161423"/>
            <a:ext cx="22413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6"/>
          <p:cNvSpPr txBox="1"/>
          <p:nvPr/>
        </p:nvSpPr>
        <p:spPr>
          <a:xfrm>
            <a:off x="7342461" y="5697098"/>
            <a:ext cx="19044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Physical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46"/>
          <p:cNvSpPr/>
          <p:nvPr/>
        </p:nvSpPr>
        <p:spPr>
          <a:xfrm>
            <a:off x="7294697" y="4319348"/>
            <a:ext cx="2133135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46"/>
          <p:cNvSpPr/>
          <p:nvPr/>
        </p:nvSpPr>
        <p:spPr>
          <a:xfrm>
            <a:off x="6187852" y="4319348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2" name="Google Shape;842;p46"/>
          <p:cNvCxnSpPr>
            <a:stCxn id="838" idx="2"/>
            <a:endCxn id="840" idx="0"/>
          </p:cNvCxnSpPr>
          <p:nvPr/>
        </p:nvCxnSpPr>
        <p:spPr>
          <a:xfrm rot="5400000">
            <a:off x="8046577" y="3845455"/>
            <a:ext cx="788700" cy="159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3" name="Google Shape;843;p46"/>
          <p:cNvCxnSpPr>
            <a:stCxn id="841" idx="2"/>
            <a:endCxn id="839" idx="0"/>
          </p:cNvCxnSpPr>
          <p:nvPr/>
        </p:nvCxnSpPr>
        <p:spPr>
          <a:xfrm rot="-5400000" flipH="1">
            <a:off x="7152274" y="4554678"/>
            <a:ext cx="731400" cy="15534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4" name="Google Shape;844;p46"/>
          <p:cNvCxnSpPr>
            <a:stCxn id="840" idx="2"/>
            <a:endCxn id="839" idx="0"/>
          </p:cNvCxnSpPr>
          <p:nvPr/>
        </p:nvCxnSpPr>
        <p:spPr>
          <a:xfrm rot="5400000">
            <a:off x="7962265" y="5298078"/>
            <a:ext cx="731400" cy="66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45" name="Google Shape;845;p46"/>
          <p:cNvSpPr/>
          <p:nvPr/>
        </p:nvSpPr>
        <p:spPr>
          <a:xfrm>
            <a:off x="9428797" y="4319347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6" name="Google Shape;846;p46"/>
          <p:cNvCxnSpPr>
            <a:stCxn id="845" idx="2"/>
            <a:endCxn id="839" idx="0"/>
          </p:cNvCxnSpPr>
          <p:nvPr/>
        </p:nvCxnSpPr>
        <p:spPr>
          <a:xfrm rot="5400000">
            <a:off x="8772770" y="4487627"/>
            <a:ext cx="731400" cy="1687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7" name="Google Shape;847;p46"/>
          <p:cNvCxnSpPr/>
          <p:nvPr/>
        </p:nvCxnSpPr>
        <p:spPr>
          <a:xfrm>
            <a:off x="3370997" y="4046561"/>
            <a:ext cx="2627194" cy="272786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Hop-to-Hop Delivery</a:t>
            </a:r>
            <a:endParaRPr/>
          </a:p>
        </p:txBody>
      </p:sp>
      <p:pic>
        <p:nvPicPr>
          <p:cNvPr id="853" name="Google Shape;853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05100" y="1146412"/>
            <a:ext cx="6781800" cy="4995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Data Link Layer – Physical Address</a:t>
            </a:r>
            <a:endParaRPr/>
          </a:p>
        </p:txBody>
      </p:sp>
      <p:sp>
        <p:nvSpPr>
          <p:cNvPr id="860" name="Google Shape;860;p48"/>
          <p:cNvSpPr txBox="1">
            <a:spLocks noGrp="1"/>
          </p:cNvSpPr>
          <p:nvPr>
            <p:ph type="body" idx="1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Also known as  </a:t>
            </a:r>
            <a:r>
              <a:rPr lang="en-US" b="1"/>
              <a:t>MAC (Media Access Control)</a:t>
            </a:r>
            <a:r>
              <a:rPr lang="en-US"/>
              <a:t> Address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Every interface/port/device has an unique identifying number.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Given by manufacturer.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48 bits long, represented by 12 hexadecimal digits grouped in pairs and separated by </a:t>
            </a:r>
            <a:r>
              <a:rPr lang="en-US" b="1"/>
              <a:t>‘–’</a:t>
            </a:r>
            <a:r>
              <a:rPr lang="en-US"/>
              <a:t> or </a:t>
            </a:r>
            <a:r>
              <a:rPr lang="en-US" b="1"/>
              <a:t>‘:’</a:t>
            </a:r>
            <a:r>
              <a:rPr lang="en-US"/>
              <a:t> 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07:01:02:01:2C:4B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861" name="Google Shape;861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Physical Layer</a:t>
            </a:r>
            <a:endParaRPr/>
          </a:p>
        </p:txBody>
      </p:sp>
      <p:pic>
        <p:nvPicPr>
          <p:cNvPr id="867" name="Google Shape;867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49"/>
          <p:cNvSpPr txBox="1"/>
          <p:nvPr/>
        </p:nvSpPr>
        <p:spPr>
          <a:xfrm>
            <a:off x="6791317" y="2563674"/>
            <a:ext cx="284007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1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49"/>
          <p:cNvSpPr txBox="1"/>
          <p:nvPr/>
        </p:nvSpPr>
        <p:spPr>
          <a:xfrm>
            <a:off x="3092514" y="3510585"/>
            <a:ext cx="23262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Data Link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49"/>
          <p:cNvSpPr txBox="1"/>
          <p:nvPr/>
        </p:nvSpPr>
        <p:spPr>
          <a:xfrm>
            <a:off x="3077536" y="6046260"/>
            <a:ext cx="23660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medium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49"/>
          <p:cNvSpPr txBox="1"/>
          <p:nvPr/>
        </p:nvSpPr>
        <p:spPr>
          <a:xfrm>
            <a:off x="7513216" y="3524207"/>
            <a:ext cx="20454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Data Link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49"/>
          <p:cNvSpPr txBox="1"/>
          <p:nvPr/>
        </p:nvSpPr>
        <p:spPr>
          <a:xfrm>
            <a:off x="7282669" y="6046260"/>
            <a:ext cx="26468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medium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9"/>
          <p:cNvSpPr/>
          <p:nvPr/>
        </p:nvSpPr>
        <p:spPr>
          <a:xfrm>
            <a:off x="3029772" y="4668510"/>
            <a:ext cx="3292556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010100001111100110110111101010101001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9"/>
          <p:cNvSpPr/>
          <p:nvPr/>
        </p:nvSpPr>
        <p:spPr>
          <a:xfrm>
            <a:off x="1922927" y="4668510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0011010100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5" name="Google Shape;875;p49"/>
          <p:cNvCxnSpPr>
            <a:stCxn id="869" idx="2"/>
            <a:endCxn id="873" idx="0"/>
          </p:cNvCxnSpPr>
          <p:nvPr/>
        </p:nvCxnSpPr>
        <p:spPr>
          <a:xfrm rot="-5400000" flipH="1">
            <a:off x="4210053" y="4202516"/>
            <a:ext cx="511500" cy="420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76" name="Google Shape;876;p49"/>
          <p:cNvCxnSpPr>
            <a:stCxn id="874" idx="2"/>
            <a:endCxn id="870" idx="0"/>
          </p:cNvCxnSpPr>
          <p:nvPr/>
        </p:nvCxnSpPr>
        <p:spPr>
          <a:xfrm rot="-5400000" flipH="1">
            <a:off x="3002699" y="4788490"/>
            <a:ext cx="731400" cy="1784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77" name="Google Shape;877;p49"/>
          <p:cNvCxnSpPr>
            <a:stCxn id="873" idx="2"/>
            <a:endCxn id="870" idx="0"/>
          </p:cNvCxnSpPr>
          <p:nvPr/>
        </p:nvCxnSpPr>
        <p:spPr>
          <a:xfrm rot="5400000">
            <a:off x="4102600" y="5472790"/>
            <a:ext cx="731400" cy="415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8" name="Google Shape;878;p49"/>
          <p:cNvSpPr/>
          <p:nvPr/>
        </p:nvSpPr>
        <p:spPr>
          <a:xfrm>
            <a:off x="8058797" y="4668509"/>
            <a:ext cx="3132367" cy="646330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0101000011111001101101111010101010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9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0011010100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0" name="Google Shape;880;p49"/>
          <p:cNvCxnSpPr>
            <a:stCxn id="872" idx="0"/>
            <a:endCxn id="879" idx="2"/>
          </p:cNvCxnSpPr>
          <p:nvPr/>
        </p:nvCxnSpPr>
        <p:spPr>
          <a:xfrm rot="5400000" flipH="1">
            <a:off x="7690058" y="5130210"/>
            <a:ext cx="731400" cy="11007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81" name="Google Shape;881;p49"/>
          <p:cNvCxnSpPr>
            <a:stCxn id="872" idx="0"/>
            <a:endCxn id="878" idx="2"/>
          </p:cNvCxnSpPr>
          <p:nvPr/>
        </p:nvCxnSpPr>
        <p:spPr>
          <a:xfrm rot="-5400000">
            <a:off x="8749808" y="5171160"/>
            <a:ext cx="731400" cy="10188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82" name="Google Shape;882;p49"/>
          <p:cNvCxnSpPr>
            <a:stCxn id="878" idx="0"/>
            <a:endCxn id="871" idx="2"/>
          </p:cNvCxnSpPr>
          <p:nvPr/>
        </p:nvCxnSpPr>
        <p:spPr>
          <a:xfrm rot="5400000" flipH="1">
            <a:off x="8831481" y="3875009"/>
            <a:ext cx="498000" cy="10890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0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Physical Layer</a:t>
            </a:r>
            <a:endParaRPr/>
          </a:p>
        </p:txBody>
      </p:sp>
      <p:sp>
        <p:nvSpPr>
          <p:cNvPr id="888" name="Google Shape;888;p50"/>
          <p:cNvSpPr txBox="1">
            <a:spLocks noGrp="1"/>
          </p:cNvSpPr>
          <p:nvPr>
            <p:ph type="body" idx="1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physical layer is responsible for movements of individual bits from one hop (node) to the next.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Physical Characteristics of interfaces and medium.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Representation of bits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Data Rate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Synchronization of bits</a:t>
            </a:r>
            <a:endParaRPr/>
          </a:p>
        </p:txBody>
      </p:sp>
      <p:pic>
        <p:nvPicPr>
          <p:cNvPr id="889" name="Google Shape;889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56428" y="2097245"/>
            <a:ext cx="3714750" cy="1976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02959" y="4132061"/>
            <a:ext cx="4038600" cy="2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51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Physical Layer</a:t>
            </a:r>
            <a:endParaRPr/>
          </a:p>
        </p:txBody>
      </p:sp>
      <p:sp>
        <p:nvSpPr>
          <p:cNvPr id="897" name="Google Shape;897;p51"/>
          <p:cNvSpPr txBox="1">
            <a:spLocks noGrp="1"/>
          </p:cNvSpPr>
          <p:nvPr>
            <p:ph type="body" idx="1"/>
          </p:nvPr>
        </p:nvSpPr>
        <p:spPr>
          <a:xfrm>
            <a:off x="1484310" y="1434775"/>
            <a:ext cx="9927155" cy="5094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Physical Topology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Bus, ring, etc.</a:t>
            </a:r>
            <a:endParaRPr/>
          </a:p>
          <a:p>
            <a:pPr marL="742950" lvl="1" indent="-101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endParaRPr/>
          </a:p>
          <a:p>
            <a:pPr marL="742950" lvl="1" indent="-101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Transmission Modes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Simplex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Half Duplex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Full Duplex</a:t>
            </a:r>
            <a:endParaRPr/>
          </a:p>
        </p:txBody>
      </p:sp>
      <p:pic>
        <p:nvPicPr>
          <p:cNvPr id="898" name="Google Shape;89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5549" y="1511490"/>
            <a:ext cx="1914525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1349" y="1511490"/>
            <a:ext cx="2971800" cy="230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04837" y="4102238"/>
            <a:ext cx="30861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5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Summary of OSI Layers</a:t>
            </a:r>
            <a:endParaRPr/>
          </a:p>
        </p:txBody>
      </p:sp>
      <p:pic>
        <p:nvPicPr>
          <p:cNvPr id="907" name="Google Shape;907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8210" y="1568355"/>
            <a:ext cx="8570912" cy="39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945A-CD60-4002-8DB4-EFE8D495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E8160-99C4-4E36-985C-08E71AFD4EF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73887" y="272796"/>
            <a:ext cx="11930242" cy="2068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6EADD9-09C7-4B78-8E08-73826CF48008}"/>
              </a:ext>
            </a:extLst>
          </p:cNvPr>
          <p:cNvSpPr txBox="1"/>
          <p:nvPr/>
        </p:nvSpPr>
        <p:spPr>
          <a:xfrm>
            <a:off x="960120" y="2907792"/>
            <a:ext cx="20313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buAutoNum type="romanUcPeriod"/>
            </a:pPr>
            <a:r>
              <a:rPr lang="en-IN" dirty="0"/>
              <a:t>Application Layer</a:t>
            </a:r>
          </a:p>
          <a:p>
            <a:pPr marL="400050" indent="-400050">
              <a:buAutoNum type="romanUcPeriod"/>
            </a:pPr>
            <a:r>
              <a:rPr lang="en-IN" dirty="0"/>
              <a:t>Transport layer</a:t>
            </a:r>
          </a:p>
          <a:p>
            <a:pPr marL="400050" indent="-400050">
              <a:buAutoNum type="romanUcPeriod"/>
            </a:pPr>
            <a:r>
              <a:rPr lang="en-IN" dirty="0"/>
              <a:t>Presentation layer</a:t>
            </a:r>
          </a:p>
          <a:p>
            <a:pPr marL="400050" indent="-400050">
              <a:buAutoNum type="romanUcPeriod"/>
            </a:pPr>
            <a:r>
              <a:rPr lang="en-IN" dirty="0"/>
              <a:t>Physical layer</a:t>
            </a:r>
          </a:p>
        </p:txBody>
      </p:sp>
    </p:spTree>
    <p:extLst>
      <p:ext uri="{BB962C8B-B14F-4D97-AF65-F5344CB8AC3E}">
        <p14:creationId xmlns:p14="http://schemas.microsoft.com/office/powerpoint/2010/main" val="39496063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8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914" name="Google Shape;914;p88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IN" dirty="0"/>
              <a:t>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32B48C-CD21-44AF-8396-4A71A44B05D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417891" y="4761"/>
            <a:ext cx="9191625" cy="3114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FCED6D-D746-4368-969F-AD67F87C7A20}"/>
              </a:ext>
            </a:extLst>
          </p:cNvPr>
          <p:cNvSpPr txBox="1"/>
          <p:nvPr/>
        </p:nvSpPr>
        <p:spPr>
          <a:xfrm>
            <a:off x="1563624" y="455371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6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0A9D4-0C09-42F5-8F36-6B992974F3B5}"/>
              </a:ext>
            </a:extLst>
          </p:cNvPr>
          <p:cNvSpPr txBox="1"/>
          <p:nvPr/>
        </p:nvSpPr>
        <p:spPr>
          <a:xfrm>
            <a:off x="2029890" y="455371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5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7FFAF-FE02-4949-875C-5F0F42E3FC7F}"/>
              </a:ext>
            </a:extLst>
          </p:cNvPr>
          <p:cNvSpPr txBox="1"/>
          <p:nvPr/>
        </p:nvSpPr>
        <p:spPr>
          <a:xfrm>
            <a:off x="2473335" y="457942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3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484B78-4BE4-4D8E-9055-6798FE149CD1}"/>
              </a:ext>
            </a:extLst>
          </p:cNvPr>
          <p:cNvSpPr txBox="1"/>
          <p:nvPr/>
        </p:nvSpPr>
        <p:spPr>
          <a:xfrm>
            <a:off x="2850361" y="457942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1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4A70FA-5E1F-407F-9098-492772DD95B1}"/>
              </a:ext>
            </a:extLst>
          </p:cNvPr>
          <p:cNvSpPr txBox="1"/>
          <p:nvPr/>
        </p:nvSpPr>
        <p:spPr>
          <a:xfrm>
            <a:off x="3293806" y="457942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2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B835DB-A62A-45B2-ABFD-D5964CC94A0C}"/>
              </a:ext>
            </a:extLst>
          </p:cNvPr>
          <p:cNvSpPr txBox="1"/>
          <p:nvPr/>
        </p:nvSpPr>
        <p:spPr>
          <a:xfrm>
            <a:off x="3650873" y="457942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7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5541DB-0494-4BA3-AF6E-FE3376DDCCA2}"/>
              </a:ext>
            </a:extLst>
          </p:cNvPr>
          <p:cNvSpPr txBox="1"/>
          <p:nvPr/>
        </p:nvSpPr>
        <p:spPr>
          <a:xfrm>
            <a:off x="4094318" y="460514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TCP/IP Model</a:t>
            </a:r>
            <a:br>
              <a:rPr lang="en-US" sz="7200"/>
            </a:br>
            <a:r>
              <a:rPr lang="en-US" sz="1800"/>
              <a:t>De Facto Standard</a:t>
            </a:r>
            <a:endParaRPr sz="7200"/>
          </a:p>
        </p:txBody>
      </p:sp>
      <p:pic>
        <p:nvPicPr>
          <p:cNvPr id="921" name="Google Shape;921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2" name="Google Shape;922;p53"/>
          <p:cNvGraphicFramePr/>
          <p:nvPr/>
        </p:nvGraphicFramePr>
        <p:xfrm>
          <a:off x="4501001" y="3216642"/>
          <a:ext cx="3985300" cy="2966800"/>
        </p:xfrm>
        <a:graphic>
          <a:graphicData uri="http://schemas.openxmlformats.org/drawingml/2006/table">
            <a:tbl>
              <a:tblPr firstRow="1" bandRow="1">
                <a:noFill/>
                <a:tableStyleId>{1D55769D-D141-4992-859C-A79873A83F92}</a:tableStyleId>
              </a:tblPr>
              <a:tblGrid>
                <a:gridCol w="45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OSI Model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TCP/IP Model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Application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Application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Presentation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Session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Transport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Transport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Network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Internet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Data Link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Network Access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Physical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Model</a:t>
            </a:r>
            <a:endParaRPr/>
          </a:p>
        </p:txBody>
      </p:sp>
      <p:sp>
        <p:nvSpPr>
          <p:cNvPr id="928" name="Google Shape;928;p54"/>
          <p:cNvSpPr txBox="1">
            <a:spLocks noGrp="1"/>
          </p:cNvSpPr>
          <p:nvPr>
            <p:ph type="body" idx="1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Developed by the US Defense Advanced Research Project Agency (DARPA) for its packet switched network (ARPANET)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Used by the global Internet.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Also known as </a:t>
            </a:r>
            <a:r>
              <a:rPr lang="en-US" b="1"/>
              <a:t>De Facto Standard.</a:t>
            </a:r>
            <a:endParaRPr/>
          </a:p>
        </p:txBody>
      </p:sp>
      <p:pic>
        <p:nvPicPr>
          <p:cNvPr id="929" name="Google Shape;92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0" name="Google Shape;930;p54"/>
          <p:cNvGraphicFramePr/>
          <p:nvPr/>
        </p:nvGraphicFramePr>
        <p:xfrm>
          <a:off x="6722361" y="2964159"/>
          <a:ext cx="3985300" cy="2966800"/>
        </p:xfrm>
        <a:graphic>
          <a:graphicData uri="http://schemas.openxmlformats.org/drawingml/2006/table">
            <a:tbl>
              <a:tblPr firstRow="1" bandRow="1">
                <a:noFill/>
                <a:tableStyleId>{1D55769D-D141-4992-859C-A79873A83F92}</a:tableStyleId>
              </a:tblPr>
              <a:tblGrid>
                <a:gridCol w="45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OSI Model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TCP/IP Model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Application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Application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Presentation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Session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Transport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Transport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Network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Internet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Data Link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Network Access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Physical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Encapsulation and PDU</a:t>
            </a:r>
            <a:endParaRPr/>
          </a:p>
        </p:txBody>
      </p:sp>
      <p:pic>
        <p:nvPicPr>
          <p:cNvPr id="936" name="Google Shape;936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55"/>
          <p:cNvSpPr/>
          <p:nvPr/>
        </p:nvSpPr>
        <p:spPr>
          <a:xfrm>
            <a:off x="3692741" y="1592842"/>
            <a:ext cx="1985755" cy="525439"/>
          </a:xfrm>
          <a:prstGeom prst="rect">
            <a:avLst/>
          </a:prstGeom>
          <a:solidFill>
            <a:schemeClr val="lt1"/>
          </a:solidFill>
          <a:ln w="158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Email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8" name="Google Shape;938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4448" y="964799"/>
            <a:ext cx="1066800" cy="117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3636" y="5822176"/>
            <a:ext cx="1607096" cy="5586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0" name="Google Shape;940;p55"/>
          <p:cNvCxnSpPr/>
          <p:nvPr/>
        </p:nvCxnSpPr>
        <p:spPr>
          <a:xfrm rot="10800000" flipH="1">
            <a:off x="3623481" y="1501253"/>
            <a:ext cx="3377821" cy="1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1" name="Google Shape;941;p55"/>
          <p:cNvCxnSpPr/>
          <p:nvPr/>
        </p:nvCxnSpPr>
        <p:spPr>
          <a:xfrm rot="10800000">
            <a:off x="7001302" y="1501253"/>
            <a:ext cx="0" cy="436186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2" name="Google Shape;942;p55"/>
          <p:cNvSpPr/>
          <p:nvPr/>
        </p:nvSpPr>
        <p:spPr>
          <a:xfrm>
            <a:off x="5015546" y="2288699"/>
            <a:ext cx="662950" cy="525439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5"/>
          <p:cNvSpPr/>
          <p:nvPr/>
        </p:nvSpPr>
        <p:spPr>
          <a:xfrm>
            <a:off x="4355691" y="2284506"/>
            <a:ext cx="662950" cy="525439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5"/>
          <p:cNvSpPr/>
          <p:nvPr/>
        </p:nvSpPr>
        <p:spPr>
          <a:xfrm>
            <a:off x="3692741" y="2284506"/>
            <a:ext cx="662950" cy="525439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5"/>
          <p:cNvSpPr/>
          <p:nvPr/>
        </p:nvSpPr>
        <p:spPr>
          <a:xfrm>
            <a:off x="5015547" y="2984556"/>
            <a:ext cx="662950" cy="525439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5"/>
          <p:cNvSpPr/>
          <p:nvPr/>
        </p:nvSpPr>
        <p:spPr>
          <a:xfrm>
            <a:off x="4005620" y="2980363"/>
            <a:ext cx="1013022" cy="525439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55"/>
          <p:cNvSpPr/>
          <p:nvPr/>
        </p:nvSpPr>
        <p:spPr>
          <a:xfrm>
            <a:off x="5015546" y="3663175"/>
            <a:ext cx="662950" cy="525439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55"/>
          <p:cNvSpPr/>
          <p:nvPr/>
        </p:nvSpPr>
        <p:spPr>
          <a:xfrm>
            <a:off x="4005619" y="3665806"/>
            <a:ext cx="1013022" cy="525439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55"/>
          <p:cNvSpPr/>
          <p:nvPr/>
        </p:nvSpPr>
        <p:spPr>
          <a:xfrm>
            <a:off x="2991050" y="3665806"/>
            <a:ext cx="1013022" cy="525439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55"/>
          <p:cNvSpPr/>
          <p:nvPr/>
        </p:nvSpPr>
        <p:spPr>
          <a:xfrm>
            <a:off x="5013999" y="4339163"/>
            <a:ext cx="662950" cy="525439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55"/>
          <p:cNvSpPr/>
          <p:nvPr/>
        </p:nvSpPr>
        <p:spPr>
          <a:xfrm>
            <a:off x="4004072" y="4341794"/>
            <a:ext cx="1013022" cy="525439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55"/>
          <p:cNvSpPr/>
          <p:nvPr/>
        </p:nvSpPr>
        <p:spPr>
          <a:xfrm>
            <a:off x="2989503" y="4341794"/>
            <a:ext cx="1013022" cy="525439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55"/>
          <p:cNvSpPr/>
          <p:nvPr/>
        </p:nvSpPr>
        <p:spPr>
          <a:xfrm>
            <a:off x="1974934" y="4339162"/>
            <a:ext cx="1013022" cy="525439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55"/>
          <p:cNvSpPr/>
          <p:nvPr/>
        </p:nvSpPr>
        <p:spPr>
          <a:xfrm>
            <a:off x="5684739" y="4339161"/>
            <a:ext cx="1013022" cy="525439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5"/>
          <p:cNvSpPr/>
          <p:nvPr/>
        </p:nvSpPr>
        <p:spPr>
          <a:xfrm>
            <a:off x="1974933" y="5054542"/>
            <a:ext cx="4722823" cy="525439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10011010111010101010101010101010101011010101010101010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55"/>
          <p:cNvSpPr/>
          <p:nvPr/>
        </p:nvSpPr>
        <p:spPr>
          <a:xfrm>
            <a:off x="7508757" y="1592843"/>
            <a:ext cx="1218975" cy="1219444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55"/>
          <p:cNvSpPr/>
          <p:nvPr/>
        </p:nvSpPr>
        <p:spPr>
          <a:xfrm>
            <a:off x="7508758" y="2982704"/>
            <a:ext cx="1218975" cy="525439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Segment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55"/>
          <p:cNvSpPr/>
          <p:nvPr/>
        </p:nvSpPr>
        <p:spPr>
          <a:xfrm>
            <a:off x="7508757" y="3661323"/>
            <a:ext cx="1218975" cy="525439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55"/>
          <p:cNvSpPr/>
          <p:nvPr/>
        </p:nvSpPr>
        <p:spPr>
          <a:xfrm>
            <a:off x="7507210" y="4337311"/>
            <a:ext cx="1218975" cy="525439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 </a:t>
            </a:r>
            <a:r>
              <a:rPr lang="en-US" sz="9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(Medium Dependent)</a:t>
            </a: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0" name="Google Shape;960;p55"/>
          <p:cNvSpPr/>
          <p:nvPr/>
        </p:nvSpPr>
        <p:spPr>
          <a:xfrm>
            <a:off x="7508757" y="5054541"/>
            <a:ext cx="1218975" cy="525439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55"/>
          <p:cNvSpPr txBox="1"/>
          <p:nvPr/>
        </p:nvSpPr>
        <p:spPr>
          <a:xfrm>
            <a:off x="7795134" y="1197018"/>
            <a:ext cx="643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PDU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2" name="Google Shape;962;p55"/>
          <p:cNvCxnSpPr>
            <a:stCxn id="937" idx="3"/>
            <a:endCxn id="956" idx="1"/>
          </p:cNvCxnSpPr>
          <p:nvPr/>
        </p:nvCxnSpPr>
        <p:spPr>
          <a:xfrm>
            <a:off x="5678496" y="1855562"/>
            <a:ext cx="1830300" cy="3471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3" name="Google Shape;963;p55"/>
          <p:cNvCxnSpPr>
            <a:stCxn id="942" idx="3"/>
            <a:endCxn id="956" idx="1"/>
          </p:cNvCxnSpPr>
          <p:nvPr/>
        </p:nvCxnSpPr>
        <p:spPr>
          <a:xfrm rot="10800000" flipH="1">
            <a:off x="5678496" y="2202519"/>
            <a:ext cx="1830300" cy="348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4" name="Google Shape;964;p55"/>
          <p:cNvCxnSpPr>
            <a:stCxn id="945" idx="3"/>
            <a:endCxn id="957" idx="1"/>
          </p:cNvCxnSpPr>
          <p:nvPr/>
        </p:nvCxnSpPr>
        <p:spPr>
          <a:xfrm rot="10800000" flipH="1">
            <a:off x="5678497" y="3245476"/>
            <a:ext cx="1830300" cy="1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5" name="Google Shape;965;p55"/>
          <p:cNvCxnSpPr>
            <a:stCxn id="947" idx="3"/>
            <a:endCxn id="958" idx="1"/>
          </p:cNvCxnSpPr>
          <p:nvPr/>
        </p:nvCxnSpPr>
        <p:spPr>
          <a:xfrm rot="10800000" flipH="1">
            <a:off x="5678496" y="3924095"/>
            <a:ext cx="1830300" cy="1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6" name="Google Shape;966;p55"/>
          <p:cNvCxnSpPr>
            <a:stCxn id="954" idx="3"/>
            <a:endCxn id="959" idx="1"/>
          </p:cNvCxnSpPr>
          <p:nvPr/>
        </p:nvCxnSpPr>
        <p:spPr>
          <a:xfrm rot="10800000" flipH="1">
            <a:off x="6697761" y="4600081"/>
            <a:ext cx="809400" cy="1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7" name="Google Shape;967;p55"/>
          <p:cNvCxnSpPr>
            <a:stCxn id="955" idx="3"/>
            <a:endCxn id="960" idx="1"/>
          </p:cNvCxnSpPr>
          <p:nvPr/>
        </p:nvCxnSpPr>
        <p:spPr>
          <a:xfrm>
            <a:off x="6697756" y="5317262"/>
            <a:ext cx="8109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8" name="Google Shape;968;p55"/>
          <p:cNvCxnSpPr/>
          <p:nvPr/>
        </p:nvCxnSpPr>
        <p:spPr>
          <a:xfrm>
            <a:off x="9000699" y="1197018"/>
            <a:ext cx="0" cy="4500922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69" name="Google Shape;969;p55"/>
          <p:cNvSpPr txBox="1"/>
          <p:nvPr/>
        </p:nvSpPr>
        <p:spPr>
          <a:xfrm rot="-5400000">
            <a:off x="8034724" y="3198167"/>
            <a:ext cx="23124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Passing down the 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and Other Models</a:t>
            </a:r>
            <a:endParaRPr/>
          </a:p>
        </p:txBody>
      </p:sp>
      <p:pic>
        <p:nvPicPr>
          <p:cNvPr id="975" name="Google Shape;975;p56" descr="Introduction to Networks - Mozilla Firefox"/>
          <p:cNvPicPr preferRelativeResize="0"/>
          <p:nvPr/>
        </p:nvPicPr>
        <p:blipFill rotWithShape="1">
          <a:blip r:embed="rId3">
            <a:alphaModFix/>
          </a:blip>
          <a:srcRect l="9470" t="35641" r="37431" b="729"/>
          <a:stretch/>
        </p:blipFill>
        <p:spPr>
          <a:xfrm>
            <a:off x="2200272" y="1066800"/>
            <a:ext cx="8586788" cy="525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5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Addressing in Networking</a:t>
            </a:r>
            <a:endParaRPr/>
          </a:p>
        </p:txBody>
      </p:sp>
      <p:pic>
        <p:nvPicPr>
          <p:cNvPr id="981" name="Google Shape;981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5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Addressing - Summary</a:t>
            </a:r>
            <a:endParaRPr/>
          </a:p>
        </p:txBody>
      </p:sp>
      <p:sp>
        <p:nvSpPr>
          <p:cNvPr id="987" name="Google Shape;987;p58"/>
          <p:cNvSpPr txBox="1">
            <a:spLocks noGrp="1"/>
          </p:cNvSpPr>
          <p:nvPr>
            <p:ph type="body" idx="1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Four levels of addresses are used in an internet employing the TCP/IP protocols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b="1"/>
          </a:p>
        </p:txBody>
      </p:sp>
      <p:pic>
        <p:nvPicPr>
          <p:cNvPr id="988" name="Google Shape;988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9343" y="2253066"/>
            <a:ext cx="7834313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79343" y="4468025"/>
            <a:ext cx="7848600" cy="1915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Relationship of layers and address in TCP/IP</a:t>
            </a:r>
            <a:endParaRPr/>
          </a:p>
        </p:txBody>
      </p:sp>
      <p:pic>
        <p:nvPicPr>
          <p:cNvPr id="996" name="Google Shape;996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9866" y="1273650"/>
            <a:ext cx="74676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0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Addresses</a:t>
            </a:r>
            <a:endParaRPr/>
          </a:p>
        </p:txBody>
      </p:sp>
      <p:sp>
        <p:nvSpPr>
          <p:cNvPr id="1003" name="Google Shape;1003;p60"/>
          <p:cNvSpPr txBox="1">
            <a:spLocks noGrp="1"/>
          </p:cNvSpPr>
          <p:nvPr>
            <p:ph type="body" idx="1"/>
          </p:nvPr>
        </p:nvSpPr>
        <p:spPr>
          <a:xfrm>
            <a:off x="1484310" y="1434775"/>
            <a:ext cx="9927155" cy="524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Specific Address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Applications having user friendly addresses.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Email addresses or URLs.</a:t>
            </a:r>
            <a:endParaRPr/>
          </a:p>
          <a:p>
            <a:pPr marL="1200150" lvl="2" indent="-28575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u="sng"/>
              <a:t>john@gmail.com</a:t>
            </a:r>
            <a:r>
              <a:rPr lang="en-US"/>
              <a:t> or </a:t>
            </a:r>
            <a:r>
              <a:rPr lang="en-US" u="sng"/>
              <a:t>www.bracu.ac.bd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Theses are converted into corresponding port and logical addresses by the sending computer.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other addresses are already discussed in the earlier slides! Can you identify them?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rPr lang="en-US" sz="1800" i="1"/>
              <a:t>**Port address (Slide </a:t>
            </a:r>
            <a:r>
              <a:rPr lang="en-US" sz="1800" b="1" i="1"/>
              <a:t>35</a:t>
            </a:r>
            <a:r>
              <a:rPr lang="en-US" sz="1800" i="1"/>
              <a:t>), Logical Address (Slide </a:t>
            </a:r>
            <a:r>
              <a:rPr lang="en-US" sz="1800" b="1" i="1"/>
              <a:t>42</a:t>
            </a:r>
            <a:r>
              <a:rPr lang="en-US" sz="1800" i="1"/>
              <a:t>), Physical Address (Slide </a:t>
            </a:r>
            <a:r>
              <a:rPr lang="en-US" sz="1800" b="1" i="1"/>
              <a:t>48</a:t>
            </a:r>
            <a:r>
              <a:rPr lang="en-US" sz="1800" i="1"/>
              <a:t>)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b="1"/>
          </a:p>
        </p:txBody>
      </p:sp>
      <p:pic>
        <p:nvPicPr>
          <p:cNvPr id="1004" name="Google Shape;100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2300" y="1157330"/>
            <a:ext cx="5867400" cy="53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61"/>
          <p:cNvSpPr/>
          <p:nvPr/>
        </p:nvSpPr>
        <p:spPr>
          <a:xfrm>
            <a:off x="4667534" y="5693846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1" name="Google Shape;1011;p61"/>
          <p:cNvSpPr/>
          <p:nvPr/>
        </p:nvSpPr>
        <p:spPr>
          <a:xfrm>
            <a:off x="5061329" y="5692936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2" name="Google Shape;1012;p61"/>
          <p:cNvSpPr/>
          <p:nvPr/>
        </p:nvSpPr>
        <p:spPr>
          <a:xfrm>
            <a:off x="5457114" y="5692936"/>
            <a:ext cx="395785" cy="307074"/>
          </a:xfrm>
          <a:prstGeom prst="rect">
            <a:avLst/>
          </a:prstGeom>
          <a:solidFill>
            <a:schemeClr val="accent3"/>
          </a:solidFill>
          <a:ln w="15875" cap="rnd" cmpd="sng">
            <a:solidFill>
              <a:srgbClr val="A472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3" name="Google Shape;1013;p61"/>
          <p:cNvSpPr/>
          <p:nvPr/>
        </p:nvSpPr>
        <p:spPr>
          <a:xfrm>
            <a:off x="5850909" y="5692936"/>
            <a:ext cx="395785" cy="307074"/>
          </a:xfrm>
          <a:prstGeom prst="rect">
            <a:avLst/>
          </a:prstGeom>
          <a:solidFill>
            <a:schemeClr val="accent3"/>
          </a:solidFill>
          <a:ln w="15875" cap="rnd" cmpd="sng">
            <a:solidFill>
              <a:srgbClr val="A472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4" name="Google Shape;1014;p61"/>
          <p:cNvSpPr/>
          <p:nvPr/>
        </p:nvSpPr>
        <p:spPr>
          <a:xfrm>
            <a:off x="6246125" y="5689524"/>
            <a:ext cx="632347" cy="307074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5" name="Google Shape;1015;p61"/>
          <p:cNvSpPr/>
          <p:nvPr/>
        </p:nvSpPr>
        <p:spPr>
          <a:xfrm>
            <a:off x="4667534" y="5689103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61"/>
          <p:cNvSpPr/>
          <p:nvPr/>
        </p:nvSpPr>
        <p:spPr>
          <a:xfrm>
            <a:off x="5061329" y="5688193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61"/>
          <p:cNvSpPr/>
          <p:nvPr/>
        </p:nvSpPr>
        <p:spPr>
          <a:xfrm>
            <a:off x="5457114" y="5688193"/>
            <a:ext cx="395785" cy="307074"/>
          </a:xfrm>
          <a:prstGeom prst="rect">
            <a:avLst/>
          </a:prstGeom>
          <a:solidFill>
            <a:schemeClr val="accent3"/>
          </a:solidFill>
          <a:ln w="15875" cap="rnd" cmpd="sng">
            <a:solidFill>
              <a:srgbClr val="A472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61"/>
          <p:cNvSpPr/>
          <p:nvPr/>
        </p:nvSpPr>
        <p:spPr>
          <a:xfrm>
            <a:off x="5850909" y="5688193"/>
            <a:ext cx="395785" cy="307074"/>
          </a:xfrm>
          <a:prstGeom prst="rect">
            <a:avLst/>
          </a:prstGeom>
          <a:solidFill>
            <a:schemeClr val="accent3"/>
          </a:solidFill>
          <a:ln w="15875" cap="rnd" cmpd="sng">
            <a:solidFill>
              <a:srgbClr val="A472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61"/>
          <p:cNvSpPr/>
          <p:nvPr/>
        </p:nvSpPr>
        <p:spPr>
          <a:xfrm>
            <a:off x="6246125" y="5691605"/>
            <a:ext cx="632347" cy="307074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61"/>
          <p:cNvSpPr/>
          <p:nvPr/>
        </p:nvSpPr>
        <p:spPr>
          <a:xfrm>
            <a:off x="9147980" y="1772532"/>
            <a:ext cx="2941461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1" name="Google Shape;1021;p61"/>
          <p:cNvSpPr/>
          <p:nvPr/>
        </p:nvSpPr>
        <p:spPr>
          <a:xfrm>
            <a:off x="9147980" y="1465458"/>
            <a:ext cx="2941461" cy="307074"/>
          </a:xfrm>
          <a:prstGeom prst="rect">
            <a:avLst/>
          </a:prstGeom>
          <a:solidFill>
            <a:schemeClr val="accent3"/>
          </a:solidFill>
          <a:ln w="15875" cap="rnd" cmpd="sng">
            <a:solidFill>
              <a:srgbClr val="A472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2" name="Google Shape;1022;p61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Logical and Physical Address – Same Network</a:t>
            </a:r>
            <a:endParaRPr/>
          </a:p>
        </p:txBody>
      </p:sp>
      <p:pic>
        <p:nvPicPr>
          <p:cNvPr id="1023" name="Google Shape;1023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61"/>
          <p:cNvSpPr txBox="1"/>
          <p:nvPr/>
        </p:nvSpPr>
        <p:spPr>
          <a:xfrm>
            <a:off x="9116704" y="1157330"/>
            <a:ext cx="3075296" cy="98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 Addresses – </a:t>
            </a: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Numbers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MAC Address – </a:t>
            </a: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Alphabets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61"/>
          <p:cNvSpPr/>
          <p:nvPr/>
        </p:nvSpPr>
        <p:spPr>
          <a:xfrm>
            <a:off x="3623481" y="5513696"/>
            <a:ext cx="320722" cy="307074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6" name="Google Shape;1026;p61"/>
          <p:cNvSpPr/>
          <p:nvPr/>
        </p:nvSpPr>
        <p:spPr>
          <a:xfrm>
            <a:off x="3036627" y="1528549"/>
            <a:ext cx="2317928" cy="5094586"/>
          </a:xfrm>
          <a:prstGeom prst="ellipse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7" name="Google Shape;1027;p61"/>
          <p:cNvSpPr txBox="1"/>
          <p:nvPr/>
        </p:nvSpPr>
        <p:spPr>
          <a:xfrm>
            <a:off x="2597316" y="5681369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61"/>
          <p:cNvSpPr txBox="1"/>
          <p:nvPr/>
        </p:nvSpPr>
        <p:spPr>
          <a:xfrm>
            <a:off x="2134253" y="2660665"/>
            <a:ext cx="12886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61"/>
          <p:cNvSpPr txBox="1"/>
          <p:nvPr/>
        </p:nvSpPr>
        <p:spPr>
          <a:xfrm>
            <a:off x="3998319" y="562726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61"/>
          <p:cNvSpPr txBox="1"/>
          <p:nvPr/>
        </p:nvSpPr>
        <p:spPr>
          <a:xfrm>
            <a:off x="3263615" y="4286635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61"/>
          <p:cNvSpPr txBox="1"/>
          <p:nvPr/>
        </p:nvSpPr>
        <p:spPr>
          <a:xfrm>
            <a:off x="3201631" y="2353594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61"/>
          <p:cNvSpPr txBox="1"/>
          <p:nvPr/>
        </p:nvSpPr>
        <p:spPr>
          <a:xfrm>
            <a:off x="3845826" y="1528549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61"/>
          <p:cNvSpPr txBox="1"/>
          <p:nvPr/>
        </p:nvSpPr>
        <p:spPr>
          <a:xfrm>
            <a:off x="4775092" y="289641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4" name="Google Shape;1034;p61"/>
          <p:cNvCxnSpPr/>
          <p:nvPr/>
        </p:nvCxnSpPr>
        <p:spPr>
          <a:xfrm>
            <a:off x="5061329" y="3138985"/>
            <a:ext cx="56581" cy="23201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35" name="Google Shape;1035;p61"/>
          <p:cNvSpPr txBox="1"/>
          <p:nvPr/>
        </p:nvSpPr>
        <p:spPr>
          <a:xfrm>
            <a:off x="4706203" y="5403021"/>
            <a:ext cx="15279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S      S      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Google Shape;1040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2653" y="1066799"/>
            <a:ext cx="6248400" cy="57134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62"/>
          <p:cNvSpPr/>
          <p:nvPr/>
        </p:nvSpPr>
        <p:spPr>
          <a:xfrm>
            <a:off x="4263260" y="1162705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62"/>
          <p:cNvSpPr/>
          <p:nvPr/>
        </p:nvSpPr>
        <p:spPr>
          <a:xfrm>
            <a:off x="4657055" y="1164176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62"/>
          <p:cNvSpPr/>
          <p:nvPr/>
        </p:nvSpPr>
        <p:spPr>
          <a:xfrm>
            <a:off x="4267662" y="1159294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62"/>
          <p:cNvSpPr/>
          <p:nvPr/>
        </p:nvSpPr>
        <p:spPr>
          <a:xfrm>
            <a:off x="4661457" y="1158384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2"/>
          <p:cNvSpPr/>
          <p:nvPr/>
        </p:nvSpPr>
        <p:spPr>
          <a:xfrm>
            <a:off x="4264727" y="1162705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62"/>
          <p:cNvSpPr/>
          <p:nvPr/>
        </p:nvSpPr>
        <p:spPr>
          <a:xfrm>
            <a:off x="4658522" y="1161795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62"/>
          <p:cNvSpPr/>
          <p:nvPr/>
        </p:nvSpPr>
        <p:spPr>
          <a:xfrm>
            <a:off x="4266717" y="1161234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2"/>
          <p:cNvSpPr/>
          <p:nvPr/>
        </p:nvSpPr>
        <p:spPr>
          <a:xfrm>
            <a:off x="4660512" y="1162705"/>
            <a:ext cx="395785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2"/>
          <p:cNvSpPr/>
          <p:nvPr/>
        </p:nvSpPr>
        <p:spPr>
          <a:xfrm>
            <a:off x="9148549" y="2080801"/>
            <a:ext cx="2941461" cy="307074"/>
          </a:xfrm>
          <a:prstGeom prst="rect">
            <a:avLst/>
          </a:prstGeom>
          <a:solidFill>
            <a:schemeClr val="accent5"/>
          </a:solidFill>
          <a:ln w="15875" cap="rnd" cmpd="sng">
            <a:solidFill>
              <a:srgbClr val="9C33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50" name="Google Shape;1050;p62"/>
          <p:cNvSpPr/>
          <p:nvPr/>
        </p:nvSpPr>
        <p:spPr>
          <a:xfrm>
            <a:off x="5054307" y="1162706"/>
            <a:ext cx="395785" cy="307074"/>
          </a:xfrm>
          <a:prstGeom prst="rect">
            <a:avLst/>
          </a:prstGeom>
          <a:solidFill>
            <a:schemeClr val="accent3"/>
          </a:solidFill>
          <a:ln w="15875" cap="rnd" cmpd="sng">
            <a:solidFill>
              <a:srgbClr val="A472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62"/>
          <p:cNvSpPr/>
          <p:nvPr/>
        </p:nvSpPr>
        <p:spPr>
          <a:xfrm>
            <a:off x="5448102" y="1161796"/>
            <a:ext cx="395785" cy="307074"/>
          </a:xfrm>
          <a:prstGeom prst="rect">
            <a:avLst/>
          </a:prstGeom>
          <a:solidFill>
            <a:schemeClr val="accent3"/>
          </a:solidFill>
          <a:ln w="15875" cap="rnd" cmpd="sng">
            <a:solidFill>
              <a:srgbClr val="A472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62"/>
          <p:cNvSpPr/>
          <p:nvPr/>
        </p:nvSpPr>
        <p:spPr>
          <a:xfrm>
            <a:off x="5843887" y="1161796"/>
            <a:ext cx="395785" cy="307074"/>
          </a:xfrm>
          <a:prstGeom prst="rect">
            <a:avLst/>
          </a:prstGeom>
          <a:solidFill>
            <a:schemeClr val="accent5"/>
          </a:solidFill>
          <a:ln w="15875" cap="rnd" cmpd="sng">
            <a:solidFill>
              <a:srgbClr val="9C33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62"/>
          <p:cNvSpPr/>
          <p:nvPr/>
        </p:nvSpPr>
        <p:spPr>
          <a:xfrm>
            <a:off x="6237682" y="1161796"/>
            <a:ext cx="395785" cy="307074"/>
          </a:xfrm>
          <a:prstGeom prst="rect">
            <a:avLst/>
          </a:prstGeom>
          <a:solidFill>
            <a:schemeClr val="accent5"/>
          </a:solidFill>
          <a:ln w="15875" cap="rnd" cmpd="sng">
            <a:solidFill>
              <a:srgbClr val="9C33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62"/>
          <p:cNvSpPr/>
          <p:nvPr/>
        </p:nvSpPr>
        <p:spPr>
          <a:xfrm>
            <a:off x="6632898" y="1163146"/>
            <a:ext cx="632347" cy="307074"/>
          </a:xfrm>
          <a:prstGeom prst="rect">
            <a:avLst/>
          </a:prstGeom>
          <a:solidFill>
            <a:schemeClr val="accent2"/>
          </a:solidFill>
          <a:ln w="15875" cap="rnd" cmpd="sng">
            <a:solidFill>
              <a:srgbClr val="5D8E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62"/>
          <p:cNvSpPr/>
          <p:nvPr/>
        </p:nvSpPr>
        <p:spPr>
          <a:xfrm>
            <a:off x="9147980" y="1772532"/>
            <a:ext cx="2941461" cy="30707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56" name="Google Shape;1056;p62"/>
          <p:cNvSpPr/>
          <p:nvPr/>
        </p:nvSpPr>
        <p:spPr>
          <a:xfrm>
            <a:off x="9147980" y="1465458"/>
            <a:ext cx="2941461" cy="307074"/>
          </a:xfrm>
          <a:prstGeom prst="rect">
            <a:avLst/>
          </a:prstGeom>
          <a:solidFill>
            <a:schemeClr val="accent3"/>
          </a:solidFill>
          <a:ln w="15875" cap="rnd" cmpd="sng">
            <a:solidFill>
              <a:srgbClr val="A472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57" name="Google Shape;1057;p6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 sz="3200"/>
              <a:t>Port, Logical &amp; Physical Address – Different Network</a:t>
            </a:r>
            <a:endParaRPr/>
          </a:p>
        </p:txBody>
      </p:sp>
      <p:pic>
        <p:nvPicPr>
          <p:cNvPr id="1058" name="Google Shape;1058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62"/>
          <p:cNvSpPr txBox="1"/>
          <p:nvPr/>
        </p:nvSpPr>
        <p:spPr>
          <a:xfrm>
            <a:off x="9127424" y="794193"/>
            <a:ext cx="3075296" cy="155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 Addresses – </a:t>
            </a:r>
            <a:r>
              <a:rPr lang="en-US" sz="1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Numbers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MAC Address – </a:t>
            </a:r>
            <a:r>
              <a:rPr lang="en-US" sz="1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Capital Alphabets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Port Address</a:t>
            </a:r>
            <a:r>
              <a:rPr lang="en-US" sz="1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– Small Alphabets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62"/>
          <p:cNvSpPr txBox="1"/>
          <p:nvPr/>
        </p:nvSpPr>
        <p:spPr>
          <a:xfrm>
            <a:off x="2297068" y="5847420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62"/>
          <p:cNvSpPr txBox="1"/>
          <p:nvPr/>
        </p:nvSpPr>
        <p:spPr>
          <a:xfrm>
            <a:off x="8651062" y="5403021"/>
            <a:ext cx="12886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Receiver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62"/>
          <p:cNvSpPr txBox="1"/>
          <p:nvPr/>
        </p:nvSpPr>
        <p:spPr>
          <a:xfrm>
            <a:off x="3595168" y="5791201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62"/>
          <p:cNvSpPr txBox="1"/>
          <p:nvPr/>
        </p:nvSpPr>
        <p:spPr>
          <a:xfrm>
            <a:off x="2894970" y="438223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2"/>
          <p:cNvSpPr txBox="1"/>
          <p:nvPr/>
        </p:nvSpPr>
        <p:spPr>
          <a:xfrm>
            <a:off x="2831830" y="229109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2"/>
          <p:cNvSpPr txBox="1"/>
          <p:nvPr/>
        </p:nvSpPr>
        <p:spPr>
          <a:xfrm>
            <a:off x="3496301" y="1403200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2"/>
          <p:cNvSpPr txBox="1"/>
          <p:nvPr/>
        </p:nvSpPr>
        <p:spPr>
          <a:xfrm>
            <a:off x="4472096" y="2875002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7" name="Google Shape;1067;p62"/>
          <p:cNvCxnSpPr/>
          <p:nvPr/>
        </p:nvCxnSpPr>
        <p:spPr>
          <a:xfrm>
            <a:off x="4761081" y="3138985"/>
            <a:ext cx="56581" cy="23201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68" name="Google Shape;1068;p62"/>
          <p:cNvSpPr txBox="1"/>
          <p:nvPr/>
        </p:nvSpPr>
        <p:spPr>
          <a:xfrm>
            <a:off x="4405955" y="5403021"/>
            <a:ext cx="15279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S      S      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2"/>
          <p:cNvSpPr txBox="1"/>
          <p:nvPr/>
        </p:nvSpPr>
        <p:spPr>
          <a:xfrm>
            <a:off x="5389608" y="3769680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2"/>
          <p:cNvSpPr txBox="1"/>
          <p:nvPr/>
        </p:nvSpPr>
        <p:spPr>
          <a:xfrm>
            <a:off x="5964995" y="2954319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62"/>
          <p:cNvSpPr txBox="1"/>
          <p:nvPr/>
        </p:nvSpPr>
        <p:spPr>
          <a:xfrm>
            <a:off x="7185330" y="3914995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J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62"/>
          <p:cNvSpPr txBox="1"/>
          <p:nvPr/>
        </p:nvSpPr>
        <p:spPr>
          <a:xfrm>
            <a:off x="5510791" y="4273609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2"/>
          <p:cNvSpPr txBox="1"/>
          <p:nvPr/>
        </p:nvSpPr>
        <p:spPr>
          <a:xfrm>
            <a:off x="6312356" y="547808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2"/>
          <p:cNvSpPr txBox="1"/>
          <p:nvPr/>
        </p:nvSpPr>
        <p:spPr>
          <a:xfrm>
            <a:off x="8193959" y="5033688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2"/>
          <p:cNvSpPr/>
          <p:nvPr/>
        </p:nvSpPr>
        <p:spPr>
          <a:xfrm>
            <a:off x="3801407" y="6296639"/>
            <a:ext cx="931389" cy="371900"/>
          </a:xfrm>
          <a:prstGeom prst="rect">
            <a:avLst/>
          </a:prstGeom>
          <a:solidFill>
            <a:schemeClr val="accent5"/>
          </a:solidFill>
          <a:ln w="15875" cap="rnd" cmpd="sng">
            <a:solidFill>
              <a:srgbClr val="9C33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Email –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Web –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2"/>
          <p:cNvSpPr/>
          <p:nvPr/>
        </p:nvSpPr>
        <p:spPr>
          <a:xfrm>
            <a:off x="7957568" y="6232222"/>
            <a:ext cx="931389" cy="371900"/>
          </a:xfrm>
          <a:prstGeom prst="rect">
            <a:avLst/>
          </a:prstGeom>
          <a:solidFill>
            <a:schemeClr val="accent5"/>
          </a:solidFill>
          <a:ln w="15875" cap="rnd" cmpd="sng">
            <a:solidFill>
              <a:srgbClr val="9C33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Email – 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7" name="Google Shape;1077;p62"/>
          <p:cNvCxnSpPr/>
          <p:nvPr/>
        </p:nvCxnSpPr>
        <p:spPr>
          <a:xfrm>
            <a:off x="6435574" y="3221237"/>
            <a:ext cx="197324" cy="13282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78" name="Google Shape;1078;p62"/>
          <p:cNvCxnSpPr/>
          <p:nvPr/>
        </p:nvCxnSpPr>
        <p:spPr>
          <a:xfrm rot="10800000">
            <a:off x="5510792" y="3605330"/>
            <a:ext cx="71142" cy="26620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79" name="Google Shape;1079;p62"/>
          <p:cNvCxnSpPr/>
          <p:nvPr/>
        </p:nvCxnSpPr>
        <p:spPr>
          <a:xfrm rot="10800000">
            <a:off x="6835911" y="3708280"/>
            <a:ext cx="397598" cy="297338"/>
          </a:xfrm>
          <a:prstGeom prst="straightConnector1">
            <a:avLst/>
          </a:prstGeom>
          <a:noFill/>
          <a:ln w="38100" cap="flat" cmpd="sng">
            <a:solidFill>
              <a:srgbClr val="13FF1E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0" name="Google Shape;1080;p62"/>
          <p:cNvCxnSpPr>
            <a:stCxn id="1072" idx="3"/>
          </p:cNvCxnSpPr>
          <p:nvPr/>
        </p:nvCxnSpPr>
        <p:spPr>
          <a:xfrm>
            <a:off x="6105826" y="4458275"/>
            <a:ext cx="276000" cy="10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1" name="Google Shape;1081;p62"/>
          <p:cNvCxnSpPr/>
          <p:nvPr/>
        </p:nvCxnSpPr>
        <p:spPr>
          <a:xfrm rot="10800000">
            <a:off x="6693194" y="5033688"/>
            <a:ext cx="200567" cy="45087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82" name="Google Shape;1082;p62"/>
          <p:cNvSpPr txBox="1"/>
          <p:nvPr/>
        </p:nvSpPr>
        <p:spPr>
          <a:xfrm>
            <a:off x="4289936" y="1444088"/>
            <a:ext cx="23157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 S      S     D      S     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62"/>
          <p:cNvSpPr/>
          <p:nvPr/>
        </p:nvSpPr>
        <p:spPr>
          <a:xfrm>
            <a:off x="3067050" y="5648325"/>
            <a:ext cx="429251" cy="36933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84" name="Google Shape;1084;p62"/>
          <p:cNvSpPr/>
          <p:nvPr/>
        </p:nvSpPr>
        <p:spPr>
          <a:xfrm>
            <a:off x="4806324" y="3487051"/>
            <a:ext cx="429251" cy="36933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85" name="Google Shape;1085;p62"/>
          <p:cNvSpPr/>
          <p:nvPr/>
        </p:nvSpPr>
        <p:spPr>
          <a:xfrm>
            <a:off x="6929551" y="3102983"/>
            <a:ext cx="429251" cy="36933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86" name="Google Shape;1086;p62"/>
          <p:cNvSpPr/>
          <p:nvPr/>
        </p:nvSpPr>
        <p:spPr>
          <a:xfrm>
            <a:off x="6364226" y="4545297"/>
            <a:ext cx="429251" cy="36933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1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1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1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8AD65-5BD5-4613-B50A-A1BEFED94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ABDBD-C1A3-4F75-91BE-0474764E0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EC647C-1C75-4A32-87FE-0B58AD3E28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162812" y="0"/>
            <a:ext cx="9845646" cy="3822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77148D-ACA8-4833-AE99-36E759C2ED66}"/>
              </a:ext>
            </a:extLst>
          </p:cNvPr>
          <p:cNvSpPr txBox="1"/>
          <p:nvPr/>
        </p:nvSpPr>
        <p:spPr>
          <a:xfrm>
            <a:off x="1183542" y="4453128"/>
            <a:ext cx="6173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IP address: 11, 1 (never change)</a:t>
            </a:r>
          </a:p>
          <a:p>
            <a:r>
              <a:rPr lang="en-IN" sz="1800" dirty="0"/>
              <a:t>MAC address: H, G (change in every hop (in every router))</a:t>
            </a:r>
          </a:p>
          <a:p>
            <a:r>
              <a:rPr lang="en-IN" sz="1800" dirty="0"/>
              <a:t>Port address : 443, 50001 (Never change)</a:t>
            </a:r>
          </a:p>
        </p:txBody>
      </p:sp>
    </p:spTree>
    <p:extLst>
      <p:ext uri="{BB962C8B-B14F-4D97-AF65-F5344CB8AC3E}">
        <p14:creationId xmlns:p14="http://schemas.microsoft.com/office/powerpoint/2010/main" val="7194753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6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Addressing – Review</a:t>
            </a:r>
            <a:endParaRPr/>
          </a:p>
        </p:txBody>
      </p:sp>
      <p:pic>
        <p:nvPicPr>
          <p:cNvPr id="1092" name="Google Shape;1092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63"/>
          <p:cNvSpPr txBox="1">
            <a:spLocks noGrp="1"/>
          </p:cNvSpPr>
          <p:nvPr>
            <p:ph type="body" idx="1"/>
          </p:nvPr>
        </p:nvSpPr>
        <p:spPr>
          <a:xfrm>
            <a:off x="1484310" y="1153237"/>
            <a:ext cx="10018713" cy="4637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Although physical addresses change from hop to hop, logical and port addresses remain the same from the source to destination. 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1094" name="Google Shape;1094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50466" y="2090382"/>
            <a:ext cx="5486400" cy="4113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6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  <p:sp>
        <p:nvSpPr>
          <p:cNvPr id="1100" name="Google Shape;1100;p64"/>
          <p:cNvSpPr txBox="1">
            <a:spLocks noGrp="1"/>
          </p:cNvSpPr>
          <p:nvPr>
            <p:ph type="body" idx="1"/>
          </p:nvPr>
        </p:nvSpPr>
        <p:spPr>
          <a:xfrm>
            <a:off x="1484310" y="1434775"/>
            <a:ext cx="9927155" cy="524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References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[1] Chapter 2, The McGraw-Hill Companies, Inc.</a:t>
            </a:r>
            <a:endParaRPr b="1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[2] Chapter 3,The McGraw-Hill Companies, Inc.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[3] CCNA 1, CISCO.</a:t>
            </a:r>
            <a:endParaRPr/>
          </a:p>
        </p:txBody>
      </p:sp>
      <p:pic>
        <p:nvPicPr>
          <p:cNvPr id="1101" name="Google Shape;1101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2976</TotalTime>
  <Words>2437</Words>
  <Application>Microsoft Office PowerPoint</Application>
  <PresentationFormat>Widescreen</PresentationFormat>
  <Paragraphs>667</Paragraphs>
  <Slides>68</Slides>
  <Notes>65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4" baseType="lpstr">
      <vt:lpstr>Corbel</vt:lpstr>
      <vt:lpstr>Arial</vt:lpstr>
      <vt:lpstr>Arial Black</vt:lpstr>
      <vt:lpstr>Noto Sans Symbols</vt:lpstr>
      <vt:lpstr>Calibri</vt:lpstr>
      <vt:lpstr>Parallax</vt:lpstr>
      <vt:lpstr>Network Models &amp; Protocol Architectures</vt:lpstr>
      <vt:lpstr>Objectives</vt:lpstr>
      <vt:lpstr>Layering</vt:lpstr>
      <vt:lpstr>Layers: Sending a letter</vt:lpstr>
      <vt:lpstr>Benefits of using a layered model</vt:lpstr>
      <vt:lpstr>Protocols</vt:lpstr>
      <vt:lpstr>Protocols</vt:lpstr>
      <vt:lpstr>Protocols</vt:lpstr>
      <vt:lpstr>Standards</vt:lpstr>
      <vt:lpstr>Standards</vt:lpstr>
      <vt:lpstr>Standards</vt:lpstr>
      <vt:lpstr>Open Standards</vt:lpstr>
      <vt:lpstr>Internet Standards</vt:lpstr>
      <vt:lpstr>Internet Standards (Continued)</vt:lpstr>
      <vt:lpstr>Internet Standards (Continued)</vt:lpstr>
      <vt:lpstr>Electronic and Communications Standards</vt:lpstr>
      <vt:lpstr>Technology Independent Protocols</vt:lpstr>
      <vt:lpstr>Protocol Suites</vt:lpstr>
      <vt:lpstr>Protocol Suites</vt:lpstr>
      <vt:lpstr>OSI Model De Jure Standard</vt:lpstr>
      <vt:lpstr>OSI Model</vt:lpstr>
      <vt:lpstr>OSI Model - Layers</vt:lpstr>
      <vt:lpstr>OSI Model - Layers</vt:lpstr>
      <vt:lpstr>An exchange using the OSI Model</vt:lpstr>
      <vt:lpstr>Application Layer</vt:lpstr>
      <vt:lpstr>Applications</vt:lpstr>
      <vt:lpstr>Examples: Application Layer Protocols</vt:lpstr>
      <vt:lpstr>Presentation Layer</vt:lpstr>
      <vt:lpstr>Presentation Layer</vt:lpstr>
      <vt:lpstr>Session Layer</vt:lpstr>
      <vt:lpstr>Session Layer</vt:lpstr>
      <vt:lpstr>Transport Layer</vt:lpstr>
      <vt:lpstr>Transport Layer</vt:lpstr>
      <vt:lpstr>PowerPoint Presentation</vt:lpstr>
      <vt:lpstr>Functions – Segmentation/Reassembly</vt:lpstr>
      <vt:lpstr>Function – Identification Using Port Address</vt:lpstr>
      <vt:lpstr>Function – Connection Control</vt:lpstr>
      <vt:lpstr>Function – Flow Control</vt:lpstr>
      <vt:lpstr>Function – Error Control</vt:lpstr>
      <vt:lpstr>Function – Multiplexing</vt:lpstr>
      <vt:lpstr>Network Layer</vt:lpstr>
      <vt:lpstr>Network Layer</vt:lpstr>
      <vt:lpstr>Network Layer – Logical Address</vt:lpstr>
      <vt:lpstr>Network Layer - Example</vt:lpstr>
      <vt:lpstr>Network Layer – Another Example</vt:lpstr>
      <vt:lpstr>Data Link Layer</vt:lpstr>
      <vt:lpstr>Data Link Layer Layer</vt:lpstr>
      <vt:lpstr>Hop-to-Hop Delivery</vt:lpstr>
      <vt:lpstr>Data Link Layer – Physical Address</vt:lpstr>
      <vt:lpstr>Physical Layer</vt:lpstr>
      <vt:lpstr>Physical Layer</vt:lpstr>
      <vt:lpstr>Physical Layer</vt:lpstr>
      <vt:lpstr>Summary of OSI Layers</vt:lpstr>
      <vt:lpstr>PowerPoint Presentation</vt:lpstr>
      <vt:lpstr>PowerPoint Presentation</vt:lpstr>
      <vt:lpstr>TCP/IP Model De Facto Standard</vt:lpstr>
      <vt:lpstr>TCP/IP Model</vt:lpstr>
      <vt:lpstr>TCP/IP Encapsulation and PDU</vt:lpstr>
      <vt:lpstr>TCP/IP and Other Models</vt:lpstr>
      <vt:lpstr>Addressing in Networking</vt:lpstr>
      <vt:lpstr>Addressing - Summary</vt:lpstr>
      <vt:lpstr>Relationship of layers and address in TCP/IP</vt:lpstr>
      <vt:lpstr>Addresses</vt:lpstr>
      <vt:lpstr>Logical and Physical Address – Same Network</vt:lpstr>
      <vt:lpstr>Port, Logical &amp; Physical Address – Different Network</vt:lpstr>
      <vt:lpstr>PowerPoint Presentation</vt:lpstr>
      <vt:lpstr>Addressing – Review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Models &amp; Protocol Architectures</dc:title>
  <dc:creator>Arif Shakil</dc:creator>
  <cp:lastModifiedBy>Md. Sakir Hossain</cp:lastModifiedBy>
  <cp:revision>7</cp:revision>
  <dcterms:created xsi:type="dcterms:W3CDTF">2020-06-17T13:03:26Z</dcterms:created>
  <dcterms:modified xsi:type="dcterms:W3CDTF">2026-06-21T03:10:40Z</dcterms:modified>
</cp:coreProperties>
</file>