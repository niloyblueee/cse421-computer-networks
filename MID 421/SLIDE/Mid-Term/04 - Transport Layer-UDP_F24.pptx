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5" r:id="rId26"/>
    <p:sldId id="280" r:id="rId27"/>
    <p:sldId id="281" r:id="rId28"/>
    <p:sldId id="282" r:id="rId29"/>
    <p:sldId id="283" r:id="rId30"/>
    <p:sldId id="287" r:id="rId31"/>
    <p:sldId id="286" r:id="rId32"/>
    <p:sldId id="284" r:id="rId33"/>
  </p:sldIdLst>
  <p:sldSz cx="12192000" cy="6858000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orbel" panose="020B0503020204020204" pitchFamily="34" charset="0"/>
      <p:regular r:id="rId39"/>
      <p:bold r:id="rId40"/>
      <p:italic r:id="rId41"/>
      <p:boldItalic r:id="rId42"/>
    </p:embeddedFont>
    <p:embeddedFont>
      <p:font typeface="Gill Sans" panose="020B0604020202020204" charset="0"/>
      <p:regular r:id="rId43"/>
      <p:bold r:id="rId44"/>
    </p:embeddedFont>
    <p:embeddedFont>
      <p:font typeface="Tahoma" panose="020B0604030504040204" pitchFamily="34" charset="0"/>
      <p:regular r:id="rId45"/>
      <p:bold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iI/D3rWKZJg3k+tjDcVpGjyYZO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9" name="Google Shape;37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" name="Google Shape;39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" name="Google Shape;42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2082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2" name="Google Shape;46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97" name="Google Shape;49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21" name="Google Shape;52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5527a8ce64_0_9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25527a8ce64_0_9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7" name="Google Shape;547;g25527a8ce64_0_9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4" name="Google Shape;55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7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7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7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7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7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7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7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8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5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5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5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6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6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6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5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7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7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5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8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8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58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5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9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9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5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5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0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0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60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6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6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1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1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61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6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62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6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6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3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63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6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6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6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6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6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6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6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6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4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6.png"/><Relationship Id="rId12" Type="http://schemas.openxmlformats.org/officeDocument/2006/relationships/image" Target="../media/image28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503357" y="3267856"/>
            <a:ext cx="9104597" cy="728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Introduction to Transport Layer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4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>
            <a:spLocks noGrp="1"/>
          </p:cNvSpPr>
          <p:nvPr>
            <p:ph type="title"/>
          </p:nvPr>
        </p:nvSpPr>
        <p:spPr>
          <a:xfrm>
            <a:off x="1484311" y="341652"/>
            <a:ext cx="10018713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Objectives</a:t>
            </a:r>
            <a:endParaRPr sz="44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>
            <a:spLocks noGrp="1"/>
          </p:cNvSpPr>
          <p:nvPr>
            <p:ph type="body" idx="1"/>
          </p:nvPr>
        </p:nvSpPr>
        <p:spPr>
          <a:xfrm>
            <a:off x="1298524" y="1487657"/>
            <a:ext cx="9653332" cy="4273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lang="en-US" sz="5600">
                <a:solidFill>
                  <a:srgbClr val="CC0000"/>
                </a:solidFill>
              </a:rPr>
              <a:t>Our goals: </a:t>
            </a:r>
            <a:endParaRPr sz="1600"/>
          </a:p>
          <a:p>
            <a:pPr marL="285750" lvl="0" indent="-357711" algn="l" rtl="0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Char char="•"/>
            </a:pPr>
            <a:r>
              <a:rPr lang="en-US" sz="4200"/>
              <a:t>understand principles behind transport layer services</a:t>
            </a:r>
            <a:endParaRPr/>
          </a:p>
          <a:p>
            <a:pPr marL="285750" lvl="0" indent="-374745" algn="l" rtl="0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Char char="•"/>
            </a:pPr>
            <a:r>
              <a:rPr lang="en-US" sz="4400"/>
              <a:t>learn about two transport layer protocols:</a:t>
            </a:r>
            <a:endParaRPr/>
          </a:p>
          <a:p>
            <a:pPr marL="1132269" lvl="1" indent="-685846" algn="l" rtl="0">
              <a:lnSpc>
                <a:spcPct val="100000"/>
              </a:lnSpc>
              <a:spcBef>
                <a:spcPts val="644"/>
              </a:spcBef>
              <a:spcAft>
                <a:spcPts val="0"/>
              </a:spcAft>
              <a:buSzPct val="145000"/>
              <a:buFont typeface="Noto Sans Symbols"/>
              <a:buChar char="❖"/>
            </a:pPr>
            <a:r>
              <a:rPr lang="en-US" sz="4300"/>
              <a:t>UDP: </a:t>
            </a:r>
            <a:r>
              <a:rPr lang="en-US" sz="3500"/>
              <a:t>User Datagram Protocol</a:t>
            </a:r>
            <a:endParaRPr sz="3000"/>
          </a:p>
          <a:p>
            <a:pPr marL="1132269" lvl="1" indent="-685846" algn="l" rtl="0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Font typeface="Noto Sans Symbols"/>
              <a:buChar char="❖"/>
            </a:pPr>
            <a:r>
              <a:rPr lang="en-US" sz="4300"/>
              <a:t>TCP: </a:t>
            </a:r>
            <a:r>
              <a:rPr lang="en-US" sz="3500"/>
              <a:t>Transmission Control Protocol</a:t>
            </a:r>
            <a:endParaRPr sz="3000"/>
          </a:p>
          <a:p>
            <a:pPr marL="285750" lvl="0" indent="0" algn="l" rtl="0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None/>
            </a:pPr>
            <a:endParaRPr sz="4200"/>
          </a:p>
          <a:p>
            <a:pPr marL="285750" lvl="0" indent="-149479" algn="l" rtl="0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None/>
            </a:pPr>
            <a:endParaRPr sz="1600"/>
          </a:p>
        </p:txBody>
      </p:sp>
      <p:sp>
        <p:nvSpPr>
          <p:cNvPr id="158" name="Google Shape;158;p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>
            <a:spLocks noGrp="1"/>
          </p:cNvSpPr>
          <p:nvPr>
            <p:ph type="title"/>
          </p:nvPr>
        </p:nvSpPr>
        <p:spPr>
          <a:xfrm>
            <a:off x="1086643" y="241299"/>
            <a:ext cx="10018713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vs. Network layer</a:t>
            </a:r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body" idx="1"/>
          </p:nvPr>
        </p:nvSpPr>
        <p:spPr>
          <a:xfrm>
            <a:off x="1086642" y="1470022"/>
            <a:ext cx="5009358" cy="363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33147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Char char="▪"/>
            </a:pPr>
            <a:r>
              <a:rPr lang="en-US" sz="3600" b="1" i="1">
                <a:solidFill>
                  <a:srgbClr val="7D28CD"/>
                </a:solidFill>
              </a:rPr>
              <a:t>transport layer:</a:t>
            </a:r>
            <a:r>
              <a:rPr lang="en-US" sz="3600" b="1">
                <a:solidFill>
                  <a:srgbClr val="7D28CD"/>
                </a:solidFill>
              </a:rPr>
              <a:t> </a:t>
            </a:r>
            <a:r>
              <a:rPr lang="en-US" sz="3600"/>
              <a:t>logical communication between </a:t>
            </a:r>
            <a:r>
              <a:rPr lang="en-US" sz="3600" b="1">
                <a:solidFill>
                  <a:srgbClr val="FF0000"/>
                </a:solidFill>
              </a:rPr>
              <a:t>processes</a:t>
            </a:r>
            <a:r>
              <a:rPr lang="en-US" sz="2000" b="1">
                <a:solidFill>
                  <a:srgbClr val="FF0000"/>
                </a:solidFill>
              </a:rPr>
              <a:t> </a:t>
            </a:r>
            <a:endParaRPr sz="3600" b="1">
              <a:solidFill>
                <a:srgbClr val="FF0000"/>
              </a:solidFill>
            </a:endParaRPr>
          </a:p>
          <a:p>
            <a:pPr marL="28575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None/>
            </a:pPr>
            <a:endParaRPr sz="3600" b="1" i="1">
              <a:solidFill>
                <a:srgbClr val="7D28CD"/>
              </a:solidFill>
            </a:endParaRPr>
          </a:p>
          <a:p>
            <a:pPr marL="285750" lvl="0" indent="-33147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Char char="▪"/>
            </a:pPr>
            <a:r>
              <a:rPr lang="en-US" sz="3600" b="1" i="1">
                <a:solidFill>
                  <a:srgbClr val="7D28CD"/>
                </a:solidFill>
              </a:rPr>
              <a:t>network layer:</a:t>
            </a:r>
            <a:r>
              <a:rPr lang="en-US" sz="3600" b="1">
                <a:solidFill>
                  <a:srgbClr val="7D28CD"/>
                </a:solidFill>
              </a:rPr>
              <a:t> </a:t>
            </a:r>
            <a:r>
              <a:rPr lang="en-US" sz="3600"/>
              <a:t>logical communication between </a:t>
            </a:r>
            <a:r>
              <a:rPr lang="en-US" sz="3600" b="1">
                <a:solidFill>
                  <a:srgbClr val="FF0000"/>
                </a:solidFill>
              </a:rPr>
              <a:t>hosts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5" name="Google Shape;165;p4"/>
          <p:cNvSpPr txBox="1">
            <a:spLocks noGrp="1"/>
          </p:cNvSpPr>
          <p:nvPr>
            <p:ph type="body" idx="2"/>
          </p:nvPr>
        </p:nvSpPr>
        <p:spPr>
          <a:xfrm>
            <a:off x="6324602" y="2149729"/>
            <a:ext cx="5232397" cy="446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 i="1"/>
              <a:t>12 kids in Ann’s house sending letters to 12 kids in Bill’s house:</a:t>
            </a:r>
            <a:endParaRPr sz="2400"/>
          </a:p>
          <a:p>
            <a:pPr marL="285750" lvl="0" indent="-285750" algn="l" rtl="0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processes = kids</a:t>
            </a:r>
            <a:endParaRPr/>
          </a:p>
          <a:p>
            <a:pPr marL="285750" lvl="0" indent="-285750" algn="l" rtl="0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app messages = letters in envelopes</a:t>
            </a:r>
            <a:endParaRPr/>
          </a:p>
          <a:p>
            <a:pPr marL="285750" lvl="0" indent="-285750" algn="l" rtl="0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hosts = houses</a:t>
            </a:r>
            <a:endParaRPr/>
          </a:p>
          <a:p>
            <a:pPr marL="285750" lvl="0" indent="-285750" algn="l" rtl="0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transport protocol = Ann and Bill </a:t>
            </a:r>
            <a:endParaRPr sz="2400"/>
          </a:p>
          <a:p>
            <a:pPr marL="285750" lvl="0" indent="-285750" algn="l" rtl="0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network-layer protocol = postal service</a:t>
            </a:r>
            <a:endParaRPr/>
          </a:p>
          <a:p>
            <a:pPr marL="285750" lvl="0" indent="-285750" algn="l" rtl="0">
              <a:lnSpc>
                <a:spcPct val="7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endParaRPr sz="2400"/>
          </a:p>
        </p:txBody>
      </p:sp>
      <p:sp>
        <p:nvSpPr>
          <p:cNvPr id="166" name="Google Shape;166;p4"/>
          <p:cNvSpPr/>
          <p:nvPr/>
        </p:nvSpPr>
        <p:spPr>
          <a:xfrm>
            <a:off x="6290458" y="1932497"/>
            <a:ext cx="5266541" cy="4684203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324602" y="1446211"/>
            <a:ext cx="4780754" cy="4862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lang="en-US" sz="3200" b="1" i="1" u="none" strike="noStrike" cap="none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household analogy: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086642" y="4890862"/>
            <a:ext cx="5237960" cy="117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Noto Sans Symbols"/>
              <a:buNone/>
            </a:pPr>
            <a:endParaRPr sz="3600" b="1" i="1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85750" marR="0" lvl="0" indent="-33147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Noto Sans Symbols"/>
              <a:buChar char="▪"/>
            </a:pPr>
            <a:r>
              <a:rPr lang="en-US" sz="3600" b="1" i="1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r>
              <a:rPr lang="en-US" sz="36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3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Transport Layer PDU</a:t>
            </a: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>
            <a:spLocks noGrp="1"/>
          </p:cNvSpPr>
          <p:nvPr>
            <p:ph type="title" idx="4294967295"/>
          </p:nvPr>
        </p:nvSpPr>
        <p:spPr>
          <a:xfrm>
            <a:off x="1433511" y="3048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175" name="Google Shape;175;p6"/>
          <p:cNvSpPr txBox="1">
            <a:spLocks noGrp="1"/>
          </p:cNvSpPr>
          <p:nvPr>
            <p:ph type="body" idx="4294967295"/>
          </p:nvPr>
        </p:nvSpPr>
        <p:spPr>
          <a:xfrm>
            <a:off x="1676400" y="914400"/>
            <a:ext cx="88392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946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 dirty="0">
                <a:solidFill>
                  <a:srgbClr val="6600CC"/>
                </a:solidFill>
              </a:rPr>
              <a:t>Primary responsibilities:</a:t>
            </a:r>
            <a:endParaRPr dirty="0"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 dirty="0">
                <a:solidFill>
                  <a:srgbClr val="990099"/>
                </a:solidFill>
              </a:rPr>
              <a:t>Segmenting </a:t>
            </a:r>
            <a:r>
              <a:rPr lang="en-US" sz="2800" dirty="0"/>
              <a:t>the data and </a:t>
            </a:r>
            <a:r>
              <a:rPr lang="en-US" sz="2800" dirty="0">
                <a:solidFill>
                  <a:srgbClr val="990099"/>
                </a:solidFill>
              </a:rPr>
              <a:t>managing</a:t>
            </a:r>
            <a:r>
              <a:rPr lang="en-US" sz="2800" dirty="0"/>
              <a:t> each piece.</a:t>
            </a:r>
            <a:endParaRPr dirty="0"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 dirty="0">
                <a:solidFill>
                  <a:srgbClr val="990099"/>
                </a:solidFill>
              </a:rPr>
              <a:t>Reassembling</a:t>
            </a:r>
            <a:r>
              <a:rPr lang="en-US" sz="2800" dirty="0"/>
              <a:t> the segments into streams of application data.</a:t>
            </a:r>
            <a:endParaRPr dirty="0"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 dirty="0">
                <a:solidFill>
                  <a:srgbClr val="990099"/>
                </a:solidFill>
              </a:rPr>
              <a:t>Identifying </a:t>
            </a:r>
            <a:r>
              <a:rPr lang="en-US" sz="2800" dirty="0"/>
              <a:t>the different </a:t>
            </a:r>
            <a:r>
              <a:rPr lang="en-US" sz="2800" dirty="0">
                <a:solidFill>
                  <a:srgbClr val="990099"/>
                </a:solidFill>
              </a:rPr>
              <a:t>applications</a:t>
            </a:r>
            <a:r>
              <a:rPr lang="en-US" sz="2800" dirty="0"/>
              <a:t>.</a:t>
            </a:r>
            <a:endParaRPr dirty="0"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 dirty="0"/>
              <a:t>Multiplexing</a:t>
            </a:r>
            <a:endParaRPr dirty="0"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 dirty="0">
                <a:solidFill>
                  <a:srgbClr val="990099"/>
                </a:solidFill>
              </a:rPr>
              <a:t>Initiating and terminating </a:t>
            </a:r>
            <a:r>
              <a:rPr lang="en-US" sz="2800" dirty="0"/>
              <a:t>a connection.</a:t>
            </a:r>
            <a:endParaRPr dirty="0"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 dirty="0"/>
              <a:t>Performing </a:t>
            </a:r>
            <a:r>
              <a:rPr lang="en-US" sz="2800" dirty="0">
                <a:solidFill>
                  <a:srgbClr val="990099"/>
                </a:solidFill>
              </a:rPr>
              <a:t>flow control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/>
              <a:t>between end users.</a:t>
            </a:r>
            <a:endParaRPr dirty="0"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 dirty="0"/>
              <a:t>Enabling </a:t>
            </a:r>
            <a:r>
              <a:rPr lang="en-US" sz="2800" dirty="0">
                <a:solidFill>
                  <a:srgbClr val="990099"/>
                </a:solidFill>
              </a:rPr>
              <a:t>error recovery</a:t>
            </a:r>
            <a:r>
              <a:rPr lang="en-US" sz="2800" dirty="0"/>
              <a:t>.</a:t>
            </a:r>
            <a:endParaRPr dirty="0"/>
          </a:p>
          <a:p>
            <a:pPr marL="855663" lvl="1" indent="-31113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endParaRPr sz="2800" dirty="0"/>
          </a:p>
        </p:txBody>
      </p:sp>
      <p:sp>
        <p:nvSpPr>
          <p:cNvPr id="176" name="Google Shape;176;p6"/>
          <p:cNvSpPr/>
          <p:nvPr/>
        </p:nvSpPr>
        <p:spPr>
          <a:xfrm>
            <a:off x="1433511" y="4332302"/>
            <a:ext cx="8116889" cy="2218515"/>
          </a:xfrm>
          <a:prstGeom prst="ellipse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3625088" y="4738275"/>
            <a:ext cx="3505200" cy="833437"/>
          </a:xfrm>
          <a:prstGeom prst="rect">
            <a:avLst/>
          </a:prstGeom>
          <a:solidFill>
            <a:srgbClr val="800080"/>
          </a:solidFill>
          <a:ln w="9525" cap="flat" cmpd="sng">
            <a:solidFill>
              <a:srgbClr val="CC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Reliability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>
            <a:spLocks noGrp="1"/>
          </p:cNvSpPr>
          <p:nvPr>
            <p:ph type="title"/>
          </p:nvPr>
        </p:nvSpPr>
        <p:spPr>
          <a:xfrm>
            <a:off x="1905000" y="70113"/>
            <a:ext cx="5029200" cy="80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Different Applications</a:t>
            </a:r>
            <a:endParaRPr/>
          </a:p>
        </p:txBody>
      </p:sp>
      <p:sp>
        <p:nvSpPr>
          <p:cNvPr id="184" name="Google Shape;184;p8"/>
          <p:cNvSpPr txBox="1">
            <a:spLocks noGrp="1"/>
          </p:cNvSpPr>
          <p:nvPr>
            <p:ph type="body" idx="1"/>
          </p:nvPr>
        </p:nvSpPr>
        <p:spPr>
          <a:xfrm>
            <a:off x="1040092" y="4090405"/>
            <a:ext cx="5118952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Some applications need their data to be complete with no errors or gaps.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But can accept a slight delay to ensure this.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539183" y="4689571"/>
            <a:ext cx="523718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68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Some applications can accept occasional errors or gaps in the data.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68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But they cannot accept any delay.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596670" y="543089"/>
            <a:ext cx="6090138" cy="80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33CC"/>
                </a:solidFill>
                <a:latin typeface="Corbel"/>
                <a:ea typeface="Corbel"/>
                <a:cs typeface="Corbel"/>
                <a:sym typeface="Corbel"/>
              </a:rPr>
              <a:t>Different Requirements</a:t>
            </a:r>
            <a:endParaRPr sz="1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7" name="Google Shape;187;p8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88" name="Google Shape;188;p8" descr="سیستم VOIP و نکاتی که قبل از راه‌اندازی آن باید بدانید - سانترال پاناسونیک  و تلفن سانترال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8"/>
          <p:cNvGrpSpPr/>
          <p:nvPr/>
        </p:nvGrpSpPr>
        <p:grpSpPr>
          <a:xfrm>
            <a:off x="6625368" y="1497042"/>
            <a:ext cx="3538540" cy="2817352"/>
            <a:chOff x="6625368" y="1497042"/>
            <a:chExt cx="3538540" cy="2817352"/>
          </a:xfrm>
        </p:grpSpPr>
        <p:pic>
          <p:nvPicPr>
            <p:cNvPr id="190" name="Google Shape;190;p8" descr="IPTV: What is it and how does it work? - Less Wire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5368" y="1515388"/>
              <a:ext cx="2016371" cy="1159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756039" y="1497042"/>
              <a:ext cx="1407869" cy="1227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225811" y="2772403"/>
              <a:ext cx="2185472" cy="1228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8"/>
            <p:cNvSpPr/>
            <p:nvPr/>
          </p:nvSpPr>
          <p:spPr>
            <a:xfrm>
              <a:off x="7407883" y="3914964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Online Games </a:t>
              </a:r>
              <a:endParaRPr sz="9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4" name="Google Shape;194;p8" descr="How to Switch Email Services Easily &amp; Keep All Your Mails, Contacts -  SiliconANGLE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8"/>
          <p:cNvGrpSpPr/>
          <p:nvPr/>
        </p:nvGrpSpPr>
        <p:grpSpPr>
          <a:xfrm>
            <a:off x="1290855" y="1153821"/>
            <a:ext cx="3597301" cy="2761143"/>
            <a:chOff x="1290855" y="1153821"/>
            <a:chExt cx="3597301" cy="2761143"/>
          </a:xfrm>
        </p:grpSpPr>
        <p:pic>
          <p:nvPicPr>
            <p:cNvPr id="196" name="Google Shape;196;p8" descr="Password Manager Comparison: Top Password Managers for 20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290855" y="1433491"/>
              <a:ext cx="2308713" cy="1407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8" descr="Akamai discovers Active Directory DNS spoofing exploit - SiliconANGL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206110" y="2363054"/>
              <a:ext cx="1682046" cy="134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8" descr="Email Tips and Tricks for Your Favorite Service​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341178" y="2872359"/>
              <a:ext cx="1814610" cy="1042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8"/>
            <p:cNvSpPr/>
            <p:nvPr/>
          </p:nvSpPr>
          <p:spPr>
            <a:xfrm>
              <a:off x="1341178" y="2877406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13435"/>
                  </a:solidFill>
                  <a:latin typeface="Corbel"/>
                  <a:ea typeface="Corbel"/>
                  <a:cs typeface="Corbel"/>
                  <a:sym typeface="Corbel"/>
                </a:rPr>
                <a:t>Emails</a:t>
              </a:r>
              <a:endParaRPr sz="900" b="1" i="0" u="none" strike="noStrike" cap="non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341178" y="1153821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313435"/>
                  </a:solidFill>
                  <a:latin typeface="Corbel"/>
                  <a:ea typeface="Corbel"/>
                  <a:cs typeface="Corbel"/>
                  <a:sym typeface="Corbel"/>
                </a:rPr>
                <a:t>Web Applications</a:t>
              </a:r>
              <a:endParaRPr sz="900" b="1" i="0" u="none" strike="noStrike" cap="non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>
            <a:spLocks noGrp="1"/>
          </p:cNvSpPr>
          <p:nvPr>
            <p:ph type="title"/>
          </p:nvPr>
        </p:nvSpPr>
        <p:spPr>
          <a:xfrm>
            <a:off x="1383506" y="222179"/>
            <a:ext cx="10018713" cy="98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Solution : Two transport protocols?</a:t>
            </a:r>
            <a:endParaRPr/>
          </a:p>
        </p:txBody>
      </p:sp>
      <p:sp>
        <p:nvSpPr>
          <p:cNvPr id="206" name="Google Shape;206;p9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207" name="Google Shape;207;p9"/>
          <p:cNvGrpSpPr/>
          <p:nvPr/>
        </p:nvGrpSpPr>
        <p:grpSpPr>
          <a:xfrm>
            <a:off x="4812216" y="848531"/>
            <a:ext cx="3597301" cy="3210477"/>
            <a:chOff x="1290855" y="1072801"/>
            <a:chExt cx="3597301" cy="3210477"/>
          </a:xfrm>
        </p:grpSpPr>
        <p:pic>
          <p:nvPicPr>
            <p:cNvPr id="208" name="Google Shape;208;p9" descr="Password Manager Comparison: Top Password Managers for 20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90855" y="1433491"/>
              <a:ext cx="2308713" cy="1407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9" descr="Akamai discovers Active Directory DNS spoofing exploit - SiliconANGL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206110" y="2363054"/>
              <a:ext cx="1682046" cy="134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9" descr="Email Tips and Tricks for Your Favorite Service​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41178" y="2872359"/>
              <a:ext cx="1814610" cy="1042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9"/>
            <p:cNvSpPr/>
            <p:nvPr/>
          </p:nvSpPr>
          <p:spPr>
            <a:xfrm>
              <a:off x="1341178" y="3883848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Emails</a:t>
              </a:r>
              <a:endParaRPr sz="9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1429114" y="1072801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Web Applications</a:t>
              </a:r>
              <a:endParaRPr sz="9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904660" y="890791"/>
            <a:ext cx="4045815" cy="2495985"/>
            <a:chOff x="2627" y="1011"/>
            <a:chExt cx="2549" cy="1572"/>
          </a:xfrm>
        </p:grpSpPr>
        <p:sp>
          <p:nvSpPr>
            <p:cNvPr id="214" name="Google Shape;214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Reliable</a:t>
              </a:r>
              <a:endParaRPr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7775476" y="937383"/>
            <a:ext cx="4045815" cy="2495985"/>
            <a:chOff x="2627" y="1011"/>
            <a:chExt cx="2549" cy="1572"/>
          </a:xfrm>
        </p:grpSpPr>
        <p:sp>
          <p:nvSpPr>
            <p:cNvPr id="217" name="Google Shape;217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8" name="Google Shape;218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9"/>
          <p:cNvGrpSpPr/>
          <p:nvPr/>
        </p:nvGrpSpPr>
        <p:grpSpPr>
          <a:xfrm>
            <a:off x="4907879" y="4037060"/>
            <a:ext cx="3100048" cy="2520758"/>
            <a:chOff x="6625368" y="1497042"/>
            <a:chExt cx="3538540" cy="2817352"/>
          </a:xfrm>
        </p:grpSpPr>
        <p:pic>
          <p:nvPicPr>
            <p:cNvPr id="220" name="Google Shape;220;p9" descr="IPTV: What is it and how does it work? - Less Wires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25368" y="1515388"/>
              <a:ext cx="2016371" cy="1159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756039" y="1497042"/>
              <a:ext cx="1407869" cy="1227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225811" y="2772403"/>
              <a:ext cx="2185472" cy="1228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9"/>
            <p:cNvSpPr/>
            <p:nvPr/>
          </p:nvSpPr>
          <p:spPr>
            <a:xfrm>
              <a:off x="7407883" y="3914964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Online Games </a:t>
              </a:r>
              <a:endParaRPr sz="9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24" name="Google Shape;224;p9"/>
          <p:cNvGrpSpPr/>
          <p:nvPr/>
        </p:nvGrpSpPr>
        <p:grpSpPr>
          <a:xfrm>
            <a:off x="581237" y="3736271"/>
            <a:ext cx="4045815" cy="2495985"/>
            <a:chOff x="2627" y="2327"/>
            <a:chExt cx="2549" cy="1572"/>
          </a:xfrm>
        </p:grpSpPr>
        <p:sp>
          <p:nvSpPr>
            <p:cNvPr id="225" name="Google Shape;225;p9"/>
            <p:cNvSpPr/>
            <p:nvPr/>
          </p:nvSpPr>
          <p:spPr>
            <a:xfrm rot="448716">
              <a:off x="2699" y="2478"/>
              <a:ext cx="2404" cy="1270"/>
            </a:xfrm>
            <a:prstGeom prst="irregularSeal2">
              <a:avLst/>
            </a:prstGeom>
            <a:solidFill>
              <a:srgbClr val="5E9934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6" name="Google Shape;226;p9"/>
            <p:cNvSpPr txBox="1"/>
            <p:nvPr/>
          </p:nvSpPr>
          <p:spPr>
            <a:xfrm>
              <a:off x="3288" y="2931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Fast</a:t>
              </a:r>
              <a:endPara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9"/>
          <p:cNvGrpSpPr/>
          <p:nvPr/>
        </p:nvGrpSpPr>
        <p:grpSpPr>
          <a:xfrm>
            <a:off x="8108063" y="3704453"/>
            <a:ext cx="4045815" cy="2495985"/>
            <a:chOff x="2627" y="1011"/>
            <a:chExt cx="2549" cy="1572"/>
          </a:xfrm>
        </p:grpSpPr>
        <p:sp>
          <p:nvSpPr>
            <p:cNvPr id="228" name="Google Shape;228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rgbClr val="B1DB93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9" name="Google Shape;229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UDP</a:t>
              </a:r>
              <a:endPara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069730" y="1310054"/>
            <a:ext cx="10433293" cy="545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marR="0" lvl="0" indent="-2946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6600CC"/>
                </a:solidFill>
                <a:latin typeface="Corbel"/>
                <a:ea typeface="Corbel"/>
                <a:cs typeface="Corbel"/>
                <a:sym typeface="Corbel"/>
              </a:rPr>
              <a:t>UDP : User Datagram Protocol</a:t>
            </a: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742950" marR="0" lvl="1" indent="-29463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rPr>
              <a:t>Best Effort Service</a:t>
            </a:r>
            <a:endParaRPr/>
          </a:p>
          <a:p>
            <a:pPr marL="742950" marR="0" lvl="1" indent="-29463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rPr>
              <a:t>Used by applications that requires no delay in data delivery</a:t>
            </a:r>
            <a:endParaRPr/>
          </a:p>
          <a:p>
            <a:pPr marL="285750" marR="0" lvl="0" indent="-2946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6600CC"/>
                </a:solidFill>
                <a:latin typeface="Corbel"/>
                <a:ea typeface="Corbel"/>
                <a:cs typeface="Corbel"/>
                <a:sym typeface="Corbel"/>
              </a:rPr>
              <a:t>How does UDP deliver fast?</a:t>
            </a: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914400" marR="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connection establishment (which can add delay)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small header size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error or flow or congestion control: UDP can blast away as fast as desired</a:t>
            </a:r>
            <a:endParaRPr/>
          </a:p>
          <a:p>
            <a:pPr marL="855663" marR="0" lvl="1" indent="-31113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820864" y="182564"/>
            <a:ext cx="8529637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UDP: User Datagram Protocol </a:t>
            </a:r>
            <a:r>
              <a:rPr lang="en-US" sz="3200" b="0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[RFC 768]</a:t>
            </a:r>
            <a:endParaRPr sz="4000" b="0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42" name="Google Shape;242;p39"/>
          <p:cNvSpPr/>
          <p:nvPr/>
        </p:nvSpPr>
        <p:spPr>
          <a:xfrm>
            <a:off x="1484310" y="1271589"/>
            <a:ext cx="10189133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UDP is used by:</a:t>
            </a:r>
            <a:endParaRPr sz="1400" b="0" i="0" u="none" strike="noStrike" cap="non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31775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streaming multimedia apps (loss tolerant, rate sensitive)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31775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SNMP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1" indent="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But sometimes ……</a:t>
            </a:r>
            <a:endParaRPr/>
          </a:p>
          <a:p>
            <a:pPr marL="688975" marR="0" lvl="1" indent="-231775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DNS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31775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HTTP/3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733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reliable transfer over UDP: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31775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reliability at application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8975" marR="0" lvl="1" indent="-231775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application-specific error recovery!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9"/>
          <p:cNvSpPr txBox="1"/>
          <p:nvPr/>
        </p:nvSpPr>
        <p:spPr>
          <a:xfrm>
            <a:off x="1484310" y="31759"/>
            <a:ext cx="10018713" cy="118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User Datagram Protocol (UDP)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>
            <a:spLocks noGrp="1"/>
          </p:cNvSpPr>
          <p:nvPr>
            <p:ph type="title" idx="4294967295"/>
          </p:nvPr>
        </p:nvSpPr>
        <p:spPr>
          <a:xfrm>
            <a:off x="1433511" y="3048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249" name="Google Shape;249;p21"/>
          <p:cNvSpPr txBox="1">
            <a:spLocks noGrp="1"/>
          </p:cNvSpPr>
          <p:nvPr>
            <p:ph type="body" idx="4294967295"/>
          </p:nvPr>
        </p:nvSpPr>
        <p:spPr>
          <a:xfrm>
            <a:off x="1676400" y="1143000"/>
            <a:ext cx="8839200" cy="5504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946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6600CC"/>
                </a:solidFill>
              </a:rPr>
              <a:t>Primary responsibilities: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Segmenting </a:t>
            </a:r>
            <a:r>
              <a:rPr lang="en-US" sz="2800"/>
              <a:t>the data and </a:t>
            </a:r>
            <a:r>
              <a:rPr lang="en-US" sz="2800">
                <a:solidFill>
                  <a:srgbClr val="990099"/>
                </a:solidFill>
              </a:rPr>
              <a:t>managing</a:t>
            </a:r>
            <a:r>
              <a:rPr lang="en-US" sz="2800"/>
              <a:t> each piece.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Reassembling</a:t>
            </a:r>
            <a:r>
              <a:rPr lang="en-US" sz="2800"/>
              <a:t> the segments into streams of application data.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Identifying </a:t>
            </a:r>
            <a:r>
              <a:rPr lang="en-US" sz="2800"/>
              <a:t>the different </a:t>
            </a:r>
            <a:r>
              <a:rPr lang="en-US" sz="2800">
                <a:solidFill>
                  <a:srgbClr val="990099"/>
                </a:solidFill>
              </a:rPr>
              <a:t>applications</a:t>
            </a:r>
            <a:r>
              <a:rPr lang="en-US" sz="2800"/>
              <a:t>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Multiplexing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Establishing and terminating </a:t>
            </a:r>
            <a:r>
              <a:rPr lang="en-US" sz="2800"/>
              <a:t>a connection 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Enabling </a:t>
            </a:r>
            <a:r>
              <a:rPr lang="en-US" sz="2800">
                <a:solidFill>
                  <a:srgbClr val="990099"/>
                </a:solidFill>
              </a:rPr>
              <a:t>error recovery</a:t>
            </a:r>
            <a:r>
              <a:rPr lang="en-US" sz="2800"/>
              <a:t>.</a:t>
            </a:r>
            <a:endParaRPr/>
          </a:p>
          <a:p>
            <a:pPr marL="1081088" lvl="1" indent="-514350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Performing </a:t>
            </a:r>
            <a:r>
              <a:rPr lang="en-US" sz="2800">
                <a:solidFill>
                  <a:srgbClr val="990099"/>
                </a:solidFill>
              </a:rPr>
              <a:t>flow control</a:t>
            </a:r>
            <a:r>
              <a:rPr lang="en-US" sz="2800">
                <a:solidFill>
                  <a:srgbClr val="FFFF00"/>
                </a:solidFill>
              </a:rPr>
              <a:t> </a:t>
            </a:r>
            <a:r>
              <a:rPr lang="en-US" sz="2800"/>
              <a:t>between end users.</a:t>
            </a:r>
            <a:endParaRPr/>
          </a:p>
          <a:p>
            <a:pPr marL="855663" lvl="1" indent="-31113" algn="l" rtl="0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endParaRPr sz="2800"/>
          </a:p>
        </p:txBody>
      </p:sp>
      <p:sp>
        <p:nvSpPr>
          <p:cNvPr id="250" name="Google Shape;250;p2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1676400" y="1935332"/>
            <a:ext cx="427608" cy="2263806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A260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676400" y="4570859"/>
            <a:ext cx="427608" cy="1312416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BB7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 rot="-5400000">
            <a:off x="818052" y="5042400"/>
            <a:ext cx="12284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Only TCP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 rot="-5400000">
            <a:off x="657676" y="2908035"/>
            <a:ext cx="14302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 &amp;TCP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 txBox="1"/>
          <p:nvPr/>
        </p:nvSpPr>
        <p:spPr>
          <a:xfrm>
            <a:off x="1472435" y="173037"/>
            <a:ext cx="10018713" cy="1069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1&amp;2</a:t>
            </a: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Segmentation and Reassembly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0" name="Google Shape;260;p1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61" name="Google Shape;26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2261" y="1445419"/>
            <a:ext cx="9139059" cy="42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67" name="Google Shape;267;p22" descr="UDP connectionless and unreli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90" y="1475715"/>
            <a:ext cx="6021010" cy="411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TCP segments are re-ordered at the destinati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0346" y="1475715"/>
            <a:ext cx="5920366" cy="411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1472435" y="173037"/>
            <a:ext cx="10018713" cy="1069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2</a:t>
            </a: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Reassembly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2403030" y="5758060"/>
            <a:ext cx="13789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639359" y="5729422"/>
            <a:ext cx="13789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5669" y="3357135"/>
            <a:ext cx="7035842" cy="32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2"/>
          <p:cNvSpPr txBox="1">
            <a:spLocks noGrp="1"/>
          </p:cNvSpPr>
          <p:nvPr>
            <p:ph type="title" idx="4294967295"/>
          </p:nvPr>
        </p:nvSpPr>
        <p:spPr>
          <a:xfrm>
            <a:off x="1472435" y="173038"/>
            <a:ext cx="10018713" cy="89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 and UDP Headers</a:t>
            </a:r>
            <a:endParaRPr/>
          </a:p>
        </p:txBody>
      </p:sp>
      <p:sp>
        <p:nvSpPr>
          <p:cNvPr id="278" name="Google Shape;278;p1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279" name="Google Shape;279;p12"/>
          <p:cNvGrpSpPr/>
          <p:nvPr/>
        </p:nvGrpSpPr>
        <p:grpSpPr>
          <a:xfrm>
            <a:off x="1508159" y="1110329"/>
            <a:ext cx="4133850" cy="4182640"/>
            <a:chOff x="4242971" y="2692127"/>
            <a:chExt cx="4133850" cy="4182640"/>
          </a:xfrm>
        </p:grpSpPr>
        <p:cxnSp>
          <p:nvCxnSpPr>
            <p:cNvPr id="280" name="Google Shape;280;p12"/>
            <p:cNvCxnSpPr/>
            <p:nvPr/>
          </p:nvCxnSpPr>
          <p:spPr>
            <a:xfrm>
              <a:off x="6248400" y="3657600"/>
              <a:ext cx="1792934" cy="3217167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81" name="Google Shape;281;p12"/>
            <p:cNvGrpSpPr/>
            <p:nvPr/>
          </p:nvGrpSpPr>
          <p:grpSpPr>
            <a:xfrm>
              <a:off x="4242971" y="2692127"/>
              <a:ext cx="4133850" cy="1081807"/>
              <a:chOff x="4242971" y="2692127"/>
              <a:chExt cx="4133850" cy="1081807"/>
            </a:xfrm>
          </p:grpSpPr>
          <p:pic>
            <p:nvPicPr>
              <p:cNvPr id="282" name="Google Shape;282;p1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242971" y="2954784"/>
                <a:ext cx="4133850" cy="819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3" name="Google Shape;283;p12"/>
              <p:cNvSpPr txBox="1"/>
              <p:nvPr/>
            </p:nvSpPr>
            <p:spPr>
              <a:xfrm>
                <a:off x="5943600" y="2692127"/>
                <a:ext cx="137899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 HEADER</a:t>
                </a:r>
                <a:endParaRPr/>
              </a:p>
            </p:txBody>
          </p:sp>
        </p:grpSp>
      </p:grpSp>
      <p:grpSp>
        <p:nvGrpSpPr>
          <p:cNvPr id="284" name="Google Shape;284;p12"/>
          <p:cNvGrpSpPr/>
          <p:nvPr/>
        </p:nvGrpSpPr>
        <p:grpSpPr>
          <a:xfrm>
            <a:off x="7111870" y="1005254"/>
            <a:ext cx="4551285" cy="4395985"/>
            <a:chOff x="711209" y="619919"/>
            <a:chExt cx="4551285" cy="4395985"/>
          </a:xfrm>
        </p:grpSpPr>
        <p:cxnSp>
          <p:nvCxnSpPr>
            <p:cNvPr id="285" name="Google Shape;285;p12"/>
            <p:cNvCxnSpPr/>
            <p:nvPr/>
          </p:nvCxnSpPr>
          <p:spPr>
            <a:xfrm flipH="1">
              <a:off x="1259192" y="2971800"/>
              <a:ext cx="1179208" cy="2044104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86" name="Google Shape;286;p12"/>
            <p:cNvGrpSpPr/>
            <p:nvPr/>
          </p:nvGrpSpPr>
          <p:grpSpPr>
            <a:xfrm>
              <a:off x="711209" y="619919"/>
              <a:ext cx="4551285" cy="2351881"/>
              <a:chOff x="711209" y="619919"/>
              <a:chExt cx="4551285" cy="2351881"/>
            </a:xfrm>
          </p:grpSpPr>
          <p:pic>
            <p:nvPicPr>
              <p:cNvPr id="287" name="Google Shape;287;p1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711209" y="926797"/>
                <a:ext cx="4551285" cy="20450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8" name="Google Shape;288;p12"/>
              <p:cNvSpPr txBox="1"/>
              <p:nvPr/>
            </p:nvSpPr>
            <p:spPr>
              <a:xfrm>
                <a:off x="2068497" y="619919"/>
                <a:ext cx="137899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 HEADER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4200" y="1550634"/>
            <a:ext cx="5715000" cy="3227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6601" y="4884738"/>
            <a:ext cx="4170363" cy="18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8991600" y="2895600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lang="en-US"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TCP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772400" y="5791200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lang="en-US"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UDP 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124200" y="2133600"/>
            <a:ext cx="5715000" cy="4572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3276600" y="5867400"/>
            <a:ext cx="4191000" cy="3810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1472435" y="173038"/>
            <a:ext cx="10018713" cy="89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TCP and UDP Headers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1" name="Google Shape;301;p1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>
                <a:solidFill>
                  <a:srgbClr val="7D28CD"/>
                </a:solidFill>
              </a:rPr>
              <a:t>Function 3</a:t>
            </a:r>
            <a:r>
              <a:rPr lang="en-US"/>
              <a:t> – Identifying Different Applications </a:t>
            </a:r>
            <a:endParaRPr/>
          </a:p>
        </p:txBody>
      </p:sp>
      <p:sp>
        <p:nvSpPr>
          <p:cNvPr id="307" name="Google Shape;307;p14"/>
          <p:cNvSpPr txBox="1">
            <a:spLocks noGrp="1"/>
          </p:cNvSpPr>
          <p:nvPr>
            <p:ph type="body" idx="1"/>
          </p:nvPr>
        </p:nvSpPr>
        <p:spPr>
          <a:xfrm>
            <a:off x="1255710" y="1421026"/>
            <a:ext cx="10707690" cy="543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16-bits in length</a:t>
            </a:r>
            <a:endParaRPr sz="280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Represented as one single decimal number</a:t>
            </a:r>
            <a:endParaRPr sz="2400"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Range </a:t>
            </a:r>
            <a:r>
              <a:rPr lang="en-US" sz="2800" b="1"/>
              <a:t>0 - 65535</a:t>
            </a:r>
            <a:endParaRPr sz="2800" b="1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e.g. </a:t>
            </a:r>
            <a:r>
              <a:rPr lang="en-US" sz="2400" b="1">
                <a:solidFill>
                  <a:srgbClr val="FF9900"/>
                </a:solidFill>
              </a:rPr>
              <a:t>80 – Web</a:t>
            </a:r>
            <a:endParaRPr sz="240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 b="1">
                <a:solidFill>
                  <a:srgbClr val="990000"/>
                </a:solidFill>
              </a:rPr>
              <a:t>25 – SMTP</a:t>
            </a:r>
            <a:endParaRPr sz="240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 b="1">
                <a:solidFill>
                  <a:srgbClr val="0070C0"/>
                </a:solidFill>
              </a:rPr>
              <a:t>4070 – Spotify</a:t>
            </a:r>
            <a:endParaRPr sz="2400" b="1">
              <a:solidFill>
                <a:srgbClr val="0070C0"/>
              </a:solidFill>
            </a:endParaRPr>
          </a:p>
        </p:txBody>
      </p:sp>
      <p:pic>
        <p:nvPicPr>
          <p:cNvPr id="308" name="Google Shape;30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10" name="Google Shape;31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0114" y="3376247"/>
            <a:ext cx="5004718" cy="2769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 txBox="1">
            <a:spLocks noGrp="1"/>
          </p:cNvSpPr>
          <p:nvPr>
            <p:ph type="title"/>
          </p:nvPr>
        </p:nvSpPr>
        <p:spPr>
          <a:xfrm>
            <a:off x="1484311" y="361950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Numbers</a:t>
            </a:r>
            <a:endParaRPr/>
          </a:p>
        </p:txBody>
      </p:sp>
      <p:sp>
        <p:nvSpPr>
          <p:cNvPr id="316" name="Google Shape;316;p15"/>
          <p:cNvSpPr txBox="1">
            <a:spLocks noGrp="1"/>
          </p:cNvSpPr>
          <p:nvPr>
            <p:ph type="body" idx="1"/>
          </p:nvPr>
        </p:nvSpPr>
        <p:spPr>
          <a:xfrm>
            <a:off x="1484311" y="1079500"/>
            <a:ext cx="9717089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Corporation for Assigned Names and Numbers </a:t>
            </a:r>
            <a:r>
              <a:rPr lang="en-US">
                <a:solidFill>
                  <a:srgbClr val="660066"/>
                </a:solidFill>
              </a:rPr>
              <a:t>(ICANN)</a:t>
            </a:r>
            <a:r>
              <a:rPr lang="en-US"/>
              <a:t> assigns port numbers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990000"/>
                </a:solidFill>
              </a:rPr>
              <a:t>Three</a:t>
            </a:r>
            <a:r>
              <a:rPr lang="en-US"/>
              <a:t> categories:</a:t>
            </a:r>
            <a:endParaRPr/>
          </a:p>
        </p:txBody>
      </p:sp>
      <p:pic>
        <p:nvPicPr>
          <p:cNvPr id="317" name="Google Shape;317;p15" descr="port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7597" y="4552426"/>
            <a:ext cx="8272139" cy="208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5955" y="2910951"/>
            <a:ext cx="3733800" cy="170945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 txBox="1">
            <a:spLocks noGrp="1"/>
          </p:cNvSpPr>
          <p:nvPr>
            <p:ph type="title" idx="4294967295"/>
          </p:nvPr>
        </p:nvSpPr>
        <p:spPr>
          <a:xfrm>
            <a:off x="1510917" y="104773"/>
            <a:ext cx="10018713" cy="986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body" idx="4294967295"/>
          </p:nvPr>
        </p:nvSpPr>
        <p:spPr>
          <a:xfrm>
            <a:off x="1623390" y="1002324"/>
            <a:ext cx="9328465" cy="138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000" b="1">
                <a:solidFill>
                  <a:srgbClr val="0033CC"/>
                </a:solidFill>
              </a:rPr>
              <a:t>Well-Known Ports:</a:t>
            </a:r>
            <a:endParaRPr sz="3000" b="1"/>
          </a:p>
          <a:p>
            <a:pPr marL="855663" lvl="1" indent="-288925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Assigned and controlled by IANA for standard services</a:t>
            </a:r>
            <a:endParaRPr sz="2600"/>
          </a:p>
          <a:p>
            <a:pPr marL="855663" lvl="1" indent="-288925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Commonly used by system processes and standardized services and applications.</a:t>
            </a:r>
            <a:endParaRPr sz="2800"/>
          </a:p>
          <a:p>
            <a:pPr marL="855663" lvl="1" indent="-103393" algn="l" rtl="0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None/>
            </a:pPr>
            <a:endParaRPr sz="2600"/>
          </a:p>
        </p:txBody>
      </p:sp>
      <p:pic>
        <p:nvPicPr>
          <p:cNvPr id="326" name="Google Shape;326;p16" descr="port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23637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6"/>
          <p:cNvSpPr txBox="1"/>
          <p:nvPr/>
        </p:nvSpPr>
        <p:spPr>
          <a:xfrm>
            <a:off x="2948710" y="6093768"/>
            <a:ext cx="2057400" cy="461665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143 – IMAP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4895272" y="5316188"/>
            <a:ext cx="2057400" cy="461665"/>
          </a:xfrm>
          <a:prstGeom prst="rect">
            <a:avLst/>
          </a:prstGeom>
          <a:solidFill>
            <a:srgbClr val="003366"/>
          </a:solidFill>
          <a:ln w="57150" cap="flat" cmpd="sng">
            <a:solidFill>
              <a:srgbClr val="33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110 – POP3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 txBox="1"/>
          <p:nvPr/>
        </p:nvSpPr>
        <p:spPr>
          <a:xfrm>
            <a:off x="7391400" y="4191001"/>
            <a:ext cx="2362200" cy="461665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443 – HTTPS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6781800" y="6100467"/>
            <a:ext cx="2057400" cy="461665"/>
          </a:xfrm>
          <a:prstGeom prst="rect">
            <a:avLst/>
          </a:prstGeom>
          <a:solidFill>
            <a:srgbClr val="333399"/>
          </a:solidFill>
          <a:ln w="57150" cap="flat" cmpd="sng">
            <a:solidFill>
              <a:srgbClr val="CC9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53 - DNS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7467600" y="5029201"/>
            <a:ext cx="2057400" cy="461665"/>
          </a:xfrm>
          <a:prstGeom prst="rect">
            <a:avLst/>
          </a:prstGeom>
          <a:solidFill>
            <a:srgbClr val="333399"/>
          </a:solidFill>
          <a:ln w="57150" cap="flat" cmpd="sng">
            <a:solidFill>
              <a:srgbClr val="CC9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 – HTTP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2209800" y="2895600"/>
            <a:ext cx="8001000" cy="4572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952500" y="4224635"/>
            <a:ext cx="2514600" cy="461665"/>
          </a:xfrm>
          <a:prstGeom prst="rect">
            <a:avLst/>
          </a:prstGeom>
          <a:solidFill>
            <a:srgbClr val="800080"/>
          </a:solidFill>
          <a:ln w="57150" cap="flat" cmpd="sng">
            <a:solidFill>
              <a:srgbClr val="CC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67&amp;68 – DHCP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866900" y="4907088"/>
            <a:ext cx="2514600" cy="461665"/>
          </a:xfrm>
          <a:prstGeom prst="rect">
            <a:avLst/>
          </a:prstGeom>
          <a:solidFill>
            <a:srgbClr val="800080"/>
          </a:solidFill>
          <a:ln w="57150" cap="flat" cmpd="sng">
            <a:solidFill>
              <a:srgbClr val="CC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123 – NTP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4895272" y="4379268"/>
            <a:ext cx="2057400" cy="461665"/>
          </a:xfrm>
          <a:prstGeom prst="rect">
            <a:avLst/>
          </a:prstGeom>
          <a:solidFill>
            <a:srgbClr val="003366"/>
          </a:solidFill>
          <a:ln w="57150" cap="flat" cmpd="sng">
            <a:solidFill>
              <a:srgbClr val="33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25 – SMTP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 txBox="1">
            <a:spLocks noGrp="1"/>
          </p:cNvSpPr>
          <p:nvPr>
            <p:ph type="title" idx="4294967295"/>
          </p:nvPr>
        </p:nvSpPr>
        <p:spPr>
          <a:xfrm>
            <a:off x="1484311" y="147141"/>
            <a:ext cx="10018713" cy="76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42" name="Google Shape;342;p17"/>
          <p:cNvSpPr txBox="1">
            <a:spLocks noGrp="1"/>
          </p:cNvSpPr>
          <p:nvPr>
            <p:ph type="body" idx="4294967295"/>
          </p:nvPr>
        </p:nvSpPr>
        <p:spPr>
          <a:xfrm>
            <a:off x="1592125" y="1068387"/>
            <a:ext cx="10073402" cy="16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4064"/>
              <a:buChar char="•"/>
            </a:pPr>
            <a:r>
              <a:rPr lang="en-US" sz="3300" b="1">
                <a:solidFill>
                  <a:srgbClr val="0033CC"/>
                </a:solidFill>
              </a:rPr>
              <a:t>Registered Ports:</a:t>
            </a:r>
            <a:endParaRPr sz="3300" b="1"/>
          </a:p>
          <a:p>
            <a:pPr marL="855663" lvl="1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1848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Assigned by IANA but for specific applications requested by developers or organizations.</a:t>
            </a:r>
            <a:endParaRPr/>
          </a:p>
          <a:p>
            <a:pPr marL="855663" lvl="1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1848"/>
              <a:buChar char="•"/>
            </a:pPr>
            <a:r>
              <a:rPr lang="en-US" sz="2800" b="0" i="0">
                <a:solidFill>
                  <a:srgbClr val="232629"/>
                </a:solidFill>
                <a:latin typeface="Arial"/>
                <a:ea typeface="Arial"/>
                <a:cs typeface="Arial"/>
                <a:sym typeface="Arial"/>
              </a:rPr>
              <a:t>Can be registered for a lot of not-so-well-known, especially corporate/proprietary protocols.</a:t>
            </a:r>
            <a:endParaRPr sz="2800" b="0" i="0">
              <a:solidFill>
                <a:srgbClr val="23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7" descr="port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28209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7"/>
          <p:cNvSpPr txBox="1"/>
          <p:nvPr/>
        </p:nvSpPr>
        <p:spPr>
          <a:xfrm>
            <a:off x="6781800" y="4800601"/>
            <a:ext cx="3657600" cy="461665"/>
          </a:xfrm>
          <a:prstGeom prst="rect">
            <a:avLst/>
          </a:prstGeom>
          <a:solidFill>
            <a:srgbClr val="800080"/>
          </a:solidFill>
          <a:ln w="57150" cap="flat" cmpd="sng">
            <a:solidFill>
              <a:srgbClr val="CC66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23399 – Skype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2667000" y="4876801"/>
            <a:ext cx="3733800" cy="461665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8008 – Alternate HTTP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1484311" y="5524501"/>
            <a:ext cx="3581400" cy="461665"/>
          </a:xfrm>
          <a:prstGeom prst="rect">
            <a:avLst/>
          </a:prstGeom>
          <a:solidFill>
            <a:srgbClr val="003300"/>
          </a:solidFill>
          <a:ln w="57150" cap="flat" cmpd="sng">
            <a:solidFill>
              <a:srgbClr val="CCFF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8080 – Alternate HTTP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2209800" y="3581400"/>
            <a:ext cx="8001000" cy="4572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7620000" y="5486401"/>
            <a:ext cx="2209800" cy="461665"/>
          </a:xfrm>
          <a:prstGeom prst="rect">
            <a:avLst/>
          </a:prstGeom>
          <a:solidFill>
            <a:srgbClr val="333399"/>
          </a:solidFill>
          <a:ln w="57150" cap="flat" cmpd="sng">
            <a:solidFill>
              <a:srgbClr val="CC9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4070 – Spotify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4124036" y="6268741"/>
            <a:ext cx="2895600" cy="461665"/>
          </a:xfrm>
          <a:prstGeom prst="rect">
            <a:avLst/>
          </a:prstGeom>
          <a:solidFill>
            <a:srgbClr val="333399"/>
          </a:solidFill>
          <a:ln w="57150" cap="flat" cmpd="sng">
            <a:solidFill>
              <a:srgbClr val="CC99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5060 – SIP (VoIP)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 txBox="1">
            <a:spLocks noGrp="1"/>
          </p:cNvSpPr>
          <p:nvPr>
            <p:ph type="sldNum" idx="12"/>
          </p:nvPr>
        </p:nvSpPr>
        <p:spPr>
          <a:xfrm>
            <a:off x="11034983" y="626874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7729166" y="6174511"/>
            <a:ext cx="3581400" cy="461665"/>
          </a:xfrm>
          <a:prstGeom prst="rect">
            <a:avLst/>
          </a:prstGeom>
          <a:solidFill>
            <a:srgbClr val="003300"/>
          </a:solidFill>
          <a:ln w="57150" cap="flat" cmpd="sng">
            <a:solidFill>
              <a:srgbClr val="CCFF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3306 – MySQL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"/>
          <p:cNvSpPr txBox="1">
            <a:spLocks noGrp="1"/>
          </p:cNvSpPr>
          <p:nvPr>
            <p:ph type="title" idx="4294967295"/>
          </p:nvPr>
        </p:nvSpPr>
        <p:spPr>
          <a:xfrm>
            <a:off x="1484311" y="178110"/>
            <a:ext cx="10018713" cy="111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body" idx="4294967295"/>
          </p:nvPr>
        </p:nvSpPr>
        <p:spPr>
          <a:xfrm>
            <a:off x="1676400" y="1152525"/>
            <a:ext cx="9758218" cy="206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>
                <a:solidFill>
                  <a:srgbClr val="0033CC"/>
                </a:solidFill>
              </a:rPr>
              <a:t>Dynamic Ports:</a:t>
            </a:r>
            <a:endParaRPr sz="2800" b="1"/>
          </a:p>
          <a:p>
            <a:pPr marL="855663" lvl="1" indent="-2889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Also known as private or ephemeral ports</a:t>
            </a:r>
            <a:endParaRPr/>
          </a:p>
          <a:p>
            <a:pPr marL="855663" lvl="1" indent="-2889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Never assigned or controlled by IANA.</a:t>
            </a:r>
            <a:endParaRPr/>
          </a:p>
        </p:txBody>
      </p:sp>
      <p:pic>
        <p:nvPicPr>
          <p:cNvPr id="358" name="Google Shape;358;p18" descr="port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35067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8"/>
          <p:cNvSpPr/>
          <p:nvPr/>
        </p:nvSpPr>
        <p:spPr>
          <a:xfrm>
            <a:off x="2209800" y="4648200"/>
            <a:ext cx="8001000" cy="4572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 txBox="1"/>
          <p:nvPr/>
        </p:nvSpPr>
        <p:spPr>
          <a:xfrm>
            <a:off x="3048000" y="5730876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Dynamic port usage will become clearer as we move through the material.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2" descr="tcp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9501" y="1154906"/>
            <a:ext cx="9312998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2"/>
          <p:cNvSpPr txBox="1">
            <a:spLocks noGrp="1"/>
          </p:cNvSpPr>
          <p:nvPr>
            <p:ph type="title" idx="4294967295"/>
          </p:nvPr>
        </p:nvSpPr>
        <p:spPr>
          <a:xfrm>
            <a:off x="1484311" y="139703"/>
            <a:ext cx="10018713" cy="514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More on Port Numbers</a:t>
            </a:r>
            <a:endParaRPr/>
          </a:p>
        </p:txBody>
      </p:sp>
      <p:sp>
        <p:nvSpPr>
          <p:cNvPr id="368" name="Google Shape;368;p32"/>
          <p:cNvSpPr txBox="1">
            <a:spLocks noGrp="1"/>
          </p:cNvSpPr>
          <p:nvPr>
            <p:ph type="body" idx="4294967295"/>
          </p:nvPr>
        </p:nvSpPr>
        <p:spPr>
          <a:xfrm>
            <a:off x="1851891" y="4870665"/>
            <a:ext cx="8229600" cy="1487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Server is listening on Port 80 for HTTP connections.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client sets the destination port to 80 and uses a dynamic port as its source.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2057400" y="3657600"/>
            <a:ext cx="2133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2"/>
          <p:cNvCxnSpPr/>
          <p:nvPr/>
        </p:nvCxnSpPr>
        <p:spPr>
          <a:xfrm rot="10800000" flipH="1">
            <a:off x="3038764" y="3048000"/>
            <a:ext cx="4636654" cy="9236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71" name="Google Shape;371;p32" descr="tcpudp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1448" y="758682"/>
            <a:ext cx="4392054" cy="151562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2"/>
          <p:cNvSpPr/>
          <p:nvPr/>
        </p:nvSpPr>
        <p:spPr>
          <a:xfrm>
            <a:off x="2422975" y="1166560"/>
            <a:ext cx="2057400" cy="152400"/>
          </a:xfrm>
          <a:prstGeom prst="rect">
            <a:avLst/>
          </a:prstGeom>
          <a:noFill/>
          <a:ln w="31750" cap="flat" cmpd="sng">
            <a:solidFill>
              <a:srgbClr val="00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4480375" y="1154906"/>
            <a:ext cx="2286000" cy="152400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75" name="Google Shape;375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0096" y="1553331"/>
            <a:ext cx="2002704" cy="98666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2"/>
          <p:cNvSpPr txBox="1"/>
          <p:nvPr/>
        </p:nvSpPr>
        <p:spPr>
          <a:xfrm>
            <a:off x="7467600" y="3657600"/>
            <a:ext cx="17797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Cisco.com Server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3" descr="tcp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0" y="1143000"/>
            <a:ext cx="8534400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>
            <a:spLocks noGrp="1"/>
          </p:cNvSpPr>
          <p:nvPr>
            <p:ph type="body" idx="4294967295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Server replies with the web page.</a:t>
            </a:r>
            <a:endParaRPr sz="2800"/>
          </a:p>
          <a:p>
            <a:pPr marL="855663" lvl="1" indent="-2889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Sets the source port to 80 and uses the client’s source port as the destination.</a:t>
            </a:r>
            <a:endParaRPr sz="2400"/>
          </a:p>
        </p:txBody>
      </p:sp>
      <p:cxnSp>
        <p:nvCxnSpPr>
          <p:cNvPr id="383" name="Google Shape;383;p33"/>
          <p:cNvCxnSpPr/>
          <p:nvPr/>
        </p:nvCxnSpPr>
        <p:spPr>
          <a:xfrm rot="10800000">
            <a:off x="3505200" y="3124200"/>
            <a:ext cx="40386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84" name="Google Shape;384;p33" descr="tcpudp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7400" y="762000"/>
            <a:ext cx="4622800" cy="16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3"/>
          <p:cNvSpPr/>
          <p:nvPr/>
        </p:nvSpPr>
        <p:spPr>
          <a:xfrm>
            <a:off x="5943600" y="1219200"/>
            <a:ext cx="2057400" cy="152400"/>
          </a:xfrm>
          <a:prstGeom prst="rect">
            <a:avLst/>
          </a:prstGeom>
          <a:noFill/>
          <a:ln w="31750" cap="flat" cmpd="sng">
            <a:solidFill>
              <a:srgbClr val="00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8077200" y="1219200"/>
            <a:ext cx="2286000" cy="152400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3"/>
          <p:cNvSpPr txBox="1"/>
          <p:nvPr/>
        </p:nvSpPr>
        <p:spPr>
          <a:xfrm>
            <a:off x="6705600" y="3657600"/>
            <a:ext cx="2514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89" name="Google Shape;389;p33"/>
          <p:cNvSpPr txBox="1">
            <a:spLocks noGrp="1"/>
          </p:cNvSpPr>
          <p:nvPr>
            <p:ph type="title" idx="4294967295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4" descr="tcp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0" y="800832"/>
            <a:ext cx="8534400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 txBox="1"/>
          <p:nvPr/>
        </p:nvSpPr>
        <p:spPr>
          <a:xfrm>
            <a:off x="7315200" y="3375892"/>
            <a:ext cx="2514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34"/>
          <p:cNvCxnSpPr/>
          <p:nvPr/>
        </p:nvCxnSpPr>
        <p:spPr>
          <a:xfrm rot="10800000">
            <a:off x="3352800" y="2709816"/>
            <a:ext cx="40386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397" name="Google Shape;397;p34" descr="tcpudp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2400" y="688975"/>
            <a:ext cx="4622800" cy="16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/>
          <p:nvPr/>
        </p:nvSpPr>
        <p:spPr>
          <a:xfrm>
            <a:off x="2763982" y="1148921"/>
            <a:ext cx="2057400" cy="152400"/>
          </a:xfrm>
          <a:prstGeom prst="rect">
            <a:avLst/>
          </a:prstGeom>
          <a:noFill/>
          <a:ln w="31750" cap="flat" cmpd="sng">
            <a:solidFill>
              <a:srgbClr val="00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5010727" y="1148921"/>
            <a:ext cx="2286000" cy="152400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>
            <a:off x="2209800" y="3366656"/>
            <a:ext cx="2133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4343400" y="3599145"/>
            <a:ext cx="2819400" cy="381000"/>
          </a:xfrm>
          <a:custGeom>
            <a:avLst/>
            <a:gdLst/>
            <a:ahLst/>
            <a:cxnLst/>
            <a:rect l="l" t="t" r="r" b="b"/>
            <a:pathLst>
              <a:path w="1776" h="288" extrusionOk="0">
                <a:moveTo>
                  <a:pt x="0" y="0"/>
                </a:moveTo>
                <a:lnTo>
                  <a:pt x="768" y="0"/>
                </a:lnTo>
                <a:lnTo>
                  <a:pt x="768" y="288"/>
                </a:lnTo>
                <a:lnTo>
                  <a:pt x="1776" y="288"/>
                </a:lnTo>
              </a:path>
            </a:pathLst>
          </a:custGeom>
          <a:noFill/>
          <a:ln w="57150" cap="flat" cmpd="sng">
            <a:solidFill>
              <a:srgbClr val="00FF00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4419600" y="3637245"/>
            <a:ext cx="2743200" cy="304800"/>
          </a:xfrm>
          <a:custGeom>
            <a:avLst/>
            <a:gdLst/>
            <a:ahLst/>
            <a:cxnLst/>
            <a:rect l="l" t="t" r="r" b="b"/>
            <a:pathLst>
              <a:path w="1728" h="192" extrusionOk="0">
                <a:moveTo>
                  <a:pt x="0" y="192"/>
                </a:moveTo>
                <a:lnTo>
                  <a:pt x="672" y="192"/>
                </a:lnTo>
                <a:lnTo>
                  <a:pt x="672" y="0"/>
                </a:lnTo>
                <a:lnTo>
                  <a:pt x="1728" y="0"/>
                </a:ln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1991878" y="4731381"/>
            <a:ext cx="9511145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88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Clients can use any random port number, Servers can’t.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Because clients won’t be able to identify server process otherwise</a:t>
            </a:r>
            <a:endParaRPr/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Servers thus must use </a:t>
            </a:r>
            <a:r>
              <a:rPr lang="en-US" sz="24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well-known port numbers</a:t>
            </a: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! </a:t>
            </a:r>
            <a:endParaRPr sz="2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4" name="Google Shape;404;p3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05" name="Google Shape;405;p34"/>
          <p:cNvSpPr txBox="1">
            <a:spLocks noGrp="1"/>
          </p:cNvSpPr>
          <p:nvPr>
            <p:ph type="title" idx="4294967295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5" descr="tcp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990600"/>
            <a:ext cx="8763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 txBox="1">
            <a:spLocks noGrp="1"/>
          </p:cNvSpPr>
          <p:nvPr>
            <p:ph type="body" idx="4294967295"/>
          </p:nvPr>
        </p:nvSpPr>
        <p:spPr>
          <a:xfrm>
            <a:off x="1676400" y="4648200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 if there are two sessions to the same server?</a:t>
            </a:r>
            <a:endParaRPr/>
          </a:p>
          <a:p>
            <a:pPr marL="855663" lvl="1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client uses </a:t>
            </a:r>
            <a:r>
              <a:rPr lang="en-US">
                <a:solidFill>
                  <a:srgbClr val="990099"/>
                </a:solidFill>
              </a:rPr>
              <a:t>another dynamic port</a:t>
            </a:r>
            <a:r>
              <a:rPr lang="en-US"/>
              <a:t> as its source and the destination is </a:t>
            </a:r>
            <a:r>
              <a:rPr lang="en-US">
                <a:solidFill>
                  <a:srgbClr val="990099"/>
                </a:solidFill>
              </a:rPr>
              <a:t>still port 80</a:t>
            </a:r>
            <a:r>
              <a:rPr lang="en-US"/>
              <a:t>.</a:t>
            </a:r>
            <a:endParaRPr/>
          </a:p>
          <a:p>
            <a:pPr marL="855663" lvl="1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990099"/>
                </a:solidFill>
              </a:rPr>
              <a:t>Different source ports</a:t>
            </a:r>
            <a:r>
              <a:rPr lang="en-US"/>
              <a:t> keep the sessions unique on the server. </a:t>
            </a:r>
            <a:endParaRPr/>
          </a:p>
        </p:txBody>
      </p:sp>
      <p:sp>
        <p:nvSpPr>
          <p:cNvPr id="412" name="Google Shape;412;p35"/>
          <p:cNvSpPr txBox="1"/>
          <p:nvPr/>
        </p:nvSpPr>
        <p:spPr>
          <a:xfrm>
            <a:off x="4191000" y="1295400"/>
            <a:ext cx="2133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4191000" y="3429000"/>
            <a:ext cx="2133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49655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7772400" y="1295400"/>
            <a:ext cx="2514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7696200" y="3429000"/>
            <a:ext cx="2514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35"/>
          <p:cNvCxnSpPr/>
          <p:nvPr/>
        </p:nvCxnSpPr>
        <p:spPr>
          <a:xfrm>
            <a:off x="6477000" y="1676400"/>
            <a:ext cx="10668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7" name="Google Shape;417;p35"/>
          <p:cNvCxnSpPr/>
          <p:nvPr/>
        </p:nvCxnSpPr>
        <p:spPr>
          <a:xfrm>
            <a:off x="6477000" y="3810000"/>
            <a:ext cx="10668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8" name="Google Shape;418;p35"/>
          <p:cNvSpPr txBox="1"/>
          <p:nvPr/>
        </p:nvSpPr>
        <p:spPr>
          <a:xfrm>
            <a:off x="4724400" y="2438401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7315200" y="2438401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21" name="Google Shape;421;p35"/>
          <p:cNvSpPr txBox="1">
            <a:spLocks noGrp="1"/>
          </p:cNvSpPr>
          <p:nvPr>
            <p:ph type="title" idx="4294967295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6" descr="tcp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044576"/>
            <a:ext cx="8763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4191000" y="1295400"/>
            <a:ext cx="2133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4191000" y="3429000"/>
            <a:ext cx="2133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49655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7772400" y="1295400"/>
            <a:ext cx="2514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6"/>
          <p:cNvSpPr txBox="1"/>
          <p:nvPr/>
        </p:nvSpPr>
        <p:spPr>
          <a:xfrm>
            <a:off x="7696200" y="3429000"/>
            <a:ext cx="2514600" cy="707886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36"/>
          <p:cNvCxnSpPr/>
          <p:nvPr/>
        </p:nvCxnSpPr>
        <p:spPr>
          <a:xfrm>
            <a:off x="6477000" y="1676400"/>
            <a:ext cx="10668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2" name="Google Shape;432;p36"/>
          <p:cNvCxnSpPr/>
          <p:nvPr/>
        </p:nvCxnSpPr>
        <p:spPr>
          <a:xfrm>
            <a:off x="6477000" y="3810000"/>
            <a:ext cx="10668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3" name="Google Shape;433;p36"/>
          <p:cNvSpPr txBox="1"/>
          <p:nvPr/>
        </p:nvSpPr>
        <p:spPr>
          <a:xfrm>
            <a:off x="4572000" y="2412433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7398327" y="2421670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36" name="Google Shape;436;p36"/>
          <p:cNvSpPr txBox="1">
            <a:spLocks noGrp="1"/>
          </p:cNvSpPr>
          <p:nvPr>
            <p:ph type="title" idx="4294967295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1676400" y="4792322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520"/>
              <a:buFont typeface="Noto Sans Symbols"/>
              <a:buChar char="🞐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two tabs in the same PC, then?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5663" marR="0" lvl="1" indent="-2889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client uses </a:t>
            </a:r>
            <a:r>
              <a:rPr lang="en-US" sz="2400" b="0" i="0" u="none" strike="noStrike" cap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another dynamic port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its source and the destination is </a:t>
            </a:r>
            <a:r>
              <a:rPr lang="en-US" sz="2400" b="0" i="0" u="none" strike="noStrike" cap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still port 80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855663" marR="0" lvl="1" indent="-2889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Different source ports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keep the sessions unique.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>
            <a:spLocks noGrp="1"/>
          </p:cNvSpPr>
          <p:nvPr>
            <p:ph type="title"/>
          </p:nvPr>
        </p:nvSpPr>
        <p:spPr>
          <a:xfrm>
            <a:off x="1315243" y="186176"/>
            <a:ext cx="10018713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/>
              <a:t>More on Port Numbers in Action</a:t>
            </a:r>
            <a:endParaRPr/>
          </a:p>
        </p:txBody>
      </p:sp>
      <p:graphicFrame>
        <p:nvGraphicFramePr>
          <p:cNvPr id="443" name="Google Shape;443;p23"/>
          <p:cNvGraphicFramePr/>
          <p:nvPr/>
        </p:nvGraphicFramePr>
        <p:xfrm>
          <a:off x="7818263" y="2809685"/>
          <a:ext cx="1117950" cy="1429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4" imgW="1117950" imgH="1429131" progId="Paint.Picture">
                  <p:embed/>
                </p:oleObj>
              </mc:Choice>
              <mc:Fallback>
                <p:oleObj r:id="rId4" imgW="1117950" imgH="1429131" progId="Paint.Picture">
                  <p:embed/>
                  <p:pic>
                    <p:nvPicPr>
                      <p:cNvPr id="443" name="Google Shape;443;p2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7818263" y="2809685"/>
                        <a:ext cx="1117950" cy="1429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" name="Google Shape;444;p23"/>
          <p:cNvGraphicFramePr/>
          <p:nvPr/>
        </p:nvGraphicFramePr>
        <p:xfrm>
          <a:off x="1663780" y="1403985"/>
          <a:ext cx="1901667" cy="13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6" imgW="1901667" imgH="1383030" progId="Paint.Picture">
                  <p:embed/>
                </p:oleObj>
              </mc:Choice>
              <mc:Fallback>
                <p:oleObj r:id="rId6" imgW="1901667" imgH="1383030" progId="Paint.Picture">
                  <p:embed/>
                  <p:pic>
                    <p:nvPicPr>
                      <p:cNvPr id="444" name="Google Shape;444;p23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663780" y="1403985"/>
                        <a:ext cx="1901667" cy="1383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" name="Google Shape;445;p23"/>
          <p:cNvGraphicFramePr/>
          <p:nvPr/>
        </p:nvGraphicFramePr>
        <p:xfrm>
          <a:off x="1655731" y="3165142"/>
          <a:ext cx="1774889" cy="1540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r:id="rId8" imgW="1774889" imgH="1540542" progId="Paint.Picture">
                  <p:embed/>
                </p:oleObj>
              </mc:Choice>
              <mc:Fallback>
                <p:oleObj r:id="rId8" imgW="1774889" imgH="1540542" progId="Paint.Picture">
                  <p:embed/>
                  <p:pic>
                    <p:nvPicPr>
                      <p:cNvPr id="445" name="Google Shape;445;p2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/>
                    </p:blipFill>
                    <p:spPr>
                      <a:xfrm>
                        <a:off x="1655731" y="3165142"/>
                        <a:ext cx="1774889" cy="1540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6" name="Google Shape;446;p2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36189" y="3494890"/>
            <a:ext cx="1014222" cy="9969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7" name="Google Shape;447;p23"/>
          <p:cNvGraphicFramePr/>
          <p:nvPr/>
        </p:nvGraphicFramePr>
        <p:xfrm>
          <a:off x="3112389" y="1666090"/>
          <a:ext cx="1014222" cy="996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11" imgW="1014222" imgH="996934" progId="Paint.Picture">
                  <p:embed/>
                </p:oleObj>
              </mc:Choice>
              <mc:Fallback>
                <p:oleObj r:id="rId11" imgW="1014222" imgH="996934" progId="Paint.Picture">
                  <p:embed/>
                  <p:pic>
                    <p:nvPicPr>
                      <p:cNvPr id="447" name="Google Shape;447;p2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/>
                      <a:stretch/>
                    </p:blipFill>
                    <p:spPr>
                      <a:xfrm>
                        <a:off x="3112389" y="1666090"/>
                        <a:ext cx="1014222" cy="996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" name="Google Shape;448;p23"/>
          <p:cNvSpPr txBox="1"/>
          <p:nvPr/>
        </p:nvSpPr>
        <p:spPr>
          <a:xfrm>
            <a:off x="4114800" y="1602072"/>
            <a:ext cx="2133600" cy="856543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4191000" y="3507072"/>
            <a:ext cx="2133600" cy="856543"/>
          </a:xfrm>
          <a:prstGeom prst="rect">
            <a:avLst/>
          </a:prstGeom>
          <a:solidFill>
            <a:srgbClr val="000080"/>
          </a:solidFill>
          <a:ln w="57150" cap="flat" cmpd="sng">
            <a:solidFill>
              <a:srgbClr val="99CC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lang="en-US" sz="20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/>
          </a:p>
        </p:txBody>
      </p:sp>
      <p:sp>
        <p:nvSpPr>
          <p:cNvPr id="450" name="Google Shape;450;p23"/>
          <p:cNvSpPr txBox="1"/>
          <p:nvPr/>
        </p:nvSpPr>
        <p:spPr>
          <a:xfrm>
            <a:off x="3108864" y="2524348"/>
            <a:ext cx="175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2971800" y="4364488"/>
            <a:ext cx="18550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172.16.230.6</a:t>
            </a:r>
            <a:endParaRPr/>
          </a:p>
        </p:txBody>
      </p:sp>
      <p:sp>
        <p:nvSpPr>
          <p:cNvPr id="452" name="Google Shape;452;p23"/>
          <p:cNvSpPr txBox="1"/>
          <p:nvPr/>
        </p:nvSpPr>
        <p:spPr>
          <a:xfrm>
            <a:off x="7696200" y="4073129"/>
            <a:ext cx="1828800" cy="48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1427430" y="4937302"/>
            <a:ext cx="9641940" cy="81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Server’s Transport Layer keep them separate?</a:t>
            </a:r>
            <a:endParaRPr/>
          </a:p>
          <a:p>
            <a:pPr marL="855663" marR="0" lvl="1" indent="-2889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socket  </a:t>
            </a:r>
            <a:r>
              <a:rPr lang="en-US" sz="2400" b="0" i="0" u="none" strike="noStrike" cap="non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(IP Address:Port)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1828800" y="5959476"/>
            <a:ext cx="3124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172.16.230.5:</a:t>
            </a:r>
            <a:r>
              <a:rPr lang="en-US"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49650</a:t>
            </a:r>
            <a:br>
              <a:rPr lang="en-US" sz="2400" b="1" i="0" u="none" strike="noStrike" cap="non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 strike="noStrike" cap="non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172.16.230.6:</a:t>
            </a:r>
            <a:r>
              <a:rPr lang="en-US"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49650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7010400" y="5883276"/>
            <a:ext cx="3124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5A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  <a:t>207.22.146.33:</a:t>
            </a:r>
            <a:r>
              <a:rPr lang="en-US" sz="2400" b="1" i="0" u="none" strike="noStrike" cap="none">
                <a:solidFill>
                  <a:srgbClr val="C3060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br>
              <a:rPr lang="en-US" sz="2400" b="1" i="0" u="none" strike="noStrike" cap="non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0" u="none" strike="noStrike" cap="non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  <a:t>207.22.146.33:</a:t>
            </a:r>
            <a:r>
              <a:rPr lang="en-US" sz="2400" b="1" i="0" u="none" strike="noStrike" cap="none">
                <a:solidFill>
                  <a:srgbClr val="C3060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cxnSp>
        <p:nvCxnSpPr>
          <p:cNvPr id="456" name="Google Shape;456;p23"/>
          <p:cNvCxnSpPr/>
          <p:nvPr/>
        </p:nvCxnSpPr>
        <p:spPr>
          <a:xfrm>
            <a:off x="5029200" y="6096000"/>
            <a:ext cx="1752600" cy="0"/>
          </a:xfrm>
          <a:prstGeom prst="straightConnector1">
            <a:avLst/>
          </a:prstGeom>
          <a:noFill/>
          <a:ln w="57150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57" name="Google Shape;457;p23"/>
          <p:cNvCxnSpPr/>
          <p:nvPr/>
        </p:nvCxnSpPr>
        <p:spPr>
          <a:xfrm>
            <a:off x="5029200" y="6553200"/>
            <a:ext cx="1752600" cy="0"/>
          </a:xfrm>
          <a:prstGeom prst="straightConnector1">
            <a:avLst/>
          </a:prstGeom>
          <a:noFill/>
          <a:ln w="57150" cap="flat" cmpd="sng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58" name="Google Shape;458;p23"/>
          <p:cNvCxnSpPr/>
          <p:nvPr/>
        </p:nvCxnSpPr>
        <p:spPr>
          <a:xfrm>
            <a:off x="6477000" y="1937385"/>
            <a:ext cx="1371600" cy="138303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59" name="Google Shape;459;p23"/>
          <p:cNvCxnSpPr/>
          <p:nvPr/>
        </p:nvCxnSpPr>
        <p:spPr>
          <a:xfrm rot="10800000" flipH="1">
            <a:off x="6553200" y="3280791"/>
            <a:ext cx="1143000" cy="829818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"/>
          <p:cNvSpPr txBox="1">
            <a:spLocks noGrp="1"/>
          </p:cNvSpPr>
          <p:nvPr>
            <p:ph type="title" idx="4294967295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D9E5DE-CA99-447B-BED8-6C38D6303A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3921152"/>
            <a:ext cx="12192000" cy="181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9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7"/>
          <p:cNvSpPr txBox="1">
            <a:spLocks noGrp="1"/>
          </p:cNvSpPr>
          <p:nvPr>
            <p:ph type="title" idx="4294967295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Addressing Types and Tools</a:t>
            </a:r>
            <a:endParaRPr/>
          </a:p>
        </p:txBody>
      </p:sp>
      <p:pic>
        <p:nvPicPr>
          <p:cNvPr id="465" name="Google Shape;465;p37" descr="pic_port 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6742" y="304800"/>
            <a:ext cx="7550058" cy="533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p37"/>
          <p:cNvGrpSpPr/>
          <p:nvPr/>
        </p:nvGrpSpPr>
        <p:grpSpPr>
          <a:xfrm>
            <a:off x="1752600" y="1524000"/>
            <a:ext cx="1295400" cy="1066800"/>
            <a:chOff x="144" y="960"/>
            <a:chExt cx="816" cy="672"/>
          </a:xfrm>
        </p:grpSpPr>
        <p:sp>
          <p:nvSpPr>
            <p:cNvPr id="467" name="Google Shape;467;p37"/>
            <p:cNvSpPr txBox="1"/>
            <p:nvPr/>
          </p:nvSpPr>
          <p:spPr>
            <a:xfrm>
              <a:off x="144" y="960"/>
              <a:ext cx="672" cy="233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TCP/UDP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8" name="Google Shape;468;p37"/>
            <p:cNvCxnSpPr/>
            <p:nvPr/>
          </p:nvCxnSpPr>
          <p:spPr>
            <a:xfrm>
              <a:off x="816" y="1200"/>
              <a:ext cx="144" cy="432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69" name="Google Shape;469;p37"/>
          <p:cNvGrpSpPr/>
          <p:nvPr/>
        </p:nvGrpSpPr>
        <p:grpSpPr>
          <a:xfrm>
            <a:off x="2895600" y="609600"/>
            <a:ext cx="1447800" cy="2057400"/>
            <a:chOff x="864" y="384"/>
            <a:chExt cx="912" cy="1296"/>
          </a:xfrm>
        </p:grpSpPr>
        <p:sp>
          <p:nvSpPr>
            <p:cNvPr id="470" name="Google Shape;470;p37"/>
            <p:cNvSpPr txBox="1"/>
            <p:nvPr/>
          </p:nvSpPr>
          <p:spPr>
            <a:xfrm>
              <a:off x="864" y="384"/>
              <a:ext cx="720" cy="233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Source IP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1" name="Google Shape;471;p37"/>
            <p:cNvCxnSpPr/>
            <p:nvPr/>
          </p:nvCxnSpPr>
          <p:spPr>
            <a:xfrm>
              <a:off x="1440" y="624"/>
              <a:ext cx="336" cy="1056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72" name="Google Shape;472;p37"/>
          <p:cNvSpPr/>
          <p:nvPr/>
        </p:nvSpPr>
        <p:spPr>
          <a:xfrm>
            <a:off x="2667000" y="2398069"/>
            <a:ext cx="6781800" cy="461665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3" name="Google Shape;473;p37"/>
          <p:cNvGrpSpPr/>
          <p:nvPr/>
        </p:nvGrpSpPr>
        <p:grpSpPr>
          <a:xfrm>
            <a:off x="4495800" y="609600"/>
            <a:ext cx="1295400" cy="2057400"/>
            <a:chOff x="1872" y="384"/>
            <a:chExt cx="816" cy="1296"/>
          </a:xfrm>
        </p:grpSpPr>
        <p:sp>
          <p:nvSpPr>
            <p:cNvPr id="474" name="Google Shape;474;p37"/>
            <p:cNvSpPr txBox="1"/>
            <p:nvPr/>
          </p:nvSpPr>
          <p:spPr>
            <a:xfrm>
              <a:off x="1872" y="384"/>
              <a:ext cx="816" cy="233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Source Port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37"/>
            <p:cNvCxnSpPr/>
            <p:nvPr/>
          </p:nvCxnSpPr>
          <p:spPr>
            <a:xfrm>
              <a:off x="2160" y="624"/>
              <a:ext cx="192" cy="1056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76" name="Google Shape;476;p37"/>
          <p:cNvGrpSpPr/>
          <p:nvPr/>
        </p:nvGrpSpPr>
        <p:grpSpPr>
          <a:xfrm>
            <a:off x="6400800" y="838200"/>
            <a:ext cx="1524000" cy="1828800"/>
            <a:chOff x="3072" y="528"/>
            <a:chExt cx="960" cy="1152"/>
          </a:xfrm>
        </p:grpSpPr>
        <p:sp>
          <p:nvSpPr>
            <p:cNvPr id="477" name="Google Shape;477;p37"/>
            <p:cNvSpPr txBox="1"/>
            <p:nvPr/>
          </p:nvSpPr>
          <p:spPr>
            <a:xfrm>
              <a:off x="3072" y="528"/>
              <a:ext cx="960" cy="233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Destination IP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8" name="Google Shape;478;p37"/>
            <p:cNvCxnSpPr/>
            <p:nvPr/>
          </p:nvCxnSpPr>
          <p:spPr>
            <a:xfrm flipH="1">
              <a:off x="3072" y="768"/>
              <a:ext cx="336" cy="912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79" name="Google Shape;479;p37"/>
          <p:cNvGrpSpPr/>
          <p:nvPr/>
        </p:nvGrpSpPr>
        <p:grpSpPr>
          <a:xfrm>
            <a:off x="7391400" y="1371600"/>
            <a:ext cx="2209800" cy="1295400"/>
            <a:chOff x="3696" y="864"/>
            <a:chExt cx="1392" cy="816"/>
          </a:xfrm>
        </p:grpSpPr>
        <p:sp>
          <p:nvSpPr>
            <p:cNvPr id="480" name="Google Shape;480;p37"/>
            <p:cNvSpPr txBox="1"/>
            <p:nvPr/>
          </p:nvSpPr>
          <p:spPr>
            <a:xfrm>
              <a:off x="3984" y="864"/>
              <a:ext cx="1104" cy="233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Destination Port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" name="Google Shape;481;p37"/>
            <p:cNvCxnSpPr/>
            <p:nvPr/>
          </p:nvCxnSpPr>
          <p:spPr>
            <a:xfrm flipH="1">
              <a:off x="3696" y="1104"/>
              <a:ext cx="288" cy="576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2" name="Google Shape;482;p37"/>
          <p:cNvGrpSpPr/>
          <p:nvPr/>
        </p:nvGrpSpPr>
        <p:grpSpPr>
          <a:xfrm>
            <a:off x="7772400" y="2819402"/>
            <a:ext cx="1371600" cy="1636713"/>
            <a:chOff x="3936" y="1776"/>
            <a:chExt cx="864" cy="1031"/>
          </a:xfrm>
        </p:grpSpPr>
        <p:sp>
          <p:nvSpPr>
            <p:cNvPr id="483" name="Google Shape;483;p37"/>
            <p:cNvSpPr txBox="1"/>
            <p:nvPr/>
          </p:nvSpPr>
          <p:spPr>
            <a:xfrm>
              <a:off x="3936" y="2400"/>
              <a:ext cx="864" cy="407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Connection State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4" name="Google Shape;484;p37"/>
            <p:cNvCxnSpPr/>
            <p:nvPr/>
          </p:nvCxnSpPr>
          <p:spPr>
            <a:xfrm rot="10800000" flipH="1">
              <a:off x="4320" y="1776"/>
              <a:ext cx="336" cy="624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5" name="Google Shape;485;p37"/>
          <p:cNvGrpSpPr/>
          <p:nvPr/>
        </p:nvGrpSpPr>
        <p:grpSpPr>
          <a:xfrm>
            <a:off x="2743200" y="2743202"/>
            <a:ext cx="1752600" cy="1484313"/>
            <a:chOff x="768" y="1728"/>
            <a:chExt cx="1104" cy="935"/>
          </a:xfrm>
        </p:grpSpPr>
        <p:sp>
          <p:nvSpPr>
            <p:cNvPr id="486" name="Google Shape;486;p37"/>
            <p:cNvSpPr txBox="1"/>
            <p:nvPr/>
          </p:nvSpPr>
          <p:spPr>
            <a:xfrm>
              <a:off x="768" y="2256"/>
              <a:ext cx="720" cy="407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Source Socket</a:t>
              </a:r>
              <a:endParaRPr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7" name="Google Shape;487;p37"/>
            <p:cNvCxnSpPr/>
            <p:nvPr/>
          </p:nvCxnSpPr>
          <p:spPr>
            <a:xfrm rot="10800000" flipH="1">
              <a:off x="1440" y="1728"/>
              <a:ext cx="432" cy="528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88" name="Google Shape;488;p37"/>
          <p:cNvGrpSpPr/>
          <p:nvPr/>
        </p:nvGrpSpPr>
        <p:grpSpPr>
          <a:xfrm>
            <a:off x="5334000" y="2743200"/>
            <a:ext cx="1447800" cy="1984375"/>
            <a:chOff x="2400" y="1728"/>
            <a:chExt cx="912" cy="1250"/>
          </a:xfrm>
        </p:grpSpPr>
        <p:sp>
          <p:nvSpPr>
            <p:cNvPr id="489" name="Google Shape;489;p37"/>
            <p:cNvSpPr txBox="1"/>
            <p:nvPr/>
          </p:nvSpPr>
          <p:spPr>
            <a:xfrm>
              <a:off x="2400" y="2571"/>
              <a:ext cx="864" cy="407"/>
            </a:xfrm>
            <a:prstGeom prst="rect">
              <a:avLst/>
            </a:prstGeom>
            <a:solidFill>
              <a:srgbClr val="006699"/>
            </a:solidFill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Destination Socket</a:t>
              </a:r>
              <a:endParaRPr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37"/>
            <p:cNvCxnSpPr/>
            <p:nvPr/>
          </p:nvCxnSpPr>
          <p:spPr>
            <a:xfrm rot="10800000" flipH="1">
              <a:off x="3043" y="1728"/>
              <a:ext cx="269" cy="843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91" name="Google Shape;491;p37"/>
          <p:cNvSpPr txBox="1"/>
          <p:nvPr/>
        </p:nvSpPr>
        <p:spPr>
          <a:xfrm>
            <a:off x="3124200" y="5029200"/>
            <a:ext cx="2743200" cy="369332"/>
          </a:xfrm>
          <a:prstGeom prst="rect">
            <a:avLst/>
          </a:prstGeom>
          <a:solidFill>
            <a:srgbClr val="006699"/>
          </a:solidFill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netstat –a –n command</a:t>
            </a:r>
            <a:endParaRPr sz="18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7"/>
          <p:cNvSpPr txBox="1"/>
          <p:nvPr/>
        </p:nvSpPr>
        <p:spPr>
          <a:xfrm>
            <a:off x="9689717" y="1905000"/>
            <a:ext cx="2803907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Netstat - Network Utility Tool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24"/>
          <p:cNvGrpSpPr/>
          <p:nvPr/>
        </p:nvGrpSpPr>
        <p:grpSpPr>
          <a:xfrm>
            <a:off x="1835539" y="1621611"/>
            <a:ext cx="4032601" cy="3614777"/>
            <a:chOff x="3726482" y="1134776"/>
            <a:chExt cx="4710462" cy="4048126"/>
          </a:xfrm>
        </p:grpSpPr>
        <p:sp>
          <p:nvSpPr>
            <p:cNvPr id="500" name="Google Shape;500;p24"/>
            <p:cNvSpPr/>
            <p:nvPr/>
          </p:nvSpPr>
          <p:spPr>
            <a:xfrm>
              <a:off x="5319164" y="2825261"/>
              <a:ext cx="648720" cy="641384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rgbClr val="00009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1" name="Google Shape;501;p24"/>
            <p:cNvCxnSpPr/>
            <p:nvPr/>
          </p:nvCxnSpPr>
          <p:spPr>
            <a:xfrm rot="10800000">
              <a:off x="5616305" y="3517957"/>
              <a:ext cx="0" cy="799504"/>
            </a:xfrm>
            <a:prstGeom prst="straightConnector1">
              <a:avLst/>
            </a:prstGeom>
            <a:noFill/>
            <a:ln w="412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502" name="Google Shape;502;p24"/>
            <p:cNvCxnSpPr/>
            <p:nvPr/>
          </p:nvCxnSpPr>
          <p:spPr>
            <a:xfrm rot="10800000">
              <a:off x="4639246" y="2076356"/>
              <a:ext cx="679918" cy="682403"/>
            </a:xfrm>
            <a:prstGeom prst="straightConnector1">
              <a:avLst/>
            </a:prstGeom>
            <a:noFill/>
            <a:ln w="412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503" name="Google Shape;503;p24"/>
            <p:cNvCxnSpPr/>
            <p:nvPr/>
          </p:nvCxnSpPr>
          <p:spPr>
            <a:xfrm rot="10800000" flipH="1">
              <a:off x="5967884" y="2081010"/>
              <a:ext cx="679918" cy="682403"/>
            </a:xfrm>
            <a:prstGeom prst="straightConnector1">
              <a:avLst/>
            </a:prstGeom>
            <a:noFill/>
            <a:ln w="412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cxnSp>
          <p:nvCxnSpPr>
            <p:cNvPr id="504" name="Google Shape;504;p24"/>
            <p:cNvCxnSpPr/>
            <p:nvPr/>
          </p:nvCxnSpPr>
          <p:spPr>
            <a:xfrm rot="10800000">
              <a:off x="5612290" y="1873503"/>
              <a:ext cx="0" cy="799504"/>
            </a:xfrm>
            <a:prstGeom prst="straightConnector1">
              <a:avLst/>
            </a:prstGeom>
            <a:noFill/>
            <a:ln w="412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grpSp>
          <p:nvGrpSpPr>
            <p:cNvPr id="505" name="Google Shape;505;p24"/>
            <p:cNvGrpSpPr/>
            <p:nvPr/>
          </p:nvGrpSpPr>
          <p:grpSpPr>
            <a:xfrm>
              <a:off x="3726482" y="1134776"/>
              <a:ext cx="4710462" cy="4048126"/>
              <a:chOff x="3726482" y="1134776"/>
              <a:chExt cx="4710462" cy="4048126"/>
            </a:xfrm>
          </p:grpSpPr>
          <p:sp>
            <p:nvSpPr>
              <p:cNvPr id="506" name="Google Shape;506;p24"/>
              <p:cNvSpPr txBox="1"/>
              <p:nvPr/>
            </p:nvSpPr>
            <p:spPr>
              <a:xfrm>
                <a:off x="4503571" y="4598126"/>
                <a:ext cx="2245527" cy="584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multiplexing</a:t>
                </a:r>
                <a:endParaRPr/>
              </a:p>
            </p:txBody>
          </p:sp>
          <p:grpSp>
            <p:nvGrpSpPr>
              <p:cNvPr id="507" name="Google Shape;507;p24"/>
              <p:cNvGrpSpPr/>
              <p:nvPr/>
            </p:nvGrpSpPr>
            <p:grpSpPr>
              <a:xfrm>
                <a:off x="3726482" y="1134776"/>
                <a:ext cx="4710462" cy="2780838"/>
                <a:chOff x="3726482" y="1134776"/>
                <a:chExt cx="4710462" cy="2780838"/>
              </a:xfrm>
            </p:grpSpPr>
            <p:pic>
              <p:nvPicPr>
                <p:cNvPr id="508" name="Google Shape;508;p24" descr="Image result for firefox logo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5316466" y="1134776"/>
                  <a:ext cx="593575" cy="5506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09" name="Google Shape;509;p24" descr="Image result for skype logo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3884338" y="1410111"/>
                  <a:ext cx="593575" cy="5966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10" name="Google Shape;510;p24" descr="Image result for netflix logo png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6242637" y="1485789"/>
                  <a:ext cx="1059694" cy="5905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511" name="Google Shape;511;p24"/>
                <p:cNvCxnSpPr/>
                <p:nvPr/>
              </p:nvCxnSpPr>
              <p:spPr>
                <a:xfrm>
                  <a:off x="3726482" y="3915614"/>
                  <a:ext cx="3925557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512" name="Google Shape;512;p24"/>
                <p:cNvCxnSpPr/>
                <p:nvPr/>
              </p:nvCxnSpPr>
              <p:spPr>
                <a:xfrm>
                  <a:off x="3726482" y="2464553"/>
                  <a:ext cx="4499617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13" name="Google Shape;513;p24"/>
                <p:cNvSpPr txBox="1"/>
                <p:nvPr/>
              </p:nvSpPr>
              <p:spPr>
                <a:xfrm>
                  <a:off x="6867133" y="2931106"/>
                  <a:ext cx="1358966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transport</a:t>
                  </a:r>
                  <a:endParaRPr sz="3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4" name="Google Shape;514;p24"/>
                <p:cNvSpPr txBox="1"/>
                <p:nvPr/>
              </p:nvSpPr>
              <p:spPr>
                <a:xfrm>
                  <a:off x="6867133" y="2025176"/>
                  <a:ext cx="156981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 sz="3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id="515" name="Google Shape;515;p24" descr="Cars merg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51266" y="1422747"/>
            <a:ext cx="5720462" cy="3813641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4"/>
          <p:cNvSpPr txBox="1"/>
          <p:nvPr/>
        </p:nvSpPr>
        <p:spPr>
          <a:xfrm>
            <a:off x="7292917" y="4405391"/>
            <a:ext cx="343715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Multiplexing</a:t>
            </a:r>
            <a:endParaRPr/>
          </a:p>
        </p:txBody>
      </p:sp>
      <p:sp>
        <p:nvSpPr>
          <p:cNvPr id="517" name="Google Shape;517;p24"/>
          <p:cNvSpPr txBox="1">
            <a:spLocks noGrp="1"/>
          </p:cNvSpPr>
          <p:nvPr>
            <p:ph type="title"/>
          </p:nvPr>
        </p:nvSpPr>
        <p:spPr>
          <a:xfrm>
            <a:off x="823687" y="59747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>
                <a:solidFill>
                  <a:srgbClr val="7D28CD"/>
                </a:solidFill>
              </a:rPr>
              <a:t>Function 4</a:t>
            </a:r>
            <a:r>
              <a:rPr lang="en-US"/>
              <a:t> –Multiplexing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5"/>
          <p:cNvSpPr txBox="1">
            <a:spLocks noGrp="1"/>
          </p:cNvSpPr>
          <p:nvPr>
            <p:ph type="title"/>
          </p:nvPr>
        </p:nvSpPr>
        <p:spPr>
          <a:xfrm>
            <a:off x="823687" y="59747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>
                <a:solidFill>
                  <a:srgbClr val="7D28CD"/>
                </a:solidFill>
              </a:rPr>
              <a:t>Function 4</a:t>
            </a:r>
            <a:r>
              <a:rPr lang="en-US"/>
              <a:t> –DeMultiplexing</a:t>
            </a:r>
            <a:endParaRPr/>
          </a:p>
        </p:txBody>
      </p:sp>
      <p:grpSp>
        <p:nvGrpSpPr>
          <p:cNvPr id="524" name="Google Shape;524;p25"/>
          <p:cNvGrpSpPr/>
          <p:nvPr/>
        </p:nvGrpSpPr>
        <p:grpSpPr>
          <a:xfrm>
            <a:off x="1551453" y="1512252"/>
            <a:ext cx="3713005" cy="3627858"/>
            <a:chOff x="3726482" y="1134776"/>
            <a:chExt cx="4710462" cy="4128886"/>
          </a:xfrm>
        </p:grpSpPr>
        <p:cxnSp>
          <p:nvCxnSpPr>
            <p:cNvPr id="525" name="Google Shape;525;p25"/>
            <p:cNvCxnSpPr/>
            <p:nvPr/>
          </p:nvCxnSpPr>
          <p:spPr>
            <a:xfrm rot="10800000">
              <a:off x="4639246" y="2076356"/>
              <a:ext cx="679918" cy="682403"/>
            </a:xfrm>
            <a:prstGeom prst="straightConnector1">
              <a:avLst/>
            </a:prstGeom>
            <a:noFill/>
            <a:ln w="412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grpSp>
          <p:nvGrpSpPr>
            <p:cNvPr id="526" name="Google Shape;526;p25"/>
            <p:cNvGrpSpPr/>
            <p:nvPr/>
          </p:nvGrpSpPr>
          <p:grpSpPr>
            <a:xfrm>
              <a:off x="3726482" y="1134776"/>
              <a:ext cx="4710462" cy="4128886"/>
              <a:chOff x="3726482" y="1134776"/>
              <a:chExt cx="4710462" cy="4128886"/>
            </a:xfrm>
          </p:grpSpPr>
          <p:sp>
            <p:nvSpPr>
              <p:cNvPr id="527" name="Google Shape;527;p25"/>
              <p:cNvSpPr/>
              <p:nvPr/>
            </p:nvSpPr>
            <p:spPr>
              <a:xfrm>
                <a:off x="5319164" y="2825261"/>
                <a:ext cx="648720" cy="641384"/>
              </a:xfrm>
              <a:prstGeom prst="ellipse">
                <a:avLst/>
              </a:prstGeom>
              <a:solidFill>
                <a:schemeClr val="lt1"/>
              </a:solidFill>
              <a:ln w="28575" cap="flat" cmpd="sng">
                <a:solidFill>
                  <a:srgbClr val="00009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8" name="Google Shape;528;p25"/>
              <p:cNvGrpSpPr/>
              <p:nvPr/>
            </p:nvGrpSpPr>
            <p:grpSpPr>
              <a:xfrm>
                <a:off x="3726482" y="1134776"/>
                <a:ext cx="4710462" cy="4128886"/>
                <a:chOff x="3726482" y="1134776"/>
                <a:chExt cx="4710462" cy="4128886"/>
              </a:xfrm>
            </p:grpSpPr>
            <p:cxnSp>
              <p:nvCxnSpPr>
                <p:cNvPr id="529" name="Google Shape;529;p25"/>
                <p:cNvCxnSpPr/>
                <p:nvPr/>
              </p:nvCxnSpPr>
              <p:spPr>
                <a:xfrm rot="10800000">
                  <a:off x="5616305" y="3517957"/>
                  <a:ext cx="0" cy="799504"/>
                </a:xfrm>
                <a:prstGeom prst="straightConnector1">
                  <a:avLst/>
                </a:prstGeom>
                <a:noFill/>
                <a:ln w="412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30" name="Google Shape;530;p25"/>
                <p:cNvSpPr txBox="1"/>
                <p:nvPr/>
              </p:nvSpPr>
              <p:spPr>
                <a:xfrm>
                  <a:off x="5345885" y="2745220"/>
                  <a:ext cx="364906" cy="7355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6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?</a:t>
                  </a:r>
                  <a:endParaRPr/>
                </a:p>
              </p:txBody>
            </p:sp>
            <p:cxnSp>
              <p:nvCxnSpPr>
                <p:cNvPr id="531" name="Google Shape;531;p25"/>
                <p:cNvCxnSpPr/>
                <p:nvPr/>
              </p:nvCxnSpPr>
              <p:spPr>
                <a:xfrm rot="10800000" flipH="1">
                  <a:off x="5967884" y="2081010"/>
                  <a:ext cx="679918" cy="682403"/>
                </a:xfrm>
                <a:prstGeom prst="straightConnector1">
                  <a:avLst/>
                </a:prstGeom>
                <a:noFill/>
                <a:ln w="412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532" name="Google Shape;532;p25"/>
                <p:cNvCxnSpPr/>
                <p:nvPr/>
              </p:nvCxnSpPr>
              <p:spPr>
                <a:xfrm rot="10800000">
                  <a:off x="5612290" y="1873503"/>
                  <a:ext cx="0" cy="799504"/>
                </a:xfrm>
                <a:prstGeom prst="straightConnector1">
                  <a:avLst/>
                </a:prstGeom>
                <a:noFill/>
                <a:ln w="412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>
                  <a:outerShdw blurRad="40000" dist="20000" dir="5400000" rotWithShape="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33" name="Google Shape;533;p25"/>
                <p:cNvSpPr txBox="1"/>
                <p:nvPr/>
              </p:nvSpPr>
              <p:spPr>
                <a:xfrm>
                  <a:off x="4216816" y="4598126"/>
                  <a:ext cx="3644675" cy="665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Demultiplexing</a:t>
                  </a:r>
                  <a:endParaRPr/>
                </a:p>
              </p:txBody>
            </p:sp>
            <p:grpSp>
              <p:nvGrpSpPr>
                <p:cNvPr id="534" name="Google Shape;534;p25"/>
                <p:cNvGrpSpPr/>
                <p:nvPr/>
              </p:nvGrpSpPr>
              <p:grpSpPr>
                <a:xfrm>
                  <a:off x="3726482" y="1134776"/>
                  <a:ext cx="4710462" cy="2780838"/>
                  <a:chOff x="3726482" y="1134776"/>
                  <a:chExt cx="4710462" cy="2780838"/>
                </a:xfrm>
              </p:grpSpPr>
              <p:pic>
                <p:nvPicPr>
                  <p:cNvPr id="535" name="Google Shape;535;p25" descr="Image result for firefox logo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/>
                  <a:stretch/>
                </p:blipFill>
                <p:spPr>
                  <a:xfrm>
                    <a:off x="5316466" y="1134776"/>
                    <a:ext cx="593575" cy="5506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36" name="Google Shape;536;p25" descr="Image result for skype logo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3884338" y="1410111"/>
                    <a:ext cx="593575" cy="5966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537" name="Google Shape;537;p25" descr="Image result for netflix logo png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6242637" y="1485789"/>
                    <a:ext cx="1059694" cy="59056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cxnSp>
                <p:nvCxnSpPr>
                  <p:cNvPr id="538" name="Google Shape;538;p25"/>
                  <p:cNvCxnSpPr/>
                  <p:nvPr/>
                </p:nvCxnSpPr>
                <p:spPr>
                  <a:xfrm>
                    <a:off x="3726482" y="3915614"/>
                    <a:ext cx="3925557" cy="0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dk1"/>
                    </a:solidFill>
                    <a:prstDash val="dash"/>
                    <a:round/>
                    <a:headEnd type="none" w="sm" len="sm"/>
                    <a:tailEnd type="none" w="sm" len="sm"/>
                  </a:ln>
                  <a:effectLst>
                    <a:outerShdw blurRad="40000" dist="20000" dir="5400000" rotWithShape="0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39" name="Google Shape;539;p25"/>
                  <p:cNvCxnSpPr/>
                  <p:nvPr/>
                </p:nvCxnSpPr>
                <p:spPr>
                  <a:xfrm>
                    <a:off x="3726482" y="2464553"/>
                    <a:ext cx="4499617" cy="0"/>
                  </a:xfrm>
                  <a:prstGeom prst="straightConnector1">
                    <a:avLst/>
                  </a:prstGeom>
                  <a:noFill/>
                  <a:ln w="25400" cap="flat" cmpd="sng">
                    <a:solidFill>
                      <a:schemeClr val="dk1"/>
                    </a:solidFill>
                    <a:prstDash val="dash"/>
                    <a:round/>
                    <a:headEnd type="none" w="sm" len="sm"/>
                    <a:tailEnd type="none" w="sm" len="sm"/>
                  </a:ln>
                  <a:effectLst>
                    <a:outerShdw blurRad="40000" dist="20000" dir="5400000" rotWithShape="0">
                      <a:srgbClr val="000000">
                        <a:alpha val="37647"/>
                      </a:srgbClr>
                    </a:outerShdw>
                  </a:effectLst>
                </p:spPr>
              </p:cxnSp>
              <p:sp>
                <p:nvSpPr>
                  <p:cNvPr id="540" name="Google Shape;540;p25"/>
                  <p:cNvSpPr txBox="1"/>
                  <p:nvPr/>
                </p:nvSpPr>
                <p:spPr>
                  <a:xfrm>
                    <a:off x="6867133" y="2931106"/>
                    <a:ext cx="1358966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transport</a:t>
                    </a:r>
                    <a:endParaRPr sz="3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1" name="Google Shape;541;p25"/>
                  <p:cNvSpPr txBox="1"/>
                  <p:nvPr/>
                </p:nvSpPr>
                <p:spPr>
                  <a:xfrm>
                    <a:off x="6867133" y="1908821"/>
                    <a:ext cx="1569811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application</a:t>
                    </a:r>
                    <a:endParaRPr sz="32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pic>
        <p:nvPicPr>
          <p:cNvPr id="542" name="Google Shape;542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7090" y="1612013"/>
            <a:ext cx="6332535" cy="3633973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5"/>
          <p:cNvSpPr txBox="1"/>
          <p:nvPr/>
        </p:nvSpPr>
        <p:spPr>
          <a:xfrm>
            <a:off x="7369434" y="4555335"/>
            <a:ext cx="354680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Demultiplexing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5527a8ce64_0_958"/>
          <p:cNvSpPr txBox="1">
            <a:spLocks noGrp="1"/>
          </p:cNvSpPr>
          <p:nvPr>
            <p:ph type="title"/>
          </p:nvPr>
        </p:nvSpPr>
        <p:spPr>
          <a:xfrm>
            <a:off x="798690" y="289325"/>
            <a:ext cx="11100600" cy="12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DeMultiplexing/ Multiplexing</a:t>
            </a:r>
            <a:endParaRPr sz="6000"/>
          </a:p>
        </p:txBody>
      </p:sp>
      <p:sp>
        <p:nvSpPr>
          <p:cNvPr id="550" name="Google Shape;550;g25527a8ce64_0_958"/>
          <p:cNvSpPr txBox="1"/>
          <p:nvPr/>
        </p:nvSpPr>
        <p:spPr>
          <a:xfrm>
            <a:off x="798690" y="1610067"/>
            <a:ext cx="11100600" cy="397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marR="0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Multiplexing, demultiplexing: based on segment, datagram header field values</a:t>
            </a:r>
            <a:endParaRPr/>
          </a:p>
          <a:p>
            <a:pPr marL="463550" marR="0" lvl="0" indent="-1365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339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</a:t>
            </a:r>
            <a:r>
              <a:rPr lang="en-US" sz="3200" b="1" i="0" u="none" strike="noStrike" cap="non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destination port number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(only)</a:t>
            </a:r>
            <a:endParaRPr/>
          </a:p>
          <a:p>
            <a:pPr marL="463550" marR="0" lvl="0" indent="-1365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550" marR="0" lvl="0" indent="-339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lang="en-US" sz="36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TCP: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4-tuple: </a:t>
            </a:r>
            <a:r>
              <a:rPr lang="en-US" sz="3200" b="1" i="0" u="none" strike="noStrike" cap="non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source and destination IP addresses, and port numbers</a:t>
            </a:r>
            <a:endParaRPr sz="1400" b="1" i="0" u="none" strike="noStrike" cap="non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5527a8ce64_0_95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3C6E-9DBF-4DA6-895D-7A09F11B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E2FDB-A6D5-47FF-8AEF-D7703A6A38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1E7A1-6537-4859-A5C7-7C383D64CC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9728" y="850277"/>
            <a:ext cx="12192000" cy="17010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64F128-27D5-4F3E-AE64-AE5D86C2E26B}"/>
              </a:ext>
            </a:extLst>
          </p:cNvPr>
          <p:cNvSpPr txBox="1"/>
          <p:nvPr/>
        </p:nvSpPr>
        <p:spPr>
          <a:xfrm>
            <a:off x="2926080" y="2825496"/>
            <a:ext cx="2287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IP &amp; Port address,</a:t>
            </a:r>
          </a:p>
          <a:p>
            <a:endParaRPr lang="en-IN" sz="1800" dirty="0"/>
          </a:p>
          <a:p>
            <a:r>
              <a:rPr lang="en-IN" sz="1800" dirty="0"/>
              <a:t>As they are received</a:t>
            </a:r>
          </a:p>
        </p:txBody>
      </p:sp>
    </p:spTree>
    <p:extLst>
      <p:ext uri="{BB962C8B-B14F-4D97-AF65-F5344CB8AC3E}">
        <p14:creationId xmlns:p14="http://schemas.microsoft.com/office/powerpoint/2010/main" val="38165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1821-D82F-41C2-8373-B943EE07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096AE-75FE-4CEC-8E18-BED67B07D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918" y="3124199"/>
            <a:ext cx="4895055" cy="3124201"/>
          </a:xfrm>
        </p:spPr>
        <p:txBody>
          <a:bodyPr/>
          <a:lstStyle/>
          <a:p>
            <a:pPr marL="62865" indent="0">
              <a:buNone/>
            </a:pPr>
            <a:r>
              <a:rPr lang="en-IN" dirty="0"/>
              <a:t>I. Yes, the given range belongs to the dynamic port addresses class.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953AD-B85E-447B-BC63-31323069F87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62865" indent="0">
              <a:buNone/>
            </a:pPr>
            <a:r>
              <a:rPr lang="en-IN" dirty="0"/>
              <a:t>II. For long time use, the students should get the port registered for their server from ICANN.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961ED-F0A2-4C27-AF23-FD416CEDFD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CDEFA-F317-4790-AF0D-A3D2E509C1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0" y="128233"/>
            <a:ext cx="12192000" cy="286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And Now more on TCP!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1114</Words>
  <Application>Microsoft Office PowerPoint</Application>
  <PresentationFormat>Widescreen</PresentationFormat>
  <Paragraphs>240</Paragraphs>
  <Slides>32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Corbel</vt:lpstr>
      <vt:lpstr>Tahoma</vt:lpstr>
      <vt:lpstr>Gill Sans</vt:lpstr>
      <vt:lpstr>Arial</vt:lpstr>
      <vt:lpstr>Calibri</vt:lpstr>
      <vt:lpstr>Verdana</vt:lpstr>
      <vt:lpstr>Noto Sans Symbols</vt:lpstr>
      <vt:lpstr>Parallax</vt:lpstr>
      <vt:lpstr>Bitmap Image</vt:lpstr>
      <vt:lpstr>     Introduction to Transport Layer</vt:lpstr>
      <vt:lpstr>Objectives</vt:lpstr>
      <vt:lpstr>Transport vs. Network layer</vt:lpstr>
      <vt:lpstr>Functions of the Transport Layer</vt:lpstr>
      <vt:lpstr>Different Applications</vt:lpstr>
      <vt:lpstr>Solution : Two transport protocols?</vt:lpstr>
      <vt:lpstr>PowerPoint Presentation</vt:lpstr>
      <vt:lpstr>PowerPoint Presentation</vt:lpstr>
      <vt:lpstr>Functions of the Transport Layer</vt:lpstr>
      <vt:lpstr>PowerPoint Presentation</vt:lpstr>
      <vt:lpstr>PowerPoint Presentation</vt:lpstr>
      <vt:lpstr>TCP and UDP Headers</vt:lpstr>
      <vt:lpstr>PowerPoint Presentation</vt:lpstr>
      <vt:lpstr>Function 3 – Identifying Different Applications </vt:lpstr>
      <vt:lpstr>Port Numbers</vt:lpstr>
      <vt:lpstr>Port Number Types</vt:lpstr>
      <vt:lpstr>Port Number Types</vt:lpstr>
      <vt:lpstr>Port Number Types</vt:lpstr>
      <vt:lpstr>More on Port Numbers</vt:lpstr>
      <vt:lpstr>Port Numbers in Action</vt:lpstr>
      <vt:lpstr>Port Numbers in Action</vt:lpstr>
      <vt:lpstr>Port Numbers in Action</vt:lpstr>
      <vt:lpstr>Port Numbers in Action</vt:lpstr>
      <vt:lpstr>More on Port Numbers in Action</vt:lpstr>
      <vt:lpstr>Port Numbers in Action</vt:lpstr>
      <vt:lpstr>Port Addressing Types and Tools</vt:lpstr>
      <vt:lpstr>Function 4 –Multiplexing</vt:lpstr>
      <vt:lpstr>Function 4 –DeMultiplexing</vt:lpstr>
      <vt:lpstr>DeMultiplexing/ Multiplexing</vt:lpstr>
      <vt:lpstr>PowerPoint Presentation</vt:lpstr>
      <vt:lpstr>PowerPoint Presentation</vt:lpstr>
      <vt:lpstr>And Now more on TCP!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Introduction to Transport Layer</dc:title>
  <dc:creator>Mehnaz Seraj</dc:creator>
  <cp:lastModifiedBy>Md. Sakir Hossain</cp:lastModifiedBy>
  <cp:revision>5</cp:revision>
  <dcterms:created xsi:type="dcterms:W3CDTF">2020-06-17T13:03:26Z</dcterms:created>
  <dcterms:modified xsi:type="dcterms:W3CDTF">2026-07-03T12:46:39Z</dcterms:modified>
</cp:coreProperties>
</file>