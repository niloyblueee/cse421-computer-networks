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33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8" r:id="rId32"/>
    <p:sldId id="289" r:id="rId33"/>
    <p:sldId id="290" r:id="rId34"/>
    <p:sldId id="291" r:id="rId35"/>
    <p:sldId id="334" r:id="rId36"/>
    <p:sldId id="292" r:id="rId37"/>
    <p:sldId id="332" r:id="rId38"/>
    <p:sldId id="293" r:id="rId39"/>
    <p:sldId id="33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35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</p:sldIdLst>
  <p:sldSz cx="12192000" cy="6858000"/>
  <p:notesSz cx="6858000" cy="9144000"/>
  <p:embeddedFontLst>
    <p:embeddedFont>
      <p:font typeface="Calibri" panose="020F0502020204030204" pitchFamily="34" charset="0"/>
      <p:regular r:id="rId80"/>
      <p:bold r:id="rId81"/>
      <p:italic r:id="rId82"/>
      <p:boldItalic r:id="rId83"/>
    </p:embeddedFont>
    <p:embeddedFont>
      <p:font typeface="Cambria Math" panose="02040503050406030204" pitchFamily="18" charset="0"/>
      <p:regular r:id="rId84"/>
    </p:embeddedFont>
    <p:embeddedFont>
      <p:font typeface="Comic Sans MS" panose="030F0702030302020204" pitchFamily="66" charset="0"/>
      <p:regular r:id="rId85"/>
      <p:bold r:id="rId86"/>
      <p:italic r:id="rId87"/>
      <p:boldItalic r:id="rId88"/>
    </p:embeddedFont>
    <p:embeddedFont>
      <p:font typeface="Corbel" panose="020B0503020204020204" pitchFamily="34" charset="0"/>
      <p:regular r:id="rId89"/>
      <p:bold r:id="rId90"/>
      <p:italic r:id="rId91"/>
      <p:boldItalic r:id="rId92"/>
    </p:embeddedFont>
    <p:embeddedFont>
      <p:font typeface="Gill Sans" panose="020B0604020202020204" charset="0"/>
      <p:regular r:id="rId93"/>
      <p:bold r:id="rId94"/>
    </p:embeddedFont>
    <p:embeddedFont>
      <p:font typeface="Tahoma" panose="020B0604030504040204" pitchFamily="34" charset="0"/>
      <p:regular r:id="rId95"/>
      <p:bold r:id="rId96"/>
    </p:embeddedFont>
    <p:embeddedFont>
      <p:font typeface="Verdana" panose="020B0604030504040204" pitchFamily="34" charset="0"/>
      <p:regular r:id="rId97"/>
      <p:bold r:id="rId98"/>
      <p:italic r:id="rId99"/>
      <p:boldItalic r:id="rId10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976E32-6B0C-47EA-8DE3-970E66AFDCAA}">
  <a:tblStyle styleId="{60976E32-6B0C-47EA-8DE3-970E66AFDCA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tcBdr/>
        <a:fill>
          <a:solidFill>
            <a:srgbClr val="F8D6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8D6CC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CECE7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CECE7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6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5.fntdata"/><Relationship Id="rId89" Type="http://schemas.openxmlformats.org/officeDocument/2006/relationships/font" Target="fonts/font10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font" Target="fonts/font11.fntdata"/><Relationship Id="rId95" Type="http://schemas.openxmlformats.org/officeDocument/2006/relationships/font" Target="fonts/font1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1.fntdata"/><Relationship Id="rId85" Type="http://schemas.openxmlformats.org/officeDocument/2006/relationships/font" Target="fonts/font6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4.fntdata"/><Relationship Id="rId88" Type="http://schemas.openxmlformats.org/officeDocument/2006/relationships/font" Target="fonts/font9.fntdata"/><Relationship Id="rId91" Type="http://schemas.openxmlformats.org/officeDocument/2006/relationships/font" Target="fonts/font12.fntdata"/><Relationship Id="rId96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2.fntdata"/><Relationship Id="rId86" Type="http://schemas.openxmlformats.org/officeDocument/2006/relationships/font" Target="fonts/font7.fntdata"/><Relationship Id="rId94" Type="http://schemas.openxmlformats.org/officeDocument/2006/relationships/font" Target="fonts/font15.fntdata"/><Relationship Id="rId99" Type="http://schemas.openxmlformats.org/officeDocument/2006/relationships/font" Target="fonts/font20.fntdata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8.fntdata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8.fntdata"/><Relationship Id="rId61" Type="http://schemas.openxmlformats.org/officeDocument/2006/relationships/slide" Target="slides/slide60.xml"/><Relationship Id="rId82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4.fntdata"/><Relationship Id="rId98" Type="http://schemas.openxmlformats.org/officeDocument/2006/relationships/font" Target="fonts/font19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300"/>
              <a:t>Every connected end device (known as a peer) can function as </a:t>
            </a:r>
            <a:r>
              <a:rPr lang="en-US" sz="1300" b="1"/>
              <a:t>either a server or a client</a:t>
            </a:r>
            <a:r>
              <a:rPr lang="en-US" sz="1300"/>
              <a:t>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300"/>
              <a:t>Peer-to-peer networks decentralize the resources on a network without using a centralized server.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One computer might assume the role of server for one transaction while simultaneously serving as a client for another. The roles of client and server are set on a per request basis.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" name="Google Shape;421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5" name="Google Shape;47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6" name="Google Shape;476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Google Shape;52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5" name="Google Shape;525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6" name="Google Shape;59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7" name="Google Shape;597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6" name="Google Shape;63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1" name="Google Shape;65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2" name="Google Shape;65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2" name="Google Shape;66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3" name="Google Shape;663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0" name="Google Shape;80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7" name="Google Shape;82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4" name="Google Shape;83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0" name="Google Shape;84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1" name="Google Shape;841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1" name="Google Shape;85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8" name="Google Shape;858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9" name="Google Shape;859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0" name="Google Shape;94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1" name="Google Shape;941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0" name="Google Shape;101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1" name="Google Shape;1011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9" name="Google Shape;103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5" name="Google Shape;104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1" name="Google Shape;1051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2" name="Google Shape;1052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6" name="Google Shape;1156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7" name="Google Shape;1157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59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3" name="Google Shape;116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6" name="Google Shape;1176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7" name="Google Shape;1177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8" name="Google Shape;1438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9" name="Google Shape;1439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63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0" name="Google Shape;1450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1" name="Google Shape;1451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2" name="Google Shape;146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8" name="Google Shape;147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9" name="Google Shape;147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66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8" name="Google Shape;1498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1499" name="Google Shape;1499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8" name="Google Shape;175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4" name="Google Shape;1764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5" name="Google Shape;1765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69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2" name="Google Shape;1852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3" name="Google Shape;1853;p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3" name="Google Shape;1863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0" name="Google Shape;187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6" name="Google Shape;1876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7" name="Google Shape;1877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4" name="Google Shape;1884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0" name="Google Shape;1890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7" name="Google Shape;1897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5" name="Google Shape;190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711200" y="1600200"/>
            <a:ext cx="508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>
            <a:spLocks noGrp="1"/>
          </p:cNvSpPr>
          <p:nvPr>
            <p:ph type="chart" idx="2"/>
          </p:nvPr>
        </p:nvSpPr>
        <p:spPr>
          <a:xfrm>
            <a:off x="5994400" y="1600200"/>
            <a:ext cx="508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hyperlink" Target="https://www.computerhope.com/jargon/h/hyperlink.htm" TargetMode="External"/><Relationship Id="rId4" Type="http://schemas.openxmlformats.org/officeDocument/2006/relationships/hyperlink" Target="https://www.computerhope.com/jargon/b/browser.htm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hyperlink" Target="https://www.computerhope.com/jargon/a/addrebar.htm" TargetMode="External"/><Relationship Id="rId10" Type="http://schemas.openxmlformats.org/officeDocument/2006/relationships/image" Target="../media/image23.png"/><Relationship Id="rId4" Type="http://schemas.openxmlformats.org/officeDocument/2006/relationships/hyperlink" Target="https://www.computerhope.com/jargon/u/url.htm" TargetMode="External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8.png"/><Relationship Id="rId4" Type="http://schemas.openxmlformats.org/officeDocument/2006/relationships/image" Target="../media/image5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ctrTitle"/>
          </p:nvPr>
        </p:nvSpPr>
        <p:spPr>
          <a:xfrm>
            <a:off x="3154951" y="941893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Application Layer (HTTP)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45"/>
              <a:buNone/>
            </a:pPr>
            <a:r>
              <a:rPr lang="en-US"/>
              <a:t>Lecture 2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chemeClr val="dk1"/>
              </a:buClr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1372258" y="175264"/>
            <a:ext cx="10018713" cy="796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/>
              <a:t>Applications </a:t>
            </a:r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964465" y="314073"/>
            <a:ext cx="2551361" cy="617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3200" b="1"/>
              <a:t>1970-1980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None/>
            </a:pPr>
            <a:endParaRPr sz="3200" b="1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3200" b="1"/>
              <a:t>1990-2000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None/>
            </a:pPr>
            <a:endParaRPr sz="3200" b="1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None/>
            </a:pPr>
            <a:endParaRPr sz="3200" b="1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3200" b="1"/>
              <a:t>2000-2020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None/>
            </a:pPr>
            <a:endParaRPr sz="3200" b="1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None/>
            </a:pPr>
            <a:endParaRPr sz="3200" b="1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3200" b="1"/>
              <a:t>2020 - </a:t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1456" y="875497"/>
            <a:ext cx="2860114" cy="193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87772" y="2407434"/>
            <a:ext cx="2704857" cy="1628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2816" y="4316419"/>
            <a:ext cx="4261164" cy="1061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13102" y="4175046"/>
            <a:ext cx="3168512" cy="1490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90733" y="971266"/>
            <a:ext cx="3660207" cy="1692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1010"/>
              <a:buFont typeface="Corbel"/>
              <a:buNone/>
            </a:pPr>
            <a:r>
              <a:rPr lang="en-US" b="1"/>
              <a:t>Objectives </a:t>
            </a:r>
            <a:endParaRPr b="1"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1484297" y="1368926"/>
            <a:ext cx="10018800" cy="4956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3200"/>
              <a:t>Principles of network applications</a:t>
            </a:r>
            <a:endParaRPr sz="32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3200"/>
              <a:t>Web and HTTP</a:t>
            </a:r>
            <a:endParaRPr sz="32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3200"/>
              <a:t>Electronic Mail (SMTP, POP3, IMAP) </a:t>
            </a:r>
            <a:endParaRPr sz="32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3200"/>
              <a:t>DNS</a:t>
            </a:r>
            <a:endParaRPr sz="32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3200"/>
              <a:t>P2P Applications</a:t>
            </a:r>
            <a:endParaRPr sz="32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3200"/>
              <a:t>Video streaming and content distribution networks</a:t>
            </a:r>
            <a:endParaRPr sz="32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None/>
            </a:pPr>
            <a:endParaRPr sz="2800"/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1484310" y="0"/>
            <a:ext cx="10018713" cy="114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b="1"/>
              <a:t>Network Models</a:t>
            </a: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Application Layer</a:t>
            </a:r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05" y="1421089"/>
            <a:ext cx="3194229" cy="5318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45498" y="1510109"/>
            <a:ext cx="3257525" cy="522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/>
          <p:nvPr/>
        </p:nvSpPr>
        <p:spPr>
          <a:xfrm>
            <a:off x="5475912" y="2430559"/>
            <a:ext cx="2751519" cy="45719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7" name="Google Shape;127;p17"/>
          <p:cNvSpPr/>
          <p:nvPr/>
        </p:nvSpPr>
        <p:spPr>
          <a:xfrm rot="10800000" flipH="1">
            <a:off x="5490602" y="6176745"/>
            <a:ext cx="2055140" cy="45719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28" name="Google Shape;128;p17"/>
          <p:cNvGrpSpPr/>
          <p:nvPr/>
        </p:nvGrpSpPr>
        <p:grpSpPr>
          <a:xfrm>
            <a:off x="4539479" y="1421089"/>
            <a:ext cx="3327156" cy="5336653"/>
            <a:chOff x="3199598" y="1730653"/>
            <a:chExt cx="2495367" cy="5127347"/>
          </a:xfrm>
        </p:grpSpPr>
        <p:pic>
          <p:nvPicPr>
            <p:cNvPr id="129" name="Google Shape;129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99598" y="1730653"/>
              <a:ext cx="2495367" cy="51273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7"/>
            <p:cNvSpPr txBox="1"/>
            <p:nvPr/>
          </p:nvSpPr>
          <p:spPr>
            <a:xfrm>
              <a:off x="4933743" y="2989313"/>
              <a:ext cx="5844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D8008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3708735" y="4124352"/>
              <a:ext cx="161835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Port Numbers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17"/>
          <p:cNvSpPr/>
          <p:nvPr/>
        </p:nvSpPr>
        <p:spPr>
          <a:xfrm>
            <a:off x="4753377" y="1858190"/>
            <a:ext cx="2849122" cy="111197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2585527" y="6294412"/>
            <a:ext cx="1441581" cy="338554"/>
          </a:xfrm>
          <a:prstGeom prst="rect">
            <a:avLst/>
          </a:prstGeom>
          <a:solidFill>
            <a:srgbClr val="EA756D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2486872" y="5712018"/>
            <a:ext cx="1441581" cy="338554"/>
          </a:xfrm>
          <a:prstGeom prst="rect">
            <a:avLst/>
          </a:prstGeom>
          <a:solidFill>
            <a:srgbClr val="EA756D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Link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013403" y="5479872"/>
            <a:ext cx="547849" cy="1197535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4061400" y="1842973"/>
            <a:ext cx="389604" cy="130361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711200" y="149934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b="1"/>
              <a:t>Application Layer</a:t>
            </a:r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1296367" y="1063460"/>
            <a:ext cx="10363200" cy="579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5613" lvl="0" indent="-28892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2610"/>
              <a:buChar char="•"/>
            </a:pPr>
            <a:r>
              <a:rPr lang="en-US" sz="32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Application Layer Protocols</a:t>
            </a:r>
            <a:endParaRPr/>
          </a:p>
          <a:p>
            <a:pPr marL="911225" lvl="1" indent="-3413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Provide the rules and formats that govern how data is treated in the application layer.</a:t>
            </a:r>
            <a:endParaRPr/>
          </a:p>
          <a:p>
            <a:pPr marL="455613" lvl="0" indent="-28892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2610"/>
              <a:buChar char="•"/>
            </a:pPr>
            <a:r>
              <a:rPr lang="en-US" sz="32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Application Software</a:t>
            </a:r>
            <a:endParaRPr sz="4000">
              <a:solidFill>
                <a:srgbClr val="0000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1225" lvl="1" indent="-341313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The programs used to communicate over the network.</a:t>
            </a:r>
            <a:br>
              <a:rPr lang="en-US" sz="2400">
                <a:latin typeface="Verdana"/>
                <a:ea typeface="Verdana"/>
                <a:cs typeface="Verdana"/>
                <a:sym typeface="Verdana"/>
              </a:rPr>
            </a:b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9433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For example:</a:t>
            </a:r>
            <a:endParaRPr/>
          </a:p>
          <a:p>
            <a:pPr marL="855663" lvl="1" indent="-2889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When displaying a web page:</a:t>
            </a:r>
            <a:endParaRPr/>
          </a:p>
          <a:p>
            <a:pPr marL="1311275" lvl="2" indent="-341313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8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Application Layer </a:t>
            </a: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uses the </a:t>
            </a:r>
            <a:r>
              <a:rPr lang="en-US" sz="2800">
                <a:solidFill>
                  <a:srgbClr val="FF6600"/>
                </a:solidFill>
                <a:latin typeface="Verdana"/>
                <a:ea typeface="Verdana"/>
                <a:cs typeface="Verdana"/>
                <a:sym typeface="Verdana"/>
              </a:rPr>
              <a:t>HTTP(Hyper Text Transfer Protocol)</a:t>
            </a: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 Protocol.</a:t>
            </a:r>
            <a:endParaRPr/>
          </a:p>
          <a:p>
            <a:pPr marL="1311275" lvl="2" indent="-341313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8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Application Software </a:t>
            </a: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is your </a:t>
            </a:r>
            <a:r>
              <a:rPr lang="en-US" sz="2800">
                <a:solidFill>
                  <a:srgbClr val="FF6600"/>
                </a:solidFill>
                <a:latin typeface="Verdana"/>
                <a:ea typeface="Verdana"/>
                <a:cs typeface="Verdana"/>
                <a:sym typeface="Verdana"/>
              </a:rPr>
              <a:t>Web browser</a:t>
            </a: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None/>
            </a:pPr>
            <a:endParaRPr sz="2800"/>
          </a:p>
        </p:txBody>
      </p:sp>
      <p:sp>
        <p:nvSpPr>
          <p:cNvPr id="143" name="Google Shape;1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Application Layer</a:t>
            </a:r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45" name="Google Shape;1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80298" y="5187988"/>
            <a:ext cx="1803804" cy="495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Think you know the top web browsers? | by Peter O'Shaughnessy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6786" y="6139913"/>
            <a:ext cx="2479339" cy="570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711200" y="149934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b="1"/>
              <a:t>Application Layer</a:t>
            </a:r>
            <a:endParaRPr/>
          </a:p>
        </p:txBody>
      </p:sp>
      <p:pic>
        <p:nvPicPr>
          <p:cNvPr id="152" name="Google Shape;152;p19" descr="services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7949" y="1587413"/>
            <a:ext cx="9424911" cy="46306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/>
          <p:nvPr/>
        </p:nvSpPr>
        <p:spPr>
          <a:xfrm>
            <a:off x="5286058" y="2216919"/>
            <a:ext cx="2025987" cy="40931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>
            <a:spLocks noGrp="1"/>
          </p:cNvSpPr>
          <p:nvPr>
            <p:ph type="sldNum" idx="12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</a:t>
            </a:fld>
            <a:endParaRPr sz="10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p20"/>
          <p:cNvSpPr txBox="1">
            <a:spLocks noGrp="1"/>
          </p:cNvSpPr>
          <p:nvPr>
            <p:ph type="body" idx="4294967295"/>
          </p:nvPr>
        </p:nvSpPr>
        <p:spPr>
          <a:xfrm>
            <a:off x="1536700" y="1295400"/>
            <a:ext cx="10655300" cy="366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56756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When accessing information on a device, the data may not be</a:t>
            </a:r>
            <a:br>
              <a:rPr lang="en-US" sz="240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physically stored on that device.</a:t>
            </a:r>
            <a:endParaRPr/>
          </a:p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56756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If that is the case, a request must be made to the device where the data resides.</a:t>
            </a:r>
            <a:endParaRPr/>
          </a:p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6600"/>
              </a:buClr>
              <a:buSzPct val="134362"/>
              <a:buChar char="•"/>
            </a:pPr>
            <a:r>
              <a:rPr lang="en-US" b="1">
                <a:solidFill>
                  <a:srgbClr val="FF6600"/>
                </a:solidFill>
                <a:latin typeface="Verdana"/>
                <a:ea typeface="Verdana"/>
                <a:cs typeface="Verdana"/>
                <a:sym typeface="Verdana"/>
              </a:rPr>
              <a:t>Two methods:</a:t>
            </a:r>
            <a:endParaRPr/>
          </a:p>
          <a:p>
            <a:pPr marL="855663" lvl="1" indent="-1047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30630"/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855663" lvl="1" indent="-2889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0582"/>
              <a:buChar char="•"/>
            </a:pPr>
            <a:r>
              <a:rPr lang="en-US" sz="2600">
                <a:latin typeface="Verdana"/>
                <a:ea typeface="Verdana"/>
                <a:cs typeface="Verdana"/>
                <a:sym typeface="Verdana"/>
              </a:rPr>
              <a:t>Client/Server </a:t>
            </a:r>
            <a:endParaRPr/>
          </a:p>
          <a:p>
            <a:pPr marL="855663" lvl="1" indent="-1047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0582"/>
              <a:buNone/>
            </a:pPr>
            <a:endParaRPr sz="2600">
              <a:latin typeface="Verdana"/>
              <a:ea typeface="Verdana"/>
              <a:cs typeface="Verdana"/>
              <a:sym typeface="Verdana"/>
            </a:endParaRPr>
          </a:p>
          <a:p>
            <a:pPr marL="855663" lvl="1" indent="-2889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0582"/>
              <a:buChar char="•"/>
            </a:pPr>
            <a:r>
              <a:rPr lang="en-US" sz="2600">
                <a:latin typeface="Verdana"/>
                <a:ea typeface="Verdana"/>
                <a:cs typeface="Verdana"/>
                <a:sym typeface="Verdana"/>
              </a:rPr>
              <a:t>Peer-to-Peer (P2P) 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711200" y="149934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 Layer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20"/>
          <p:cNvGrpSpPr/>
          <p:nvPr/>
        </p:nvGrpSpPr>
        <p:grpSpPr>
          <a:xfrm>
            <a:off x="5363969" y="3036308"/>
            <a:ext cx="6526007" cy="3371409"/>
            <a:chOff x="5363969" y="3036308"/>
            <a:chExt cx="6526007" cy="3371409"/>
          </a:xfrm>
        </p:grpSpPr>
        <p:pic>
          <p:nvPicPr>
            <p:cNvPr id="162" name="Google Shape;162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63969" y="3036308"/>
              <a:ext cx="6526007" cy="33714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20"/>
            <p:cNvSpPr/>
            <p:nvPr/>
          </p:nvSpPr>
          <p:spPr>
            <a:xfrm>
              <a:off x="5628958" y="5833567"/>
              <a:ext cx="3310389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855663" marR="0" lvl="1" indent="-28892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Client-Server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8735136" y="5833567"/>
              <a:ext cx="3153049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855663" marR="0" lvl="1" indent="-28892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Peer-to-Peer(P2P)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1" descr="provis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0800" y="1828800"/>
            <a:ext cx="9973733" cy="32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>
            <a:spLocks noGrp="1"/>
          </p:cNvSpPr>
          <p:nvPr>
            <p:ph type="title" idx="4294967295"/>
          </p:nvPr>
        </p:nvSpPr>
        <p:spPr>
          <a:xfrm>
            <a:off x="2173288" y="49213"/>
            <a:ext cx="10018712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b="1"/>
              <a:t>Client/Server Model</a:t>
            </a:r>
            <a:endParaRPr/>
          </a:p>
        </p:txBody>
      </p:sp>
      <p:grpSp>
        <p:nvGrpSpPr>
          <p:cNvPr id="171" name="Google Shape;171;p21"/>
          <p:cNvGrpSpPr/>
          <p:nvPr/>
        </p:nvGrpSpPr>
        <p:grpSpPr>
          <a:xfrm>
            <a:off x="7823200" y="914400"/>
            <a:ext cx="4165600" cy="4267200"/>
            <a:chOff x="3504" y="576"/>
            <a:chExt cx="2160" cy="2688"/>
          </a:xfrm>
        </p:grpSpPr>
        <p:sp>
          <p:nvSpPr>
            <p:cNvPr id="172" name="Google Shape;172;p21"/>
            <p:cNvSpPr/>
            <p:nvPr/>
          </p:nvSpPr>
          <p:spPr>
            <a:xfrm>
              <a:off x="4272" y="1152"/>
              <a:ext cx="958" cy="2112"/>
            </a:xfrm>
            <a:prstGeom prst="ellipse">
              <a:avLst/>
            </a:pr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1"/>
            <p:cNvSpPr txBox="1"/>
            <p:nvPr/>
          </p:nvSpPr>
          <p:spPr>
            <a:xfrm>
              <a:off x="3504" y="576"/>
              <a:ext cx="2160" cy="542"/>
            </a:xfrm>
            <a:prstGeom prst="rect">
              <a:avLst/>
            </a:prstGeom>
            <a:solidFill>
              <a:srgbClr val="000080"/>
            </a:solidFill>
            <a:ln w="38100" cap="flat" cmpd="sng">
              <a:solidFill>
                <a:srgbClr val="00CC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Clients – hardware, software combination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21"/>
          <p:cNvGrpSpPr/>
          <p:nvPr/>
        </p:nvGrpSpPr>
        <p:grpSpPr>
          <a:xfrm>
            <a:off x="203200" y="3886201"/>
            <a:ext cx="4267200" cy="2308225"/>
            <a:chOff x="96" y="2448"/>
            <a:chExt cx="2016" cy="1454"/>
          </a:xfrm>
        </p:grpSpPr>
        <p:cxnSp>
          <p:nvCxnSpPr>
            <p:cNvPr id="175" name="Google Shape;175;p21"/>
            <p:cNvCxnSpPr/>
            <p:nvPr/>
          </p:nvCxnSpPr>
          <p:spPr>
            <a:xfrm rot="10800000">
              <a:off x="1152" y="2448"/>
              <a:ext cx="336" cy="1008"/>
            </a:xfrm>
            <a:prstGeom prst="straightConnector1">
              <a:avLst/>
            </a:prstGeom>
            <a:noFill/>
            <a:ln w="57150" cap="flat" cmpd="sng">
              <a:solidFill>
                <a:srgbClr val="99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76" name="Google Shape;176;p21"/>
            <p:cNvSpPr txBox="1"/>
            <p:nvPr/>
          </p:nvSpPr>
          <p:spPr>
            <a:xfrm>
              <a:off x="96" y="3360"/>
              <a:ext cx="2016" cy="542"/>
            </a:xfrm>
            <a:prstGeom prst="rect">
              <a:avLst/>
            </a:prstGeom>
            <a:solidFill>
              <a:srgbClr val="800000"/>
            </a:solidFill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Resources are stored on the server.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21"/>
          <p:cNvGrpSpPr/>
          <p:nvPr/>
        </p:nvGrpSpPr>
        <p:grpSpPr>
          <a:xfrm>
            <a:off x="3352800" y="2209801"/>
            <a:ext cx="6400800" cy="1135063"/>
            <a:chOff x="1680" y="1392"/>
            <a:chExt cx="3024" cy="715"/>
          </a:xfrm>
        </p:grpSpPr>
        <p:cxnSp>
          <p:nvCxnSpPr>
            <p:cNvPr id="178" name="Google Shape;178;p21"/>
            <p:cNvCxnSpPr/>
            <p:nvPr/>
          </p:nvCxnSpPr>
          <p:spPr>
            <a:xfrm rot="10800000">
              <a:off x="1680" y="1776"/>
              <a:ext cx="1200" cy="0"/>
            </a:xfrm>
            <a:prstGeom prst="straightConnector1">
              <a:avLst/>
            </a:prstGeom>
            <a:noFill/>
            <a:ln w="57150" cap="flat" cmpd="sng">
              <a:solidFill>
                <a:srgbClr val="00009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79" name="Google Shape;179;p21"/>
            <p:cNvSpPr txBox="1"/>
            <p:nvPr/>
          </p:nvSpPr>
          <p:spPr>
            <a:xfrm>
              <a:off x="2832" y="1392"/>
              <a:ext cx="1872" cy="715"/>
            </a:xfrm>
            <a:prstGeom prst="rect">
              <a:avLst/>
            </a:prstGeom>
            <a:solidFill>
              <a:srgbClr val="000080"/>
            </a:solidFill>
            <a:ln w="38100" cap="flat" cmpd="sng">
              <a:solidFill>
                <a:srgbClr val="00CC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The client begins the exchange by making a request for data.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21"/>
          <p:cNvGrpSpPr/>
          <p:nvPr/>
        </p:nvGrpSpPr>
        <p:grpSpPr>
          <a:xfrm>
            <a:off x="3352800" y="3429001"/>
            <a:ext cx="5689600" cy="769938"/>
            <a:chOff x="1488" y="2160"/>
            <a:chExt cx="2688" cy="485"/>
          </a:xfrm>
        </p:grpSpPr>
        <p:sp>
          <p:nvSpPr>
            <p:cNvPr id="181" name="Google Shape;181;p21"/>
            <p:cNvSpPr txBox="1"/>
            <p:nvPr/>
          </p:nvSpPr>
          <p:spPr>
            <a:xfrm>
              <a:off x="1488" y="2160"/>
              <a:ext cx="1872" cy="485"/>
            </a:xfrm>
            <a:prstGeom prst="rect">
              <a:avLst/>
            </a:prstGeom>
            <a:solidFill>
              <a:srgbClr val="800000"/>
            </a:solidFill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The server responds with one or more streams of data.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" name="Google Shape;182;p21"/>
            <p:cNvCxnSpPr/>
            <p:nvPr/>
          </p:nvCxnSpPr>
          <p:spPr>
            <a:xfrm>
              <a:off x="3312" y="2496"/>
              <a:ext cx="864" cy="0"/>
            </a:xfrm>
            <a:prstGeom prst="straightConnector1">
              <a:avLst/>
            </a:prstGeom>
            <a:noFill/>
            <a:ln w="57150" cap="flat" cmpd="sng">
              <a:solidFill>
                <a:srgbClr val="99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83" name="Google Shape;183;p21"/>
          <p:cNvSpPr txBox="1"/>
          <p:nvPr/>
        </p:nvSpPr>
        <p:spPr>
          <a:xfrm>
            <a:off x="355600" y="931164"/>
            <a:ext cx="3962400" cy="1804988"/>
          </a:xfrm>
          <a:prstGeom prst="rect">
            <a:avLst/>
          </a:prstGeom>
          <a:solidFill>
            <a:srgbClr val="003300"/>
          </a:solidFill>
          <a:ln w="38100" cap="flat" cmpd="sng">
            <a:solidFill>
              <a:srgbClr val="00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May also require control information.</a:t>
            </a:r>
            <a:br>
              <a:rPr lang="en-US" sz="22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2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User Authentication</a:t>
            </a:r>
            <a:br>
              <a:rPr lang="en-US" sz="22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2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or identify a file to be transferred.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>
            <a:spLocks noGrp="1"/>
          </p:cNvSpPr>
          <p:nvPr>
            <p:ph type="title" idx="4294967295"/>
          </p:nvPr>
        </p:nvSpPr>
        <p:spPr>
          <a:xfrm>
            <a:off x="2173288" y="374650"/>
            <a:ext cx="1001871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/>
              <a:t>Peer-to-Peer Model</a:t>
            </a:r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body" idx="4294967295"/>
          </p:nvPr>
        </p:nvSpPr>
        <p:spPr>
          <a:xfrm>
            <a:off x="1882775" y="4217988"/>
            <a:ext cx="10309225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56756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Two or more computers are connected via a network and can share resources (such as printers and files) </a:t>
            </a:r>
            <a:r>
              <a:rPr lang="en-US" sz="2400" i="1" dirty="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without having a dedicated server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. </a:t>
            </a:r>
            <a:endParaRPr dirty="0"/>
          </a:p>
          <a:p>
            <a:pPr marL="45720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56756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End devices (peers) can function as either a </a:t>
            </a:r>
            <a:r>
              <a:rPr lang="en-US" sz="2400" i="1" dirty="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server or client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depending upon the required service.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Face challenges of </a:t>
            </a:r>
            <a:r>
              <a:rPr lang="en-US" dirty="0">
                <a:solidFill>
                  <a:srgbClr val="FF0000"/>
                </a:solidFill>
              </a:rPr>
              <a:t>security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performance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reliability</a:t>
            </a:r>
            <a:r>
              <a:rPr lang="en-US" dirty="0"/>
              <a:t> due to their </a:t>
            </a:r>
            <a:r>
              <a:rPr lang="en-US" dirty="0">
                <a:solidFill>
                  <a:srgbClr val="00B050"/>
                </a:solidFill>
              </a:rPr>
              <a:t>highly decentralized </a:t>
            </a:r>
            <a:r>
              <a:rPr lang="en-US" dirty="0"/>
              <a:t>structure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</a:t>
            </a:r>
            <a:endParaRPr dirty="0"/>
          </a:p>
        </p:txBody>
      </p:sp>
      <p:pic>
        <p:nvPicPr>
          <p:cNvPr id="191" name="Google Shape;1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7675" y="1426100"/>
            <a:ext cx="4950798" cy="2595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0500" y="1048400"/>
            <a:ext cx="4378975" cy="32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Web and HTTP</a:t>
            </a:r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49580" algn="r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3045"/>
              <a:buNone/>
            </a:pPr>
            <a:r>
              <a:rPr lang="en-US" sz="3200"/>
              <a:t>Part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1010"/>
              <a:buFont typeface="Corbel"/>
              <a:buNone/>
            </a:pPr>
            <a:r>
              <a:rPr lang="en-US" b="1"/>
              <a:t>Objectives -Part 2</a:t>
            </a:r>
            <a:endParaRPr b="1"/>
          </a:p>
        </p:txBody>
      </p:sp>
      <p:sp>
        <p:nvSpPr>
          <p:cNvPr id="204" name="Google Shape;204;p24"/>
          <p:cNvSpPr txBox="1">
            <a:spLocks noGrp="1"/>
          </p:cNvSpPr>
          <p:nvPr>
            <p:ph type="body" idx="1"/>
          </p:nvPr>
        </p:nvSpPr>
        <p:spPr>
          <a:xfrm>
            <a:off x="1484297" y="1368926"/>
            <a:ext cx="10018800" cy="4956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4400"/>
              <a:t>WWW – The Web</a:t>
            </a:r>
            <a:endParaRPr sz="44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4400"/>
              <a:t>HTTP</a:t>
            </a:r>
            <a:endParaRPr sz="44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4400"/>
              <a:t>HTTP Messages and Methods</a:t>
            </a:r>
            <a:endParaRPr sz="44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None/>
            </a:pPr>
            <a:endParaRPr sz="4000"/>
          </a:p>
        </p:txBody>
      </p:sp>
      <p:pic>
        <p:nvPicPr>
          <p:cNvPr id="205" name="Google Shape;20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8419107" cy="1256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orbel"/>
              <a:buNone/>
            </a:pPr>
            <a:r>
              <a:rPr lang="en-US" sz="4400" b="1"/>
              <a:t>				WWW</a:t>
            </a:r>
            <a:r>
              <a:rPr lang="en-US" b="1"/>
              <a:t>—The</a:t>
            </a:r>
            <a:r>
              <a:rPr lang="en-US" sz="4400" b="1"/>
              <a:t> Web </a:t>
            </a:r>
            <a:br>
              <a:rPr lang="en-US" sz="4400" b="1"/>
            </a:br>
            <a:endParaRPr sz="4400" b="1"/>
          </a:p>
        </p:txBody>
      </p:sp>
      <p:pic>
        <p:nvPicPr>
          <p:cNvPr id="211" name="Google Shape;21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/>
          <p:nvPr/>
        </p:nvSpPr>
        <p:spPr>
          <a:xfrm>
            <a:off x="1037742" y="990623"/>
            <a:ext cx="10239858" cy="192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marR="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Web, short for the World Wide Web (WWW)</a:t>
            </a:r>
            <a:endParaRPr/>
          </a:p>
          <a:p>
            <a:pPr marL="495300" marR="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system of </a:t>
            </a:r>
            <a:r>
              <a:rPr lang="en-US" sz="2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interconnected documents and resources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are </a:t>
            </a:r>
            <a:r>
              <a:rPr lang="en-US" sz="2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accessed over the Internet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a web browser.</a:t>
            </a:r>
            <a:endParaRPr sz="2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13" name="Google Shape;213;p25"/>
          <p:cNvGraphicFramePr/>
          <p:nvPr/>
        </p:nvGraphicFramePr>
        <p:xfrm>
          <a:off x="899871" y="2572041"/>
          <a:ext cx="10515600" cy="3992950"/>
        </p:xfrm>
        <a:graphic>
          <a:graphicData uri="http://schemas.openxmlformats.org/drawingml/2006/table">
            <a:tbl>
              <a:tblPr>
                <a:noFill/>
                <a:tableStyleId>{60976E32-6B0C-47EA-8DE3-970E66AFDCAA}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/>
                        <a:t>Component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70C0"/>
                          </a:solidFill>
                        </a:rPr>
                        <a:t>Web Page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 single document (like a page in a book), written in HTML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70C0"/>
                          </a:solidFill>
                        </a:rPr>
                        <a:t>Website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 collection of related web pages under a domain (e.g., nytimes.com)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70C0"/>
                          </a:solidFill>
                        </a:rPr>
                        <a:t>URL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The address of a web page (e.g., https://www.example.com/page.html)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70C0"/>
                          </a:solidFill>
                        </a:rPr>
                        <a:t>Web Browser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Software like Chrome, Firefox, Safari used to view web pages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70C0"/>
                          </a:solidFill>
                        </a:rPr>
                        <a:t>Web Server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 computer that stores and sends web pages to users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70C0"/>
                          </a:solidFill>
                        </a:rPr>
                        <a:t>HTTP/HTTPS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Protocols used to request and transfer web pages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219" name="Google Shape;219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Char char="•"/>
            </a:pPr>
            <a:r>
              <a:rPr lang="en-US">
                <a:solidFill>
                  <a:srgbClr val="00B0F0"/>
                </a:solidFill>
              </a:rPr>
              <a:t>Relation between Web and HTTP</a:t>
            </a:r>
            <a:endParaRPr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</a:pPr>
            <a:r>
              <a:rPr lang="en-US">
                <a:solidFill>
                  <a:srgbClr val="C00000"/>
                </a:solidFill>
              </a:rPr>
              <a:t>Web: </a:t>
            </a:r>
            <a:r>
              <a:rPr lang="en-US"/>
              <a:t>Library of books</a:t>
            </a:r>
            <a:endParaRPr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</a:pPr>
            <a:r>
              <a:rPr lang="en-US">
                <a:solidFill>
                  <a:srgbClr val="C00000"/>
                </a:solidFill>
              </a:rPr>
              <a:t>HTTP: </a:t>
            </a:r>
            <a:r>
              <a:rPr lang="en-US"/>
              <a:t>Librarian 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Finds the book (web page)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Brings it to you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Handles your requests (like turning pages, searching, etc.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8419107" cy="1256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orbel"/>
              <a:buNone/>
            </a:pPr>
            <a:r>
              <a:rPr lang="en-US" sz="4400" b="1"/>
              <a:t>				WWW- The Web </a:t>
            </a:r>
            <a:br>
              <a:rPr lang="en-US" sz="4400" b="1"/>
            </a:br>
            <a:endParaRPr sz="4400" b="1"/>
          </a:p>
        </p:txBody>
      </p:sp>
      <p:pic>
        <p:nvPicPr>
          <p:cNvPr id="225" name="Google Shape;22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/>
          <p:nvPr/>
        </p:nvSpPr>
        <p:spPr>
          <a:xfrm>
            <a:off x="1037742" y="990623"/>
            <a:ext cx="8544138" cy="192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 </a:t>
            </a:r>
            <a:r>
              <a:rPr lang="en-US" sz="2400" b="1" i="0" u="none" strike="noStrike" cap="none">
                <a:solidFill>
                  <a:srgbClr val="531A88"/>
                </a:solidFill>
                <a:latin typeface="Arial"/>
                <a:ea typeface="Arial"/>
                <a:cs typeface="Arial"/>
                <a:sym typeface="Arial"/>
              </a:rPr>
              <a:t>web page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or </a:t>
            </a:r>
            <a:r>
              <a:rPr lang="en-US" sz="2400" b="1" i="0" u="none" strike="noStrike" cap="none">
                <a:solidFill>
                  <a:srgbClr val="531A88"/>
                </a:solidFill>
                <a:latin typeface="Arial"/>
                <a:ea typeface="Arial"/>
                <a:cs typeface="Arial"/>
                <a:sym typeface="Arial"/>
              </a:rPr>
              <a:t>webpage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is a document that is viewed in an Internet </a:t>
            </a:r>
            <a:r>
              <a:rPr lang="en-US" sz="2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browser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1" u="none" strike="noStrike" cap="non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may contain text, graphics, and </a:t>
            </a:r>
            <a:r>
              <a:rPr lang="en-US" sz="2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hyperlinks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to other web pages and files.</a:t>
            </a:r>
            <a:endParaRPr sz="2400" b="1" i="1" u="none" strike="noStrike" cap="none">
              <a:solidFill>
                <a:srgbClr val="531A88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1905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27" name="Google Shape;227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63118" y="2322822"/>
            <a:ext cx="4637524" cy="453517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7"/>
          <p:cNvSpPr/>
          <p:nvPr/>
        </p:nvSpPr>
        <p:spPr>
          <a:xfrm>
            <a:off x="1037742" y="2891206"/>
            <a:ext cx="6096000" cy="267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 sz="2800" b="1" i="1" u="none" strike="noStrike" cap="none">
                <a:solidFill>
                  <a:srgbClr val="531A88"/>
                </a:solidFill>
                <a:latin typeface="Corbel"/>
                <a:ea typeface="Corbel"/>
                <a:cs typeface="Corbel"/>
                <a:sym typeface="Corbel"/>
              </a:rPr>
              <a:t>A web page</a:t>
            </a:r>
            <a:r>
              <a:rPr lang="en-US" sz="2800" b="1" i="0" u="none" strike="noStrike" cap="none">
                <a:solidFill>
                  <a:srgbClr val="531A88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consists of </a:t>
            </a:r>
            <a:r>
              <a:rPr lang="en-US" sz="2800" b="0" i="1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objects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Web page consists of </a:t>
            </a:r>
            <a:r>
              <a:rPr lang="en-US" sz="2800" b="0" i="1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base HTML-file</a:t>
            </a:r>
            <a:r>
              <a:rPr lang="en-US" sz="2800" b="0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which includes </a:t>
            </a:r>
            <a:r>
              <a:rPr lang="en-US" sz="2800" b="0" i="1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several referenced objects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Objects can be HTML file, JPEG image, Java applet, audio file…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>
            <a:spLocks noGrp="1"/>
          </p:cNvSpPr>
          <p:nvPr>
            <p:ph type="title"/>
          </p:nvPr>
        </p:nvSpPr>
        <p:spPr>
          <a:xfrm>
            <a:off x="729400" y="135900"/>
            <a:ext cx="8089500" cy="1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orbel"/>
              <a:buNone/>
            </a:pPr>
            <a:r>
              <a:rPr lang="en-US" sz="4400" b="1"/>
              <a:t>				WWW</a:t>
            </a:r>
            <a:r>
              <a:rPr lang="en-US" b="1"/>
              <a:t>—The</a:t>
            </a:r>
            <a:r>
              <a:rPr lang="en-US" sz="4400" b="1"/>
              <a:t> Web </a:t>
            </a:r>
            <a:br>
              <a:rPr lang="en-US" sz="4400" b="1"/>
            </a:br>
            <a:endParaRPr sz="4400" b="1"/>
          </a:p>
        </p:txBody>
      </p:sp>
      <p:pic>
        <p:nvPicPr>
          <p:cNvPr id="234" name="Google Shape;23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/>
          <p:nvPr/>
        </p:nvSpPr>
        <p:spPr>
          <a:xfrm>
            <a:off x="1525809" y="1066799"/>
            <a:ext cx="8971861" cy="317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905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web page can be accessed by entering a </a:t>
            </a:r>
            <a:r>
              <a:rPr lang="en-US" sz="28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URL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address into a web browser's </a:t>
            </a:r>
            <a:r>
              <a:rPr lang="en-US" sz="28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address bar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1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36" name="Google Shape;236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0083" y="4551720"/>
            <a:ext cx="7435968" cy="513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0083" y="5275426"/>
            <a:ext cx="1218908" cy="830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88671" y="5065409"/>
            <a:ext cx="2444241" cy="1331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573158" y="5122092"/>
            <a:ext cx="2606704" cy="1274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38222" y="2838566"/>
            <a:ext cx="619125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Char char="•"/>
            </a:pPr>
            <a:r>
              <a:rPr lang="en-US" dirty="0">
                <a:solidFill>
                  <a:srgbClr val="00B0F0"/>
                </a:solidFill>
              </a:rPr>
              <a:t>HTTP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 Defines the </a:t>
            </a:r>
            <a:r>
              <a:rPr lang="en-US" dirty="0">
                <a:solidFill>
                  <a:srgbClr val="C00000"/>
                </a:solidFill>
              </a:rPr>
              <a:t>format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sequence of messages </a:t>
            </a:r>
            <a:r>
              <a:rPr lang="en-US" dirty="0"/>
              <a:t>exchanged between browser and Web server. 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Defines </a:t>
            </a:r>
            <a:r>
              <a:rPr lang="en-US" dirty="0">
                <a:solidFill>
                  <a:srgbClr val="C00000"/>
                </a:solidFill>
              </a:rPr>
              <a:t>how Web clients reques</a:t>
            </a:r>
            <a:r>
              <a:rPr lang="en-US" dirty="0"/>
              <a:t>t Web pages from Web servers and </a:t>
            </a:r>
            <a:r>
              <a:rPr lang="en-US" dirty="0">
                <a:solidFill>
                  <a:srgbClr val="C00000"/>
                </a:solidFill>
              </a:rPr>
              <a:t>how servers transfer Web pages </a:t>
            </a:r>
            <a:r>
              <a:rPr lang="en-US" dirty="0"/>
              <a:t>to clients. 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Use Socket to access networks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Use Transport layer protocol (TCP) for transferring data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31"/>
          <p:cNvGrpSpPr/>
          <p:nvPr/>
        </p:nvGrpSpPr>
        <p:grpSpPr>
          <a:xfrm>
            <a:off x="1117600" y="1371599"/>
            <a:ext cx="11000441" cy="2595564"/>
            <a:chOff x="1117600" y="1371599"/>
            <a:chExt cx="11000441" cy="2595564"/>
          </a:xfrm>
        </p:grpSpPr>
        <p:pic>
          <p:nvPicPr>
            <p:cNvPr id="258" name="Google Shape;258;p31" descr="services0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17600" y="1371599"/>
              <a:ext cx="11000441" cy="2301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31"/>
            <p:cNvSpPr txBox="1"/>
            <p:nvPr/>
          </p:nvSpPr>
          <p:spPr>
            <a:xfrm>
              <a:off x="9448800" y="3505200"/>
              <a:ext cx="2235200" cy="461963"/>
            </a:xfrm>
            <a:prstGeom prst="rect">
              <a:avLst/>
            </a:prstGeom>
            <a:solidFill>
              <a:srgbClr val="000080"/>
            </a:solidFill>
            <a:ln w="38100" cap="flat" cmpd="sng">
              <a:solidFill>
                <a:srgbClr val="00CC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Web Browser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 txBox="1"/>
            <p:nvPr/>
          </p:nvSpPr>
          <p:spPr>
            <a:xfrm>
              <a:off x="1117600" y="2586037"/>
              <a:ext cx="2235200" cy="461963"/>
            </a:xfrm>
            <a:prstGeom prst="rect">
              <a:avLst/>
            </a:prstGeom>
            <a:solidFill>
              <a:srgbClr val="000080"/>
            </a:solidFill>
            <a:ln w="38100" cap="flat" cmpd="sng">
              <a:solidFill>
                <a:srgbClr val="00CC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Web Server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1" name="Google Shape;261;p31"/>
          <p:cNvSpPr/>
          <p:nvPr/>
        </p:nvSpPr>
        <p:spPr>
          <a:xfrm>
            <a:off x="1677866" y="5753100"/>
            <a:ext cx="10137512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🞐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browsers are the </a:t>
            </a:r>
            <a:r>
              <a:rPr lang="en-US" sz="2400" b="0" i="0" u="none" strike="noStrike" cap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client applications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used to interpret the</a:t>
            </a: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HTTP application protocol</a:t>
            </a: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received from a web server.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31" descr="http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400" y="3352800"/>
            <a:ext cx="5080000" cy="211613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1"/>
          <p:cNvSpPr txBox="1"/>
          <p:nvPr/>
        </p:nvSpPr>
        <p:spPr>
          <a:xfrm>
            <a:off x="5651500" y="1312862"/>
            <a:ext cx="2032000" cy="400050"/>
          </a:xfrm>
          <a:prstGeom prst="rect">
            <a:avLst/>
          </a:prstGeom>
          <a:solidFill>
            <a:srgbClr val="800000"/>
          </a:solidFill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HTTP Protocol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3870067" y="2782888"/>
            <a:ext cx="18466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31"/>
          <p:cNvCxnSpPr/>
          <p:nvPr/>
        </p:nvCxnSpPr>
        <p:spPr>
          <a:xfrm flipH="1">
            <a:off x="9245600" y="3124200"/>
            <a:ext cx="304800" cy="4572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66" name="Google Shape;266;p31" descr="http0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0400" y="3581400"/>
            <a:ext cx="3132667" cy="191293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1"/>
          <p:cNvSpPr txBox="1">
            <a:spLocks noGrp="1"/>
          </p:cNvSpPr>
          <p:nvPr>
            <p:ph type="sldNum" idx="12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17</a:t>
            </a:fld>
            <a:endParaRPr sz="10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8" name="Google Shape;268;p31" descr="dns0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83500" y="1219201"/>
            <a:ext cx="4013200" cy="9191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31"/>
          <p:cNvGrpSpPr/>
          <p:nvPr/>
        </p:nvGrpSpPr>
        <p:grpSpPr>
          <a:xfrm>
            <a:off x="2774482" y="1712912"/>
            <a:ext cx="4470400" cy="453619"/>
            <a:chOff x="2743200" y="1451382"/>
            <a:chExt cx="4470400" cy="453619"/>
          </a:xfrm>
        </p:grpSpPr>
        <p:cxnSp>
          <p:nvCxnSpPr>
            <p:cNvPr id="270" name="Google Shape;270;p31"/>
            <p:cNvCxnSpPr/>
            <p:nvPr/>
          </p:nvCxnSpPr>
          <p:spPr>
            <a:xfrm rot="10800000">
              <a:off x="2743200" y="1905001"/>
              <a:ext cx="4470400" cy="0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71" name="Google Shape;271;p31"/>
            <p:cNvSpPr txBox="1"/>
            <p:nvPr/>
          </p:nvSpPr>
          <p:spPr>
            <a:xfrm>
              <a:off x="3631818" y="1451382"/>
              <a:ext cx="185458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600" b="1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31"/>
          <p:cNvGrpSpPr/>
          <p:nvPr/>
        </p:nvGrpSpPr>
        <p:grpSpPr>
          <a:xfrm>
            <a:off x="5689600" y="3048000"/>
            <a:ext cx="3251200" cy="596506"/>
            <a:chOff x="5689600" y="3048000"/>
            <a:chExt cx="3251200" cy="596506"/>
          </a:xfrm>
        </p:grpSpPr>
        <p:cxnSp>
          <p:nvCxnSpPr>
            <p:cNvPr id="273" name="Google Shape;273;p31"/>
            <p:cNvCxnSpPr/>
            <p:nvPr/>
          </p:nvCxnSpPr>
          <p:spPr>
            <a:xfrm rot="10800000" flipH="1">
              <a:off x="5689600" y="3048000"/>
              <a:ext cx="3251200" cy="304800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74" name="Google Shape;274;p31"/>
            <p:cNvSpPr txBox="1"/>
            <p:nvPr/>
          </p:nvSpPr>
          <p:spPr>
            <a:xfrm rot="-278838">
              <a:off x="6630759" y="3225275"/>
              <a:ext cx="2006214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600" b="1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31"/>
          <p:cNvSpPr txBox="1"/>
          <p:nvPr/>
        </p:nvSpPr>
        <p:spPr>
          <a:xfrm>
            <a:off x="1907622" y="188665"/>
            <a:ext cx="8419107" cy="112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2564"/>
              <a:buFont typeface="Corbel"/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r>
              <a:rPr lang="en-US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>
            <a:spLocks noGrp="1"/>
          </p:cNvSpPr>
          <p:nvPr>
            <p:ph type="title"/>
          </p:nvPr>
        </p:nvSpPr>
        <p:spPr>
          <a:xfrm>
            <a:off x="2057400" y="436563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HTTP messages</a:t>
            </a:r>
            <a:endParaRPr b="1"/>
          </a:p>
        </p:txBody>
      </p:sp>
      <p:sp>
        <p:nvSpPr>
          <p:cNvPr id="282" name="Google Shape;282;p32"/>
          <p:cNvSpPr txBox="1">
            <a:spLocks noGrp="1"/>
          </p:cNvSpPr>
          <p:nvPr>
            <p:ph type="body" idx="1"/>
          </p:nvPr>
        </p:nvSpPr>
        <p:spPr>
          <a:xfrm>
            <a:off x="1238676" y="732403"/>
            <a:ext cx="9957183" cy="289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33363" lvl="0" indent="-123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80"/>
              <a:buNone/>
            </a:pPr>
            <a:endParaRPr/>
          </a:p>
          <a:p>
            <a:pPr marL="233363" lvl="0" indent="-233363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3200"/>
              <a:t>Two types of HTTP messages: </a:t>
            </a:r>
            <a:endParaRPr/>
          </a:p>
          <a:p>
            <a:pPr marL="233363" lvl="0" indent="-233363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CC0000"/>
              </a:buClr>
              <a:buSzPts val="3480"/>
              <a:buChar char="•"/>
            </a:pPr>
            <a:r>
              <a:rPr lang="en-US" sz="3200" i="1">
                <a:solidFill>
                  <a:srgbClr val="CC0000"/>
                </a:solidFill>
              </a:rPr>
              <a:t>HTTP Request</a:t>
            </a:r>
            <a:r>
              <a:rPr lang="en-US" sz="3200">
                <a:solidFill>
                  <a:srgbClr val="CC0000"/>
                </a:solidFill>
              </a:rPr>
              <a:t> message</a:t>
            </a:r>
            <a:endParaRPr/>
          </a:p>
          <a:p>
            <a:pPr marL="233363" lvl="0" indent="-233363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CC0000"/>
              </a:buClr>
              <a:buSzPts val="3480"/>
              <a:buChar char="•"/>
            </a:pPr>
            <a:r>
              <a:rPr lang="en-US" sz="3200">
                <a:solidFill>
                  <a:srgbClr val="CC0000"/>
                </a:solidFill>
              </a:rPr>
              <a:t>HTTP </a:t>
            </a:r>
            <a:r>
              <a:rPr lang="en-US" sz="3200" i="1">
                <a:solidFill>
                  <a:srgbClr val="CC0000"/>
                </a:solidFill>
              </a:rPr>
              <a:t>Response message</a:t>
            </a:r>
            <a:endParaRPr sz="3200" i="1">
              <a:solidFill>
                <a:srgbClr val="CC0000"/>
              </a:solidFill>
            </a:endParaRPr>
          </a:p>
        </p:txBody>
      </p:sp>
      <p:pic>
        <p:nvPicPr>
          <p:cNvPr id="283" name="Google Shape;28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4626" y="2329842"/>
            <a:ext cx="5365377" cy="2912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1202" y="2365282"/>
            <a:ext cx="6696916" cy="386459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3"/>
          <p:cNvSpPr txBox="1">
            <a:spLocks noGrp="1"/>
          </p:cNvSpPr>
          <p:nvPr>
            <p:ph type="title"/>
          </p:nvPr>
        </p:nvSpPr>
        <p:spPr>
          <a:xfrm>
            <a:off x="2057400" y="436563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HTTP request message format</a:t>
            </a:r>
            <a:endParaRPr b="1"/>
          </a:p>
        </p:txBody>
      </p:sp>
      <p:sp>
        <p:nvSpPr>
          <p:cNvPr id="290" name="Google Shape;290;p33"/>
          <p:cNvSpPr txBox="1">
            <a:spLocks noGrp="1"/>
          </p:cNvSpPr>
          <p:nvPr>
            <p:ph type="body" idx="1"/>
          </p:nvPr>
        </p:nvSpPr>
        <p:spPr>
          <a:xfrm>
            <a:off x="1697039" y="1145800"/>
            <a:ext cx="7772400" cy="1210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233363" lvl="0" indent="-123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0588"/>
              <a:buNone/>
            </a:pPr>
            <a:endParaRPr/>
          </a:p>
          <a:p>
            <a:pPr marL="233363" lvl="0" indent="-23336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FF6600"/>
              </a:buClr>
              <a:buSzPct val="127941"/>
              <a:buChar char="•"/>
            </a:pPr>
            <a:r>
              <a:rPr lang="en-US" sz="3200" b="1">
                <a:solidFill>
                  <a:srgbClr val="FF6600"/>
                </a:solidFill>
              </a:rPr>
              <a:t>HTTP request message:</a:t>
            </a:r>
            <a:endParaRPr sz="3200" b="1">
              <a:solidFill>
                <a:srgbClr val="FF6600"/>
              </a:solidFill>
            </a:endParaRPr>
          </a:p>
          <a:p>
            <a:pPr marL="68580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42156"/>
              <a:buChar char="•"/>
            </a:pPr>
            <a:r>
              <a:rPr lang="en-US" sz="2400"/>
              <a:t>ASCII (human-readable format)</a:t>
            </a:r>
            <a:endParaRPr sz="2400">
              <a:solidFill>
                <a:schemeClr val="accent2"/>
              </a:solidFill>
            </a:endParaRPr>
          </a:p>
        </p:txBody>
      </p:sp>
      <p:cxnSp>
        <p:nvCxnSpPr>
          <p:cNvPr id="291" name="Google Shape;291;p33"/>
          <p:cNvCxnSpPr/>
          <p:nvPr/>
        </p:nvCxnSpPr>
        <p:spPr>
          <a:xfrm>
            <a:off x="6767422" y="1958286"/>
            <a:ext cx="849133" cy="665164"/>
          </a:xfrm>
          <a:prstGeom prst="straightConnector1">
            <a:avLst/>
          </a:prstGeom>
          <a:noFill/>
          <a:ln w="9525" cap="flat" cmpd="sng">
            <a:solidFill>
              <a:srgbClr val="0000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2" name="Google Shape;292;p33"/>
          <p:cNvSpPr txBox="1"/>
          <p:nvPr/>
        </p:nvSpPr>
        <p:spPr>
          <a:xfrm>
            <a:off x="6319748" y="1621736"/>
            <a:ext cx="2411413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carriage return character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7715161" y="1942411"/>
            <a:ext cx="18669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line-feed character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33"/>
          <p:cNvCxnSpPr/>
          <p:nvPr/>
        </p:nvCxnSpPr>
        <p:spPr>
          <a:xfrm flipH="1">
            <a:off x="8139469" y="2371037"/>
            <a:ext cx="447228" cy="284162"/>
          </a:xfrm>
          <a:prstGeom prst="straightConnector1">
            <a:avLst/>
          </a:prstGeom>
          <a:noFill/>
          <a:ln w="9525" cap="flat" cmpd="sng">
            <a:solidFill>
              <a:srgbClr val="00009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7699" y="839041"/>
            <a:ext cx="6357533" cy="346468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4"/>
          <p:cNvSpPr txBox="1">
            <a:spLocks noGrp="1"/>
          </p:cNvSpPr>
          <p:nvPr>
            <p:ph type="title"/>
          </p:nvPr>
        </p:nvSpPr>
        <p:spPr>
          <a:xfrm>
            <a:off x="1484300" y="34127"/>
            <a:ext cx="100188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HTTP request message: Example</a:t>
            </a:r>
            <a:endParaRPr b="1"/>
          </a:p>
        </p:txBody>
      </p:sp>
      <p:sp>
        <p:nvSpPr>
          <p:cNvPr id="301" name="Google Shape;301;p34"/>
          <p:cNvSpPr txBox="1"/>
          <p:nvPr/>
        </p:nvSpPr>
        <p:spPr>
          <a:xfrm>
            <a:off x="3582575" y="4434650"/>
            <a:ext cx="6864600" cy="21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 //somedir/index.html HTTP/1.1\r\n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Host: www.someschool.edu\r\n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User-Agent: Firefox/3.6.10\r\n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Accept: text/html,image/gif, image jpeg\r\n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Accept-Language: fr \r\n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Connection: close\r\n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endParaRPr sz="19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4"/>
          <p:cNvSpPr/>
          <p:nvPr/>
        </p:nvSpPr>
        <p:spPr>
          <a:xfrm>
            <a:off x="3688297" y="881607"/>
            <a:ext cx="868529" cy="662456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4"/>
          <p:cNvSpPr/>
          <p:nvPr/>
        </p:nvSpPr>
        <p:spPr>
          <a:xfrm>
            <a:off x="3482980" y="4312106"/>
            <a:ext cx="868529" cy="529963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4"/>
          <p:cNvSpPr/>
          <p:nvPr/>
        </p:nvSpPr>
        <p:spPr>
          <a:xfrm>
            <a:off x="5017489" y="895184"/>
            <a:ext cx="964788" cy="662456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4"/>
          <p:cNvSpPr/>
          <p:nvPr/>
        </p:nvSpPr>
        <p:spPr>
          <a:xfrm>
            <a:off x="4351509" y="4379974"/>
            <a:ext cx="2624835" cy="413717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4"/>
          <p:cNvSpPr/>
          <p:nvPr/>
        </p:nvSpPr>
        <p:spPr>
          <a:xfrm>
            <a:off x="6526977" y="881607"/>
            <a:ext cx="843627" cy="662456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4"/>
          <p:cNvSpPr/>
          <p:nvPr/>
        </p:nvSpPr>
        <p:spPr>
          <a:xfrm>
            <a:off x="6901642" y="4296999"/>
            <a:ext cx="1328100" cy="5328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4"/>
          <p:cNvSpPr/>
          <p:nvPr/>
        </p:nvSpPr>
        <p:spPr>
          <a:xfrm>
            <a:off x="7523004" y="997776"/>
            <a:ext cx="843627" cy="662456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4"/>
          <p:cNvSpPr/>
          <p:nvPr/>
        </p:nvSpPr>
        <p:spPr>
          <a:xfrm>
            <a:off x="8074495" y="4426263"/>
            <a:ext cx="826450" cy="415807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4"/>
          <p:cNvSpPr/>
          <p:nvPr/>
        </p:nvSpPr>
        <p:spPr>
          <a:xfrm>
            <a:off x="3557682" y="1329004"/>
            <a:ext cx="2069874" cy="526361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4"/>
          <p:cNvSpPr/>
          <p:nvPr/>
        </p:nvSpPr>
        <p:spPr>
          <a:xfrm>
            <a:off x="3557682" y="4654600"/>
            <a:ext cx="868529" cy="312846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4"/>
          <p:cNvSpPr/>
          <p:nvPr/>
        </p:nvSpPr>
        <p:spPr>
          <a:xfrm>
            <a:off x="5776960" y="1329004"/>
            <a:ext cx="964788" cy="662456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4"/>
          <p:cNvSpPr/>
          <p:nvPr/>
        </p:nvSpPr>
        <p:spPr>
          <a:xfrm>
            <a:off x="4503909" y="4728067"/>
            <a:ext cx="2742300" cy="3525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4"/>
          <p:cNvSpPr/>
          <p:nvPr/>
        </p:nvSpPr>
        <p:spPr>
          <a:xfrm>
            <a:off x="5176227" y="3383850"/>
            <a:ext cx="2069874" cy="526361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4"/>
          <p:cNvSpPr txBox="1"/>
          <p:nvPr/>
        </p:nvSpPr>
        <p:spPr>
          <a:xfrm>
            <a:off x="1114473" y="4095525"/>
            <a:ext cx="2365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request line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(GET, POST, 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HEAD,PUT,DELETE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commands</a:t>
            </a:r>
            <a:r>
              <a:rPr lang="en-US" sz="1600" b="1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sz="2000" b="1" i="0" u="none" strike="noStrike" cap="none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16" name="Google Shape;316;p34"/>
          <p:cNvCxnSpPr/>
          <p:nvPr/>
        </p:nvCxnSpPr>
        <p:spPr>
          <a:xfrm>
            <a:off x="2689163" y="4392313"/>
            <a:ext cx="868500" cy="146100"/>
          </a:xfrm>
          <a:prstGeom prst="straightConnector1">
            <a:avLst/>
          </a:prstGeom>
          <a:noFill/>
          <a:ln w="19050" cap="flat" cmpd="sng">
            <a:solidFill>
              <a:srgbClr val="0000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7" name="Google Shape;317;p34"/>
          <p:cNvSpPr txBox="1"/>
          <p:nvPr/>
        </p:nvSpPr>
        <p:spPr>
          <a:xfrm>
            <a:off x="1322801" y="5516213"/>
            <a:ext cx="23655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carriage return, 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line feed at start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of line indicates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end of header lines</a:t>
            </a:r>
            <a:endParaRPr sz="2000" b="1" i="0" u="none" strike="noStrike" cap="non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34"/>
          <p:cNvCxnSpPr/>
          <p:nvPr/>
        </p:nvCxnSpPr>
        <p:spPr>
          <a:xfrm>
            <a:off x="3046464" y="6208925"/>
            <a:ext cx="625200" cy="191400"/>
          </a:xfrm>
          <a:prstGeom prst="straightConnector1">
            <a:avLst/>
          </a:prstGeom>
          <a:noFill/>
          <a:ln w="19050" cap="flat" cmpd="sng">
            <a:solidFill>
              <a:srgbClr val="0000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9" name="Google Shape;319;p34"/>
          <p:cNvSpPr/>
          <p:nvPr/>
        </p:nvSpPr>
        <p:spPr>
          <a:xfrm>
            <a:off x="3453500" y="4882376"/>
            <a:ext cx="222000" cy="1077301"/>
          </a:xfrm>
          <a:custGeom>
            <a:avLst/>
            <a:gdLst/>
            <a:ahLst/>
            <a:cxnLst/>
            <a:rect l="l" t="t" r="r" b="b"/>
            <a:pathLst>
              <a:path w="150" h="924" extrusionOk="0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0" name="Google Shape;320;p34"/>
          <p:cNvSpPr txBox="1"/>
          <p:nvPr/>
        </p:nvSpPr>
        <p:spPr>
          <a:xfrm>
            <a:off x="2478800" y="5081187"/>
            <a:ext cx="97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 lines</a:t>
            </a:r>
            <a:endParaRPr sz="2000" b="1" i="0" u="none" strike="noStrike" cap="non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 txBox="1">
            <a:spLocks noGrp="1"/>
          </p:cNvSpPr>
          <p:nvPr>
            <p:ph type="title"/>
          </p:nvPr>
        </p:nvSpPr>
        <p:spPr>
          <a:xfrm>
            <a:off x="1425624" y="109550"/>
            <a:ext cx="9445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HTTP Method types</a:t>
            </a:r>
            <a:endParaRPr/>
          </a:p>
        </p:txBody>
      </p:sp>
      <p:sp>
        <p:nvSpPr>
          <p:cNvPr id="327" name="Google Shape;327;p35"/>
          <p:cNvSpPr txBox="1">
            <a:spLocks noGrp="1"/>
          </p:cNvSpPr>
          <p:nvPr>
            <p:ph type="body" idx="1"/>
          </p:nvPr>
        </p:nvSpPr>
        <p:spPr>
          <a:xfrm>
            <a:off x="1472234" y="1994206"/>
            <a:ext cx="4640885" cy="350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19"/>
              <a:buFont typeface="Noto Sans Symbols"/>
              <a:buNone/>
            </a:pPr>
            <a:r>
              <a:rPr lang="en-US" sz="3200" b="1">
                <a:solidFill>
                  <a:srgbClr val="0000FF"/>
                </a:solidFill>
              </a:rPr>
              <a:t>HTTP/1.0</a:t>
            </a:r>
            <a:r>
              <a:rPr lang="en-US" sz="2000">
                <a:solidFill>
                  <a:srgbClr val="0000FF"/>
                </a:solidFill>
              </a:rPr>
              <a:t>:</a:t>
            </a:r>
            <a:endParaRPr sz="2400">
              <a:solidFill>
                <a:srgbClr val="0000FF"/>
              </a:solidFill>
            </a:endParaRPr>
          </a:p>
          <a:p>
            <a:pPr marL="285750" lvl="0" indent="-285750" algn="l" rtl="0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Clr>
                <a:srgbClr val="FF6600"/>
              </a:buClr>
              <a:buSzPts val="3219"/>
              <a:buChar char="•"/>
            </a:pPr>
            <a:r>
              <a:rPr lang="en-US" sz="2800" b="1">
                <a:solidFill>
                  <a:srgbClr val="FF6600"/>
                </a:solidFill>
              </a:rPr>
              <a:t>GET</a:t>
            </a:r>
            <a:endParaRPr sz="2400" b="1">
              <a:solidFill>
                <a:srgbClr val="FF6600"/>
              </a:solidFill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Clr>
                <a:schemeClr val="dk1"/>
              </a:buClr>
              <a:buSzPts val="3219"/>
              <a:buChar char="•"/>
            </a:pPr>
            <a:r>
              <a:rPr lang="en-US" sz="2800"/>
              <a:t>Primarily gets information only</a:t>
            </a:r>
            <a:endParaRPr sz="2000"/>
          </a:p>
          <a:p>
            <a:pPr marL="742950" lvl="1" indent="-285750" algn="l" rtl="0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Clr>
                <a:schemeClr val="dk1"/>
              </a:buClr>
              <a:buSzPts val="3219"/>
              <a:buChar char="•"/>
            </a:pPr>
            <a:r>
              <a:rPr lang="en-US" sz="2800"/>
              <a:t>Retrieve data</a:t>
            </a:r>
            <a:endParaRPr sz="2000"/>
          </a:p>
          <a:p>
            <a:pPr marL="285750" lvl="0" indent="-285750" algn="l" rtl="0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Clr>
                <a:srgbClr val="FF6600"/>
              </a:buClr>
              <a:buSzPts val="3219"/>
              <a:buChar char="•"/>
            </a:pPr>
            <a:r>
              <a:rPr lang="en-US" sz="2800" b="1">
                <a:solidFill>
                  <a:srgbClr val="FF6600"/>
                </a:solidFill>
              </a:rPr>
              <a:t>POST</a:t>
            </a:r>
            <a:endParaRPr sz="2400" b="1">
              <a:solidFill>
                <a:srgbClr val="FF6600"/>
              </a:solidFill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Clr>
                <a:schemeClr val="dk1"/>
              </a:buClr>
              <a:buSzPts val="3219"/>
              <a:buChar char="•"/>
            </a:pPr>
            <a:r>
              <a:rPr lang="en-US" sz="2800"/>
              <a:t>Creating new data</a:t>
            </a:r>
            <a:endParaRPr sz="2000"/>
          </a:p>
          <a:p>
            <a:pPr marL="285750" lvl="0" indent="-285750" algn="l" rtl="0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Clr>
                <a:srgbClr val="FF6600"/>
              </a:buClr>
              <a:buSzPts val="3219"/>
              <a:buChar char="•"/>
            </a:pPr>
            <a:r>
              <a:rPr lang="en-US" sz="2800" b="1">
                <a:solidFill>
                  <a:srgbClr val="FF6600"/>
                </a:solidFill>
              </a:rPr>
              <a:t>HEAD</a:t>
            </a:r>
            <a:endParaRPr sz="2400" b="1">
              <a:solidFill>
                <a:srgbClr val="FF6600"/>
              </a:solidFill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Clr>
                <a:schemeClr val="dk1"/>
              </a:buClr>
              <a:buSzPts val="3219"/>
              <a:buChar char="•"/>
            </a:pPr>
            <a:r>
              <a:rPr lang="en-US" sz="2800"/>
              <a:t>Also retrieve but asks server to leave requested object out of response</a:t>
            </a:r>
            <a:endParaRPr sz="2000"/>
          </a:p>
        </p:txBody>
      </p:sp>
      <p:sp>
        <p:nvSpPr>
          <p:cNvPr id="328" name="Google Shape;328;p35"/>
          <p:cNvSpPr txBox="1">
            <a:spLocks noGrp="1"/>
          </p:cNvSpPr>
          <p:nvPr>
            <p:ph type="body" idx="2"/>
          </p:nvPr>
        </p:nvSpPr>
        <p:spPr>
          <a:xfrm>
            <a:off x="7241638" y="681050"/>
            <a:ext cx="4439979" cy="519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480"/>
              <a:buFont typeface="Noto Sans Symbols"/>
              <a:buNone/>
            </a:pPr>
            <a:r>
              <a:rPr lang="en-US" sz="3200" b="1">
                <a:solidFill>
                  <a:srgbClr val="0000FF"/>
                </a:solidFill>
              </a:rPr>
              <a:t>HTTP/1.1:</a:t>
            </a:r>
            <a:endParaRPr sz="2400">
              <a:solidFill>
                <a:srgbClr val="0000FF"/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FF6600"/>
              </a:buClr>
              <a:buSzPts val="3480"/>
              <a:buChar char="•"/>
            </a:pPr>
            <a:r>
              <a:rPr lang="en-US" sz="2800" b="1">
                <a:solidFill>
                  <a:srgbClr val="FF6600"/>
                </a:solidFill>
              </a:rPr>
              <a:t>GET, POST, HEAD</a:t>
            </a:r>
            <a:endParaRPr sz="2000" b="1">
              <a:solidFill>
                <a:srgbClr val="FF6600"/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FF6600"/>
              </a:buClr>
              <a:buSzPts val="3480"/>
              <a:buChar char="•"/>
            </a:pPr>
            <a:r>
              <a:rPr lang="en-US" sz="2800" b="1">
                <a:solidFill>
                  <a:srgbClr val="FF6600"/>
                </a:solidFill>
              </a:rPr>
              <a:t>PUT/PATCH</a:t>
            </a:r>
            <a:endParaRPr sz="2000" b="1">
              <a:solidFill>
                <a:srgbClr val="FF66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400"/>
              <a:t>Update data </a:t>
            </a:r>
            <a:endParaRPr sz="1800"/>
          </a:p>
          <a:p>
            <a:pPr marL="74295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400"/>
              <a:t>Replaces existing objects</a:t>
            </a:r>
            <a:endParaRPr sz="18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FF6600"/>
              </a:buClr>
              <a:buSzPts val="3480"/>
              <a:buChar char="•"/>
            </a:pPr>
            <a:r>
              <a:rPr lang="en-US" sz="2800" b="1">
                <a:solidFill>
                  <a:srgbClr val="FF6600"/>
                </a:solidFill>
              </a:rPr>
              <a:t>DELETE</a:t>
            </a:r>
            <a:endParaRPr sz="2000" b="1">
              <a:solidFill>
                <a:srgbClr val="FF66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400"/>
              <a:t>Deletes data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AA0A6-45C4-4AD4-BF99-60DFFF943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US" dirty="0"/>
              <a:t>-- REQUEST --</a:t>
            </a:r>
          </a:p>
          <a:p>
            <a:pPr marL="114300" indent="0">
              <a:buNone/>
            </a:pPr>
            <a:r>
              <a:rPr lang="en-US" dirty="0"/>
              <a:t>GET /index.html HTTP/1.1</a:t>
            </a:r>
          </a:p>
          <a:p>
            <a:pPr marL="114300" indent="0">
              <a:buNone/>
            </a:pPr>
            <a:r>
              <a:rPr lang="en-US" dirty="0"/>
              <a:t>Host: www.example.com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-- RESPONSE --</a:t>
            </a:r>
          </a:p>
          <a:p>
            <a:pPr marL="114300" indent="0">
              <a:buNone/>
            </a:pPr>
            <a:r>
              <a:rPr lang="en-US" dirty="0"/>
              <a:t>HTTP/1.1 200 OK</a:t>
            </a:r>
          </a:p>
          <a:p>
            <a:pPr marL="114300" indent="0">
              <a:buNone/>
            </a:pPr>
            <a:r>
              <a:rPr lang="en-US" dirty="0"/>
              <a:t>Content-Type: text/html</a:t>
            </a:r>
          </a:p>
          <a:p>
            <a:pPr marL="114300" indent="0">
              <a:buNone/>
            </a:pPr>
            <a:r>
              <a:rPr lang="en-US" dirty="0"/>
              <a:t>Content-Length: 1240</a:t>
            </a:r>
          </a:p>
          <a:p>
            <a:pPr marL="114300" indent="0">
              <a:buNone/>
            </a:pPr>
            <a:r>
              <a:rPr lang="en-US" dirty="0"/>
              <a:t>Cache-Control: max-age=3600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</a:rPr>
              <a:t>&lt;!DOCTYPE html&gt;</a:t>
            </a:r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</a:rPr>
              <a:t>&lt;html&gt;</a:t>
            </a:r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</a:rPr>
              <a:t>&lt;head&gt;...&lt;/head&gt;</a:t>
            </a:r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</a:rPr>
              <a:t>&lt;body&gt;Welcome to the site!&lt;/body&gt;</a:t>
            </a:r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</a:rPr>
              <a:t>&lt;/html&gt;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2594D-FF6C-48FD-9D60-51E57C2C9F8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/>
              <a:t>-- REQUEST --</a:t>
            </a:r>
          </a:p>
          <a:p>
            <a:pPr marL="114300" indent="0">
              <a:buNone/>
            </a:pPr>
            <a:r>
              <a:rPr lang="en-US" sz="2000" dirty="0"/>
              <a:t>HEAD /index.html HTTP/1.1</a:t>
            </a:r>
          </a:p>
          <a:p>
            <a:pPr marL="114300" indent="0">
              <a:buNone/>
            </a:pPr>
            <a:r>
              <a:rPr lang="en-US" sz="2000" dirty="0"/>
              <a:t>Host: www.example.com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-- RESPONSE --</a:t>
            </a:r>
          </a:p>
          <a:p>
            <a:pPr marL="114300" indent="0">
              <a:buNone/>
            </a:pPr>
            <a:r>
              <a:rPr lang="en-US" sz="2000" dirty="0"/>
              <a:t>HTTP/1.1 200 OK</a:t>
            </a:r>
          </a:p>
          <a:p>
            <a:pPr marL="114300" indent="0">
              <a:buNone/>
            </a:pPr>
            <a:r>
              <a:rPr lang="en-US" sz="2000" dirty="0"/>
              <a:t>Content-Type: text/html</a:t>
            </a:r>
          </a:p>
          <a:p>
            <a:pPr marL="114300" indent="0">
              <a:buNone/>
            </a:pPr>
            <a:r>
              <a:rPr lang="en-US" sz="2000" dirty="0"/>
              <a:t>Content-Length: 1240</a:t>
            </a:r>
          </a:p>
          <a:p>
            <a:pPr marL="114300" indent="0">
              <a:buNone/>
            </a:pPr>
            <a:r>
              <a:rPr lang="en-US" sz="2000" dirty="0"/>
              <a:t>Cache-Control: max-age=3600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C4A04-3E5D-4ECA-A625-1F7F262C580B}"/>
              </a:ext>
            </a:extLst>
          </p:cNvPr>
          <p:cNvSpPr txBox="1"/>
          <p:nvPr/>
        </p:nvSpPr>
        <p:spPr>
          <a:xfrm>
            <a:off x="1334125" y="1074363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GET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3F14FC-1CA0-4B73-B5BC-62A55F2883CA}"/>
              </a:ext>
            </a:extLst>
          </p:cNvPr>
          <p:cNvSpPr txBox="1"/>
          <p:nvPr/>
        </p:nvSpPr>
        <p:spPr>
          <a:xfrm>
            <a:off x="6987915" y="1074363"/>
            <a:ext cx="1467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2423179269"/>
      </p:ext>
    </p:extLst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>
            <a:spLocks noGrp="1"/>
          </p:cNvSpPr>
          <p:nvPr>
            <p:ph type="title"/>
          </p:nvPr>
        </p:nvSpPr>
        <p:spPr>
          <a:xfrm>
            <a:off x="1970088" y="381970"/>
            <a:ext cx="8186737" cy="903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Uploading form input</a:t>
            </a:r>
            <a:endParaRPr/>
          </a:p>
        </p:txBody>
      </p:sp>
      <p:sp>
        <p:nvSpPr>
          <p:cNvPr id="335" name="Google Shape;335;p36"/>
          <p:cNvSpPr txBox="1">
            <a:spLocks noGrp="1"/>
          </p:cNvSpPr>
          <p:nvPr>
            <p:ph type="body" idx="1"/>
          </p:nvPr>
        </p:nvSpPr>
        <p:spPr>
          <a:xfrm>
            <a:off x="2224088" y="1343025"/>
            <a:ext cx="6951816" cy="2662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80"/>
              <a:buFont typeface="Noto Sans Symbols"/>
              <a:buNone/>
            </a:pPr>
            <a:r>
              <a:rPr lang="en-US" sz="2800" b="1" u="sng">
                <a:solidFill>
                  <a:srgbClr val="0070C0"/>
                </a:solidFill>
              </a:rPr>
              <a:t>POST method:</a:t>
            </a:r>
            <a:endParaRPr sz="2800" b="1">
              <a:solidFill>
                <a:srgbClr val="0070C0"/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Arial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Web page often includes form input</a:t>
            </a:r>
            <a:endParaRPr sz="20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Arial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Input is uploaded to server in entity body</a:t>
            </a:r>
            <a:endParaRPr sz="2000"/>
          </a:p>
          <a:p>
            <a:pPr marL="233363" lvl="0" indent="-12383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Noto Sans Symbols"/>
              <a:buNone/>
            </a:pPr>
            <a:endParaRPr sz="2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6" name="Google Shape;336;p36"/>
          <p:cNvSpPr txBox="1">
            <a:spLocks noGrp="1"/>
          </p:cNvSpPr>
          <p:nvPr>
            <p:ph type="body" idx="2"/>
          </p:nvPr>
        </p:nvSpPr>
        <p:spPr>
          <a:xfrm>
            <a:off x="2224107" y="3903225"/>
            <a:ext cx="6354180" cy="2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80"/>
              <a:buFont typeface="Noto Sans Symbols"/>
              <a:buNone/>
            </a:pPr>
            <a:r>
              <a:rPr lang="en-US" sz="2800" b="1" u="sng">
                <a:solidFill>
                  <a:srgbClr val="0070C0"/>
                </a:solidFill>
              </a:rPr>
              <a:t>URL method:</a:t>
            </a:r>
            <a:endParaRPr sz="28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Arial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Uses GET method</a:t>
            </a:r>
            <a:endParaRPr sz="28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Arial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Input is uploaded in URL field of request line:</a:t>
            </a:r>
            <a:endParaRPr sz="280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Noto Sans Symbols"/>
              <a:buNone/>
            </a:pPr>
            <a:endParaRPr sz="2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7" name="Google Shape;337;p36"/>
          <p:cNvSpPr txBox="1"/>
          <p:nvPr/>
        </p:nvSpPr>
        <p:spPr>
          <a:xfrm>
            <a:off x="2077248" y="5648101"/>
            <a:ext cx="957478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www.somesite.com/animalsearch?monkeys&amp;banana</a:t>
            </a:r>
            <a:endParaRPr sz="1800" b="0" i="0" u="none" strike="noStrike" cap="none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29B86-9B0B-4D97-815C-9FA54F3D19BA}"/>
              </a:ext>
            </a:extLst>
          </p:cNvPr>
          <p:cNvSpPr txBox="1"/>
          <p:nvPr/>
        </p:nvSpPr>
        <p:spPr>
          <a:xfrm>
            <a:off x="1970088" y="6476030"/>
            <a:ext cx="8491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https://www.google.com/search?q=cse421&amp;num=10&amp;sca_esv=.........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7"/>
          <p:cNvSpPr txBox="1">
            <a:spLocks noGrp="1"/>
          </p:cNvSpPr>
          <p:nvPr>
            <p:ph type="title"/>
          </p:nvPr>
        </p:nvSpPr>
        <p:spPr>
          <a:xfrm>
            <a:off x="1488999" y="273776"/>
            <a:ext cx="100188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Calibri"/>
              <a:buNone/>
            </a:pPr>
            <a:r>
              <a:rPr lang="en-US" b="1"/>
              <a:t>HTTP Methods</a:t>
            </a:r>
            <a:endParaRPr b="1"/>
          </a:p>
        </p:txBody>
      </p:sp>
      <p:pic>
        <p:nvPicPr>
          <p:cNvPr id="343" name="Google Shape;34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7525" y="1173201"/>
            <a:ext cx="7421651" cy="442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7"/>
          <p:cNvSpPr/>
          <p:nvPr/>
        </p:nvSpPr>
        <p:spPr>
          <a:xfrm>
            <a:off x="2787527" y="5760348"/>
            <a:ext cx="7537641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Source :https://javarevisited.blogspot.com/2016/04/what-is-purpose-of-http-request-types-in-RESTful-web-service.html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350" name="Google Shape;350;p38"/>
          <p:cNvPicPr preferRelativeResize="0"/>
          <p:nvPr/>
        </p:nvPicPr>
        <p:blipFill rotWithShape="1">
          <a:blip r:embed="rId3">
            <a:alphaModFix/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38200" y="206661"/>
            <a:ext cx="11198902" cy="2341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3EDCA0-1D8F-4D67-A973-9C204C1E14BC}"/>
              </a:ext>
            </a:extLst>
          </p:cNvPr>
          <p:cNvSpPr txBox="1"/>
          <p:nvPr/>
        </p:nvSpPr>
        <p:spPr>
          <a:xfrm>
            <a:off x="1094282" y="3429000"/>
            <a:ext cx="15584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I. POST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5CE60-57C9-4698-A7D0-740EDBE5596F}"/>
              </a:ext>
            </a:extLst>
          </p:cNvPr>
          <p:cNvSpPr txBox="1"/>
          <p:nvPr/>
        </p:nvSpPr>
        <p:spPr>
          <a:xfrm>
            <a:off x="1094282" y="3952220"/>
            <a:ext cx="1399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II. PUT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CCB45-8A68-4FA2-8192-53CA618258AC}"/>
              </a:ext>
            </a:extLst>
          </p:cNvPr>
          <p:cNvSpPr txBox="1"/>
          <p:nvPr/>
        </p:nvSpPr>
        <p:spPr>
          <a:xfrm>
            <a:off x="1094282" y="4475440"/>
            <a:ext cx="2177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III. DELETE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"/>
          <p:cNvSpPr txBox="1">
            <a:spLocks noGrp="1"/>
          </p:cNvSpPr>
          <p:nvPr>
            <p:ph type="title"/>
          </p:nvPr>
        </p:nvSpPr>
        <p:spPr>
          <a:xfrm>
            <a:off x="1484311" y="337140"/>
            <a:ext cx="10018713" cy="12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b="1"/>
              <a:t>HTTP response message: General Format</a:t>
            </a:r>
            <a:endParaRPr/>
          </a:p>
        </p:txBody>
      </p:sp>
      <p:pic>
        <p:nvPicPr>
          <p:cNvPr id="356" name="Google Shape;35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9571" y="1568965"/>
            <a:ext cx="9083769" cy="4576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0"/>
          <p:cNvSpPr txBox="1">
            <a:spLocks noGrp="1"/>
          </p:cNvSpPr>
          <p:nvPr>
            <p:ph type="title"/>
          </p:nvPr>
        </p:nvSpPr>
        <p:spPr>
          <a:xfrm>
            <a:off x="1194165" y="254977"/>
            <a:ext cx="10018713" cy="55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Calibri"/>
              <a:buNone/>
            </a:pPr>
            <a:r>
              <a:rPr lang="en-US" b="1"/>
              <a:t>HTTP response message : Example</a:t>
            </a:r>
            <a:endParaRPr/>
          </a:p>
        </p:txBody>
      </p:sp>
      <p:pic>
        <p:nvPicPr>
          <p:cNvPr id="362" name="Google Shape;36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9627" y="944712"/>
            <a:ext cx="4839296" cy="243821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0"/>
          <p:cNvSpPr/>
          <p:nvPr/>
        </p:nvSpPr>
        <p:spPr>
          <a:xfrm>
            <a:off x="2810178" y="3759201"/>
            <a:ext cx="6311900" cy="28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HTTP/1.1 200 OK\r\n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Date: Sun, 26 Sep 2010 20:09:20 GMT\r\n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Server: Apache/2.0.52 (CentOS)\r\n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Last-Modified: Tue, 30 Oct 2007 17:00:02 GMT\r\n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ETag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"17dc6-a5c-bf716880"\r\n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Accept-Ranges: bytes\r\n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Content-Length: 2652\r\n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Keep-Alive: timeout=10, max=100\r\n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Connection: close\r\n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Content-Type: text/html; charset=ISO-8859-1\r\n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..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</a:t>
            </a:r>
            <a:endParaRPr sz="1800" b="1" i="0" u="none" strike="noStrike" cap="none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4" name="Google Shape;364;p40"/>
          <p:cNvSpPr/>
          <p:nvPr/>
        </p:nvSpPr>
        <p:spPr>
          <a:xfrm>
            <a:off x="3015495" y="874333"/>
            <a:ext cx="1155153" cy="389926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0"/>
          <p:cNvSpPr/>
          <p:nvPr/>
        </p:nvSpPr>
        <p:spPr>
          <a:xfrm>
            <a:off x="2810178" y="3759201"/>
            <a:ext cx="1155153" cy="31194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0"/>
          <p:cNvSpPr/>
          <p:nvPr/>
        </p:nvSpPr>
        <p:spPr>
          <a:xfrm>
            <a:off x="4404780" y="863198"/>
            <a:ext cx="791474" cy="466541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0"/>
          <p:cNvSpPr/>
          <p:nvPr/>
        </p:nvSpPr>
        <p:spPr>
          <a:xfrm>
            <a:off x="3909668" y="3743982"/>
            <a:ext cx="582762" cy="327159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0"/>
          <p:cNvSpPr/>
          <p:nvPr/>
        </p:nvSpPr>
        <p:spPr>
          <a:xfrm>
            <a:off x="5570391" y="824111"/>
            <a:ext cx="791474" cy="466541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0"/>
          <p:cNvSpPr/>
          <p:nvPr/>
        </p:nvSpPr>
        <p:spPr>
          <a:xfrm>
            <a:off x="4353449" y="3759201"/>
            <a:ext cx="582762" cy="327159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0"/>
          <p:cNvSpPr/>
          <p:nvPr/>
        </p:nvSpPr>
        <p:spPr>
          <a:xfrm>
            <a:off x="3362249" y="1214652"/>
            <a:ext cx="1234126" cy="361056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0"/>
          <p:cNvSpPr/>
          <p:nvPr/>
        </p:nvSpPr>
        <p:spPr>
          <a:xfrm>
            <a:off x="2883179" y="4011879"/>
            <a:ext cx="582708" cy="313748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0"/>
          <p:cNvSpPr/>
          <p:nvPr/>
        </p:nvSpPr>
        <p:spPr>
          <a:xfrm>
            <a:off x="4970512" y="1181897"/>
            <a:ext cx="755725" cy="448754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0"/>
          <p:cNvSpPr/>
          <p:nvPr/>
        </p:nvSpPr>
        <p:spPr>
          <a:xfrm>
            <a:off x="3619672" y="3953455"/>
            <a:ext cx="3590019" cy="352393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0"/>
          <p:cNvSpPr txBox="1"/>
          <p:nvPr/>
        </p:nvSpPr>
        <p:spPr>
          <a:xfrm>
            <a:off x="586175" y="3190326"/>
            <a:ext cx="1790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lang="en-US" sz="15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Status line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lang="en-US" sz="15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(protocol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lang="en-US" sz="15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status code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lang="en-US" sz="15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status phrase)</a:t>
            </a:r>
            <a:endParaRPr sz="1900" b="1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40"/>
          <p:cNvCxnSpPr/>
          <p:nvPr/>
        </p:nvCxnSpPr>
        <p:spPr>
          <a:xfrm>
            <a:off x="1805376" y="3707851"/>
            <a:ext cx="924000" cy="2571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6" name="Google Shape;376;p40"/>
          <p:cNvSpPr/>
          <p:nvPr/>
        </p:nvSpPr>
        <p:spPr>
          <a:xfrm>
            <a:off x="2545750" y="4071151"/>
            <a:ext cx="264425" cy="1771877"/>
          </a:xfrm>
          <a:custGeom>
            <a:avLst/>
            <a:gdLst/>
            <a:ahLst/>
            <a:cxnLst/>
            <a:rect l="l" t="t" r="r" b="b"/>
            <a:pathLst>
              <a:path w="162" h="1428" extrusionOk="0">
                <a:moveTo>
                  <a:pt x="132" y="9"/>
                </a:moveTo>
                <a:lnTo>
                  <a:pt x="0" y="0"/>
                </a:lnTo>
                <a:lnTo>
                  <a:pt x="0" y="1428"/>
                </a:lnTo>
                <a:lnTo>
                  <a:pt x="162" y="1425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7" name="Google Shape;377;p40"/>
          <p:cNvSpPr txBox="1"/>
          <p:nvPr/>
        </p:nvSpPr>
        <p:spPr>
          <a:xfrm>
            <a:off x="1590171" y="4572201"/>
            <a:ext cx="1026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sz="1600" b="1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lines</a:t>
            </a:r>
            <a:endParaRPr sz="2000" b="1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40"/>
          <p:cNvCxnSpPr/>
          <p:nvPr/>
        </p:nvCxnSpPr>
        <p:spPr>
          <a:xfrm rot="10800000" flipH="1">
            <a:off x="2125975" y="6414539"/>
            <a:ext cx="757200" cy="212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9" name="Google Shape;379;p40"/>
          <p:cNvSpPr txBox="1"/>
          <p:nvPr/>
        </p:nvSpPr>
        <p:spPr>
          <a:xfrm>
            <a:off x="825814" y="5843014"/>
            <a:ext cx="1379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lang="en-US" sz="17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data, e.g., 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lang="en-US" sz="17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requested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lang="en-US" sz="17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HTML file</a:t>
            </a:r>
            <a:endParaRPr sz="2100" b="1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>
            <a:spLocks noGrp="1"/>
          </p:cNvSpPr>
          <p:nvPr>
            <p:ph type="title"/>
          </p:nvPr>
        </p:nvSpPr>
        <p:spPr>
          <a:xfrm>
            <a:off x="2001838" y="147639"/>
            <a:ext cx="77724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HTTP response status codes</a:t>
            </a:r>
            <a:endParaRPr b="1"/>
          </a:p>
        </p:txBody>
      </p:sp>
      <p:sp>
        <p:nvSpPr>
          <p:cNvPr id="386" name="Google Shape;386;p41"/>
          <p:cNvSpPr/>
          <p:nvPr/>
        </p:nvSpPr>
        <p:spPr>
          <a:xfrm>
            <a:off x="1502475" y="1127125"/>
            <a:ext cx="10252800" cy="13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0837" marR="0" lvl="0" indent="-3508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Status code appears in 1st line in server-to-client response message.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0837" marR="0" lvl="0" indent="-35083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Status codes</a:t>
            </a:r>
            <a:r>
              <a:rPr lang="en-US" sz="24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7950" y="2344475"/>
            <a:ext cx="5934075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7226" y="1723128"/>
            <a:ext cx="3522650" cy="17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1"/>
          <p:cNvSpPr/>
          <p:nvPr/>
        </p:nvSpPr>
        <p:spPr>
          <a:xfrm>
            <a:off x="8917655" y="1612048"/>
            <a:ext cx="791400" cy="4665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"/>
          <p:cNvSpPr txBox="1">
            <a:spLocks noGrp="1"/>
          </p:cNvSpPr>
          <p:nvPr>
            <p:ph type="title"/>
          </p:nvPr>
        </p:nvSpPr>
        <p:spPr>
          <a:xfrm>
            <a:off x="2001838" y="147639"/>
            <a:ext cx="7772400" cy="979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HTTP response status codes</a:t>
            </a:r>
            <a:endParaRPr b="1"/>
          </a:p>
        </p:txBody>
      </p:sp>
      <p:sp>
        <p:nvSpPr>
          <p:cNvPr id="396" name="Google Shape;396;p42"/>
          <p:cNvSpPr txBox="1">
            <a:spLocks noGrp="1"/>
          </p:cNvSpPr>
          <p:nvPr>
            <p:ph type="body" idx="1"/>
          </p:nvPr>
        </p:nvSpPr>
        <p:spPr>
          <a:xfrm>
            <a:off x="1058075" y="1625925"/>
            <a:ext cx="8075700" cy="49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85750" lvl="0" indent="-2857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Noto Sans Symbols"/>
              <a:buNone/>
            </a:pPr>
            <a:r>
              <a:rPr lang="en-US" sz="24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100 Continue</a:t>
            </a:r>
            <a:endParaRPr sz="2400">
              <a:solidFill>
                <a:srgbClr val="CC0000"/>
              </a:solidFill>
            </a:endParaRPr>
          </a:p>
          <a:p>
            <a:pPr marL="742950" lvl="1" indent="-285750" algn="l" rtl="0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000"/>
              <a:t>everything ok so far, client should continue with the request</a:t>
            </a:r>
            <a:endParaRPr sz="2000"/>
          </a:p>
          <a:p>
            <a:pPr marL="285750" lvl="0" indent="-2857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Noto Sans Symbols"/>
              <a:buNone/>
            </a:pPr>
            <a:endParaRPr sz="2400" b="1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5750" lvl="0" indent="-2857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480"/>
              <a:buFont typeface="Noto Sans Symbols"/>
              <a:buNone/>
            </a:pPr>
            <a:r>
              <a:rPr lang="en-US" sz="24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200 OK</a:t>
            </a:r>
            <a:endParaRPr sz="2400">
              <a:solidFill>
                <a:srgbClr val="CC0000"/>
              </a:solidFill>
            </a:endParaRPr>
          </a:p>
          <a:p>
            <a:pPr marL="742950" lvl="1" indent="-285750" algn="l" rtl="0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000"/>
              <a:t>request succeeded, requested object later in this message</a:t>
            </a:r>
            <a:endParaRPr sz="2000"/>
          </a:p>
          <a:p>
            <a:pPr marL="285750" lvl="0" indent="-285750" algn="l" rtl="0">
              <a:lnSpc>
                <a:spcPct val="85000"/>
              </a:lnSpc>
              <a:spcBef>
                <a:spcPts val="960"/>
              </a:spcBef>
              <a:spcAft>
                <a:spcPts val="0"/>
              </a:spcAft>
              <a:buClr>
                <a:srgbClr val="CC0000"/>
              </a:buClr>
              <a:buSzPts val="3480"/>
              <a:buFont typeface="Noto Sans Symbols"/>
              <a:buNone/>
            </a:pPr>
            <a:r>
              <a:rPr lang="en-US" sz="24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301 Moved Permanently</a:t>
            </a:r>
            <a:endParaRPr sz="2400">
              <a:solidFill>
                <a:srgbClr val="CC0000"/>
              </a:solidFill>
            </a:endParaRPr>
          </a:p>
          <a:p>
            <a:pPr marL="742950" lvl="1" indent="-285750" algn="l" rtl="0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000"/>
              <a:t>requested object moved, new location specified later in this message (Location:)</a:t>
            </a:r>
            <a:endParaRPr/>
          </a:p>
          <a:p>
            <a:pPr marL="285750" lvl="0" indent="-285750" algn="l" rtl="0">
              <a:lnSpc>
                <a:spcPct val="85000"/>
              </a:lnSpc>
              <a:spcBef>
                <a:spcPts val="960"/>
              </a:spcBef>
              <a:spcAft>
                <a:spcPts val="0"/>
              </a:spcAft>
              <a:buClr>
                <a:srgbClr val="CC0000"/>
              </a:buClr>
              <a:buSzPts val="3480"/>
              <a:buFont typeface="Noto Sans Symbols"/>
              <a:buNone/>
            </a:pPr>
            <a:r>
              <a:rPr lang="en-US" sz="24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400 Bad Request</a:t>
            </a:r>
            <a:endParaRPr sz="2400">
              <a:solidFill>
                <a:srgbClr val="CC0000"/>
              </a:solidFill>
            </a:endParaRPr>
          </a:p>
          <a:p>
            <a:pPr marL="742950" lvl="1" indent="-285750" algn="l" rtl="0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000"/>
              <a:t>request message not understood by server</a:t>
            </a:r>
            <a:endParaRPr/>
          </a:p>
          <a:p>
            <a:pPr marL="285750" lvl="0" indent="-285750" algn="l" rtl="0">
              <a:lnSpc>
                <a:spcPct val="85000"/>
              </a:lnSpc>
              <a:spcBef>
                <a:spcPts val="960"/>
              </a:spcBef>
              <a:spcAft>
                <a:spcPts val="0"/>
              </a:spcAft>
              <a:buClr>
                <a:srgbClr val="CC0000"/>
              </a:buClr>
              <a:buSzPts val="3480"/>
              <a:buFont typeface="Noto Sans Symbols"/>
              <a:buNone/>
            </a:pPr>
            <a:r>
              <a:rPr lang="en-US" sz="24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404 Not Found</a:t>
            </a:r>
            <a:endParaRPr sz="2400">
              <a:solidFill>
                <a:srgbClr val="CC0000"/>
              </a:solidFill>
            </a:endParaRPr>
          </a:p>
          <a:p>
            <a:pPr marL="742950" lvl="1" indent="-285750" algn="l" rtl="0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000"/>
              <a:t>requested document not found on this server</a:t>
            </a:r>
            <a:endParaRPr/>
          </a:p>
          <a:p>
            <a:pPr marL="285750" lvl="0" indent="-285750" algn="l" rtl="0">
              <a:lnSpc>
                <a:spcPct val="85000"/>
              </a:lnSpc>
              <a:spcBef>
                <a:spcPts val="960"/>
              </a:spcBef>
              <a:spcAft>
                <a:spcPts val="0"/>
              </a:spcAft>
              <a:buClr>
                <a:srgbClr val="CC0000"/>
              </a:buClr>
              <a:buSzPts val="3480"/>
              <a:buFont typeface="Noto Sans Symbols"/>
              <a:buNone/>
            </a:pPr>
            <a:r>
              <a:rPr lang="en-US" sz="24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505 HTTP Version Not Supported</a:t>
            </a:r>
            <a:endParaRPr sz="2400">
              <a:solidFill>
                <a:srgbClr val="CC0000"/>
              </a:solidFill>
            </a:endParaRPr>
          </a:p>
        </p:txBody>
      </p:sp>
      <p:sp>
        <p:nvSpPr>
          <p:cNvPr id="397" name="Google Shape;397;p42"/>
          <p:cNvSpPr/>
          <p:nvPr/>
        </p:nvSpPr>
        <p:spPr>
          <a:xfrm>
            <a:off x="1512325" y="1018726"/>
            <a:ext cx="8112000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0838" marR="0" lvl="0" indent="-350838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sample codes</a:t>
            </a:r>
            <a:r>
              <a:rPr lang="en-US" sz="24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4846" y="810254"/>
            <a:ext cx="3457810" cy="3159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3"/>
          <p:cNvSpPr txBox="1">
            <a:spLocks noGrp="1"/>
          </p:cNvSpPr>
          <p:nvPr>
            <p:ph type="title"/>
          </p:nvPr>
        </p:nvSpPr>
        <p:spPr>
          <a:xfrm>
            <a:off x="1484300" y="325403"/>
            <a:ext cx="10018800" cy="11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3700" b="1"/>
              <a:t>Objectives -Part 3</a:t>
            </a:r>
            <a:br>
              <a:rPr lang="en-US" sz="3700" b="1"/>
            </a:br>
            <a:endParaRPr sz="3700" b="1"/>
          </a:p>
        </p:txBody>
      </p:sp>
      <p:sp>
        <p:nvSpPr>
          <p:cNvPr id="404" name="Google Shape;404;p43"/>
          <p:cNvSpPr txBox="1">
            <a:spLocks noGrp="1"/>
          </p:cNvSpPr>
          <p:nvPr>
            <p:ph type="body" idx="1"/>
          </p:nvPr>
        </p:nvSpPr>
        <p:spPr>
          <a:xfrm>
            <a:off x="1484297" y="1368926"/>
            <a:ext cx="10018800" cy="4956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4400"/>
              <a:t>HTTP Connections</a:t>
            </a:r>
            <a:endParaRPr sz="4400"/>
          </a:p>
          <a:p>
            <a:pPr marL="742950" lvl="1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4000"/>
              <a:t>Non Persistent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4000"/>
              <a:t>Persistent</a:t>
            </a:r>
            <a:endParaRPr sz="40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None/>
            </a:pPr>
            <a:endParaRPr sz="4000"/>
          </a:p>
        </p:txBody>
      </p:sp>
      <p:pic>
        <p:nvPicPr>
          <p:cNvPr id="405" name="Google Shape;405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3" name="Google Shape;423;p46"/>
          <p:cNvCxnSpPr/>
          <p:nvPr/>
        </p:nvCxnSpPr>
        <p:spPr>
          <a:xfrm>
            <a:off x="2181225" y="1787526"/>
            <a:ext cx="0" cy="3990976"/>
          </a:xfrm>
          <a:prstGeom prst="straightConnector1">
            <a:avLst/>
          </a:prstGeom>
          <a:noFill/>
          <a:ln w="19050" cap="flat" cmpd="sng">
            <a:solidFill>
              <a:srgbClr val="8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4" name="Google Shape;424;p46"/>
          <p:cNvSpPr txBox="1">
            <a:spLocks noGrp="1"/>
          </p:cNvSpPr>
          <p:nvPr>
            <p:ph type="title"/>
          </p:nvPr>
        </p:nvSpPr>
        <p:spPr>
          <a:xfrm>
            <a:off x="2022475" y="0"/>
            <a:ext cx="7772400" cy="85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HTTP Connections</a:t>
            </a:r>
            <a:endParaRPr b="1"/>
          </a:p>
        </p:txBody>
      </p:sp>
      <p:sp>
        <p:nvSpPr>
          <p:cNvPr id="425" name="Google Shape;425;p46"/>
          <p:cNvSpPr txBox="1">
            <a:spLocks noGrp="1"/>
          </p:cNvSpPr>
          <p:nvPr>
            <p:ph type="body" idx="1"/>
          </p:nvPr>
        </p:nvSpPr>
        <p:spPr>
          <a:xfrm>
            <a:off x="1925638" y="823913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Noto Sans Symbols"/>
              <a:buNone/>
            </a:pPr>
            <a:r>
              <a:rPr lang="en-US" sz="2400"/>
              <a:t>Suppose user enters URL:</a:t>
            </a:r>
            <a:endParaRPr/>
          </a:p>
        </p:txBody>
      </p:sp>
      <p:sp>
        <p:nvSpPr>
          <p:cNvPr id="426" name="Google Shape;426;p46"/>
          <p:cNvSpPr txBox="1">
            <a:spLocks noGrp="1"/>
          </p:cNvSpPr>
          <p:nvPr>
            <p:ph type="body" idx="2"/>
          </p:nvPr>
        </p:nvSpPr>
        <p:spPr>
          <a:xfrm>
            <a:off x="2181225" y="2206229"/>
            <a:ext cx="394335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190"/>
              <a:buFont typeface="Noto Sans Symbols"/>
              <a:buNone/>
            </a:pPr>
            <a:r>
              <a:rPr lang="en-US" sz="2200">
                <a:solidFill>
                  <a:srgbClr val="CC0000"/>
                </a:solidFill>
              </a:rPr>
              <a:t>1a</a:t>
            </a:r>
            <a:r>
              <a:rPr lang="en-US" sz="2200">
                <a:solidFill>
                  <a:srgbClr val="FF0000"/>
                </a:solidFill>
              </a:rPr>
              <a:t>.</a:t>
            </a:r>
            <a:r>
              <a:rPr lang="en-US" sz="2200"/>
              <a:t> HTTP client initiates TCP connection to HTTP server at www.someSchool.edu </a:t>
            </a:r>
            <a:endParaRPr sz="2200"/>
          </a:p>
        </p:txBody>
      </p:sp>
      <p:sp>
        <p:nvSpPr>
          <p:cNvPr id="427" name="Google Shape;427;p46"/>
          <p:cNvSpPr/>
          <p:nvPr/>
        </p:nvSpPr>
        <p:spPr>
          <a:xfrm>
            <a:off x="2154150" y="4115447"/>
            <a:ext cx="381000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lang="en-US" sz="2200" b="0" i="0" u="none" strike="noStrike" cap="non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lang="en-US" sz="2200" b="0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HTTP client sends HTTP </a:t>
            </a:r>
            <a:r>
              <a:rPr lang="en-US" sz="2200" b="0" i="1" u="none" strike="noStrike" cap="none">
                <a:solidFill>
                  <a:srgbClr val="000099"/>
                </a:solidFill>
                <a:latin typeface="Corbel"/>
                <a:ea typeface="Corbel"/>
                <a:cs typeface="Corbel"/>
                <a:sym typeface="Corbel"/>
              </a:rPr>
              <a:t>request message</a:t>
            </a: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(containing URL) into TCP connection socket. Message indicates that client wants object someDepartment/home.index</a:t>
            </a:r>
            <a:endParaRPr sz="22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8" name="Google Shape;428;p46"/>
          <p:cNvSpPr/>
          <p:nvPr/>
        </p:nvSpPr>
        <p:spPr>
          <a:xfrm>
            <a:off x="6367799" y="2573933"/>
            <a:ext cx="4976211" cy="150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lang="en-US" sz="2200" b="0" i="0" u="none" strike="noStrike" cap="non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1b</a:t>
            </a:r>
            <a:r>
              <a:rPr lang="en-US" sz="2200" b="0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HTTP server www.someSchool.edu accepts TCP connection, notifying client</a:t>
            </a:r>
            <a:endParaRPr sz="22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9" name="Google Shape;429;p46"/>
          <p:cNvSpPr/>
          <p:nvPr/>
        </p:nvSpPr>
        <p:spPr>
          <a:xfrm>
            <a:off x="6285749" y="4530925"/>
            <a:ext cx="4871777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lang="en-US" sz="2200" b="0" i="0" u="none" strike="noStrike" cap="non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lang="en-US" sz="2200" b="0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HTTP server receives request message, forms </a:t>
            </a:r>
            <a:r>
              <a:rPr lang="en-US" sz="2200" b="0" i="1" u="none" strike="noStrike" cap="none">
                <a:solidFill>
                  <a:srgbClr val="000099"/>
                </a:solidFill>
                <a:latin typeface="Corbel"/>
                <a:ea typeface="Corbel"/>
                <a:cs typeface="Corbel"/>
                <a:sym typeface="Corbel"/>
              </a:rPr>
              <a:t>response message</a:t>
            </a: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containing requested object, and sends message into its socket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46"/>
          <p:cNvCxnSpPr/>
          <p:nvPr/>
        </p:nvCxnSpPr>
        <p:spPr>
          <a:xfrm>
            <a:off x="5419726" y="4591051"/>
            <a:ext cx="1095375" cy="523875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1" name="Google Shape;431;p46"/>
          <p:cNvCxnSpPr/>
          <p:nvPr/>
        </p:nvCxnSpPr>
        <p:spPr>
          <a:xfrm flipH="1">
            <a:off x="5467351" y="5200651"/>
            <a:ext cx="1008063" cy="1025525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2" name="Google Shape;432;p46"/>
          <p:cNvCxnSpPr/>
          <p:nvPr/>
        </p:nvCxnSpPr>
        <p:spPr>
          <a:xfrm>
            <a:off x="5572126" y="2647951"/>
            <a:ext cx="1095375" cy="523875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3" name="Google Shape;433;p46"/>
          <p:cNvCxnSpPr/>
          <p:nvPr/>
        </p:nvCxnSpPr>
        <p:spPr>
          <a:xfrm flipH="1">
            <a:off x="5478464" y="3259139"/>
            <a:ext cx="1095375" cy="523875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4" name="Google Shape;434;p46"/>
          <p:cNvSpPr txBox="1"/>
          <p:nvPr/>
        </p:nvSpPr>
        <p:spPr>
          <a:xfrm>
            <a:off x="8602611" y="986977"/>
            <a:ext cx="335848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(contains text, references to 10 </a:t>
            </a: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jpeg images)</a:t>
            </a:r>
            <a:endParaRPr sz="2400" b="0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6"/>
          <p:cNvSpPr/>
          <p:nvPr/>
        </p:nvSpPr>
        <p:spPr>
          <a:xfrm>
            <a:off x="2022475" y="1290638"/>
            <a:ext cx="932153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sz="1400" b="0" i="0" u="none" strike="noStrike" cap="non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6"/>
          <p:cNvSpPr txBox="1"/>
          <p:nvPr/>
        </p:nvSpPr>
        <p:spPr>
          <a:xfrm>
            <a:off x="1870883" y="5782748"/>
            <a:ext cx="620683" cy="369332"/>
          </a:xfrm>
          <a:prstGeom prst="rect">
            <a:avLst/>
          </a:prstGeom>
          <a:noFill/>
          <a:ln w="9525" cap="flat" cmpd="sng">
            <a:solidFill>
              <a:srgbClr val="8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400" b="0" i="0" u="none" strike="noStrike" cap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7" name="Google Shape;437;p46"/>
          <p:cNvGrpSpPr/>
          <p:nvPr/>
        </p:nvGrpSpPr>
        <p:grpSpPr>
          <a:xfrm>
            <a:off x="3406810" y="1757363"/>
            <a:ext cx="698500" cy="692151"/>
            <a:chOff x="-44" y="1473"/>
            <a:chExt cx="981" cy="1105"/>
          </a:xfrm>
        </p:grpSpPr>
        <p:pic>
          <p:nvPicPr>
            <p:cNvPr id="438" name="Google Shape;438;p46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9" name="Google Shape;439;p4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440" name="Google Shape;440;p46"/>
          <p:cNvGrpSpPr/>
          <p:nvPr/>
        </p:nvGrpSpPr>
        <p:grpSpPr>
          <a:xfrm>
            <a:off x="8023221" y="1727851"/>
            <a:ext cx="423863" cy="684213"/>
            <a:chOff x="4140" y="429"/>
            <a:chExt cx="1425" cy="2396"/>
          </a:xfrm>
        </p:grpSpPr>
        <p:sp>
          <p:nvSpPr>
            <p:cNvPr id="441" name="Google Shape;441;p46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2" name="Google Shape;442;p46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6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4" name="Google Shape;444;p46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5" name="Google Shape;445;p46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6" name="Google Shape;446;p46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447" name="Google Shape;447;p46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46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9" name="Google Shape;449;p46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" name="Google Shape;450;p46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451" name="Google Shape;451;p46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46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3" name="Google Shape;453;p46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" name="Google Shape;455;p46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456" name="Google Shape;456;p46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46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" name="Google Shape;458;p46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459" name="Google Shape;459;p46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460" name="Google Shape;460;p46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46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2" name="Google Shape;462;p46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7"/>
          <p:cNvSpPr txBox="1">
            <a:spLocks noGrp="1"/>
          </p:cNvSpPr>
          <p:nvPr>
            <p:ph type="title"/>
          </p:nvPr>
        </p:nvSpPr>
        <p:spPr>
          <a:xfrm>
            <a:off x="2066925" y="257176"/>
            <a:ext cx="777240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HTTP Connections  (cont.)</a:t>
            </a:r>
            <a:endParaRPr b="1"/>
          </a:p>
        </p:txBody>
      </p:sp>
      <p:sp>
        <p:nvSpPr>
          <p:cNvPr id="479" name="Google Shape;479;p47"/>
          <p:cNvSpPr txBox="1">
            <a:spLocks noGrp="1"/>
          </p:cNvSpPr>
          <p:nvPr>
            <p:ph type="body" idx="1"/>
          </p:nvPr>
        </p:nvSpPr>
        <p:spPr>
          <a:xfrm>
            <a:off x="3839896" y="5756266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60"/>
              <a:buNone/>
            </a:pPr>
            <a:r>
              <a:rPr lang="en-US" sz="3200" b="1">
                <a:solidFill>
                  <a:srgbClr val="FF6600"/>
                </a:solidFill>
              </a:rPr>
              <a:t>Non-persistent HTTP</a:t>
            </a:r>
            <a:endParaRPr sz="3200" b="1">
              <a:solidFill>
                <a:srgbClr val="FF6600"/>
              </a:solidFill>
            </a:endParaRPr>
          </a:p>
        </p:txBody>
      </p:sp>
      <p:sp>
        <p:nvSpPr>
          <p:cNvPr id="480" name="Google Shape;480;p47"/>
          <p:cNvSpPr txBox="1">
            <a:spLocks noGrp="1"/>
          </p:cNvSpPr>
          <p:nvPr>
            <p:ph type="body" idx="2"/>
          </p:nvPr>
        </p:nvSpPr>
        <p:spPr>
          <a:xfrm>
            <a:off x="2619375" y="2557463"/>
            <a:ext cx="381000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190"/>
              <a:buFont typeface="Noto Sans Symbols"/>
              <a:buNone/>
            </a:pPr>
            <a:r>
              <a:rPr lang="en-US" sz="2200">
                <a:solidFill>
                  <a:srgbClr val="CC0000"/>
                </a:solidFill>
              </a:rPr>
              <a:t>4.</a:t>
            </a:r>
            <a:r>
              <a:rPr lang="en-US" sz="2200"/>
              <a:t> HTTP client receives response message containing html file, displays html.  Parsing html file, finds 10 referenced jpeg  objects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Noto Sans Symbols"/>
              <a:buNone/>
            </a:pPr>
            <a:endParaRPr sz="2200"/>
          </a:p>
        </p:txBody>
      </p:sp>
      <p:sp>
        <p:nvSpPr>
          <p:cNvPr id="481" name="Google Shape;481;p47"/>
          <p:cNvSpPr/>
          <p:nvPr/>
        </p:nvSpPr>
        <p:spPr>
          <a:xfrm>
            <a:off x="2619375" y="4340731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lang="en-US" sz="2200" b="0" i="0" u="none" strike="noStrike" cap="non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6.</a:t>
            </a: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Steps 1-5 repeated for each of 10 jpeg objects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7"/>
          <p:cNvSpPr/>
          <p:nvPr/>
        </p:nvSpPr>
        <p:spPr>
          <a:xfrm>
            <a:off x="6992137" y="2225676"/>
            <a:ext cx="381000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lang="en-US" sz="2200" b="0" i="0" u="none" strike="noStrike" cap="non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5.</a:t>
            </a: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HTTP server closes TCP connection.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47"/>
          <p:cNvCxnSpPr/>
          <p:nvPr/>
        </p:nvCxnSpPr>
        <p:spPr>
          <a:xfrm>
            <a:off x="2066925" y="2116940"/>
            <a:ext cx="0" cy="2571750"/>
          </a:xfrm>
          <a:prstGeom prst="straightConnector1">
            <a:avLst/>
          </a:prstGeom>
          <a:noFill/>
          <a:ln w="19050" cap="flat" cmpd="sng">
            <a:solidFill>
              <a:srgbClr val="8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4" name="Google Shape;484;p47"/>
          <p:cNvCxnSpPr/>
          <p:nvPr/>
        </p:nvCxnSpPr>
        <p:spPr>
          <a:xfrm flipH="1">
            <a:off x="5639026" y="1762584"/>
            <a:ext cx="786863" cy="471486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5" name="Google Shape;485;p47"/>
          <p:cNvSpPr txBox="1"/>
          <p:nvPr/>
        </p:nvSpPr>
        <p:spPr>
          <a:xfrm>
            <a:off x="1756583" y="4822815"/>
            <a:ext cx="620683" cy="36933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400" b="0" i="0" u="none" strike="noStrike" cap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6" name="Google Shape;486;p47"/>
          <p:cNvGrpSpPr/>
          <p:nvPr/>
        </p:nvGrpSpPr>
        <p:grpSpPr>
          <a:xfrm>
            <a:off x="3379623" y="1533525"/>
            <a:ext cx="698500" cy="692151"/>
            <a:chOff x="-44" y="1473"/>
            <a:chExt cx="981" cy="1105"/>
          </a:xfrm>
        </p:grpSpPr>
        <p:pic>
          <p:nvPicPr>
            <p:cNvPr id="487" name="Google Shape;487;p47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47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489" name="Google Shape;489;p47"/>
          <p:cNvGrpSpPr/>
          <p:nvPr/>
        </p:nvGrpSpPr>
        <p:grpSpPr>
          <a:xfrm>
            <a:off x="8023221" y="1443429"/>
            <a:ext cx="423863" cy="684213"/>
            <a:chOff x="4140" y="429"/>
            <a:chExt cx="1425" cy="2396"/>
          </a:xfrm>
        </p:grpSpPr>
        <p:sp>
          <p:nvSpPr>
            <p:cNvPr id="490" name="Google Shape;490;p47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1" name="Google Shape;491;p47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7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3" name="Google Shape;493;p47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4" name="Google Shape;494;p47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5" name="Google Shape;495;p47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496" name="Google Shape;496;p47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47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8" name="Google Shape;498;p47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9" name="Google Shape;499;p47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500" name="Google Shape;500;p47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47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" name="Google Shape;502;p47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7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4" name="Google Shape;504;p47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505" name="Google Shape;505;p47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47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7" name="Google Shape;507;p47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508" name="Google Shape;508;p47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509" name="Google Shape;509;p47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47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" name="Google Shape;511;p47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7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3" name="Google Shape;513;p47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4" name="Google Shape;514;p47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7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6" name="Google Shape;516;p47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7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7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7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7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7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8"/>
          <p:cNvSpPr txBox="1">
            <a:spLocks noGrp="1"/>
          </p:cNvSpPr>
          <p:nvPr>
            <p:ph type="title"/>
          </p:nvPr>
        </p:nvSpPr>
        <p:spPr>
          <a:xfrm>
            <a:off x="1766888" y="1"/>
            <a:ext cx="8223250" cy="92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 b="1"/>
              <a:t>Non-persistent HTTP: response time</a:t>
            </a:r>
            <a:endParaRPr/>
          </a:p>
        </p:txBody>
      </p:sp>
      <p:sp>
        <p:nvSpPr>
          <p:cNvPr id="528" name="Google Shape;528;p48"/>
          <p:cNvSpPr txBox="1">
            <a:spLocks noGrp="1"/>
          </p:cNvSpPr>
          <p:nvPr>
            <p:ph type="body" idx="1"/>
          </p:nvPr>
        </p:nvSpPr>
        <p:spPr>
          <a:xfrm>
            <a:off x="1581220" y="925514"/>
            <a:ext cx="4651133" cy="5688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190"/>
              <a:buFont typeface="Noto Sans Symbols"/>
              <a:buNone/>
            </a:pPr>
            <a:r>
              <a:rPr lang="en-US" sz="2200" b="1">
                <a:solidFill>
                  <a:srgbClr val="0070C0"/>
                </a:solidFill>
              </a:rPr>
              <a:t>RTT (Round Trip Time):  </a:t>
            </a:r>
            <a:r>
              <a:rPr lang="en-US" sz="2200"/>
              <a:t>time for a small packet to travel from client to server and back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FF6600"/>
              </a:buClr>
              <a:buSzPts val="3190"/>
              <a:buFont typeface="Noto Sans Symbols"/>
              <a:buNone/>
            </a:pPr>
            <a:r>
              <a:rPr lang="en-US" b="1">
                <a:solidFill>
                  <a:srgbClr val="FF6600"/>
                </a:solidFill>
              </a:rPr>
              <a:t>HTTP response time:</a:t>
            </a:r>
            <a:endParaRPr sz="2800" b="1">
              <a:solidFill>
                <a:srgbClr val="FF6600"/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200"/>
              <a:t>One RTT to initiate TCP connection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200"/>
              <a:t>One RTT for HTTP GET request and the HTTP response to return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200"/>
              <a:t>Non-persistent HTTP total response time =   	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Noto Sans Symbols"/>
              <a:buNone/>
            </a:pPr>
            <a:r>
              <a:rPr lang="en-US" sz="2200"/>
              <a:t>   </a:t>
            </a:r>
            <a:r>
              <a:rPr lang="en-US" sz="2800">
                <a:solidFill>
                  <a:srgbClr val="FF6600"/>
                </a:solidFill>
              </a:rPr>
              <a:t>2*</a:t>
            </a:r>
            <a:r>
              <a:rPr lang="en-US" sz="2200" b="1">
                <a:solidFill>
                  <a:srgbClr val="008000"/>
                </a:solidFill>
              </a:rPr>
              <a:t>RTT</a:t>
            </a:r>
            <a:r>
              <a:rPr lang="en-US" sz="2200"/>
              <a:t>+ </a:t>
            </a:r>
            <a:r>
              <a:rPr lang="en-US" sz="2200" b="1">
                <a:solidFill>
                  <a:srgbClr val="7E28CD"/>
                </a:solidFill>
              </a:rPr>
              <a:t>file transmission  time</a:t>
            </a:r>
            <a:endParaRPr b="1">
              <a:solidFill>
                <a:srgbClr val="7E28CD"/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Noto Sans Symbols"/>
              <a:buNone/>
            </a:pPr>
            <a:endParaRPr sz="2200"/>
          </a:p>
        </p:txBody>
      </p:sp>
      <p:cxnSp>
        <p:nvCxnSpPr>
          <p:cNvPr id="529" name="Google Shape;529;p48"/>
          <p:cNvCxnSpPr>
            <a:stCxn id="530" idx="2"/>
            <a:endCxn id="531" idx="0"/>
          </p:cNvCxnSpPr>
          <p:nvPr/>
        </p:nvCxnSpPr>
        <p:spPr>
          <a:xfrm>
            <a:off x="7940066" y="1840032"/>
            <a:ext cx="66000" cy="4618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sm" len="sm"/>
            <a:tailEnd type="triangle" w="med" len="med"/>
          </a:ln>
        </p:spPr>
      </p:cxnSp>
      <p:cxnSp>
        <p:nvCxnSpPr>
          <p:cNvPr id="532" name="Google Shape;532;p48"/>
          <p:cNvCxnSpPr>
            <a:endCxn id="533" idx="0"/>
          </p:cNvCxnSpPr>
          <p:nvPr/>
        </p:nvCxnSpPr>
        <p:spPr>
          <a:xfrm>
            <a:off x="10363698" y="1858533"/>
            <a:ext cx="32100" cy="4578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sm" len="sm"/>
            <a:tailEnd type="triangle" w="med" len="med"/>
          </a:ln>
        </p:spPr>
      </p:cxnSp>
      <p:cxnSp>
        <p:nvCxnSpPr>
          <p:cNvPr id="534" name="Google Shape;534;p48"/>
          <p:cNvCxnSpPr/>
          <p:nvPr/>
        </p:nvCxnSpPr>
        <p:spPr>
          <a:xfrm>
            <a:off x="7954791" y="2104407"/>
            <a:ext cx="2440909" cy="500680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35" name="Google Shape;535;p48"/>
          <p:cNvCxnSpPr/>
          <p:nvPr/>
        </p:nvCxnSpPr>
        <p:spPr>
          <a:xfrm flipH="1">
            <a:off x="7967241" y="2659808"/>
            <a:ext cx="2404367" cy="656146"/>
          </a:xfrm>
          <a:prstGeom prst="straightConnector1">
            <a:avLst/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36" name="Google Shape;536;p48"/>
          <p:cNvCxnSpPr/>
          <p:nvPr/>
        </p:nvCxnSpPr>
        <p:spPr>
          <a:xfrm>
            <a:off x="7967241" y="3353310"/>
            <a:ext cx="2404366" cy="7138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37" name="Google Shape;537;p48"/>
          <p:cNvCxnSpPr/>
          <p:nvPr/>
        </p:nvCxnSpPr>
        <p:spPr>
          <a:xfrm flipH="1">
            <a:off x="8006180" y="4250582"/>
            <a:ext cx="2338657" cy="493672"/>
          </a:xfrm>
          <a:prstGeom prst="straightConnector1">
            <a:avLst/>
          </a:prstGeom>
          <a:noFill/>
          <a:ln w="2540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8" name="Google Shape;538;p48"/>
          <p:cNvSpPr/>
          <p:nvPr/>
        </p:nvSpPr>
        <p:spPr>
          <a:xfrm>
            <a:off x="10419245" y="4097332"/>
            <a:ext cx="184372" cy="303962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8"/>
          <p:cNvSpPr txBox="1"/>
          <p:nvPr/>
        </p:nvSpPr>
        <p:spPr>
          <a:xfrm>
            <a:off x="10654578" y="3886771"/>
            <a:ext cx="1123447" cy="72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Time to </a:t>
            </a:r>
            <a:endParaRPr sz="1400" b="1" i="0" u="none" strike="noStrike" cap="non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transmit </a:t>
            </a:r>
            <a:endParaRPr sz="1400" b="1" i="0" u="none" strike="noStrike" cap="non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 sz="1400" b="1" i="0" u="none" strike="noStrike" cap="non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0" name="Google Shape;540;p48"/>
          <p:cNvCxnSpPr/>
          <p:nvPr/>
        </p:nvCxnSpPr>
        <p:spPr>
          <a:xfrm>
            <a:off x="7497919" y="2058887"/>
            <a:ext cx="390525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1" name="Google Shape;541;p48"/>
          <p:cNvSpPr txBox="1"/>
          <p:nvPr/>
        </p:nvSpPr>
        <p:spPr>
          <a:xfrm>
            <a:off x="6232353" y="1975685"/>
            <a:ext cx="1251753" cy="510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Initiate TCP</a:t>
            </a:r>
            <a:endParaRPr sz="1400" b="0" i="0" u="none" strike="noStrike" cap="non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connection</a:t>
            </a:r>
            <a:endParaRPr sz="1400" b="0" i="0" u="none" strike="noStrike" cap="non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8"/>
          <p:cNvSpPr/>
          <p:nvPr/>
        </p:nvSpPr>
        <p:spPr>
          <a:xfrm>
            <a:off x="7791689" y="3381617"/>
            <a:ext cx="163102" cy="12220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8"/>
          <p:cNvSpPr txBox="1"/>
          <p:nvPr/>
        </p:nvSpPr>
        <p:spPr>
          <a:xfrm>
            <a:off x="7140575" y="2605087"/>
            <a:ext cx="57785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RTT</a:t>
            </a:r>
            <a:endParaRPr sz="1400" b="1" i="0" u="none" strike="noStrike" cap="non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" name="Google Shape;544;p48"/>
          <p:cNvCxnSpPr/>
          <p:nvPr/>
        </p:nvCxnSpPr>
        <p:spPr>
          <a:xfrm>
            <a:off x="7600778" y="3369140"/>
            <a:ext cx="35401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5" name="Google Shape;545;p48"/>
          <p:cNvSpPr txBox="1"/>
          <p:nvPr/>
        </p:nvSpPr>
        <p:spPr>
          <a:xfrm>
            <a:off x="6643121" y="3160115"/>
            <a:ext cx="947695" cy="510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8"/>
          <p:cNvSpPr txBox="1"/>
          <p:nvPr/>
        </p:nvSpPr>
        <p:spPr>
          <a:xfrm>
            <a:off x="7140575" y="3881439"/>
            <a:ext cx="57785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RTT</a:t>
            </a:r>
            <a:endParaRPr sz="1400" b="1" i="0" u="none" strike="noStrike" cap="non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48"/>
          <p:cNvCxnSpPr/>
          <p:nvPr/>
        </p:nvCxnSpPr>
        <p:spPr>
          <a:xfrm flipH="1">
            <a:off x="7597166" y="4889900"/>
            <a:ext cx="3429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8" name="Google Shape;548;p48"/>
          <p:cNvSpPr txBox="1"/>
          <p:nvPr/>
        </p:nvSpPr>
        <p:spPr>
          <a:xfrm>
            <a:off x="6719944" y="4603693"/>
            <a:ext cx="950912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 sz="16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received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8"/>
          <p:cNvSpPr txBox="1"/>
          <p:nvPr/>
        </p:nvSpPr>
        <p:spPr>
          <a:xfrm>
            <a:off x="7722017" y="6458691"/>
            <a:ext cx="56832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8"/>
          <p:cNvSpPr txBox="1"/>
          <p:nvPr/>
        </p:nvSpPr>
        <p:spPr>
          <a:xfrm>
            <a:off x="10111635" y="6437433"/>
            <a:ext cx="5683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p48"/>
          <p:cNvGrpSpPr/>
          <p:nvPr/>
        </p:nvGrpSpPr>
        <p:grpSpPr>
          <a:xfrm>
            <a:off x="10194031" y="1026894"/>
            <a:ext cx="423863" cy="684213"/>
            <a:chOff x="4140" y="429"/>
            <a:chExt cx="1425" cy="2396"/>
          </a:xfrm>
        </p:grpSpPr>
        <p:sp>
          <p:nvSpPr>
            <p:cNvPr id="550" name="Google Shape;550;p4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1" name="Google Shape;551;p48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3" name="Google Shape;553;p4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4" name="Google Shape;554;p48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5" name="Google Shape;555;p48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556" name="Google Shape;556;p48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48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8" name="Google Shape;558;p48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9" name="Google Shape;559;p48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560" name="Google Shape;560;p48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48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2" name="Google Shape;562;p48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8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4" name="Google Shape;564;p48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565" name="Google Shape;565;p48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48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7" name="Google Shape;567;p4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568" name="Google Shape;568;p48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569" name="Google Shape;569;p48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48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1" name="Google Shape;571;p48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3" name="Google Shape;573;p4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4" name="Google Shape;574;p48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6" name="Google Shape;576;p48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8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8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8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8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8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2" name="Google Shape;582;p48"/>
          <p:cNvGrpSpPr/>
          <p:nvPr/>
        </p:nvGrpSpPr>
        <p:grpSpPr>
          <a:xfrm>
            <a:off x="7590816" y="1130419"/>
            <a:ext cx="698500" cy="709613"/>
            <a:chOff x="-44" y="1473"/>
            <a:chExt cx="981" cy="1105"/>
          </a:xfrm>
        </p:grpSpPr>
        <p:pic>
          <p:nvPicPr>
            <p:cNvPr id="530" name="Google Shape;530;p48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84" name="Google Shape;584;p48"/>
          <p:cNvSpPr/>
          <p:nvPr/>
        </p:nvSpPr>
        <p:spPr>
          <a:xfrm>
            <a:off x="7702866" y="2085378"/>
            <a:ext cx="163102" cy="12220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8"/>
          <p:cNvSpPr/>
          <p:nvPr/>
        </p:nvSpPr>
        <p:spPr>
          <a:xfrm>
            <a:off x="2096629" y="4980527"/>
            <a:ext cx="1282385" cy="1065525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8"/>
          <p:cNvSpPr/>
          <p:nvPr/>
        </p:nvSpPr>
        <p:spPr>
          <a:xfrm>
            <a:off x="6856727" y="2336054"/>
            <a:ext cx="1009242" cy="824061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8"/>
          <p:cNvSpPr/>
          <p:nvPr/>
        </p:nvSpPr>
        <p:spPr>
          <a:xfrm>
            <a:off x="6879202" y="3752759"/>
            <a:ext cx="1009242" cy="824061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8"/>
          <p:cNvSpPr/>
          <p:nvPr/>
        </p:nvSpPr>
        <p:spPr>
          <a:xfrm>
            <a:off x="3329825" y="4889900"/>
            <a:ext cx="3128266" cy="1065525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8"/>
          <p:cNvSpPr/>
          <p:nvPr/>
        </p:nvSpPr>
        <p:spPr>
          <a:xfrm>
            <a:off x="10551266" y="3794019"/>
            <a:ext cx="1064906" cy="913125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0" name="Google Shape;590;p48"/>
          <p:cNvCxnSpPr>
            <a:endCxn id="591" idx="3"/>
          </p:cNvCxnSpPr>
          <p:nvPr/>
        </p:nvCxnSpPr>
        <p:spPr>
          <a:xfrm flipH="1">
            <a:off x="8007812" y="4678558"/>
            <a:ext cx="2376600" cy="603900"/>
          </a:xfrm>
          <a:prstGeom prst="straightConnector1">
            <a:avLst/>
          </a:prstGeom>
          <a:noFill/>
          <a:ln w="28575" cap="flat" cmpd="sng">
            <a:solidFill>
              <a:srgbClr val="AE266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2" name="Google Shape;592;p48"/>
          <p:cNvCxnSpPr/>
          <p:nvPr/>
        </p:nvCxnSpPr>
        <p:spPr>
          <a:xfrm>
            <a:off x="8043927" y="5405953"/>
            <a:ext cx="2325450" cy="259080"/>
          </a:xfrm>
          <a:prstGeom prst="straightConnector1">
            <a:avLst/>
          </a:prstGeom>
          <a:noFill/>
          <a:ln w="28575" cap="flat" cmpd="sng">
            <a:solidFill>
              <a:srgbClr val="AE266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1" name="Google Shape;591;p48"/>
          <p:cNvSpPr txBox="1"/>
          <p:nvPr/>
        </p:nvSpPr>
        <p:spPr>
          <a:xfrm>
            <a:off x="6756059" y="5027003"/>
            <a:ext cx="1251753" cy="510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Initiate TCP</a:t>
            </a:r>
            <a:endParaRPr sz="1400" b="0" i="0" u="none" strike="noStrike" cap="non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termination</a:t>
            </a:r>
            <a:endParaRPr sz="1400" b="0" i="0" u="none" strike="noStrike" cap="non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8"/>
          <p:cNvSpPr txBox="1"/>
          <p:nvPr/>
        </p:nvSpPr>
        <p:spPr>
          <a:xfrm>
            <a:off x="5943647" y="785747"/>
            <a:ext cx="2212458" cy="301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Note : One Object</a:t>
            </a:r>
            <a:endParaRPr sz="1400" b="1" i="0" u="none" strike="noStrike" cap="non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9"/>
          <p:cNvSpPr txBox="1">
            <a:spLocks noGrp="1"/>
          </p:cNvSpPr>
          <p:nvPr>
            <p:ph type="title"/>
          </p:nvPr>
        </p:nvSpPr>
        <p:spPr>
          <a:xfrm>
            <a:off x="1766887" y="1"/>
            <a:ext cx="9991003" cy="92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3600" b="1"/>
              <a:t>Non-persistent HTTP: response time for two objects</a:t>
            </a:r>
            <a:endParaRPr/>
          </a:p>
        </p:txBody>
      </p:sp>
      <p:sp>
        <p:nvSpPr>
          <p:cNvPr id="600" name="Google Shape;600;p49"/>
          <p:cNvSpPr txBox="1">
            <a:spLocks noGrp="1"/>
          </p:cNvSpPr>
          <p:nvPr>
            <p:ph type="body" idx="1"/>
          </p:nvPr>
        </p:nvSpPr>
        <p:spPr>
          <a:xfrm>
            <a:off x="5779146" y="1456608"/>
            <a:ext cx="5600054" cy="4732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480"/>
              <a:buNone/>
            </a:pPr>
            <a:r>
              <a:rPr lang="en-US" sz="2800" b="1" i="1">
                <a:solidFill>
                  <a:srgbClr val="CC0000"/>
                </a:solidFill>
              </a:rPr>
              <a:t>Total Response Time for two objects</a:t>
            </a:r>
            <a:endParaRPr sz="2800"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Arial"/>
              <a:buChar char="•"/>
            </a:pPr>
            <a:r>
              <a:rPr lang="en-US" sz="3200"/>
              <a:t>RTT 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800"/>
              <a:t>2* RTT per object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800"/>
              <a:t>For 2 objects RTT is : 2*2*RTT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Arial"/>
              <a:buChar char="•"/>
            </a:pPr>
            <a:r>
              <a:rPr lang="en-US" sz="3200"/>
              <a:t>File Transmission time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3200"/>
              <a:t>For both objects</a:t>
            </a:r>
            <a:endParaRPr sz="3200"/>
          </a:p>
          <a:p>
            <a:pPr marL="285750" lvl="0" indent="-83185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Arial"/>
              <a:buNone/>
            </a:pPr>
            <a:endParaRPr sz="2200"/>
          </a:p>
          <a:p>
            <a:pPr marL="285750" lvl="0" indent="-83185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Arial"/>
              <a:buNone/>
            </a:pPr>
            <a:endParaRPr sz="2200"/>
          </a:p>
          <a:p>
            <a:pPr marL="285750" lvl="0" indent="-83185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Arial"/>
              <a:buNone/>
            </a:pPr>
            <a:endParaRPr sz="2200"/>
          </a:p>
        </p:txBody>
      </p:sp>
      <p:grpSp>
        <p:nvGrpSpPr>
          <p:cNvPr id="601" name="Google Shape;601;p49"/>
          <p:cNvGrpSpPr/>
          <p:nvPr/>
        </p:nvGrpSpPr>
        <p:grpSpPr>
          <a:xfrm>
            <a:off x="2077038" y="1159814"/>
            <a:ext cx="2930133" cy="5394816"/>
            <a:chOff x="7942129" y="1215232"/>
            <a:chExt cx="2930133" cy="5394816"/>
          </a:xfrm>
        </p:grpSpPr>
        <p:grpSp>
          <p:nvGrpSpPr>
            <p:cNvPr id="602" name="Google Shape;602;p49"/>
            <p:cNvGrpSpPr/>
            <p:nvPr/>
          </p:nvGrpSpPr>
          <p:grpSpPr>
            <a:xfrm>
              <a:off x="7942129" y="1215232"/>
              <a:ext cx="2930133" cy="5394816"/>
              <a:chOff x="7904957" y="1168152"/>
              <a:chExt cx="2727232" cy="5394816"/>
            </a:xfrm>
          </p:grpSpPr>
          <p:cxnSp>
            <p:nvCxnSpPr>
              <p:cNvPr id="603" name="Google Shape;603;p49"/>
              <p:cNvCxnSpPr/>
              <p:nvPr/>
            </p:nvCxnSpPr>
            <p:spPr>
              <a:xfrm flipH="1">
                <a:off x="8958418" y="2740138"/>
                <a:ext cx="1209870" cy="220831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604" name="Google Shape;604;p49"/>
              <p:cNvGrpSpPr/>
              <p:nvPr/>
            </p:nvGrpSpPr>
            <p:grpSpPr>
              <a:xfrm>
                <a:off x="7904957" y="1168152"/>
                <a:ext cx="2727232" cy="5394816"/>
                <a:chOff x="6568315" y="1130419"/>
                <a:chExt cx="3722386" cy="7100906"/>
              </a:xfrm>
            </p:grpSpPr>
            <p:sp>
              <p:nvSpPr>
                <p:cNvPr id="605" name="Google Shape;605;p49"/>
                <p:cNvSpPr txBox="1"/>
                <p:nvPr/>
              </p:nvSpPr>
              <p:spPr>
                <a:xfrm>
                  <a:off x="7701409" y="7903239"/>
                  <a:ext cx="940876" cy="3280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r>
                    <a:rPr lang="en-US" sz="1200" b="1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time</a:t>
                  </a:r>
                  <a:endParaRPr sz="11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6" name="Google Shape;606;p49"/>
                <p:cNvSpPr txBox="1"/>
                <p:nvPr/>
              </p:nvSpPr>
              <p:spPr>
                <a:xfrm>
                  <a:off x="9296129" y="7856779"/>
                  <a:ext cx="994572" cy="3645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r>
                    <a:rPr lang="en-US" sz="1200" b="1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time</a:t>
                  </a:r>
                  <a:endParaRPr sz="11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07" name="Google Shape;607;p49"/>
                <p:cNvGrpSpPr/>
                <p:nvPr/>
              </p:nvGrpSpPr>
              <p:grpSpPr>
                <a:xfrm>
                  <a:off x="6568315" y="1130419"/>
                  <a:ext cx="3191441" cy="6389003"/>
                  <a:chOff x="6568315" y="1130419"/>
                  <a:chExt cx="3191441" cy="6389003"/>
                </a:xfrm>
              </p:grpSpPr>
              <p:cxnSp>
                <p:nvCxnSpPr>
                  <p:cNvPr id="608" name="Google Shape;608;p49"/>
                  <p:cNvCxnSpPr>
                    <a:stCxn id="609" idx="2"/>
                  </p:cNvCxnSpPr>
                  <p:nvPr/>
                </p:nvCxnSpPr>
                <p:spPr>
                  <a:xfrm>
                    <a:off x="7940066" y="1840032"/>
                    <a:ext cx="37800" cy="5679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FF0000"/>
                    </a:solidFill>
                    <a:prstDash val="dot"/>
                    <a:round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610" name="Google Shape;610;p49"/>
                  <p:cNvCxnSpPr/>
                  <p:nvPr/>
                </p:nvCxnSpPr>
                <p:spPr>
                  <a:xfrm>
                    <a:off x="9657528" y="1879786"/>
                    <a:ext cx="51387" cy="5639636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FF0000"/>
                    </a:solidFill>
                    <a:prstDash val="dot"/>
                    <a:round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611" name="Google Shape;611;p49"/>
                  <p:cNvCxnSpPr/>
                  <p:nvPr/>
                </p:nvCxnSpPr>
                <p:spPr>
                  <a:xfrm>
                    <a:off x="7954790" y="2104407"/>
                    <a:ext cx="1702736" cy="205405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5E9934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612" name="Google Shape;612;p49"/>
                  <p:cNvCxnSpPr/>
                  <p:nvPr/>
                </p:nvCxnSpPr>
                <p:spPr>
                  <a:xfrm flipH="1">
                    <a:off x="7954792" y="2427855"/>
                    <a:ext cx="1702734" cy="339534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5E9934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613" name="Google Shape;613;p49"/>
                  <p:cNvCxnSpPr/>
                  <p:nvPr/>
                </p:nvCxnSpPr>
                <p:spPr>
                  <a:xfrm>
                    <a:off x="7977911" y="2840818"/>
                    <a:ext cx="1679616" cy="287631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614" name="Google Shape;614;p49"/>
                  <p:cNvSpPr txBox="1"/>
                  <p:nvPr/>
                </p:nvSpPr>
                <p:spPr>
                  <a:xfrm>
                    <a:off x="6568315" y="1842332"/>
                    <a:ext cx="1672639" cy="50025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050" b="1" i="0" u="none" strike="noStrike" cap="non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TCP</a:t>
                    </a:r>
                    <a:endParaRPr sz="1000" b="1" i="0" u="none" strike="noStrike" cap="none">
                      <a:solidFill>
                        <a:srgbClr val="5E9934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marL="0" marR="0" lvl="0" indent="0" algn="ctr" rtl="0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050" b="1" i="0" u="none" strike="noStrike" cap="non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connection</a:t>
                    </a:r>
                    <a:endParaRPr sz="1000" b="1" i="0" u="none" strike="noStrike" cap="none">
                      <a:solidFill>
                        <a:srgbClr val="5E9934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5" name="Google Shape;615;p49"/>
                  <p:cNvSpPr txBox="1"/>
                  <p:nvPr/>
                </p:nvSpPr>
                <p:spPr>
                  <a:xfrm>
                    <a:off x="7112409" y="2291890"/>
                    <a:ext cx="835017" cy="31086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100" b="1" i="0" u="none" strike="noStrike" cap="none">
                        <a:solidFill>
                          <a:srgbClr val="008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RTT</a:t>
                    </a:r>
                    <a:endParaRPr sz="1050" b="1" i="0" u="none" strike="noStrike" cap="none">
                      <a:solidFill>
                        <a:srgbClr val="008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6" name="Google Shape;616;p49"/>
                  <p:cNvSpPr txBox="1"/>
                  <p:nvPr/>
                </p:nvSpPr>
                <p:spPr>
                  <a:xfrm>
                    <a:off x="6913007" y="2663858"/>
                    <a:ext cx="1515699" cy="4830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05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Request</a:t>
                    </a:r>
                    <a:endParaRPr sz="1050" b="1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marL="0" marR="0" lvl="0" indent="0" algn="l" rtl="0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05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For obj 1</a:t>
                    </a:r>
                    <a:endParaRPr sz="1000" b="1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7" name="Google Shape;617;p49"/>
                  <p:cNvSpPr txBox="1"/>
                  <p:nvPr/>
                </p:nvSpPr>
                <p:spPr>
                  <a:xfrm>
                    <a:off x="6929334" y="3413131"/>
                    <a:ext cx="1201166" cy="4830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05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Obj 1</a:t>
                    </a:r>
                    <a:endParaRPr sz="1050" b="1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marL="0" marR="0" lvl="0" indent="0" algn="l" rtl="0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05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received</a:t>
                    </a:r>
                    <a:endParaRPr sz="1000" b="1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8" name="Google Shape;618;p49"/>
                  <p:cNvSpPr/>
                  <p:nvPr/>
                </p:nvSpPr>
                <p:spPr>
                  <a:xfrm>
                    <a:off x="9447139" y="1177387"/>
                    <a:ext cx="312617" cy="65251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1700"/>
                      <a:buFont typeface="Arial"/>
                      <a:buNone/>
                    </a:pPr>
                    <a:endParaRPr sz="20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19" name="Google Shape;619;p49"/>
                  <p:cNvGrpSpPr/>
                  <p:nvPr/>
                </p:nvGrpSpPr>
                <p:grpSpPr>
                  <a:xfrm>
                    <a:off x="7590816" y="1130419"/>
                    <a:ext cx="698500" cy="709613"/>
                    <a:chOff x="-44" y="1473"/>
                    <a:chExt cx="981" cy="1105"/>
                  </a:xfrm>
                </p:grpSpPr>
                <p:pic>
                  <p:nvPicPr>
                    <p:cNvPr id="609" name="Google Shape;609;p49" descr="desktop_computer_stylized_medium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 flipH="1">
                      <a:off x="-44" y="1473"/>
                      <a:ext cx="981" cy="11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620" name="Google Shape;620;p49"/>
                    <p:cNvSpPr/>
                    <p:nvPr/>
                  </p:nvSpPr>
                  <p:spPr>
                    <a:xfrm flipH="1">
                      <a:off x="374" y="1579"/>
                      <a:ext cx="477" cy="5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6" h="368" extrusionOk="0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0099"/>
                        </a:gs>
                        <a:gs pos="100000">
                          <a:schemeClr val="lt1"/>
                        </a:gs>
                      </a:gsLst>
                      <a:lin ang="27000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</p:grpSp>
              <p:cxnSp>
                <p:nvCxnSpPr>
                  <p:cNvPr id="621" name="Google Shape;621;p49"/>
                  <p:cNvCxnSpPr/>
                  <p:nvPr/>
                </p:nvCxnSpPr>
                <p:spPr>
                  <a:xfrm>
                    <a:off x="7941370" y="3676311"/>
                    <a:ext cx="1732211" cy="266413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AE2663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622" name="Google Shape;622;p49"/>
                  <p:cNvCxnSpPr/>
                  <p:nvPr/>
                </p:nvCxnSpPr>
                <p:spPr>
                  <a:xfrm flipH="1">
                    <a:off x="7997833" y="4046897"/>
                    <a:ext cx="1631427" cy="285902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AE2663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623" name="Google Shape;623;p49"/>
                  <p:cNvSpPr txBox="1"/>
                  <p:nvPr/>
                </p:nvSpPr>
                <p:spPr>
                  <a:xfrm>
                    <a:off x="6663356" y="3871005"/>
                    <a:ext cx="1395028" cy="4744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000" b="1" i="0" u="none" strike="noStrike" cap="none">
                        <a:solidFill>
                          <a:srgbClr val="AE2663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TCP</a:t>
                    </a:r>
                    <a:endParaRPr sz="900" b="1" i="0" u="none" strike="noStrike" cap="none">
                      <a:solidFill>
                        <a:srgbClr val="AE2663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marL="0" marR="0" lvl="0" indent="0" algn="ctr" rtl="0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000" b="1" i="0" u="none" strike="noStrike" cap="none">
                        <a:solidFill>
                          <a:srgbClr val="AE2663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termination</a:t>
                    </a:r>
                    <a:endParaRPr sz="900" b="1" i="0" u="none" strike="noStrike" cap="none">
                      <a:solidFill>
                        <a:srgbClr val="AE2663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cxnSp>
          <p:nvCxnSpPr>
            <p:cNvPr id="624" name="Google Shape;624;p49"/>
            <p:cNvCxnSpPr/>
            <p:nvPr/>
          </p:nvCxnSpPr>
          <p:spPr>
            <a:xfrm>
              <a:off x="9031741" y="3722158"/>
              <a:ext cx="1362335" cy="224458"/>
            </a:xfrm>
            <a:prstGeom prst="straightConnector1">
              <a:avLst/>
            </a:prstGeom>
            <a:noFill/>
            <a:ln w="28575" cap="flat" cmpd="sng">
              <a:solidFill>
                <a:srgbClr val="5E993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25" name="Google Shape;625;p49"/>
            <p:cNvCxnSpPr/>
            <p:nvPr/>
          </p:nvCxnSpPr>
          <p:spPr>
            <a:xfrm flipH="1">
              <a:off x="9033164" y="4064000"/>
              <a:ext cx="1308617" cy="110836"/>
            </a:xfrm>
            <a:prstGeom prst="straightConnector1">
              <a:avLst/>
            </a:prstGeom>
            <a:noFill/>
            <a:ln w="28575" cap="flat" cmpd="sng">
              <a:solidFill>
                <a:srgbClr val="5E993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26" name="Google Shape;626;p49"/>
            <p:cNvCxnSpPr/>
            <p:nvPr/>
          </p:nvCxnSpPr>
          <p:spPr>
            <a:xfrm flipH="1">
              <a:off x="9035834" y="4580485"/>
              <a:ext cx="1358242" cy="125056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7" name="Google Shape;627;p49"/>
            <p:cNvCxnSpPr/>
            <p:nvPr/>
          </p:nvCxnSpPr>
          <p:spPr>
            <a:xfrm>
              <a:off x="9049503" y="4253778"/>
              <a:ext cx="1364798" cy="22969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28" name="Google Shape;628;p49"/>
            <p:cNvCxnSpPr/>
            <p:nvPr/>
          </p:nvCxnSpPr>
          <p:spPr>
            <a:xfrm>
              <a:off x="9056049" y="4832241"/>
              <a:ext cx="1358252" cy="246212"/>
            </a:xfrm>
            <a:prstGeom prst="straightConnector1">
              <a:avLst/>
            </a:prstGeom>
            <a:noFill/>
            <a:ln w="28575" cap="flat" cmpd="sng">
              <a:solidFill>
                <a:srgbClr val="AE266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29" name="Google Shape;629;p49"/>
            <p:cNvCxnSpPr/>
            <p:nvPr/>
          </p:nvCxnSpPr>
          <p:spPr>
            <a:xfrm flipH="1">
              <a:off x="9056049" y="5165862"/>
              <a:ext cx="1358252" cy="286741"/>
            </a:xfrm>
            <a:prstGeom prst="straightConnector1">
              <a:avLst/>
            </a:prstGeom>
            <a:noFill/>
            <a:ln w="28575" cap="flat" cmpd="sng">
              <a:solidFill>
                <a:srgbClr val="AE266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30" name="Google Shape;630;p49"/>
            <p:cNvSpPr txBox="1"/>
            <p:nvPr/>
          </p:nvSpPr>
          <p:spPr>
            <a:xfrm>
              <a:off x="7999673" y="3790203"/>
              <a:ext cx="1225471" cy="380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050" b="1" i="0" u="none" strike="noStrike" cap="none">
                  <a:solidFill>
                    <a:srgbClr val="5E9934"/>
                  </a:solidFill>
                  <a:latin typeface="Arial"/>
                  <a:ea typeface="Arial"/>
                  <a:cs typeface="Arial"/>
                  <a:sym typeface="Arial"/>
                </a:rPr>
                <a:t>TCP</a:t>
              </a:r>
              <a:endParaRPr sz="1000" b="1" i="0" u="none" strike="noStrike" cap="non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050" b="1" i="0" u="none" strike="noStrike" cap="none">
                  <a:solidFill>
                    <a:srgbClr val="5E9934"/>
                  </a:solidFill>
                  <a:latin typeface="Arial"/>
                  <a:ea typeface="Arial"/>
                  <a:cs typeface="Arial"/>
                  <a:sym typeface="Arial"/>
                </a:rPr>
                <a:t>connection</a:t>
              </a:r>
              <a:endParaRPr sz="1000" b="1" i="0" u="none" strike="noStrike" cap="non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9"/>
            <p:cNvSpPr txBox="1"/>
            <p:nvPr/>
          </p:nvSpPr>
          <p:spPr>
            <a:xfrm>
              <a:off x="8226312" y="4163099"/>
              <a:ext cx="1110487" cy="3669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0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Request</a:t>
              </a:r>
              <a:endParaRPr sz="10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0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 obj 2</a:t>
              </a:r>
              <a:endPara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9"/>
            <p:cNvSpPr txBox="1"/>
            <p:nvPr/>
          </p:nvSpPr>
          <p:spPr>
            <a:xfrm>
              <a:off x="8291785" y="4532181"/>
              <a:ext cx="880043" cy="3669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0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Obj 2</a:t>
              </a:r>
              <a:endParaRPr sz="10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0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received</a:t>
              </a:r>
              <a:endPara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9"/>
            <p:cNvSpPr txBox="1"/>
            <p:nvPr/>
          </p:nvSpPr>
          <p:spPr>
            <a:xfrm>
              <a:off x="8049318" y="4989115"/>
              <a:ext cx="1022077" cy="360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000" b="1" i="0" u="none" strike="noStrike" cap="non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rPr>
                <a:t>TCP</a:t>
              </a:r>
              <a:endParaRPr sz="900" b="1" i="0" u="none" strike="noStrike" cap="non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000" b="1" i="0" u="none" strike="noStrike" cap="non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rPr>
                <a:t>termination</a:t>
              </a:r>
              <a:endParaRPr sz="900" b="1" i="0" u="none" strike="noStrike" cap="non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CBAA3-2386-4000-B39D-B811C23A6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FADC06-35B0-4D7F-963C-03329FAF182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06477" y="1600200"/>
                <a:ext cx="11985523" cy="46482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𝑅𝑇𝑇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𝑇𝑟𝑎𝑛𝑠𝑚𝑖𝑠𝑠𝑖𝑜𝑛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𝑇𝑖𝑚𝑒</m:t>
                    </m:r>
                  </m:oMath>
                </a14:m>
                <a:r>
                  <a:rPr lang="en-US" b="0" dirty="0"/>
                  <a:t>  -------(1)</a:t>
                </a:r>
              </a:p>
              <a:p>
                <a:pPr marL="62865" indent="0">
                  <a:buNone/>
                </a:pPr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𝑜𝑏𝑗𝑒𝑐𝑡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𝑇𝐶𝑃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𝑅𝑇𝑇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𝐻𝑇𝑇𝑃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𝑅𝑇𝑇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𝑜𝑏𝑗𝑒𝑐𝑡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𝑇𝑟𝑎𝑛𝑠𝑚𝑖𝑠𝑠𝑖𝑜𝑛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𝑆𝑝𝑒𝑒𝑑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b="0" dirty="0"/>
                  <a:t> ----(2)</a:t>
                </a:r>
              </a:p>
              <a:p>
                <a:pPr marL="62865" indent="0">
                  <a:buNone/>
                </a:pP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𝑜𝑏𝑗𝑒𝑐𝑡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𝑇𝐶𝑃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𝑅𝑇𝑇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𝐻𝑇𝑇𝑃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𝑅𝑇𝑇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𝑂𝑏𝑗𝑒𝑐𝑡𝑠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𝑂𝑏𝑗𝑒𝑐𝑡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𝑇𝑟𝑎𝑛𝑠𝑚𝑖𝑠𝑠𝑖𝑜𝑛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𝑆𝑝𝑒𝑒𝑑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  ---- (3)</a:t>
                </a:r>
              </a:p>
              <a:p>
                <a:pPr marL="62865" indent="0">
                  <a:buNone/>
                </a:pPr>
                <a:endParaRPr lang="en-US" dirty="0"/>
              </a:p>
              <a:p>
                <a:pPr marL="62865" indent="0">
                  <a:buNone/>
                </a:pPr>
                <a:r>
                  <a:rPr lang="en-US" dirty="0"/>
                  <a:t>(3) If all objects are of the same size.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FADC06-35B0-4D7F-963C-03329FAF1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6477" y="1600200"/>
                <a:ext cx="11985523" cy="4648200"/>
              </a:xfrm>
              <a:blipFill>
                <a:blip r:embed="rId2"/>
                <a:stretch>
                  <a:fillRect l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31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0"/>
          <p:cNvSpPr txBox="1">
            <a:spLocks noGrp="1"/>
          </p:cNvSpPr>
          <p:nvPr>
            <p:ph type="title"/>
          </p:nvPr>
        </p:nvSpPr>
        <p:spPr>
          <a:xfrm>
            <a:off x="1352427" y="158262"/>
            <a:ext cx="10018713" cy="83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b="1"/>
              <a:t>HTTP Transmission Calculation</a:t>
            </a:r>
            <a:endParaRPr b="1"/>
          </a:p>
        </p:txBody>
      </p:sp>
      <p:sp>
        <p:nvSpPr>
          <p:cNvPr id="639" name="Google Shape;639;p50"/>
          <p:cNvSpPr txBox="1">
            <a:spLocks noGrp="1"/>
          </p:cNvSpPr>
          <p:nvPr>
            <p:ph type="body" idx="1"/>
          </p:nvPr>
        </p:nvSpPr>
        <p:spPr>
          <a:xfrm>
            <a:off x="147484" y="993532"/>
            <a:ext cx="12044515" cy="231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17566"/>
              <a:buChar char="•"/>
            </a:pPr>
            <a:r>
              <a:rPr lang="en-US" sz="2000" dirty="0"/>
              <a:t>You wish to access the web page "www.games.com", so you write the URL in your web browser.</a:t>
            </a:r>
            <a:br>
              <a:rPr lang="en-US" sz="2000" dirty="0"/>
            </a:br>
            <a:r>
              <a:rPr lang="en-US" sz="2000" dirty="0"/>
              <a:t>The Web page associated with the link contains exactly </a:t>
            </a:r>
            <a:r>
              <a:rPr lang="en-US" sz="2000" b="1" dirty="0">
                <a:solidFill>
                  <a:srgbClr val="FF0000"/>
                </a:solidFill>
              </a:rPr>
              <a:t>10</a:t>
            </a:r>
            <a:r>
              <a:rPr lang="en-US" sz="2000" dirty="0"/>
              <a:t> </a:t>
            </a:r>
            <a:r>
              <a:rPr lang="en-US" sz="2000" b="1" dirty="0">
                <a:solidFill>
                  <a:srgbClr val="FF0000"/>
                </a:solidFill>
              </a:rPr>
              <a:t>object/s</a:t>
            </a:r>
            <a:r>
              <a:rPr lang="en-US" sz="2000" dirty="0"/>
              <a:t> in total. Each object size is </a:t>
            </a:r>
            <a:r>
              <a:rPr lang="en-US" sz="2000" b="1" dirty="0">
                <a:solidFill>
                  <a:srgbClr val="FF0000"/>
                </a:solidFill>
              </a:rPr>
              <a:t>10 MB</a:t>
            </a:r>
            <a:r>
              <a:rPr lang="en-US" sz="2000" dirty="0"/>
              <a:t>. </a:t>
            </a:r>
            <a:endParaRPr sz="2000" dirty="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17566"/>
              <a:buChar char="•"/>
            </a:pPr>
            <a:r>
              <a:rPr lang="en-US" sz="2000" dirty="0"/>
              <a:t>Let </a:t>
            </a:r>
            <a:r>
              <a:rPr lang="en-US" sz="2000" b="1" dirty="0">
                <a:solidFill>
                  <a:srgbClr val="FF0000"/>
                </a:solidFill>
              </a:rPr>
              <a:t>25 </a:t>
            </a:r>
            <a:r>
              <a:rPr lang="en-US" sz="2000" b="1" dirty="0" err="1">
                <a:solidFill>
                  <a:srgbClr val="FF0000"/>
                </a:solidFill>
              </a:rPr>
              <a:t>ms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denote the time required to send a TCP request from PC to server.</a:t>
            </a:r>
            <a:endParaRPr sz="2000" dirty="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17566"/>
              <a:buChar char="•"/>
            </a:pPr>
            <a:r>
              <a:rPr lang="en-US" sz="2000" dirty="0"/>
              <a:t>Assuming </a:t>
            </a:r>
            <a:r>
              <a:rPr lang="en-US" sz="2000" b="1" dirty="0">
                <a:solidFill>
                  <a:srgbClr val="FF0000"/>
                </a:solidFill>
              </a:rPr>
              <a:t>100 Mbps </a:t>
            </a:r>
            <a:r>
              <a:rPr lang="en-US" sz="2000" dirty="0"/>
              <a:t>the transmission speed of the web server</a:t>
            </a:r>
            <a:endParaRPr sz="2000" dirty="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ct val="117566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Non-persistent</a:t>
            </a:r>
            <a:r>
              <a:rPr lang="en-US" sz="2000" dirty="0"/>
              <a:t> HTTP is being used. </a:t>
            </a:r>
            <a:endParaRPr sz="2000" dirty="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17566"/>
              <a:buChar char="•"/>
            </a:pPr>
            <a:r>
              <a:rPr lang="en-US" sz="2000" dirty="0"/>
              <a:t>Please calculate the total time in </a:t>
            </a:r>
            <a:r>
              <a:rPr lang="en-US" sz="2000" dirty="0" err="1"/>
              <a:t>ms</a:t>
            </a:r>
            <a:r>
              <a:rPr lang="en-US" sz="2000" dirty="0"/>
              <a:t> that will take the web browser to load your page.</a:t>
            </a:r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40;p50">
            <a:extLst>
              <a:ext uri="{FF2B5EF4-FFF2-40B4-BE49-F238E27FC236}">
                <a16:creationId xmlns:a16="http://schemas.microsoft.com/office/drawing/2014/main" id="{682E3894-617D-42DB-89AC-7158B997BE9E}"/>
              </a:ext>
            </a:extLst>
          </p:cNvPr>
          <p:cNvSpPr txBox="1"/>
          <p:nvPr/>
        </p:nvSpPr>
        <p:spPr>
          <a:xfrm>
            <a:off x="235975" y="224158"/>
            <a:ext cx="12137922" cy="405287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350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646" name="Google Shape;646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647" name="Google Shape;64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832" y="0"/>
            <a:ext cx="11246335" cy="2273429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51"/>
          <p:cNvSpPr txBox="1"/>
          <p:nvPr/>
        </p:nvSpPr>
        <p:spPr>
          <a:xfrm>
            <a:off x="619432" y="2905432"/>
            <a:ext cx="8557151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RTT=(TCP RTT+HTTP RTT)* No. of Objects=(35+30)*35=2275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transmission time=Total size/server speed 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= No. of objects*size of each object/Server speed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=35*4*8/64=17.5 sec=17500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time=Total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RTT+Total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transmission time=2275+17500=19775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FCCE-C7CC-4695-8944-0AF764C3E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Analysis of Previous Semesters' Questions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DDFE3-01A1-4E41-AB63-E1FED5BE5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Full Marks: 45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795E0B-8F06-4C42-8382-31E0F8DAC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32280"/>
            <a:ext cx="12192000" cy="333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73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2"/>
          <p:cNvSpPr txBox="1">
            <a:spLocks noGrp="1"/>
          </p:cNvSpPr>
          <p:nvPr>
            <p:ph type="title"/>
          </p:nvPr>
        </p:nvSpPr>
        <p:spPr>
          <a:xfrm>
            <a:off x="1976438" y="173038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Persistent HTTP</a:t>
            </a:r>
            <a:endParaRPr b="1"/>
          </a:p>
        </p:txBody>
      </p:sp>
      <p:sp>
        <p:nvSpPr>
          <p:cNvPr id="655" name="Google Shape;655;p52"/>
          <p:cNvSpPr txBox="1">
            <a:spLocks noGrp="1"/>
          </p:cNvSpPr>
          <p:nvPr>
            <p:ph type="body" idx="1"/>
          </p:nvPr>
        </p:nvSpPr>
        <p:spPr>
          <a:xfrm>
            <a:off x="8046712" y="1011238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480"/>
              <a:buFont typeface="Noto Sans Symbols"/>
              <a:buNone/>
            </a:pPr>
            <a:r>
              <a:rPr lang="en-US" sz="2400" b="1" i="1">
                <a:solidFill>
                  <a:srgbClr val="CC0000"/>
                </a:solidFill>
              </a:rPr>
              <a:t>Persistent  HTTP: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Arial"/>
              <a:buChar char="•"/>
            </a:pPr>
            <a:r>
              <a:rPr lang="en-US" sz="2200"/>
              <a:t>Server leaves connection open after sending response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Arial"/>
              <a:buChar char="•"/>
            </a:pPr>
            <a:r>
              <a:rPr lang="en-US" sz="2200"/>
              <a:t>Subsequent HTTP messages  between same client/server sent over open connection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Arial"/>
              <a:buChar char="•"/>
            </a:pPr>
            <a:r>
              <a:rPr lang="en-US" sz="2200"/>
              <a:t>Client sends requests as soon as it encounters a referenced object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Arial"/>
              <a:buChar char="•"/>
            </a:pPr>
            <a:r>
              <a:rPr lang="en-US" sz="2200"/>
              <a:t>As little as one RTT for each of the referenced objects</a:t>
            </a:r>
            <a:endParaRPr/>
          </a:p>
        </p:txBody>
      </p:sp>
      <p:grpSp>
        <p:nvGrpSpPr>
          <p:cNvPr id="656" name="Google Shape;656;p52"/>
          <p:cNvGrpSpPr/>
          <p:nvPr/>
        </p:nvGrpSpPr>
        <p:grpSpPr>
          <a:xfrm>
            <a:off x="3399206" y="1011238"/>
            <a:ext cx="4135028" cy="5846762"/>
            <a:chOff x="4233117" y="1138047"/>
            <a:chExt cx="3689091" cy="5719953"/>
          </a:xfrm>
        </p:grpSpPr>
        <p:pic>
          <p:nvPicPr>
            <p:cNvPr id="657" name="Google Shape;657;p5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33117" y="1138047"/>
              <a:ext cx="3689091" cy="57199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52"/>
            <p:cNvSpPr txBox="1"/>
            <p:nvPr/>
          </p:nvSpPr>
          <p:spPr>
            <a:xfrm>
              <a:off x="5696984" y="3369862"/>
              <a:ext cx="2006214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600" b="1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sz="1600" b="1" i="0" u="none" strike="noStrike" cap="none" baseline="300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lang="en-US" sz="1600" b="1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object</a:t>
              </a:r>
              <a:endParaRPr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2"/>
            <p:cNvSpPr txBox="1"/>
            <p:nvPr/>
          </p:nvSpPr>
          <p:spPr>
            <a:xfrm>
              <a:off x="5849384" y="4381458"/>
              <a:ext cx="2006214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600" b="1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lang="en-US" sz="1600" b="1" i="0" u="none" strike="noStrike" cap="none" baseline="300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r>
                <a:rPr lang="en-US" sz="1600" b="1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object</a:t>
              </a:r>
              <a:endParaRPr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3"/>
          <p:cNvSpPr txBox="1">
            <a:spLocks noGrp="1"/>
          </p:cNvSpPr>
          <p:nvPr>
            <p:ph type="title"/>
          </p:nvPr>
        </p:nvSpPr>
        <p:spPr>
          <a:xfrm>
            <a:off x="1766887" y="1"/>
            <a:ext cx="9390639" cy="92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 b="1"/>
              <a:t>Non-persistent HTTP vs Persistent HTTP</a:t>
            </a:r>
            <a:endParaRPr/>
          </a:p>
        </p:txBody>
      </p:sp>
      <p:grpSp>
        <p:nvGrpSpPr>
          <p:cNvPr id="666" name="Google Shape;666;p53"/>
          <p:cNvGrpSpPr/>
          <p:nvPr/>
        </p:nvGrpSpPr>
        <p:grpSpPr>
          <a:xfrm>
            <a:off x="2077038" y="1103977"/>
            <a:ext cx="2930133" cy="5450653"/>
            <a:chOff x="2077038" y="1103977"/>
            <a:chExt cx="2930133" cy="5450653"/>
          </a:xfrm>
        </p:grpSpPr>
        <p:grpSp>
          <p:nvGrpSpPr>
            <p:cNvPr id="667" name="Google Shape;667;p53"/>
            <p:cNvGrpSpPr/>
            <p:nvPr/>
          </p:nvGrpSpPr>
          <p:grpSpPr>
            <a:xfrm>
              <a:off x="2077038" y="1159814"/>
              <a:ext cx="2930133" cy="5394816"/>
              <a:chOff x="7942129" y="1215232"/>
              <a:chExt cx="2930133" cy="5394816"/>
            </a:xfrm>
          </p:grpSpPr>
          <p:grpSp>
            <p:nvGrpSpPr>
              <p:cNvPr id="668" name="Google Shape;668;p53"/>
              <p:cNvGrpSpPr/>
              <p:nvPr/>
            </p:nvGrpSpPr>
            <p:grpSpPr>
              <a:xfrm>
                <a:off x="7942129" y="1215232"/>
                <a:ext cx="2930133" cy="5394816"/>
                <a:chOff x="7904957" y="1168152"/>
                <a:chExt cx="2727232" cy="5394816"/>
              </a:xfrm>
            </p:grpSpPr>
            <p:cxnSp>
              <p:nvCxnSpPr>
                <p:cNvPr id="669" name="Google Shape;669;p53"/>
                <p:cNvCxnSpPr/>
                <p:nvPr/>
              </p:nvCxnSpPr>
              <p:spPr>
                <a:xfrm flipH="1">
                  <a:off x="8958418" y="2740138"/>
                  <a:ext cx="1209870" cy="220831"/>
                </a:xfrm>
                <a:prstGeom prst="straightConnector1">
                  <a:avLst/>
                </a:prstGeom>
                <a:noFill/>
                <a:ln w="762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grpSp>
              <p:nvGrpSpPr>
                <p:cNvPr id="670" name="Google Shape;670;p53"/>
                <p:cNvGrpSpPr/>
                <p:nvPr/>
              </p:nvGrpSpPr>
              <p:grpSpPr>
                <a:xfrm>
                  <a:off x="7904957" y="1168152"/>
                  <a:ext cx="2727232" cy="5394816"/>
                  <a:chOff x="6568315" y="1130419"/>
                  <a:chExt cx="3722386" cy="7100906"/>
                </a:xfrm>
              </p:grpSpPr>
              <p:sp>
                <p:nvSpPr>
                  <p:cNvPr id="671" name="Google Shape;671;p53"/>
                  <p:cNvSpPr txBox="1"/>
                  <p:nvPr/>
                </p:nvSpPr>
                <p:spPr>
                  <a:xfrm>
                    <a:off x="7701409" y="7903239"/>
                    <a:ext cx="940876" cy="3280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2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time</a:t>
                    </a:r>
                    <a:endParaRPr sz="1100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2" name="Google Shape;672;p53"/>
                  <p:cNvSpPr txBox="1"/>
                  <p:nvPr/>
                </p:nvSpPr>
                <p:spPr>
                  <a:xfrm>
                    <a:off x="9296129" y="7856779"/>
                    <a:ext cx="994572" cy="36454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2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time</a:t>
                    </a:r>
                    <a:endParaRPr sz="1100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73" name="Google Shape;673;p53"/>
                  <p:cNvGrpSpPr/>
                  <p:nvPr/>
                </p:nvGrpSpPr>
                <p:grpSpPr>
                  <a:xfrm>
                    <a:off x="6568315" y="1130419"/>
                    <a:ext cx="3140600" cy="6389003"/>
                    <a:chOff x="6568315" y="1130419"/>
                    <a:chExt cx="3140600" cy="6389003"/>
                  </a:xfrm>
                </p:grpSpPr>
                <p:cxnSp>
                  <p:nvCxnSpPr>
                    <p:cNvPr id="674" name="Google Shape;674;p53"/>
                    <p:cNvCxnSpPr>
                      <a:stCxn id="675" idx="2"/>
                    </p:cNvCxnSpPr>
                    <p:nvPr/>
                  </p:nvCxnSpPr>
                  <p:spPr>
                    <a:xfrm>
                      <a:off x="7940066" y="1840032"/>
                      <a:ext cx="37800" cy="56793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FF0000"/>
                      </a:solidFill>
                      <a:prstDash val="dot"/>
                      <a:round/>
                      <a:headEnd type="none" w="sm" len="sm"/>
                      <a:tailEnd type="triangle" w="med" len="med"/>
                    </a:ln>
                  </p:spPr>
                </p:cxnSp>
                <p:cxnSp>
                  <p:nvCxnSpPr>
                    <p:cNvPr id="676" name="Google Shape;676;p53"/>
                    <p:cNvCxnSpPr/>
                    <p:nvPr/>
                  </p:nvCxnSpPr>
                  <p:spPr>
                    <a:xfrm>
                      <a:off x="9657528" y="1879786"/>
                      <a:ext cx="51387" cy="5639636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FF0000"/>
                      </a:solidFill>
                      <a:prstDash val="dot"/>
                      <a:round/>
                      <a:headEnd type="none" w="sm" len="sm"/>
                      <a:tailEnd type="triangle" w="med" len="med"/>
                    </a:ln>
                  </p:spPr>
                </p:cxnSp>
                <p:cxnSp>
                  <p:nvCxnSpPr>
                    <p:cNvPr id="677" name="Google Shape;677;p53"/>
                    <p:cNvCxnSpPr/>
                    <p:nvPr/>
                  </p:nvCxnSpPr>
                  <p:spPr>
                    <a:xfrm>
                      <a:off x="7954790" y="2104407"/>
                      <a:ext cx="1702736" cy="205405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rgbClr val="5E9934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cxnSp>
                  <p:nvCxnSpPr>
                    <p:cNvPr id="678" name="Google Shape;678;p53"/>
                    <p:cNvCxnSpPr/>
                    <p:nvPr/>
                  </p:nvCxnSpPr>
                  <p:spPr>
                    <a:xfrm flipH="1">
                      <a:off x="7954792" y="2427855"/>
                      <a:ext cx="1702734" cy="339534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rgbClr val="5E9934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cxnSp>
                  <p:nvCxnSpPr>
                    <p:cNvPr id="679" name="Google Shape;679;p53"/>
                    <p:cNvCxnSpPr/>
                    <p:nvPr/>
                  </p:nvCxnSpPr>
                  <p:spPr>
                    <a:xfrm>
                      <a:off x="7977911" y="2840818"/>
                      <a:ext cx="1679616" cy="287631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680" name="Google Shape;680;p53"/>
                    <p:cNvSpPr txBox="1"/>
                    <p:nvPr/>
                  </p:nvSpPr>
                  <p:spPr>
                    <a:xfrm>
                      <a:off x="6568315" y="1842332"/>
                      <a:ext cx="1672639" cy="50025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 sz="1000" b="1" i="0" u="none" strike="noStrike" cap="non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connection</a:t>
                      </a:r>
                      <a:endParaRPr sz="1000" b="1" i="0" u="none" strike="noStrike" cap="non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81" name="Google Shape;681;p53"/>
                    <p:cNvSpPr txBox="1"/>
                    <p:nvPr/>
                  </p:nvSpPr>
                  <p:spPr>
                    <a:xfrm>
                      <a:off x="7112409" y="2291890"/>
                      <a:ext cx="835017" cy="3108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8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RTT</a:t>
                      </a:r>
                      <a:endParaRPr sz="1050" b="1" i="0" u="none" strike="noStrike" cap="none">
                        <a:solidFill>
                          <a:srgbClr val="008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82" name="Google Shape;682;p53"/>
                    <p:cNvSpPr txBox="1"/>
                    <p:nvPr/>
                  </p:nvSpPr>
                  <p:spPr>
                    <a:xfrm>
                      <a:off x="6913007" y="2663858"/>
                      <a:ext cx="1515699" cy="483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</a:t>
                      </a:r>
                      <a:endParaRPr sz="105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obj 1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83" name="Google Shape;683;p53"/>
                    <p:cNvSpPr txBox="1"/>
                    <p:nvPr/>
                  </p:nvSpPr>
                  <p:spPr>
                    <a:xfrm>
                      <a:off x="6929334" y="3413131"/>
                      <a:ext cx="1201166" cy="483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 1</a:t>
                      </a:r>
                      <a:endParaRPr sz="105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received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84" name="Google Shape;684;p53"/>
                    <p:cNvGrpSpPr/>
                    <p:nvPr/>
                  </p:nvGrpSpPr>
                  <p:grpSpPr>
                    <a:xfrm>
                      <a:off x="7590816" y="1130419"/>
                      <a:ext cx="698500" cy="709613"/>
                      <a:chOff x="-44" y="1473"/>
                      <a:chExt cx="981" cy="1105"/>
                    </a:xfrm>
                  </p:grpSpPr>
                  <p:pic>
                    <p:nvPicPr>
                      <p:cNvPr id="675" name="Google Shape;675;p53" descr="desktop_computer_stylized_medium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 flipH="1">
                        <a:off x="-44" y="1473"/>
                        <a:ext cx="981" cy="1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sp>
                    <p:nvSpPr>
                      <p:cNvPr id="685" name="Google Shape;685;p53"/>
                      <p:cNvSpPr/>
                      <p:nvPr/>
                    </p:nvSpPr>
                    <p:spPr>
                      <a:xfrm flipH="1">
                        <a:off x="374" y="1579"/>
                        <a:ext cx="477" cy="5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6" h="368" extrusionOk="0">
                            <a:moveTo>
                              <a:pt x="0" y="0"/>
                            </a:moveTo>
                            <a:lnTo>
                              <a:pt x="300" y="14"/>
                            </a:lnTo>
                            <a:lnTo>
                              <a:pt x="356" y="294"/>
                            </a:lnTo>
                            <a:lnTo>
                              <a:pt x="78" y="36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000099"/>
                          </a:gs>
                          <a:gs pos="100000">
                            <a:schemeClr val="lt1"/>
                          </a:gs>
                        </a:gsLst>
                        <a:lin ang="27000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t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800"/>
                          <a:buFont typeface="Arial"/>
                          <a:buNone/>
                        </a:pPr>
                        <a:endParaRPr sz="1800" b="0" i="0" u="none" strike="noStrike" cap="none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endParaRPr>
                      </a:p>
                    </p:txBody>
                  </p:sp>
                </p:grpSp>
                <p:cxnSp>
                  <p:nvCxnSpPr>
                    <p:cNvPr id="686" name="Google Shape;686;p53"/>
                    <p:cNvCxnSpPr/>
                    <p:nvPr/>
                  </p:nvCxnSpPr>
                  <p:spPr>
                    <a:xfrm>
                      <a:off x="7941370" y="3676311"/>
                      <a:ext cx="1732211" cy="266413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rgbClr val="AE2663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cxnSp>
                  <p:nvCxnSpPr>
                    <p:cNvPr id="687" name="Google Shape;687;p53"/>
                    <p:cNvCxnSpPr/>
                    <p:nvPr/>
                  </p:nvCxnSpPr>
                  <p:spPr>
                    <a:xfrm flipH="1">
                      <a:off x="7997833" y="4046897"/>
                      <a:ext cx="1631427" cy="285902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rgbClr val="AE2663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688" name="Google Shape;688;p53"/>
                    <p:cNvSpPr txBox="1"/>
                    <p:nvPr/>
                  </p:nvSpPr>
                  <p:spPr>
                    <a:xfrm>
                      <a:off x="6663356" y="3871005"/>
                      <a:ext cx="1395028" cy="4744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AE26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 sz="900" b="1" i="0" u="none" strike="noStrike" cap="none">
                        <a:solidFill>
                          <a:srgbClr val="AE266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AE26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termination</a:t>
                      </a:r>
                      <a:endParaRPr sz="900" b="1" i="0" u="none" strike="noStrike" cap="none">
                        <a:solidFill>
                          <a:srgbClr val="AE266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cxnSp>
            <p:nvCxnSpPr>
              <p:cNvPr id="689" name="Google Shape;689;p53"/>
              <p:cNvCxnSpPr/>
              <p:nvPr/>
            </p:nvCxnSpPr>
            <p:spPr>
              <a:xfrm>
                <a:off x="9031741" y="3722158"/>
                <a:ext cx="1362335" cy="22445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E9934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690" name="Google Shape;690;p53"/>
              <p:cNvCxnSpPr/>
              <p:nvPr/>
            </p:nvCxnSpPr>
            <p:spPr>
              <a:xfrm flipH="1">
                <a:off x="9049503" y="4055300"/>
                <a:ext cx="1324347" cy="99331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E9934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691" name="Google Shape;691;p53"/>
              <p:cNvCxnSpPr/>
              <p:nvPr/>
            </p:nvCxnSpPr>
            <p:spPr>
              <a:xfrm flipH="1">
                <a:off x="9035834" y="4580485"/>
                <a:ext cx="1358242" cy="125056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2" name="Google Shape;692;p53"/>
              <p:cNvCxnSpPr/>
              <p:nvPr/>
            </p:nvCxnSpPr>
            <p:spPr>
              <a:xfrm>
                <a:off x="9049503" y="4253778"/>
                <a:ext cx="1364798" cy="229697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693" name="Google Shape;693;p53"/>
              <p:cNvCxnSpPr/>
              <p:nvPr/>
            </p:nvCxnSpPr>
            <p:spPr>
              <a:xfrm>
                <a:off x="9056049" y="4832241"/>
                <a:ext cx="1358252" cy="246212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E2663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694" name="Google Shape;694;p53"/>
              <p:cNvCxnSpPr/>
              <p:nvPr/>
            </p:nvCxnSpPr>
            <p:spPr>
              <a:xfrm flipH="1">
                <a:off x="9056049" y="5165862"/>
                <a:ext cx="1358252" cy="286741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E2663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695" name="Google Shape;695;p53"/>
              <p:cNvSpPr txBox="1"/>
              <p:nvPr/>
            </p:nvSpPr>
            <p:spPr>
              <a:xfrm>
                <a:off x="7999673" y="3790203"/>
                <a:ext cx="1225471" cy="380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50" b="1" i="0" u="none" strike="noStrike" cap="none">
                    <a:solidFill>
                      <a:srgbClr val="5E9934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 sz="1000" b="1" i="0" u="none" strike="noStrike" cap="none">
                  <a:solidFill>
                    <a:srgbClr val="5E99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50" b="1" i="0" u="none" strike="noStrike" cap="none">
                    <a:solidFill>
                      <a:srgbClr val="5E9934"/>
                    </a:solidFill>
                    <a:latin typeface="Arial"/>
                    <a:ea typeface="Arial"/>
                    <a:cs typeface="Arial"/>
                    <a:sym typeface="Arial"/>
                  </a:rPr>
                  <a:t>connection</a:t>
                </a:r>
                <a:endParaRPr sz="1000" b="1" i="0" u="none" strike="noStrike" cap="none">
                  <a:solidFill>
                    <a:srgbClr val="5E99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53"/>
              <p:cNvSpPr txBox="1"/>
              <p:nvPr/>
            </p:nvSpPr>
            <p:spPr>
              <a:xfrm>
                <a:off x="8226312" y="4163099"/>
                <a:ext cx="1110487" cy="366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5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Request</a:t>
                </a:r>
                <a:endParaRPr sz="10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5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For obj 2</a:t>
                </a:r>
                <a:endParaRPr sz="1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53"/>
              <p:cNvSpPr txBox="1"/>
              <p:nvPr/>
            </p:nvSpPr>
            <p:spPr>
              <a:xfrm>
                <a:off x="8291785" y="4532181"/>
                <a:ext cx="880043" cy="366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5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Obj 2</a:t>
                </a:r>
                <a:endParaRPr sz="10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5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received</a:t>
                </a:r>
                <a:endParaRPr sz="1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53"/>
              <p:cNvSpPr txBox="1"/>
              <p:nvPr/>
            </p:nvSpPr>
            <p:spPr>
              <a:xfrm>
                <a:off x="8049318" y="4989115"/>
                <a:ext cx="1022077" cy="360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00" b="1" i="0" u="none" strike="noStrike" cap="none">
                    <a:solidFill>
                      <a:srgbClr val="AE2663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 sz="900" b="1" i="0" u="none" strike="noStrike" cap="non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00" b="1" i="0" u="none" strike="noStrike" cap="none">
                    <a:solidFill>
                      <a:srgbClr val="AE2663"/>
                    </a:solidFill>
                    <a:latin typeface="Arial"/>
                    <a:ea typeface="Arial"/>
                    <a:cs typeface="Arial"/>
                    <a:sym typeface="Arial"/>
                  </a:rPr>
                  <a:t>termination</a:t>
                </a:r>
                <a:endParaRPr sz="900" b="1" i="0" u="none" strike="noStrike" cap="non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9" name="Google Shape;699;p53"/>
            <p:cNvGrpSpPr/>
            <p:nvPr/>
          </p:nvGrpSpPr>
          <p:grpSpPr>
            <a:xfrm>
              <a:off x="4345707" y="1103977"/>
              <a:ext cx="351375" cy="639389"/>
              <a:chOff x="4140" y="429"/>
              <a:chExt cx="1425" cy="2396"/>
            </a:xfrm>
          </p:grpSpPr>
          <p:sp>
            <p:nvSpPr>
              <p:cNvPr id="700" name="Google Shape;700;p5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01" name="Google Shape;701;p53"/>
              <p:cNvSpPr/>
              <p:nvPr/>
            </p:nvSpPr>
            <p:spPr>
              <a:xfrm>
                <a:off x="4204" y="429"/>
                <a:ext cx="1051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5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03" name="Google Shape;703;p5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04" name="Google Shape;704;p53"/>
              <p:cNvSpPr/>
              <p:nvPr/>
            </p:nvSpPr>
            <p:spPr>
              <a:xfrm>
                <a:off x="4209" y="690"/>
                <a:ext cx="598" cy="5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5" name="Google Shape;705;p53"/>
              <p:cNvGrpSpPr/>
              <p:nvPr/>
            </p:nvGrpSpPr>
            <p:grpSpPr>
              <a:xfrm>
                <a:off x="4748" y="668"/>
                <a:ext cx="582" cy="145"/>
                <a:chOff x="613" y="2568"/>
                <a:chExt cx="726" cy="139"/>
              </a:xfrm>
            </p:grpSpPr>
            <p:sp>
              <p:nvSpPr>
                <p:cNvPr id="706" name="Google Shape;706;p53"/>
                <p:cNvSpPr/>
                <p:nvPr/>
              </p:nvSpPr>
              <p:spPr>
                <a:xfrm>
                  <a:off x="613" y="2568"/>
                  <a:ext cx="726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7" name="Google Shape;707;p53"/>
                <p:cNvSpPr/>
                <p:nvPr/>
              </p:nvSpPr>
              <p:spPr>
                <a:xfrm>
                  <a:off x="627" y="2584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8" name="Google Shape;708;p53"/>
              <p:cNvSpPr/>
              <p:nvPr/>
            </p:nvSpPr>
            <p:spPr>
              <a:xfrm>
                <a:off x="4225" y="1018"/>
                <a:ext cx="592" cy="5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9" name="Google Shape;709;p53"/>
              <p:cNvGrpSpPr/>
              <p:nvPr/>
            </p:nvGrpSpPr>
            <p:grpSpPr>
              <a:xfrm>
                <a:off x="4749" y="996"/>
                <a:ext cx="582" cy="133"/>
                <a:chOff x="616" y="2570"/>
                <a:chExt cx="726" cy="138"/>
              </a:xfrm>
            </p:grpSpPr>
            <p:sp>
              <p:nvSpPr>
                <p:cNvPr id="710" name="Google Shape;710;p53"/>
                <p:cNvSpPr/>
                <p:nvPr/>
              </p:nvSpPr>
              <p:spPr>
                <a:xfrm>
                  <a:off x="616" y="2570"/>
                  <a:ext cx="726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1" name="Google Shape;711;p53"/>
                <p:cNvSpPr/>
                <p:nvPr/>
              </p:nvSpPr>
              <p:spPr>
                <a:xfrm>
                  <a:off x="629" y="2587"/>
                  <a:ext cx="693" cy="104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12" name="Google Shape;712;p53"/>
              <p:cNvSpPr/>
              <p:nvPr/>
            </p:nvSpPr>
            <p:spPr>
              <a:xfrm>
                <a:off x="4215" y="1357"/>
                <a:ext cx="598" cy="44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53"/>
              <p:cNvSpPr/>
              <p:nvPr/>
            </p:nvSpPr>
            <p:spPr>
              <a:xfrm>
                <a:off x="4225" y="1658"/>
                <a:ext cx="598" cy="44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14" name="Google Shape;714;p53"/>
              <p:cNvGrpSpPr/>
              <p:nvPr/>
            </p:nvGrpSpPr>
            <p:grpSpPr>
              <a:xfrm>
                <a:off x="4733" y="1641"/>
                <a:ext cx="587" cy="139"/>
                <a:chOff x="611" y="2581"/>
                <a:chExt cx="731" cy="128"/>
              </a:xfrm>
            </p:grpSpPr>
            <p:sp>
              <p:nvSpPr>
                <p:cNvPr id="715" name="Google Shape;715;p53"/>
                <p:cNvSpPr/>
                <p:nvPr/>
              </p:nvSpPr>
              <p:spPr>
                <a:xfrm>
                  <a:off x="611" y="2581"/>
                  <a:ext cx="731" cy="1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6" name="Google Shape;716;p53"/>
                <p:cNvSpPr/>
                <p:nvPr/>
              </p:nvSpPr>
              <p:spPr>
                <a:xfrm>
                  <a:off x="624" y="2586"/>
                  <a:ext cx="698" cy="10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17" name="Google Shape;717;p5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grpSp>
            <p:nvGrpSpPr>
              <p:cNvPr id="718" name="Google Shape;718;p53"/>
              <p:cNvGrpSpPr/>
              <p:nvPr/>
            </p:nvGrpSpPr>
            <p:grpSpPr>
              <a:xfrm>
                <a:off x="4737" y="1335"/>
                <a:ext cx="582" cy="139"/>
                <a:chOff x="612" y="2576"/>
                <a:chExt cx="725" cy="139"/>
              </a:xfrm>
            </p:grpSpPr>
            <p:sp>
              <p:nvSpPr>
                <p:cNvPr id="719" name="Google Shape;719;p53"/>
                <p:cNvSpPr/>
                <p:nvPr/>
              </p:nvSpPr>
              <p:spPr>
                <a:xfrm>
                  <a:off x="612" y="2576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0" name="Google Shape;720;p53"/>
                <p:cNvSpPr/>
                <p:nvPr/>
              </p:nvSpPr>
              <p:spPr>
                <a:xfrm>
                  <a:off x="626" y="2587"/>
                  <a:ext cx="691" cy="106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21" name="Google Shape;721;p53"/>
              <p:cNvSpPr/>
              <p:nvPr/>
            </p:nvSpPr>
            <p:spPr>
              <a:xfrm>
                <a:off x="5250" y="429"/>
                <a:ext cx="69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5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23" name="Google Shape;723;p53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24" name="Google Shape;724;p53"/>
              <p:cNvSpPr/>
              <p:nvPr/>
            </p:nvSpPr>
            <p:spPr>
              <a:xfrm>
                <a:off x="5517" y="2614"/>
                <a:ext cx="48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5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26" name="Google Shape;726;p53"/>
              <p:cNvSpPr/>
              <p:nvPr/>
            </p:nvSpPr>
            <p:spPr>
              <a:xfrm>
                <a:off x="4140" y="2680"/>
                <a:ext cx="1201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53"/>
              <p:cNvSpPr/>
              <p:nvPr/>
            </p:nvSpPr>
            <p:spPr>
              <a:xfrm>
                <a:off x="4204" y="2708"/>
                <a:ext cx="1073" cy="8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53"/>
              <p:cNvSpPr/>
              <p:nvPr/>
            </p:nvSpPr>
            <p:spPr>
              <a:xfrm>
                <a:off x="4305" y="2380"/>
                <a:ext cx="160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53"/>
              <p:cNvSpPr/>
              <p:nvPr/>
            </p:nvSpPr>
            <p:spPr>
              <a:xfrm>
                <a:off x="4487" y="2386"/>
                <a:ext cx="160" cy="13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53"/>
              <p:cNvSpPr/>
              <p:nvPr/>
            </p:nvSpPr>
            <p:spPr>
              <a:xfrm>
                <a:off x="4663" y="2380"/>
                <a:ext cx="155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53"/>
              <p:cNvSpPr/>
              <p:nvPr/>
            </p:nvSpPr>
            <p:spPr>
              <a:xfrm>
                <a:off x="5063" y="1835"/>
                <a:ext cx="85" cy="762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32" name="Google Shape;732;p53"/>
          <p:cNvGrpSpPr/>
          <p:nvPr/>
        </p:nvGrpSpPr>
        <p:grpSpPr>
          <a:xfrm>
            <a:off x="6838383" y="1145154"/>
            <a:ext cx="2930133" cy="5423707"/>
            <a:chOff x="6838383" y="1145154"/>
            <a:chExt cx="2930133" cy="5423707"/>
          </a:xfrm>
        </p:grpSpPr>
        <p:grpSp>
          <p:nvGrpSpPr>
            <p:cNvPr id="733" name="Google Shape;733;p53"/>
            <p:cNvGrpSpPr/>
            <p:nvPr/>
          </p:nvGrpSpPr>
          <p:grpSpPr>
            <a:xfrm>
              <a:off x="6838383" y="1174045"/>
              <a:ext cx="2930133" cy="5394816"/>
              <a:chOff x="7942129" y="1215232"/>
              <a:chExt cx="2930133" cy="5394816"/>
            </a:xfrm>
          </p:grpSpPr>
          <p:grpSp>
            <p:nvGrpSpPr>
              <p:cNvPr id="734" name="Google Shape;734;p53"/>
              <p:cNvGrpSpPr/>
              <p:nvPr/>
            </p:nvGrpSpPr>
            <p:grpSpPr>
              <a:xfrm>
                <a:off x="7942129" y="1215232"/>
                <a:ext cx="2930133" cy="5394816"/>
                <a:chOff x="7904957" y="1168152"/>
                <a:chExt cx="2727232" cy="5394816"/>
              </a:xfrm>
            </p:grpSpPr>
            <p:cxnSp>
              <p:nvCxnSpPr>
                <p:cNvPr id="735" name="Google Shape;735;p53"/>
                <p:cNvCxnSpPr/>
                <p:nvPr/>
              </p:nvCxnSpPr>
              <p:spPr>
                <a:xfrm flipH="1">
                  <a:off x="8909979" y="2740138"/>
                  <a:ext cx="1258309" cy="301210"/>
                </a:xfrm>
                <a:prstGeom prst="straightConnector1">
                  <a:avLst/>
                </a:prstGeom>
                <a:noFill/>
                <a:ln w="762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grpSp>
              <p:nvGrpSpPr>
                <p:cNvPr id="736" name="Google Shape;736;p53"/>
                <p:cNvGrpSpPr/>
                <p:nvPr/>
              </p:nvGrpSpPr>
              <p:grpSpPr>
                <a:xfrm>
                  <a:off x="7904957" y="1168152"/>
                  <a:ext cx="2727232" cy="5394816"/>
                  <a:chOff x="6568315" y="1130419"/>
                  <a:chExt cx="3722386" cy="7100906"/>
                </a:xfrm>
              </p:grpSpPr>
              <p:sp>
                <p:nvSpPr>
                  <p:cNvPr id="737" name="Google Shape;737;p53"/>
                  <p:cNvSpPr txBox="1"/>
                  <p:nvPr/>
                </p:nvSpPr>
                <p:spPr>
                  <a:xfrm>
                    <a:off x="7701409" y="7903239"/>
                    <a:ext cx="940876" cy="3280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2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time</a:t>
                    </a:r>
                    <a:endParaRPr sz="1100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8" name="Google Shape;738;p53"/>
                  <p:cNvSpPr txBox="1"/>
                  <p:nvPr/>
                </p:nvSpPr>
                <p:spPr>
                  <a:xfrm>
                    <a:off x="9296129" y="7856779"/>
                    <a:ext cx="994572" cy="36454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lang="en-US" sz="12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time</a:t>
                    </a:r>
                    <a:endParaRPr sz="1100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39" name="Google Shape;739;p53"/>
                  <p:cNvGrpSpPr/>
                  <p:nvPr/>
                </p:nvGrpSpPr>
                <p:grpSpPr>
                  <a:xfrm>
                    <a:off x="6568315" y="1130419"/>
                    <a:ext cx="3140600" cy="6389003"/>
                    <a:chOff x="6568315" y="1130419"/>
                    <a:chExt cx="3140600" cy="6389003"/>
                  </a:xfrm>
                </p:grpSpPr>
                <p:cxnSp>
                  <p:nvCxnSpPr>
                    <p:cNvPr id="740" name="Google Shape;740;p53"/>
                    <p:cNvCxnSpPr>
                      <a:stCxn id="741" idx="2"/>
                    </p:cNvCxnSpPr>
                    <p:nvPr/>
                  </p:nvCxnSpPr>
                  <p:spPr>
                    <a:xfrm>
                      <a:off x="7940066" y="1840032"/>
                      <a:ext cx="37800" cy="56793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FF0000"/>
                      </a:solidFill>
                      <a:prstDash val="dot"/>
                      <a:round/>
                      <a:headEnd type="none" w="sm" len="sm"/>
                      <a:tailEnd type="triangle" w="med" len="med"/>
                    </a:ln>
                  </p:spPr>
                </p:cxnSp>
                <p:cxnSp>
                  <p:nvCxnSpPr>
                    <p:cNvPr id="742" name="Google Shape;742;p53"/>
                    <p:cNvCxnSpPr/>
                    <p:nvPr/>
                  </p:nvCxnSpPr>
                  <p:spPr>
                    <a:xfrm>
                      <a:off x="9657528" y="1879786"/>
                      <a:ext cx="51387" cy="5639636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FF0000"/>
                      </a:solidFill>
                      <a:prstDash val="dot"/>
                      <a:round/>
                      <a:headEnd type="none" w="sm" len="sm"/>
                      <a:tailEnd type="triangle" w="med" len="med"/>
                    </a:ln>
                  </p:spPr>
                </p:cxnSp>
                <p:cxnSp>
                  <p:nvCxnSpPr>
                    <p:cNvPr id="743" name="Google Shape;743;p53"/>
                    <p:cNvCxnSpPr/>
                    <p:nvPr/>
                  </p:nvCxnSpPr>
                  <p:spPr>
                    <a:xfrm>
                      <a:off x="7954790" y="2104407"/>
                      <a:ext cx="1702736" cy="205405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rgbClr val="5E9934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cxnSp>
                  <p:nvCxnSpPr>
                    <p:cNvPr id="744" name="Google Shape;744;p53"/>
                    <p:cNvCxnSpPr/>
                    <p:nvPr/>
                  </p:nvCxnSpPr>
                  <p:spPr>
                    <a:xfrm flipH="1">
                      <a:off x="7954792" y="2427855"/>
                      <a:ext cx="1702734" cy="339534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rgbClr val="5E9934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cxnSp>
                  <p:nvCxnSpPr>
                    <p:cNvPr id="745" name="Google Shape;745;p53"/>
                    <p:cNvCxnSpPr/>
                    <p:nvPr/>
                  </p:nvCxnSpPr>
                  <p:spPr>
                    <a:xfrm>
                      <a:off x="7977911" y="2840818"/>
                      <a:ext cx="1679616" cy="287631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746" name="Google Shape;746;p53"/>
                    <p:cNvSpPr txBox="1"/>
                    <p:nvPr/>
                  </p:nvSpPr>
                  <p:spPr>
                    <a:xfrm>
                      <a:off x="6568315" y="1842332"/>
                      <a:ext cx="1672639" cy="50025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 sz="1000" b="1" i="0" u="none" strike="noStrike" cap="non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connection</a:t>
                      </a:r>
                      <a:endParaRPr sz="1000" b="1" i="0" u="none" strike="noStrike" cap="non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47" name="Google Shape;747;p53"/>
                    <p:cNvSpPr txBox="1"/>
                    <p:nvPr/>
                  </p:nvSpPr>
                  <p:spPr>
                    <a:xfrm>
                      <a:off x="7112409" y="2291890"/>
                      <a:ext cx="835017" cy="3108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8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RTT</a:t>
                      </a:r>
                      <a:endParaRPr sz="1050" b="1" i="0" u="none" strike="noStrike" cap="none">
                        <a:solidFill>
                          <a:srgbClr val="008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48" name="Google Shape;748;p53"/>
                    <p:cNvSpPr txBox="1"/>
                    <p:nvPr/>
                  </p:nvSpPr>
                  <p:spPr>
                    <a:xfrm>
                      <a:off x="6913007" y="2663858"/>
                      <a:ext cx="1515699" cy="483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</a:t>
                      </a:r>
                      <a:endParaRPr sz="105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obj 1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49" name="Google Shape;749;p53"/>
                    <p:cNvSpPr txBox="1"/>
                    <p:nvPr/>
                  </p:nvSpPr>
                  <p:spPr>
                    <a:xfrm>
                      <a:off x="6959333" y="3268227"/>
                      <a:ext cx="1201166" cy="483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 1</a:t>
                      </a:r>
                      <a:endParaRPr sz="105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received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750" name="Google Shape;750;p53"/>
                    <p:cNvGrpSpPr/>
                    <p:nvPr/>
                  </p:nvGrpSpPr>
                  <p:grpSpPr>
                    <a:xfrm>
                      <a:off x="7590816" y="1130419"/>
                      <a:ext cx="698500" cy="709613"/>
                      <a:chOff x="-44" y="1473"/>
                      <a:chExt cx="981" cy="1105"/>
                    </a:xfrm>
                  </p:grpSpPr>
                  <p:pic>
                    <p:nvPicPr>
                      <p:cNvPr id="741" name="Google Shape;741;p53" descr="desktop_computer_stylized_medium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 flipH="1">
                        <a:off x="-44" y="1473"/>
                        <a:ext cx="981" cy="1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sp>
                    <p:nvSpPr>
                      <p:cNvPr id="751" name="Google Shape;751;p53"/>
                      <p:cNvSpPr/>
                      <p:nvPr/>
                    </p:nvSpPr>
                    <p:spPr>
                      <a:xfrm flipH="1">
                        <a:off x="374" y="1579"/>
                        <a:ext cx="477" cy="5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6" h="368" extrusionOk="0">
                            <a:moveTo>
                              <a:pt x="0" y="0"/>
                            </a:moveTo>
                            <a:lnTo>
                              <a:pt x="300" y="14"/>
                            </a:lnTo>
                            <a:lnTo>
                              <a:pt x="356" y="294"/>
                            </a:lnTo>
                            <a:lnTo>
                              <a:pt x="78" y="36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000099"/>
                          </a:gs>
                          <a:gs pos="100000">
                            <a:schemeClr val="lt1"/>
                          </a:gs>
                        </a:gsLst>
                        <a:lin ang="27000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t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800"/>
                          <a:buFont typeface="Arial"/>
                          <a:buNone/>
                        </a:pPr>
                        <a:endParaRPr sz="1800" b="0" i="0" u="none" strike="noStrike" cap="none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endParaRPr>
                      </a:p>
                    </p:txBody>
                  </p:sp>
                </p:grpSp>
              </p:grpSp>
            </p:grpSp>
          </p:grpSp>
          <p:cxnSp>
            <p:nvCxnSpPr>
              <p:cNvPr id="752" name="Google Shape;752;p53"/>
              <p:cNvCxnSpPr/>
              <p:nvPr/>
            </p:nvCxnSpPr>
            <p:spPr>
              <a:xfrm flipH="1">
                <a:off x="9021923" y="3508277"/>
                <a:ext cx="1337275" cy="220256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3" name="Google Shape;753;p53"/>
              <p:cNvCxnSpPr/>
              <p:nvPr/>
            </p:nvCxnSpPr>
            <p:spPr>
              <a:xfrm>
                <a:off x="9009050" y="3169093"/>
                <a:ext cx="1364798" cy="229697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754" name="Google Shape;754;p53"/>
              <p:cNvCxnSpPr/>
              <p:nvPr/>
            </p:nvCxnSpPr>
            <p:spPr>
              <a:xfrm>
                <a:off x="9033656" y="3982981"/>
                <a:ext cx="1358252" cy="246212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E2663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755" name="Google Shape;755;p53"/>
              <p:cNvCxnSpPr/>
              <p:nvPr/>
            </p:nvCxnSpPr>
            <p:spPr>
              <a:xfrm flipH="1">
                <a:off x="9046535" y="4249774"/>
                <a:ext cx="1358252" cy="286741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E2663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756" name="Google Shape;756;p53"/>
              <p:cNvSpPr txBox="1"/>
              <p:nvPr/>
            </p:nvSpPr>
            <p:spPr>
              <a:xfrm>
                <a:off x="8186354" y="3247228"/>
                <a:ext cx="1110487" cy="366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5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Request</a:t>
                </a:r>
                <a:endParaRPr sz="10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5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For obj 2</a:t>
                </a:r>
                <a:endParaRPr sz="1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53"/>
              <p:cNvSpPr txBox="1"/>
              <p:nvPr/>
            </p:nvSpPr>
            <p:spPr>
              <a:xfrm>
                <a:off x="8259047" y="3590202"/>
                <a:ext cx="880043" cy="366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5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Obj 2</a:t>
                </a:r>
                <a:endParaRPr sz="10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5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received</a:t>
                </a:r>
                <a:endParaRPr sz="1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53"/>
              <p:cNvSpPr txBox="1"/>
              <p:nvPr/>
            </p:nvSpPr>
            <p:spPr>
              <a:xfrm>
                <a:off x="8092886" y="4138566"/>
                <a:ext cx="1022077" cy="360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00" b="1" i="0" u="none" strike="noStrike" cap="none">
                    <a:solidFill>
                      <a:srgbClr val="AE2663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 sz="900" b="1" i="0" u="none" strike="noStrike" cap="non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lang="en-US" sz="1000" b="1" i="0" u="none" strike="noStrike" cap="none">
                    <a:solidFill>
                      <a:srgbClr val="AE2663"/>
                    </a:solidFill>
                    <a:latin typeface="Arial"/>
                    <a:ea typeface="Arial"/>
                    <a:cs typeface="Arial"/>
                    <a:sym typeface="Arial"/>
                  </a:rPr>
                  <a:t>termination</a:t>
                </a:r>
                <a:endParaRPr sz="900" b="1" i="0" u="none" strike="noStrike" cap="non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9" name="Google Shape;759;p53"/>
            <p:cNvGrpSpPr/>
            <p:nvPr/>
          </p:nvGrpSpPr>
          <p:grpSpPr>
            <a:xfrm>
              <a:off x="9122132" y="1145154"/>
              <a:ext cx="298478" cy="597721"/>
              <a:chOff x="4140" y="429"/>
              <a:chExt cx="1425" cy="2396"/>
            </a:xfrm>
          </p:grpSpPr>
          <p:sp>
            <p:nvSpPr>
              <p:cNvPr id="760" name="Google Shape;760;p5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61" name="Google Shape;761;p53"/>
              <p:cNvSpPr/>
              <p:nvPr/>
            </p:nvSpPr>
            <p:spPr>
              <a:xfrm>
                <a:off x="4204" y="429"/>
                <a:ext cx="1051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5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63" name="Google Shape;763;p5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64" name="Google Shape;764;p53"/>
              <p:cNvSpPr/>
              <p:nvPr/>
            </p:nvSpPr>
            <p:spPr>
              <a:xfrm>
                <a:off x="4209" y="690"/>
                <a:ext cx="598" cy="5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5" name="Google Shape;765;p53"/>
              <p:cNvGrpSpPr/>
              <p:nvPr/>
            </p:nvGrpSpPr>
            <p:grpSpPr>
              <a:xfrm>
                <a:off x="4748" y="668"/>
                <a:ext cx="582" cy="145"/>
                <a:chOff x="613" y="2568"/>
                <a:chExt cx="726" cy="139"/>
              </a:xfrm>
            </p:grpSpPr>
            <p:sp>
              <p:nvSpPr>
                <p:cNvPr id="766" name="Google Shape;766;p53"/>
                <p:cNvSpPr/>
                <p:nvPr/>
              </p:nvSpPr>
              <p:spPr>
                <a:xfrm>
                  <a:off x="613" y="2568"/>
                  <a:ext cx="726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7" name="Google Shape;767;p53"/>
                <p:cNvSpPr/>
                <p:nvPr/>
              </p:nvSpPr>
              <p:spPr>
                <a:xfrm>
                  <a:off x="627" y="2584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8" name="Google Shape;768;p53"/>
              <p:cNvSpPr/>
              <p:nvPr/>
            </p:nvSpPr>
            <p:spPr>
              <a:xfrm>
                <a:off x="4225" y="1018"/>
                <a:ext cx="592" cy="5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9" name="Google Shape;769;p53"/>
              <p:cNvGrpSpPr/>
              <p:nvPr/>
            </p:nvGrpSpPr>
            <p:grpSpPr>
              <a:xfrm>
                <a:off x="4749" y="996"/>
                <a:ext cx="582" cy="133"/>
                <a:chOff x="616" y="2570"/>
                <a:chExt cx="726" cy="138"/>
              </a:xfrm>
            </p:grpSpPr>
            <p:sp>
              <p:nvSpPr>
                <p:cNvPr id="770" name="Google Shape;770;p53"/>
                <p:cNvSpPr/>
                <p:nvPr/>
              </p:nvSpPr>
              <p:spPr>
                <a:xfrm>
                  <a:off x="616" y="2570"/>
                  <a:ext cx="726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1" name="Google Shape;771;p53"/>
                <p:cNvSpPr/>
                <p:nvPr/>
              </p:nvSpPr>
              <p:spPr>
                <a:xfrm>
                  <a:off x="629" y="2587"/>
                  <a:ext cx="693" cy="104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2" name="Google Shape;772;p53"/>
              <p:cNvSpPr/>
              <p:nvPr/>
            </p:nvSpPr>
            <p:spPr>
              <a:xfrm>
                <a:off x="4215" y="1357"/>
                <a:ext cx="598" cy="44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53"/>
              <p:cNvSpPr/>
              <p:nvPr/>
            </p:nvSpPr>
            <p:spPr>
              <a:xfrm>
                <a:off x="4225" y="1658"/>
                <a:ext cx="598" cy="44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4" name="Google Shape;774;p53"/>
              <p:cNvGrpSpPr/>
              <p:nvPr/>
            </p:nvGrpSpPr>
            <p:grpSpPr>
              <a:xfrm>
                <a:off x="4733" y="1641"/>
                <a:ext cx="587" cy="139"/>
                <a:chOff x="611" y="2581"/>
                <a:chExt cx="731" cy="128"/>
              </a:xfrm>
            </p:grpSpPr>
            <p:sp>
              <p:nvSpPr>
                <p:cNvPr id="775" name="Google Shape;775;p53"/>
                <p:cNvSpPr/>
                <p:nvPr/>
              </p:nvSpPr>
              <p:spPr>
                <a:xfrm>
                  <a:off x="611" y="2581"/>
                  <a:ext cx="731" cy="1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" name="Google Shape;776;p53"/>
                <p:cNvSpPr/>
                <p:nvPr/>
              </p:nvSpPr>
              <p:spPr>
                <a:xfrm>
                  <a:off x="624" y="2586"/>
                  <a:ext cx="698" cy="10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7" name="Google Shape;777;p5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grpSp>
            <p:nvGrpSpPr>
              <p:cNvPr id="778" name="Google Shape;778;p53"/>
              <p:cNvGrpSpPr/>
              <p:nvPr/>
            </p:nvGrpSpPr>
            <p:grpSpPr>
              <a:xfrm>
                <a:off x="4737" y="1335"/>
                <a:ext cx="582" cy="139"/>
                <a:chOff x="612" y="2576"/>
                <a:chExt cx="725" cy="139"/>
              </a:xfrm>
            </p:grpSpPr>
            <p:sp>
              <p:nvSpPr>
                <p:cNvPr id="779" name="Google Shape;779;p53"/>
                <p:cNvSpPr/>
                <p:nvPr/>
              </p:nvSpPr>
              <p:spPr>
                <a:xfrm>
                  <a:off x="612" y="2576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0" name="Google Shape;780;p53"/>
                <p:cNvSpPr/>
                <p:nvPr/>
              </p:nvSpPr>
              <p:spPr>
                <a:xfrm>
                  <a:off x="626" y="2587"/>
                  <a:ext cx="691" cy="106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81" name="Google Shape;781;p53"/>
              <p:cNvSpPr/>
              <p:nvPr/>
            </p:nvSpPr>
            <p:spPr>
              <a:xfrm>
                <a:off x="5250" y="429"/>
                <a:ext cx="69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5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83" name="Google Shape;783;p53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84" name="Google Shape;784;p53"/>
              <p:cNvSpPr/>
              <p:nvPr/>
            </p:nvSpPr>
            <p:spPr>
              <a:xfrm>
                <a:off x="5517" y="2614"/>
                <a:ext cx="48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5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86" name="Google Shape;786;p53"/>
              <p:cNvSpPr/>
              <p:nvPr/>
            </p:nvSpPr>
            <p:spPr>
              <a:xfrm>
                <a:off x="4140" y="2680"/>
                <a:ext cx="1201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53"/>
              <p:cNvSpPr/>
              <p:nvPr/>
            </p:nvSpPr>
            <p:spPr>
              <a:xfrm>
                <a:off x="4204" y="2708"/>
                <a:ext cx="1073" cy="8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53"/>
              <p:cNvSpPr/>
              <p:nvPr/>
            </p:nvSpPr>
            <p:spPr>
              <a:xfrm>
                <a:off x="4305" y="2380"/>
                <a:ext cx="160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53"/>
              <p:cNvSpPr/>
              <p:nvPr/>
            </p:nvSpPr>
            <p:spPr>
              <a:xfrm>
                <a:off x="4487" y="2386"/>
                <a:ext cx="160" cy="13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53"/>
              <p:cNvSpPr/>
              <p:nvPr/>
            </p:nvSpPr>
            <p:spPr>
              <a:xfrm>
                <a:off x="4663" y="2380"/>
                <a:ext cx="155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53"/>
              <p:cNvSpPr/>
              <p:nvPr/>
            </p:nvSpPr>
            <p:spPr>
              <a:xfrm>
                <a:off x="5063" y="1835"/>
                <a:ext cx="85" cy="762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4"/>
          <p:cNvSpPr txBox="1"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/>
          </a:p>
        </p:txBody>
      </p:sp>
      <p:sp>
        <p:nvSpPr>
          <p:cNvPr id="797" name="Google Shape;797;p54"/>
          <p:cNvSpPr txBox="1">
            <a:spLocks noGrp="1"/>
          </p:cNvSpPr>
          <p:nvPr>
            <p:ph type="body" idx="1"/>
          </p:nvPr>
        </p:nvSpPr>
        <p:spPr>
          <a:xfrm>
            <a:off x="711200" y="1600200"/>
            <a:ext cx="10363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433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B0F0"/>
              </a:buClr>
              <a:buSzPts val="2610"/>
              <a:buFont typeface="Noto Sans Symbols"/>
              <a:buChar char="❑"/>
            </a:pPr>
            <a:r>
              <a:rPr lang="en-US" b="1">
                <a:solidFill>
                  <a:srgbClr val="00B0F0"/>
                </a:solidFill>
              </a:rPr>
              <a:t>Persistent without pipeline</a:t>
            </a:r>
            <a:endParaRPr/>
          </a:p>
          <a:p>
            <a:pPr marL="457200" lvl="0" indent="-39433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Font typeface="Noto Sans Symbols"/>
              <a:buChar char="▪"/>
            </a:pPr>
            <a:r>
              <a:rPr lang="en-US"/>
              <a:t>After TCP setup, one request for each object.</a:t>
            </a:r>
            <a:endParaRPr/>
          </a:p>
          <a:p>
            <a:pPr marL="45720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Font typeface="Noto Sans Symbols"/>
              <a:buNone/>
            </a:pPr>
            <a:endParaRPr/>
          </a:p>
          <a:p>
            <a:pPr marL="457200" lvl="0" indent="-39433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B0F0"/>
              </a:buClr>
              <a:buSzPts val="2610"/>
              <a:buFont typeface="Noto Sans Symbols"/>
              <a:buChar char="❑"/>
            </a:pPr>
            <a:r>
              <a:rPr lang="en-US" b="1">
                <a:solidFill>
                  <a:srgbClr val="00B0F0"/>
                </a:solidFill>
              </a:rPr>
              <a:t>Persistent with pipeline</a:t>
            </a:r>
            <a:endParaRPr/>
          </a:p>
          <a:p>
            <a:pPr marL="457200" lvl="0" indent="-39433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Font typeface="Noto Sans Symbols"/>
              <a:buChar char="▪"/>
            </a:pPr>
            <a:r>
              <a:rPr lang="en-US"/>
              <a:t>After TCP connection, send all requests back-to-back.</a:t>
            </a:r>
            <a:endParaRPr/>
          </a:p>
          <a:p>
            <a:pPr marL="457200" lvl="0" indent="-39433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Font typeface="Noto Sans Symbols"/>
              <a:buChar char="▪"/>
            </a:pPr>
            <a:r>
              <a:rPr lang="en-US"/>
              <a:t>Receive responses one after another, in order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5"/>
          <p:cNvSpPr txBox="1">
            <a:spLocks noGrp="1"/>
          </p:cNvSpPr>
          <p:nvPr>
            <p:ph type="title"/>
          </p:nvPr>
        </p:nvSpPr>
        <p:spPr>
          <a:xfrm>
            <a:off x="1545544" y="161876"/>
            <a:ext cx="10018713" cy="1070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HTTP Persistent Connections</a:t>
            </a:r>
            <a:endParaRPr b="1"/>
          </a:p>
        </p:txBody>
      </p:sp>
      <p:pic>
        <p:nvPicPr>
          <p:cNvPr id="803" name="Google Shape;803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7225" y="1386398"/>
            <a:ext cx="8310154" cy="414768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55"/>
          <p:cNvSpPr txBox="1"/>
          <p:nvPr/>
        </p:nvSpPr>
        <p:spPr>
          <a:xfrm>
            <a:off x="280895" y="4364526"/>
            <a:ext cx="2666491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Client: GET object1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Server: [responds with object1]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Client: GET object2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Server: [responds with object2]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 and so on</a:t>
            </a:r>
            <a:endParaRPr/>
          </a:p>
        </p:txBody>
      </p:sp>
      <p:sp>
        <p:nvSpPr>
          <p:cNvPr id="805" name="Google Shape;805;p55"/>
          <p:cNvSpPr txBox="1"/>
          <p:nvPr/>
        </p:nvSpPr>
        <p:spPr>
          <a:xfrm>
            <a:off x="9818194" y="4057926"/>
            <a:ext cx="2092911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object1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object2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object3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[responds with object1]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[responds with object2]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[responds with object3]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811" name="Google Shape;811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812" name="Google Shape;812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975"/>
            <a:ext cx="10360589" cy="334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56"/>
          <p:cNvSpPr txBox="1"/>
          <p:nvPr/>
        </p:nvSpPr>
        <p:spPr>
          <a:xfrm>
            <a:off x="838200" y="3557894"/>
            <a:ext cx="5894562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No. of RTTs= 1 TCP RTT+24 HTTP RTT=25 RTT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Total RTT=850-50=800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25*RTT=800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B050"/>
                </a:solidFill>
              </a:rPr>
              <a:t>RTT</a:t>
            </a:r>
            <a:r>
              <a:rPr lang="en-US" sz="20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=32 </a:t>
            </a:r>
            <a:r>
              <a:rPr lang="en-US" sz="2000" b="1" i="0" u="none" strike="noStrike" cap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endParaRPr sz="2000" b="1" i="0" u="none" strike="noStrike" cap="none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time =Total RTT+ Total transmission time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time=850+2720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time=3570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56"/>
          <p:cNvSpPr txBox="1"/>
          <p:nvPr/>
        </p:nvSpPr>
        <p:spPr>
          <a:xfrm>
            <a:off x="8076145" y="4774379"/>
            <a:ext cx="367832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size=(5*6+19*2)*8=544  Mb</a:t>
            </a:r>
            <a:endParaRPr dirty="0"/>
          </a:p>
        </p:txBody>
      </p:sp>
      <p:sp>
        <p:nvSpPr>
          <p:cNvPr id="815" name="Google Shape;815;p56"/>
          <p:cNvSpPr/>
          <p:nvPr/>
        </p:nvSpPr>
        <p:spPr>
          <a:xfrm>
            <a:off x="7241140" y="5506448"/>
            <a:ext cx="495039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transmission time= Total size/Server speed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=544/200=2.72 sec=2720 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821" name="Google Shape;821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822" name="Google Shape;822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501" y="29369"/>
            <a:ext cx="11440386" cy="146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036" y="1469231"/>
            <a:ext cx="11216764" cy="132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57"/>
          <p:cNvSpPr txBox="1"/>
          <p:nvPr/>
        </p:nvSpPr>
        <p:spPr>
          <a:xfrm>
            <a:off x="523156" y="5842378"/>
            <a:ext cx="113063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know, Total object transmission time=total size/server speed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 </a:t>
            </a:r>
            <a:r>
              <a:rPr lang="en-US" sz="2000" dirty="0"/>
              <a:t>speed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=Total size/Total object transmission time=12*8*30/2.926=0.9842=984.2 Mbps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2401FA-CB2D-4077-B696-5744300A9C67}"/>
              </a:ext>
            </a:extLst>
          </p:cNvPr>
          <p:cNvSpPr/>
          <p:nvPr/>
        </p:nvSpPr>
        <p:spPr>
          <a:xfrm>
            <a:off x="523156" y="2865000"/>
            <a:ext cx="6096000" cy="12875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rgbClr val="00B050"/>
                </a:solidFill>
              </a:rPr>
              <a:t>RTT=39*2=78 </a:t>
            </a:r>
            <a:r>
              <a:rPr lang="en-US" sz="1800" b="1" dirty="0" err="1">
                <a:solidFill>
                  <a:srgbClr val="00B050"/>
                </a:solidFill>
              </a:rPr>
              <a:t>ms</a:t>
            </a:r>
            <a:endParaRPr lang="en-US" sz="1800" b="1" dirty="0">
              <a:solidFill>
                <a:srgbClr val="00B050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rgbClr val="00B050"/>
                </a:solidFill>
              </a:rPr>
              <a:t>No. of RTT=No. of objects+1 RTT for TCP=30+1=31</a:t>
            </a:r>
            <a:endParaRPr lang="en-US" sz="1800" dirty="0"/>
          </a:p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rgbClr val="00B050"/>
                </a:solidFill>
              </a:rPr>
              <a:t>Total RTT=31*78=2418 </a:t>
            </a:r>
            <a:r>
              <a:rPr lang="en-US" sz="1800" b="1" dirty="0" err="1">
                <a:solidFill>
                  <a:srgbClr val="00B050"/>
                </a:solidFill>
              </a:rPr>
              <a:t>ms</a:t>
            </a:r>
            <a:endParaRPr lang="en-US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A0BC80-23C2-4DB3-AB39-9D837B110A27}"/>
              </a:ext>
            </a:extLst>
          </p:cNvPr>
          <p:cNvSpPr/>
          <p:nvPr/>
        </p:nvSpPr>
        <p:spPr>
          <a:xfrm>
            <a:off x="523156" y="4238593"/>
            <a:ext cx="10830644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rgbClr val="0070C0"/>
                </a:solidFill>
              </a:rPr>
              <a:t>Total RTT + total object </a:t>
            </a:r>
            <a:r>
              <a:rPr lang="en-US" sz="1800" b="1" dirty="0" err="1">
                <a:solidFill>
                  <a:srgbClr val="0070C0"/>
                </a:solidFill>
              </a:rPr>
              <a:t>Object</a:t>
            </a:r>
            <a:r>
              <a:rPr lang="en-US" sz="1800" b="1" dirty="0">
                <a:solidFill>
                  <a:srgbClr val="0070C0"/>
                </a:solidFill>
              </a:rPr>
              <a:t> transmission time=Total file transmission time (or load time)</a:t>
            </a:r>
            <a:endParaRPr lang="en-US" sz="1800" dirty="0"/>
          </a:p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rgbClr val="0070C0"/>
                </a:solidFill>
              </a:rPr>
              <a:t>2418+Total object transmission time=5344</a:t>
            </a:r>
            <a:endParaRPr lang="en-US" sz="1800" dirty="0"/>
          </a:p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rgbClr val="0070C0"/>
                </a:solidFill>
              </a:rPr>
              <a:t>Total object transmission time=5344-2418=2926 </a:t>
            </a:r>
            <a:r>
              <a:rPr lang="en-US" sz="1800" b="1" dirty="0" err="1">
                <a:solidFill>
                  <a:srgbClr val="0070C0"/>
                </a:solidFill>
              </a:rPr>
              <a:t>ms</a:t>
            </a:r>
            <a:r>
              <a:rPr lang="en-US" sz="1800" b="1" dirty="0">
                <a:solidFill>
                  <a:srgbClr val="0070C0"/>
                </a:solidFill>
              </a:rPr>
              <a:t>=2.926  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" grpId="0"/>
      <p:bldP spid="2" grpId="0"/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5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COOKIES</a:t>
            </a:r>
            <a:endParaRPr/>
          </a:p>
        </p:txBody>
      </p:sp>
      <p:pic>
        <p:nvPicPr>
          <p:cNvPr id="830" name="Google Shape;830;p58" descr="https://tse3.mm.bing.net/th?id=OIP.tGlpqH1AIyAOHF5G2HGXRQHaGL&amp;pid=Api&amp;P=0&amp;w=184&amp;h=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7658" y="3818483"/>
            <a:ext cx="2645317" cy="2214017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58"/>
          <p:cNvSpPr txBox="1"/>
          <p:nvPr/>
        </p:nvSpPr>
        <p:spPr>
          <a:xfrm>
            <a:off x="8442025" y="4083675"/>
            <a:ext cx="3000000" cy="14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lang="en-US" sz="4033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Part 4</a:t>
            </a:r>
            <a:br>
              <a:rPr lang="en-US" sz="4033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40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9"/>
          <p:cNvSpPr txBox="1">
            <a:spLocks noGrp="1"/>
          </p:cNvSpPr>
          <p:nvPr>
            <p:ph type="title"/>
          </p:nvPr>
        </p:nvSpPr>
        <p:spPr>
          <a:xfrm>
            <a:off x="1530109" y="355710"/>
            <a:ext cx="10018800" cy="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628"/>
              <a:buFont typeface="Calibri"/>
              <a:buNone/>
            </a:pPr>
            <a:r>
              <a:rPr lang="en-US" sz="4033" b="1"/>
              <a:t>Objectives -Part 4</a:t>
            </a:r>
            <a:br>
              <a:rPr lang="en-US" sz="4033" b="1"/>
            </a:br>
            <a:r>
              <a:rPr lang="en-US" b="1"/>
              <a:t> </a:t>
            </a:r>
            <a:endParaRPr/>
          </a:p>
        </p:txBody>
      </p:sp>
      <p:sp>
        <p:nvSpPr>
          <p:cNvPr id="837" name="Google Shape;837;p59"/>
          <p:cNvSpPr txBox="1">
            <a:spLocks noGrp="1"/>
          </p:cNvSpPr>
          <p:nvPr>
            <p:ph type="body" idx="1"/>
          </p:nvPr>
        </p:nvSpPr>
        <p:spPr>
          <a:xfrm>
            <a:off x="1484310" y="1541418"/>
            <a:ext cx="10018713" cy="419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4000"/>
              <a:t>Stateless HTTP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None/>
            </a:pPr>
            <a:endParaRPr sz="40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4000"/>
              <a:t>Cookies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None/>
            </a:pPr>
            <a:endParaRPr sz="40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4000"/>
              <a:t>Example of how cookies operate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None/>
            </a:pPr>
            <a:endParaRPr sz="40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 sz="4000"/>
              <a:t>Issues related to cookies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0"/>
          <p:cNvSpPr txBox="1">
            <a:spLocks noGrp="1"/>
          </p:cNvSpPr>
          <p:nvPr>
            <p:ph type="title"/>
          </p:nvPr>
        </p:nvSpPr>
        <p:spPr>
          <a:xfrm>
            <a:off x="1946263" y="196614"/>
            <a:ext cx="77724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Stateless HTTP</a:t>
            </a:r>
            <a:endParaRPr b="1"/>
          </a:p>
        </p:txBody>
      </p:sp>
      <p:sp>
        <p:nvSpPr>
          <p:cNvPr id="844" name="Google Shape;844;p60"/>
          <p:cNvSpPr txBox="1">
            <a:spLocks noGrp="1"/>
          </p:cNvSpPr>
          <p:nvPr>
            <p:ph type="body" idx="1"/>
          </p:nvPr>
        </p:nvSpPr>
        <p:spPr>
          <a:xfrm>
            <a:off x="1813631" y="4246169"/>
            <a:ext cx="5071409" cy="1834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480"/>
              <a:buFont typeface="Noto Sans Symbols"/>
              <a:buNone/>
            </a:pPr>
            <a:r>
              <a:rPr lang="en-US" sz="3200" b="1" i="1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HTTP is “stateless”</a:t>
            </a:r>
            <a:endParaRPr sz="3200" b="1" i="1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85750" lvl="0" indent="-204470" algn="l" rtl="0">
              <a:lnSpc>
                <a:spcPct val="75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800"/>
              <a:t>Server maintains no information about past client requests</a:t>
            </a:r>
            <a:endParaRPr sz="2800"/>
          </a:p>
        </p:txBody>
      </p:sp>
      <p:sp>
        <p:nvSpPr>
          <p:cNvPr id="845" name="Google Shape;845;p60"/>
          <p:cNvSpPr txBox="1">
            <a:spLocks noGrp="1"/>
          </p:cNvSpPr>
          <p:nvPr>
            <p:ph type="body" idx="2"/>
          </p:nvPr>
        </p:nvSpPr>
        <p:spPr>
          <a:xfrm>
            <a:off x="1946263" y="3139127"/>
            <a:ext cx="8369312" cy="832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04470" algn="l" rtl="0">
              <a:lnSpc>
                <a:spcPct val="75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800"/>
              <a:t>Do not remember previous request response chain.</a:t>
            </a:r>
            <a:endParaRPr sz="2800"/>
          </a:p>
        </p:txBody>
      </p:sp>
      <p:sp>
        <p:nvSpPr>
          <p:cNvPr id="846" name="Google Shape;846;p60"/>
          <p:cNvSpPr/>
          <p:nvPr/>
        </p:nvSpPr>
        <p:spPr>
          <a:xfrm>
            <a:off x="7976543" y="3970890"/>
            <a:ext cx="3752850" cy="28479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rPr lang="en-US" sz="2200" b="0" i="0" u="none" strike="noStrike" cap="none">
                <a:solidFill>
                  <a:srgbClr val="000099"/>
                </a:solidFill>
                <a:latin typeface="Corbel"/>
                <a:ea typeface="Corbel"/>
                <a:cs typeface="Corbel"/>
                <a:sym typeface="Corbel"/>
              </a:rPr>
              <a:t>Protocols that maintain “state” are complex!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02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Past history (state) must be maintained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02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If server/client crashes, their views of “state” may be inconsistent, must be reconciled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335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847" name="Google Shape;847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39" y="963926"/>
            <a:ext cx="7409948" cy="244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1"/>
          <p:cNvSpPr txBox="1"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User-server state: cookies</a:t>
            </a:r>
            <a:endParaRPr/>
          </a:p>
        </p:txBody>
      </p:sp>
      <p:sp>
        <p:nvSpPr>
          <p:cNvPr id="854" name="Google Shape;854;p61"/>
          <p:cNvSpPr txBox="1">
            <a:spLocks noGrp="1"/>
          </p:cNvSpPr>
          <p:nvPr>
            <p:ph type="body" idx="1"/>
          </p:nvPr>
        </p:nvSpPr>
        <p:spPr>
          <a:xfrm>
            <a:off x="688977" y="1130906"/>
            <a:ext cx="4933153" cy="517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Noto Sans Symbols"/>
              <a:buNone/>
            </a:pPr>
            <a:r>
              <a:rPr lang="en-US" sz="2400" dirty="0"/>
              <a:t>Many Websites use cookies</a:t>
            </a:r>
            <a:endParaRPr dirty="0"/>
          </a:p>
          <a:p>
            <a:pPr marL="285750" lvl="0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CC0000"/>
              </a:buClr>
              <a:buSzPts val="3480"/>
              <a:buFont typeface="Noto Sans Symbols"/>
              <a:buNone/>
            </a:pPr>
            <a:r>
              <a:rPr lang="en-US" sz="2400" i="1" dirty="0">
                <a:solidFill>
                  <a:srgbClr val="CC0000"/>
                </a:solidFill>
              </a:rPr>
              <a:t>Four components: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Noto Sans Symbols"/>
              <a:buNone/>
            </a:pPr>
            <a:r>
              <a:rPr lang="en-US" sz="2200" dirty="0"/>
              <a:t>1) Cookie header line of HTTP </a:t>
            </a:r>
            <a:r>
              <a:rPr lang="en-US" sz="2200" i="1" dirty="0"/>
              <a:t>response</a:t>
            </a:r>
            <a:r>
              <a:rPr lang="en-US" sz="2200" dirty="0"/>
              <a:t> message (cookie-id)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Noto Sans Symbols"/>
              <a:buNone/>
            </a:pPr>
            <a:r>
              <a:rPr lang="en-US" sz="2200" dirty="0"/>
              <a:t>2) Cookie header line in next HTTP </a:t>
            </a:r>
            <a:r>
              <a:rPr lang="en-US" sz="2200" i="1" dirty="0"/>
              <a:t>request</a:t>
            </a:r>
            <a:r>
              <a:rPr lang="en-US" sz="2200" dirty="0"/>
              <a:t> message (mention the cookie-id)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Noto Sans Symbols"/>
              <a:buNone/>
            </a:pPr>
            <a:r>
              <a:rPr lang="en-US" sz="2200" dirty="0"/>
              <a:t>3) Cookie file kept on user’s host, managed by user’s browser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Font typeface="Noto Sans Symbols"/>
              <a:buNone/>
            </a:pPr>
            <a:r>
              <a:rPr lang="en-US" sz="2200" dirty="0"/>
              <a:t>4) Back-end database at Web site</a:t>
            </a:r>
            <a:endParaRPr dirty="0"/>
          </a:p>
        </p:txBody>
      </p:sp>
      <p:sp>
        <p:nvSpPr>
          <p:cNvPr id="855" name="Google Shape;855;p61"/>
          <p:cNvSpPr txBox="1">
            <a:spLocks noGrp="1"/>
          </p:cNvSpPr>
          <p:nvPr>
            <p:ph type="body" idx="2"/>
          </p:nvPr>
        </p:nvSpPr>
        <p:spPr>
          <a:xfrm>
            <a:off x="6970110" y="1752599"/>
            <a:ext cx="40593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480"/>
              <a:buFont typeface="Noto Sans Symbols"/>
              <a:buNone/>
            </a:pPr>
            <a:r>
              <a:rPr lang="en-US" sz="2400" dirty="0">
                <a:solidFill>
                  <a:srgbClr val="CC0000"/>
                </a:solidFill>
              </a:rPr>
              <a:t>Example: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Arial"/>
              <a:buChar char="•"/>
            </a:pPr>
            <a:r>
              <a:rPr lang="en-US" sz="2400" dirty="0"/>
              <a:t>Susan always access Internet from PC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Arial"/>
              <a:buChar char="•"/>
            </a:pPr>
            <a:r>
              <a:rPr lang="en-US" sz="2400" dirty="0"/>
              <a:t>Visits specific e-commerce site for first time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Arial"/>
              <a:buChar char="•"/>
            </a:pPr>
            <a:r>
              <a:rPr lang="en-US" sz="2400" dirty="0"/>
              <a:t>When initial HTTP requests arrives at site, site creates: 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en-US" sz="2000" dirty="0"/>
              <a:t>Unique ID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en-US" sz="2000" dirty="0"/>
              <a:t>Entry in backend database for </a:t>
            </a:r>
            <a:r>
              <a:rPr lang="en-US" dirty="0"/>
              <a:t>ID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62"/>
          <p:cNvSpPr txBox="1">
            <a:spLocks noGrp="1"/>
          </p:cNvSpPr>
          <p:nvPr>
            <p:ph type="title"/>
          </p:nvPr>
        </p:nvSpPr>
        <p:spPr>
          <a:xfrm>
            <a:off x="1955800" y="153988"/>
            <a:ext cx="7772400" cy="77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1010"/>
              <a:buFont typeface="Corbel"/>
              <a:buNone/>
            </a:pPr>
            <a:r>
              <a:rPr lang="en-US" b="1">
                <a:latin typeface="Corbel"/>
                <a:ea typeface="Corbel"/>
                <a:cs typeface="Corbel"/>
                <a:sym typeface="Corbel"/>
              </a:rPr>
              <a:t>Cookies: keeping “state” (cont.)</a:t>
            </a:r>
            <a:endParaRPr b="1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62" name="Google Shape;862;p62"/>
          <p:cNvSpPr txBox="1">
            <a:spLocks noGrp="1"/>
          </p:cNvSpPr>
          <p:nvPr>
            <p:ph type="ftr" idx="11"/>
          </p:nvPr>
        </p:nvSpPr>
        <p:spPr>
          <a:xfrm>
            <a:off x="978635" y="64928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 b="0" i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cxnSp>
        <p:nvCxnSpPr>
          <p:cNvPr id="863" name="Google Shape;863;p62"/>
          <p:cNvCxnSpPr/>
          <p:nvPr/>
        </p:nvCxnSpPr>
        <p:spPr>
          <a:xfrm>
            <a:off x="6945510" y="1880211"/>
            <a:ext cx="51459" cy="417482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ot"/>
            <a:round/>
            <a:headEnd type="none" w="sm" len="sm"/>
            <a:tailEnd type="triangle" w="med" len="med"/>
          </a:ln>
        </p:spPr>
      </p:cxnSp>
      <p:grpSp>
        <p:nvGrpSpPr>
          <p:cNvPr id="864" name="Google Shape;864;p62"/>
          <p:cNvGrpSpPr/>
          <p:nvPr/>
        </p:nvGrpSpPr>
        <p:grpSpPr>
          <a:xfrm>
            <a:off x="6645683" y="1195998"/>
            <a:ext cx="423863" cy="684213"/>
            <a:chOff x="4140" y="429"/>
            <a:chExt cx="1425" cy="2396"/>
          </a:xfrm>
        </p:grpSpPr>
        <p:sp>
          <p:nvSpPr>
            <p:cNvPr id="865" name="Google Shape;865;p62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6" name="Google Shape;866;p62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62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8" name="Google Shape;868;p62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9" name="Google Shape;869;p62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0" name="Google Shape;870;p62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871" name="Google Shape;871;p62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62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3" name="Google Shape;873;p62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4" name="Google Shape;874;p62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875" name="Google Shape;875;p62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62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7" name="Google Shape;877;p62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62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9" name="Google Shape;879;p62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880" name="Google Shape;880;p62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62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2" name="Google Shape;882;p62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883" name="Google Shape;883;p62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884" name="Google Shape;884;p62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62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6" name="Google Shape;886;p62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62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88" name="Google Shape;888;p62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89" name="Google Shape;889;p62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62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91" name="Google Shape;891;p62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62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62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62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62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62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7" name="Google Shape;897;p62"/>
          <p:cNvGrpSpPr/>
          <p:nvPr/>
        </p:nvGrpSpPr>
        <p:grpSpPr>
          <a:xfrm>
            <a:off x="2959288" y="1221213"/>
            <a:ext cx="698500" cy="709613"/>
            <a:chOff x="-44" y="1473"/>
            <a:chExt cx="981" cy="1105"/>
          </a:xfrm>
        </p:grpSpPr>
        <p:pic>
          <p:nvPicPr>
            <p:cNvPr id="898" name="Google Shape;898;p62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6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900" name="Google Shape;900;p62"/>
          <p:cNvCxnSpPr/>
          <p:nvPr/>
        </p:nvCxnSpPr>
        <p:spPr>
          <a:xfrm>
            <a:off x="3271644" y="1963609"/>
            <a:ext cx="0" cy="4091422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ot"/>
            <a:round/>
            <a:headEnd type="none" w="sm" len="sm"/>
            <a:tailEnd type="triangle" w="med" len="med"/>
          </a:ln>
        </p:spPr>
      </p:cxnSp>
      <p:sp>
        <p:nvSpPr>
          <p:cNvPr id="901" name="Google Shape;901;p62"/>
          <p:cNvSpPr txBox="1"/>
          <p:nvPr/>
        </p:nvSpPr>
        <p:spPr>
          <a:xfrm>
            <a:off x="2987481" y="6097348"/>
            <a:ext cx="56832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62"/>
          <p:cNvSpPr txBox="1"/>
          <p:nvPr/>
        </p:nvSpPr>
        <p:spPr>
          <a:xfrm>
            <a:off x="6707154" y="6097348"/>
            <a:ext cx="56832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3" name="Google Shape;903;p62"/>
          <p:cNvCxnSpPr/>
          <p:nvPr/>
        </p:nvCxnSpPr>
        <p:spPr>
          <a:xfrm>
            <a:off x="3271644" y="2228929"/>
            <a:ext cx="3648583" cy="809386"/>
          </a:xfrm>
          <a:prstGeom prst="straightConnector1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04" name="Google Shape;904;p62"/>
          <p:cNvSpPr txBox="1"/>
          <p:nvPr/>
        </p:nvSpPr>
        <p:spPr>
          <a:xfrm rot="708630">
            <a:off x="3951695" y="2314809"/>
            <a:ext cx="2689919" cy="317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Arial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Usual HTTP Request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62"/>
          <p:cNvSpPr txBox="1"/>
          <p:nvPr/>
        </p:nvSpPr>
        <p:spPr>
          <a:xfrm>
            <a:off x="1752388" y="2441593"/>
            <a:ext cx="131803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ebay 8734</a:t>
            </a:r>
            <a:endParaRPr sz="14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6" name="Google Shape;906;p62"/>
          <p:cNvGrpSpPr/>
          <p:nvPr/>
        </p:nvGrpSpPr>
        <p:grpSpPr>
          <a:xfrm>
            <a:off x="1752388" y="1852686"/>
            <a:ext cx="862432" cy="517750"/>
            <a:chOff x="1752387" y="1852685"/>
            <a:chExt cx="1072463" cy="628445"/>
          </a:xfrm>
        </p:grpSpPr>
        <p:pic>
          <p:nvPicPr>
            <p:cNvPr id="907" name="Google Shape;907;p6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55800" y="1852685"/>
              <a:ext cx="869050" cy="628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8" name="Google Shape;908;p6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52387" y="1963609"/>
              <a:ext cx="406826" cy="406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9" name="Google Shape;909;p62"/>
          <p:cNvGrpSpPr/>
          <p:nvPr/>
        </p:nvGrpSpPr>
        <p:grpSpPr>
          <a:xfrm>
            <a:off x="10228721" y="3104951"/>
            <a:ext cx="1963279" cy="1305526"/>
            <a:chOff x="10228721" y="3104951"/>
            <a:chExt cx="1963279" cy="1305526"/>
          </a:xfrm>
        </p:grpSpPr>
        <p:pic>
          <p:nvPicPr>
            <p:cNvPr id="910" name="Google Shape;910;p6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74186" y="3104951"/>
              <a:ext cx="941986" cy="9419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1" name="Google Shape;911;p62"/>
            <p:cNvSpPr txBox="1"/>
            <p:nvPr/>
          </p:nvSpPr>
          <p:spPr>
            <a:xfrm>
              <a:off x="10228721" y="4102741"/>
              <a:ext cx="1963279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 b="1" i="0" u="none" strike="noStrike" cap="non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Amazon Server </a:t>
              </a:r>
              <a:endParaRPr sz="14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2" name="Google Shape;912;p62"/>
          <p:cNvGrpSpPr/>
          <p:nvPr/>
        </p:nvGrpSpPr>
        <p:grpSpPr>
          <a:xfrm>
            <a:off x="3256916" y="2770758"/>
            <a:ext cx="3663312" cy="1052040"/>
            <a:chOff x="3256916" y="2621334"/>
            <a:chExt cx="3663312" cy="1052040"/>
          </a:xfrm>
        </p:grpSpPr>
        <p:cxnSp>
          <p:nvCxnSpPr>
            <p:cNvPr id="913" name="Google Shape;913;p62"/>
            <p:cNvCxnSpPr/>
            <p:nvPr/>
          </p:nvCxnSpPr>
          <p:spPr>
            <a:xfrm flipH="1">
              <a:off x="3256916" y="3006537"/>
              <a:ext cx="3663312" cy="666837"/>
            </a:xfrm>
            <a:prstGeom prst="straightConnector1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14" name="Google Shape;914;p62"/>
            <p:cNvSpPr txBox="1"/>
            <p:nvPr/>
          </p:nvSpPr>
          <p:spPr>
            <a:xfrm rot="-552037">
              <a:off x="3624006" y="2812807"/>
              <a:ext cx="2438452" cy="539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Usual HTTP Response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3F6623"/>
                  </a:solidFill>
                  <a:latin typeface="Arial"/>
                  <a:ea typeface="Arial"/>
                  <a:cs typeface="Arial"/>
                  <a:sym typeface="Arial"/>
                </a:rPr>
                <a:t>Set-cookie 1678</a:t>
              </a:r>
              <a:endParaRPr sz="1100" b="0" i="0" u="none" strike="noStrike" cap="non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5" name="Google Shape;915;p62"/>
          <p:cNvSpPr txBox="1"/>
          <p:nvPr/>
        </p:nvSpPr>
        <p:spPr>
          <a:xfrm>
            <a:off x="1456692" y="3739585"/>
            <a:ext cx="1728786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Amazon 1678</a:t>
            </a:r>
            <a:endParaRPr sz="16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ebay 8734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6" name="Google Shape;916;p62"/>
          <p:cNvGrpSpPr/>
          <p:nvPr/>
        </p:nvGrpSpPr>
        <p:grpSpPr>
          <a:xfrm>
            <a:off x="1718038" y="3300102"/>
            <a:ext cx="597726" cy="382669"/>
            <a:chOff x="1752387" y="1852685"/>
            <a:chExt cx="1072463" cy="628445"/>
          </a:xfrm>
        </p:grpSpPr>
        <p:pic>
          <p:nvPicPr>
            <p:cNvPr id="917" name="Google Shape;917;p6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55800" y="1852685"/>
              <a:ext cx="869050" cy="628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8" name="Google Shape;918;p6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52387" y="1963609"/>
              <a:ext cx="406826" cy="406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9" name="Google Shape;919;p62"/>
          <p:cNvGrpSpPr/>
          <p:nvPr/>
        </p:nvGrpSpPr>
        <p:grpSpPr>
          <a:xfrm>
            <a:off x="3315964" y="3632838"/>
            <a:ext cx="3754990" cy="1347525"/>
            <a:chOff x="3315964" y="3632838"/>
            <a:chExt cx="3754990" cy="1347525"/>
          </a:xfrm>
        </p:grpSpPr>
        <p:cxnSp>
          <p:nvCxnSpPr>
            <p:cNvPr id="920" name="Google Shape;920;p62"/>
            <p:cNvCxnSpPr/>
            <p:nvPr/>
          </p:nvCxnSpPr>
          <p:spPr>
            <a:xfrm>
              <a:off x="3315964" y="3932857"/>
              <a:ext cx="3667917" cy="970138"/>
            </a:xfrm>
            <a:prstGeom prst="straightConnector1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21" name="Google Shape;921;p62"/>
            <p:cNvSpPr txBox="1"/>
            <p:nvPr/>
          </p:nvSpPr>
          <p:spPr>
            <a:xfrm rot="877584">
              <a:off x="4337420" y="3961270"/>
              <a:ext cx="2689919" cy="690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Usual HTTP Request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3F6623"/>
                  </a:solidFill>
                  <a:latin typeface="Arial"/>
                  <a:ea typeface="Arial"/>
                  <a:cs typeface="Arial"/>
                  <a:sym typeface="Arial"/>
                </a:rPr>
                <a:t>Cookie : 1678</a:t>
              </a:r>
              <a:endParaRPr sz="1100" b="0" i="0" u="none" strike="noStrike" cap="non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2" name="Google Shape;922;p62"/>
          <p:cNvGrpSpPr/>
          <p:nvPr/>
        </p:nvGrpSpPr>
        <p:grpSpPr>
          <a:xfrm>
            <a:off x="3322651" y="4559105"/>
            <a:ext cx="3663312" cy="1137238"/>
            <a:chOff x="3256916" y="2588698"/>
            <a:chExt cx="3663312" cy="1137238"/>
          </a:xfrm>
        </p:grpSpPr>
        <p:cxnSp>
          <p:nvCxnSpPr>
            <p:cNvPr id="923" name="Google Shape;923;p62"/>
            <p:cNvCxnSpPr/>
            <p:nvPr/>
          </p:nvCxnSpPr>
          <p:spPr>
            <a:xfrm flipH="1">
              <a:off x="3256916" y="3006537"/>
              <a:ext cx="3663312" cy="666837"/>
            </a:xfrm>
            <a:prstGeom prst="straightConnector1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24" name="Google Shape;924;p62"/>
            <p:cNvSpPr txBox="1"/>
            <p:nvPr/>
          </p:nvSpPr>
          <p:spPr>
            <a:xfrm rot="-552037">
              <a:off x="3624006" y="2778772"/>
              <a:ext cx="2438452" cy="757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Usual HTTP Response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3F6623"/>
                  </a:solidFill>
                  <a:latin typeface="Arial"/>
                  <a:ea typeface="Arial"/>
                  <a:cs typeface="Arial"/>
                  <a:sym typeface="Arial"/>
                </a:rPr>
                <a:t>Cookie : 1678</a:t>
              </a:r>
              <a:endParaRPr sz="1100" b="0" i="0" u="none" strike="noStrike" cap="non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25" name="Google Shape;925;p62"/>
          <p:cNvCxnSpPr/>
          <p:nvPr/>
        </p:nvCxnSpPr>
        <p:spPr>
          <a:xfrm>
            <a:off x="7072627" y="3075673"/>
            <a:ext cx="57188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6" name="Google Shape;926;p62"/>
          <p:cNvSpPr txBox="1"/>
          <p:nvPr/>
        </p:nvSpPr>
        <p:spPr>
          <a:xfrm>
            <a:off x="7644512" y="2821853"/>
            <a:ext cx="1431789" cy="8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Server creates ID for user 1678</a:t>
            </a:r>
            <a:endParaRPr sz="14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4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62"/>
          <p:cNvSpPr txBox="1"/>
          <p:nvPr/>
        </p:nvSpPr>
        <p:spPr>
          <a:xfrm>
            <a:off x="7647785" y="4561850"/>
            <a:ext cx="1017655" cy="8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Cookie specific action</a:t>
            </a:r>
            <a:endParaRPr sz="14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4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8" name="Google Shape;928;p62"/>
          <p:cNvGrpSpPr/>
          <p:nvPr/>
        </p:nvGrpSpPr>
        <p:grpSpPr>
          <a:xfrm>
            <a:off x="9076301" y="2712091"/>
            <a:ext cx="1597800" cy="863856"/>
            <a:chOff x="9076301" y="2712091"/>
            <a:chExt cx="1597800" cy="863856"/>
          </a:xfrm>
        </p:grpSpPr>
        <p:cxnSp>
          <p:nvCxnSpPr>
            <p:cNvPr id="929" name="Google Shape;929;p62"/>
            <p:cNvCxnSpPr>
              <a:stCxn id="926" idx="3"/>
              <a:endCxn id="910" idx="1"/>
            </p:cNvCxnSpPr>
            <p:nvPr/>
          </p:nvCxnSpPr>
          <p:spPr>
            <a:xfrm>
              <a:off x="9076301" y="3236946"/>
              <a:ext cx="1597800" cy="339000"/>
            </a:xfrm>
            <a:prstGeom prst="straightConnector1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30" name="Google Shape;930;p62"/>
            <p:cNvSpPr txBox="1"/>
            <p:nvPr/>
          </p:nvSpPr>
          <p:spPr>
            <a:xfrm rot="759828">
              <a:off x="9106669" y="2868769"/>
              <a:ext cx="1474940" cy="4108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Entry in backend database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31" name="Google Shape;931;p62"/>
          <p:cNvCxnSpPr/>
          <p:nvPr/>
        </p:nvCxnSpPr>
        <p:spPr>
          <a:xfrm>
            <a:off x="7072627" y="4940351"/>
            <a:ext cx="57188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32" name="Google Shape;932;p62"/>
          <p:cNvGrpSpPr/>
          <p:nvPr/>
        </p:nvGrpSpPr>
        <p:grpSpPr>
          <a:xfrm>
            <a:off x="8478685" y="3833453"/>
            <a:ext cx="1917353" cy="1092437"/>
            <a:chOff x="8478685" y="3833453"/>
            <a:chExt cx="1917353" cy="1092437"/>
          </a:xfrm>
        </p:grpSpPr>
        <p:cxnSp>
          <p:nvCxnSpPr>
            <p:cNvPr id="933" name="Google Shape;933;p62"/>
            <p:cNvCxnSpPr/>
            <p:nvPr/>
          </p:nvCxnSpPr>
          <p:spPr>
            <a:xfrm rot="10800000" flipH="1">
              <a:off x="8478685" y="4046937"/>
              <a:ext cx="1917353" cy="878953"/>
            </a:xfrm>
            <a:prstGeom prst="straightConnector1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34" name="Google Shape;934;p62"/>
            <p:cNvSpPr txBox="1"/>
            <p:nvPr/>
          </p:nvSpPr>
          <p:spPr>
            <a:xfrm rot="-1480140">
              <a:off x="8651115" y="4129670"/>
              <a:ext cx="1474940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5" name="Google Shape;935;p62"/>
          <p:cNvGrpSpPr/>
          <p:nvPr/>
        </p:nvGrpSpPr>
        <p:grpSpPr>
          <a:xfrm>
            <a:off x="2352404" y="5392037"/>
            <a:ext cx="597726" cy="382669"/>
            <a:chOff x="1752387" y="1852685"/>
            <a:chExt cx="1072463" cy="628445"/>
          </a:xfrm>
        </p:grpSpPr>
        <p:pic>
          <p:nvPicPr>
            <p:cNvPr id="936" name="Google Shape;936;p6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55800" y="1852685"/>
              <a:ext cx="869050" cy="628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7" name="Google Shape;937;p6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52387" y="1963609"/>
              <a:ext cx="406826" cy="406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3"/>
          <p:cNvSpPr txBox="1">
            <a:spLocks noGrp="1"/>
          </p:cNvSpPr>
          <p:nvPr>
            <p:ph type="title"/>
          </p:nvPr>
        </p:nvSpPr>
        <p:spPr>
          <a:xfrm>
            <a:off x="1955800" y="153988"/>
            <a:ext cx="7772400" cy="77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1010"/>
              <a:buFont typeface="Corbel"/>
              <a:buNone/>
            </a:pPr>
            <a:r>
              <a:rPr lang="en-US" b="1">
                <a:latin typeface="Corbel"/>
                <a:ea typeface="Corbel"/>
                <a:cs typeface="Corbel"/>
                <a:sym typeface="Corbel"/>
              </a:rPr>
              <a:t>Cookies: keeping “state” (cont.)</a:t>
            </a:r>
            <a:endParaRPr b="1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4" name="Google Shape;944;p63"/>
          <p:cNvSpPr txBox="1">
            <a:spLocks noGrp="1"/>
          </p:cNvSpPr>
          <p:nvPr>
            <p:ph type="ftr" idx="11"/>
          </p:nvPr>
        </p:nvSpPr>
        <p:spPr>
          <a:xfrm>
            <a:off x="978635" y="64928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 b="0" i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cxnSp>
        <p:nvCxnSpPr>
          <p:cNvPr id="945" name="Google Shape;945;p63"/>
          <p:cNvCxnSpPr/>
          <p:nvPr/>
        </p:nvCxnSpPr>
        <p:spPr>
          <a:xfrm>
            <a:off x="6945510" y="1880211"/>
            <a:ext cx="51459" cy="417482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ot"/>
            <a:round/>
            <a:headEnd type="none" w="sm" len="sm"/>
            <a:tailEnd type="triangle" w="med" len="med"/>
          </a:ln>
        </p:spPr>
      </p:cxnSp>
      <p:grpSp>
        <p:nvGrpSpPr>
          <p:cNvPr id="946" name="Google Shape;946;p63"/>
          <p:cNvGrpSpPr/>
          <p:nvPr/>
        </p:nvGrpSpPr>
        <p:grpSpPr>
          <a:xfrm>
            <a:off x="6645683" y="1195998"/>
            <a:ext cx="423863" cy="684213"/>
            <a:chOff x="4140" y="429"/>
            <a:chExt cx="1425" cy="2396"/>
          </a:xfrm>
        </p:grpSpPr>
        <p:sp>
          <p:nvSpPr>
            <p:cNvPr id="947" name="Google Shape;947;p63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48" name="Google Shape;948;p63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6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50" name="Google Shape;950;p63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51" name="Google Shape;951;p63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2" name="Google Shape;952;p63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953" name="Google Shape;953;p63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63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" name="Google Shape;955;p63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6" name="Google Shape;956;p63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957" name="Google Shape;957;p63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63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9" name="Google Shape;959;p63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63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1" name="Google Shape;961;p63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962" name="Google Shape;962;p63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63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" name="Google Shape;964;p6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965" name="Google Shape;965;p63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966" name="Google Shape;966;p63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63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8" name="Google Shape;968;p63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6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0" name="Google Shape;970;p63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1" name="Google Shape;971;p63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63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3" name="Google Shape;973;p63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63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63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63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63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63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63"/>
          <p:cNvGrpSpPr/>
          <p:nvPr/>
        </p:nvGrpSpPr>
        <p:grpSpPr>
          <a:xfrm>
            <a:off x="2959288" y="1221213"/>
            <a:ext cx="698500" cy="709613"/>
            <a:chOff x="-44" y="1473"/>
            <a:chExt cx="981" cy="1105"/>
          </a:xfrm>
        </p:grpSpPr>
        <p:pic>
          <p:nvPicPr>
            <p:cNvPr id="980" name="Google Shape;980;p63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" name="Google Shape;981;p6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982" name="Google Shape;982;p63"/>
          <p:cNvCxnSpPr/>
          <p:nvPr/>
        </p:nvCxnSpPr>
        <p:spPr>
          <a:xfrm>
            <a:off x="3271644" y="1963609"/>
            <a:ext cx="0" cy="4091422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ot"/>
            <a:round/>
            <a:headEnd type="none" w="sm" len="sm"/>
            <a:tailEnd type="triangle" w="med" len="med"/>
          </a:ln>
        </p:spPr>
      </p:cxnSp>
      <p:sp>
        <p:nvSpPr>
          <p:cNvPr id="983" name="Google Shape;983;p63"/>
          <p:cNvSpPr txBox="1"/>
          <p:nvPr/>
        </p:nvSpPr>
        <p:spPr>
          <a:xfrm>
            <a:off x="2987481" y="6097348"/>
            <a:ext cx="56832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63"/>
          <p:cNvSpPr txBox="1"/>
          <p:nvPr/>
        </p:nvSpPr>
        <p:spPr>
          <a:xfrm>
            <a:off x="6707154" y="6097348"/>
            <a:ext cx="56832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63"/>
          <p:cNvSpPr txBox="1"/>
          <p:nvPr/>
        </p:nvSpPr>
        <p:spPr>
          <a:xfrm>
            <a:off x="1456692" y="2441593"/>
            <a:ext cx="1613735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Amazon 1678</a:t>
            </a:r>
            <a:endParaRPr sz="16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ebay 8734</a:t>
            </a:r>
            <a:endParaRPr sz="14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6" name="Google Shape;986;p63"/>
          <p:cNvGrpSpPr/>
          <p:nvPr/>
        </p:nvGrpSpPr>
        <p:grpSpPr>
          <a:xfrm>
            <a:off x="1752388" y="1852686"/>
            <a:ext cx="862432" cy="517750"/>
            <a:chOff x="1752387" y="1852685"/>
            <a:chExt cx="1072463" cy="628445"/>
          </a:xfrm>
        </p:grpSpPr>
        <p:pic>
          <p:nvPicPr>
            <p:cNvPr id="987" name="Google Shape;987;p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55800" y="1852685"/>
              <a:ext cx="869050" cy="628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8" name="Google Shape;988;p6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52387" y="1963609"/>
              <a:ext cx="406826" cy="406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9" name="Google Shape;989;p63"/>
          <p:cNvGrpSpPr/>
          <p:nvPr/>
        </p:nvGrpSpPr>
        <p:grpSpPr>
          <a:xfrm>
            <a:off x="10228721" y="2798448"/>
            <a:ext cx="1963279" cy="1305526"/>
            <a:chOff x="10228721" y="3104951"/>
            <a:chExt cx="1963279" cy="1305526"/>
          </a:xfrm>
        </p:grpSpPr>
        <p:pic>
          <p:nvPicPr>
            <p:cNvPr id="990" name="Google Shape;990;p6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74186" y="3104951"/>
              <a:ext cx="941986" cy="9419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1" name="Google Shape;991;p63"/>
            <p:cNvSpPr txBox="1"/>
            <p:nvPr/>
          </p:nvSpPr>
          <p:spPr>
            <a:xfrm>
              <a:off x="10228721" y="4102741"/>
              <a:ext cx="1963279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 b="1" i="0" u="none" strike="noStrike" cap="non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Amazon Server </a:t>
              </a:r>
              <a:endParaRPr sz="14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2" name="Google Shape;992;p63"/>
          <p:cNvGrpSpPr/>
          <p:nvPr/>
        </p:nvGrpSpPr>
        <p:grpSpPr>
          <a:xfrm>
            <a:off x="3384033" y="3273597"/>
            <a:ext cx="3561477" cy="1652293"/>
            <a:chOff x="3231634" y="3113518"/>
            <a:chExt cx="3561477" cy="1652293"/>
          </a:xfrm>
        </p:grpSpPr>
        <p:cxnSp>
          <p:nvCxnSpPr>
            <p:cNvPr id="993" name="Google Shape;993;p63"/>
            <p:cNvCxnSpPr/>
            <p:nvPr/>
          </p:nvCxnSpPr>
          <p:spPr>
            <a:xfrm flipH="1">
              <a:off x="3231634" y="3276210"/>
              <a:ext cx="3561477" cy="1489601"/>
            </a:xfrm>
            <a:prstGeom prst="straightConnector1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94" name="Google Shape;994;p63"/>
            <p:cNvSpPr txBox="1"/>
            <p:nvPr/>
          </p:nvSpPr>
          <p:spPr>
            <a:xfrm rot="-1260858">
              <a:off x="3543262" y="3532790"/>
              <a:ext cx="2438452" cy="539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Usual HTTP Response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3F6623"/>
                  </a:solidFill>
                  <a:latin typeface="Arial"/>
                  <a:ea typeface="Arial"/>
                  <a:cs typeface="Arial"/>
                  <a:sym typeface="Arial"/>
                </a:rPr>
                <a:t>Cookie 1678</a:t>
              </a:r>
              <a:endParaRPr sz="1100" b="0" i="0" u="none" strike="noStrike" cap="non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5" name="Google Shape;995;p63"/>
          <p:cNvSpPr txBox="1"/>
          <p:nvPr/>
        </p:nvSpPr>
        <p:spPr>
          <a:xfrm>
            <a:off x="1564934" y="5158532"/>
            <a:ext cx="1728786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Amazon 1678</a:t>
            </a:r>
            <a:endParaRPr sz="16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ebay 8734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6" name="Google Shape;996;p63"/>
          <p:cNvGrpSpPr/>
          <p:nvPr/>
        </p:nvGrpSpPr>
        <p:grpSpPr>
          <a:xfrm>
            <a:off x="3271644" y="1766054"/>
            <a:ext cx="3673866" cy="1534048"/>
            <a:chOff x="3271644" y="1766054"/>
            <a:chExt cx="3673866" cy="1534048"/>
          </a:xfrm>
        </p:grpSpPr>
        <p:cxnSp>
          <p:nvCxnSpPr>
            <p:cNvPr id="997" name="Google Shape;997;p63"/>
            <p:cNvCxnSpPr/>
            <p:nvPr/>
          </p:nvCxnSpPr>
          <p:spPr>
            <a:xfrm>
              <a:off x="3271644" y="2228929"/>
              <a:ext cx="3673866" cy="1071173"/>
            </a:xfrm>
            <a:prstGeom prst="straightConnector1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98" name="Google Shape;998;p63"/>
            <p:cNvSpPr txBox="1"/>
            <p:nvPr/>
          </p:nvSpPr>
          <p:spPr>
            <a:xfrm rot="877584">
              <a:off x="3723617" y="2094486"/>
              <a:ext cx="2689919" cy="690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Usual HTTP Request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3F6623"/>
                  </a:solidFill>
                  <a:latin typeface="Arial"/>
                  <a:ea typeface="Arial"/>
                  <a:cs typeface="Arial"/>
                  <a:sym typeface="Arial"/>
                </a:rPr>
                <a:t>Cookie : 1678</a:t>
              </a:r>
              <a:endParaRPr sz="1100" b="0" i="0" u="none" strike="noStrike" cap="non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99" name="Google Shape;999;p63"/>
          <p:cNvCxnSpPr/>
          <p:nvPr/>
        </p:nvCxnSpPr>
        <p:spPr>
          <a:xfrm>
            <a:off x="7075900" y="3300104"/>
            <a:ext cx="57188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0" name="Google Shape;1000;p63"/>
          <p:cNvSpPr txBox="1"/>
          <p:nvPr/>
        </p:nvSpPr>
        <p:spPr>
          <a:xfrm>
            <a:off x="7647785" y="2915502"/>
            <a:ext cx="1017655" cy="8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Cookie specific action</a:t>
            </a:r>
            <a:endParaRPr sz="14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4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1" name="Google Shape;1001;p63"/>
          <p:cNvGrpSpPr/>
          <p:nvPr/>
        </p:nvGrpSpPr>
        <p:grpSpPr>
          <a:xfrm>
            <a:off x="8478685" y="3070983"/>
            <a:ext cx="1917353" cy="411853"/>
            <a:chOff x="8478685" y="3635085"/>
            <a:chExt cx="1917353" cy="411853"/>
          </a:xfrm>
        </p:grpSpPr>
        <p:cxnSp>
          <p:nvCxnSpPr>
            <p:cNvPr id="1002" name="Google Shape;1002;p63"/>
            <p:cNvCxnSpPr/>
            <p:nvPr/>
          </p:nvCxnSpPr>
          <p:spPr>
            <a:xfrm>
              <a:off x="8478685" y="4046937"/>
              <a:ext cx="1917353" cy="1"/>
            </a:xfrm>
            <a:prstGeom prst="straightConnector1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03" name="Google Shape;1003;p63"/>
            <p:cNvSpPr txBox="1"/>
            <p:nvPr/>
          </p:nvSpPr>
          <p:spPr>
            <a:xfrm>
              <a:off x="8897098" y="3635085"/>
              <a:ext cx="1474940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4" name="Google Shape;1004;p63"/>
          <p:cNvGrpSpPr/>
          <p:nvPr/>
        </p:nvGrpSpPr>
        <p:grpSpPr>
          <a:xfrm>
            <a:off x="2315957" y="4734555"/>
            <a:ext cx="597726" cy="382669"/>
            <a:chOff x="1752387" y="1852685"/>
            <a:chExt cx="1072463" cy="628445"/>
          </a:xfrm>
        </p:grpSpPr>
        <p:pic>
          <p:nvPicPr>
            <p:cNvPr id="1005" name="Google Shape;1005;p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55800" y="1852685"/>
              <a:ext cx="869050" cy="628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6" name="Google Shape;1006;p6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52387" y="1963609"/>
              <a:ext cx="406826" cy="40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7" name="Google Shape;1007;p63"/>
          <p:cNvSpPr/>
          <p:nvPr/>
        </p:nvSpPr>
        <p:spPr>
          <a:xfrm>
            <a:off x="8229679" y="1186813"/>
            <a:ext cx="3386493" cy="4693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One week later</a:t>
            </a:r>
            <a:endParaRPr sz="28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64"/>
          <p:cNvSpPr txBox="1">
            <a:spLocks noGrp="1"/>
          </p:cNvSpPr>
          <p:nvPr>
            <p:ph type="title"/>
          </p:nvPr>
        </p:nvSpPr>
        <p:spPr>
          <a:xfrm>
            <a:off x="1897063" y="207963"/>
            <a:ext cx="7772400" cy="92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Cookies (continued)</a:t>
            </a:r>
            <a:endParaRPr/>
          </a:p>
        </p:txBody>
      </p:sp>
      <p:sp>
        <p:nvSpPr>
          <p:cNvPr id="1014" name="Google Shape;1014;p64"/>
          <p:cNvSpPr txBox="1">
            <a:spLocks noGrp="1"/>
          </p:cNvSpPr>
          <p:nvPr>
            <p:ph type="body" idx="1"/>
          </p:nvPr>
        </p:nvSpPr>
        <p:spPr>
          <a:xfrm>
            <a:off x="1463513" y="1231413"/>
            <a:ext cx="3810000" cy="26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80"/>
              <a:buFont typeface="Noto Sans Symbols"/>
              <a:buNone/>
            </a:pPr>
            <a:r>
              <a:rPr lang="en-US" sz="2400" b="1" i="1">
                <a:solidFill>
                  <a:srgbClr val="0070C0"/>
                </a:solidFill>
              </a:rPr>
              <a:t>What cookies can be used for:</a:t>
            </a:r>
            <a:endParaRPr/>
          </a:p>
          <a:p>
            <a:pPr marL="285750" lvl="0" indent="-285750" algn="l" rtl="0">
              <a:lnSpc>
                <a:spcPct val="75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200"/>
              <a:t>Authorization</a:t>
            </a:r>
            <a:endParaRPr sz="2200"/>
          </a:p>
          <a:p>
            <a:pPr marL="285750" lvl="0" indent="-285750" algn="l" rtl="0">
              <a:lnSpc>
                <a:spcPct val="75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200"/>
              <a:t>Shopping carts</a:t>
            </a:r>
            <a:endParaRPr/>
          </a:p>
          <a:p>
            <a:pPr marL="285750" lvl="0" indent="-285750" algn="l" rtl="0">
              <a:lnSpc>
                <a:spcPct val="75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200"/>
              <a:t>Recommendations</a:t>
            </a:r>
            <a:endParaRPr sz="2200"/>
          </a:p>
          <a:p>
            <a:pPr marL="285750" lvl="0" indent="-285750" algn="l" rtl="0">
              <a:lnSpc>
                <a:spcPct val="75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2200"/>
              <a:t>User session state (Web email)</a:t>
            </a:r>
            <a:endParaRPr/>
          </a:p>
        </p:txBody>
      </p:sp>
      <p:sp>
        <p:nvSpPr>
          <p:cNvPr id="1015" name="Google Shape;1015;p64"/>
          <p:cNvSpPr/>
          <p:nvPr/>
        </p:nvSpPr>
        <p:spPr>
          <a:xfrm>
            <a:off x="5859475" y="1309764"/>
            <a:ext cx="3810000" cy="2065200"/>
          </a:xfrm>
          <a:prstGeom prst="rect">
            <a:avLst/>
          </a:prstGeom>
          <a:noFill/>
          <a:ln w="19050" cap="flat" cmpd="sng">
            <a:solidFill>
              <a:srgbClr val="0000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rPr lang="en-US" sz="2400" b="1" i="1" u="none" strike="noStrike" cap="none" dirty="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Cookies and privacy: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Cookies permit sites to learn a lot about you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You may supply name and email to sites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64"/>
          <p:cNvSpPr txBox="1"/>
          <p:nvPr/>
        </p:nvSpPr>
        <p:spPr>
          <a:xfrm>
            <a:off x="9120225" y="864907"/>
            <a:ext cx="11352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aside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64"/>
          <p:cNvSpPr/>
          <p:nvPr/>
        </p:nvSpPr>
        <p:spPr>
          <a:xfrm>
            <a:off x="1138350" y="3822375"/>
            <a:ext cx="4369800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rPr lang="en-US" sz="2400" b="1" i="1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How to keep “state”: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Protocol endpoints: maintain state at sender/receiver over multiple transactions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Cookies: http messages carry state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8" name="Google Shape;1018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2563" y="1645601"/>
            <a:ext cx="3019425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625E1-8154-45DA-994F-BDF9173BF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B95D9-A149-44E5-ADCD-535C91C94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8E25F-AA55-48D0-A569-2B51F0E10E6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oogle Shape;1019;p64">
            <a:extLst>
              <a:ext uri="{FF2B5EF4-FFF2-40B4-BE49-F238E27FC236}">
                <a16:creationId xmlns:a16="http://schemas.microsoft.com/office/drawing/2014/main" id="{F6F03A1C-7114-4AFF-AC17-7C3DB786C62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70939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757969-8DEB-4F54-BE77-9BC7A30B455F}"/>
              </a:ext>
            </a:extLst>
          </p:cNvPr>
          <p:cNvSpPr/>
          <p:nvPr/>
        </p:nvSpPr>
        <p:spPr>
          <a:xfrm>
            <a:off x="4085303" y="4291781"/>
            <a:ext cx="884903" cy="235974"/>
          </a:xfrm>
          <a:prstGeom prst="rect">
            <a:avLst/>
          </a:prstGeom>
          <a:solidFill>
            <a:srgbClr val="FF0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3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6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025" name="Google Shape;1025;p6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</a:t>
            </a:r>
            <a:endParaRPr/>
          </a:p>
        </p:txBody>
      </p:sp>
      <p:sp>
        <p:nvSpPr>
          <p:cNvPr id="1026" name="Google Shape;1026;p6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</a:t>
            </a:r>
            <a:endParaRPr/>
          </a:p>
        </p:txBody>
      </p:sp>
      <p:pic>
        <p:nvPicPr>
          <p:cNvPr id="1027" name="Google Shape;1027;p65"/>
          <p:cNvPicPr preferRelativeResize="0"/>
          <p:nvPr/>
        </p:nvPicPr>
        <p:blipFill rotWithShape="1">
          <a:blip r:embed="rId3">
            <a:alphaModFix/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6200" y="193888"/>
            <a:ext cx="12192000" cy="22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65"/>
          <p:cNvSpPr txBox="1"/>
          <p:nvPr/>
        </p:nvSpPr>
        <p:spPr>
          <a:xfrm>
            <a:off x="1170432" y="2990088"/>
            <a:ext cx="9236824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 1: HTTP request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did not have any Cookie ID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Thursday: the website stored cookie ID in the browser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 2: Friday: client send HTTP request with the Cookie ID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Server </a:t>
            </a:r>
            <a:r>
              <a:rPr lang="en-US" sz="20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retrieve the user info (cart info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from its database </a:t>
            </a:r>
            <a:r>
              <a:rPr lang="en-US" sz="20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using the ID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034" name="Google Shape;1034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Cookie was stored on in Chrome.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Internet Explorer does not have any cookie ID.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HTTP request does not have any cookie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Server cannot recognize the user</a:t>
            </a:r>
            <a:endParaRPr/>
          </a:p>
        </p:txBody>
      </p:sp>
      <p:sp>
        <p:nvSpPr>
          <p:cNvPr id="1035" name="Google Shape;1035;p6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036" name="Google Shape;1036;p66"/>
          <p:cNvPicPr preferRelativeResize="0"/>
          <p:nvPr/>
        </p:nvPicPr>
        <p:blipFill rotWithShape="1">
          <a:blip r:embed="rId3">
            <a:alphaModFix/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/>
        </p:blipFill>
        <p:spPr>
          <a:xfrm>
            <a:off x="192024" y="371962"/>
            <a:ext cx="11814048" cy="1277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67"/>
          <p:cNvSpPr txBox="1">
            <a:spLocks noGrp="1"/>
          </p:cNvSpPr>
          <p:nvPr>
            <p:ph type="ctrTitle"/>
          </p:nvPr>
        </p:nvSpPr>
        <p:spPr>
          <a:xfrm>
            <a:off x="1449977" y="1380068"/>
            <a:ext cx="10053046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Web Cache or Proxy Server</a:t>
            </a:r>
            <a:endParaRPr/>
          </a:p>
        </p:txBody>
      </p:sp>
      <p:sp>
        <p:nvSpPr>
          <p:cNvPr id="1042" name="Google Shape;1042;p67"/>
          <p:cNvSpPr txBox="1"/>
          <p:nvPr/>
        </p:nvSpPr>
        <p:spPr>
          <a:xfrm>
            <a:off x="6345250" y="4202700"/>
            <a:ext cx="3000000" cy="14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lang="en-US" sz="4033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Part 5</a:t>
            </a:r>
            <a:br>
              <a:rPr lang="en-US" sz="4033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40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8"/>
          <p:cNvSpPr txBox="1">
            <a:spLocks noGrp="1"/>
          </p:cNvSpPr>
          <p:nvPr>
            <p:ph type="title"/>
          </p:nvPr>
        </p:nvSpPr>
        <p:spPr>
          <a:xfrm>
            <a:off x="1484311" y="685801"/>
            <a:ext cx="1001871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Calibri"/>
              <a:buNone/>
            </a:pPr>
            <a:r>
              <a:rPr lang="en-US" b="1"/>
              <a:t>Objectives - Part 5</a:t>
            </a:r>
            <a:endParaRPr/>
          </a:p>
        </p:txBody>
      </p:sp>
      <p:sp>
        <p:nvSpPr>
          <p:cNvPr id="1048" name="Google Shape;1048;p68"/>
          <p:cNvSpPr txBox="1">
            <a:spLocks noGrp="1"/>
          </p:cNvSpPr>
          <p:nvPr>
            <p:ph type="body" idx="1"/>
          </p:nvPr>
        </p:nvSpPr>
        <p:spPr>
          <a:xfrm>
            <a:off x="1738310" y="1803402"/>
            <a:ext cx="10018713" cy="4381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78378"/>
              <a:buChar char="•"/>
            </a:pPr>
            <a:r>
              <a:rPr lang="en-US" sz="3600"/>
              <a:t>What is a Web Cache (Proxy Servers)?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78378"/>
              <a:buNone/>
            </a:pPr>
            <a:endParaRPr sz="36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78378"/>
              <a:buChar char="•"/>
            </a:pPr>
            <a:r>
              <a:rPr lang="en-US" sz="3600"/>
              <a:t>Advantages of Web Cache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78378"/>
              <a:buNone/>
            </a:pPr>
            <a:endParaRPr sz="36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78378"/>
              <a:buChar char="•"/>
            </a:pPr>
            <a:r>
              <a:rPr lang="en-US" sz="3600"/>
              <a:t>Web Caching Example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78378"/>
              <a:buNone/>
            </a:pPr>
            <a:endParaRPr sz="36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78378"/>
              <a:buChar char="•"/>
            </a:pPr>
            <a:r>
              <a:rPr lang="en-US" sz="3600"/>
              <a:t>Problems of Web Caching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78378"/>
              <a:buNone/>
            </a:pPr>
            <a:endParaRPr sz="36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78378"/>
              <a:buChar char="•"/>
            </a:pPr>
            <a:r>
              <a:rPr lang="en-US" sz="3600"/>
              <a:t>Conditional-GET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17566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17566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17566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Google Shape;1054;p69"/>
          <p:cNvGrpSpPr/>
          <p:nvPr/>
        </p:nvGrpSpPr>
        <p:grpSpPr>
          <a:xfrm>
            <a:off x="5551489" y="2695575"/>
            <a:ext cx="687387" cy="763588"/>
            <a:chOff x="-44" y="1473"/>
            <a:chExt cx="981" cy="1105"/>
          </a:xfrm>
        </p:grpSpPr>
        <p:pic>
          <p:nvPicPr>
            <p:cNvPr id="1055" name="Google Shape;1055;p69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6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057" name="Google Shape;1057;p69"/>
          <p:cNvGrpSpPr/>
          <p:nvPr/>
        </p:nvGrpSpPr>
        <p:grpSpPr>
          <a:xfrm>
            <a:off x="5616575" y="4568825"/>
            <a:ext cx="687388" cy="763588"/>
            <a:chOff x="-44" y="1473"/>
            <a:chExt cx="981" cy="1105"/>
          </a:xfrm>
        </p:grpSpPr>
        <p:pic>
          <p:nvPicPr>
            <p:cNvPr id="1058" name="Google Shape;1058;p69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9" name="Google Shape;1059;p6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060" name="Google Shape;1060;p69"/>
          <p:cNvGrpSpPr/>
          <p:nvPr/>
        </p:nvGrpSpPr>
        <p:grpSpPr>
          <a:xfrm>
            <a:off x="7754938" y="3457576"/>
            <a:ext cx="400050" cy="715963"/>
            <a:chOff x="4140" y="429"/>
            <a:chExt cx="1425" cy="2396"/>
          </a:xfrm>
        </p:grpSpPr>
        <p:sp>
          <p:nvSpPr>
            <p:cNvPr id="1061" name="Google Shape;1061;p69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62" name="Google Shape;1062;p69"/>
            <p:cNvSpPr/>
            <p:nvPr/>
          </p:nvSpPr>
          <p:spPr>
            <a:xfrm>
              <a:off x="4208" y="429"/>
              <a:ext cx="1046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69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64" name="Google Shape;1064;p69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65" name="Google Shape;1065;p69"/>
            <p:cNvSpPr/>
            <p:nvPr/>
          </p:nvSpPr>
          <p:spPr>
            <a:xfrm>
              <a:off x="4214" y="695"/>
              <a:ext cx="594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6" name="Google Shape;1066;p69"/>
            <p:cNvGrpSpPr/>
            <p:nvPr/>
          </p:nvGrpSpPr>
          <p:grpSpPr>
            <a:xfrm>
              <a:off x="4751" y="668"/>
              <a:ext cx="577" cy="144"/>
              <a:chOff x="616" y="2568"/>
              <a:chExt cx="720" cy="138"/>
            </a:xfrm>
          </p:grpSpPr>
          <p:sp>
            <p:nvSpPr>
              <p:cNvPr id="1067" name="Google Shape;1067;p69"/>
              <p:cNvSpPr/>
              <p:nvPr/>
            </p:nvSpPr>
            <p:spPr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69"/>
              <p:cNvSpPr/>
              <p:nvPr/>
            </p:nvSpPr>
            <p:spPr>
              <a:xfrm>
                <a:off x="630" y="2583"/>
                <a:ext cx="670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9" name="Google Shape;1069;p69"/>
            <p:cNvSpPr/>
            <p:nvPr/>
          </p:nvSpPr>
          <p:spPr>
            <a:xfrm>
              <a:off x="4225" y="1019"/>
              <a:ext cx="594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0" name="Google Shape;1070;p69"/>
            <p:cNvGrpSpPr/>
            <p:nvPr/>
          </p:nvGrpSpPr>
          <p:grpSpPr>
            <a:xfrm>
              <a:off x="4745" y="992"/>
              <a:ext cx="583" cy="138"/>
              <a:chOff x="612" y="2566"/>
              <a:chExt cx="727" cy="143"/>
            </a:xfrm>
          </p:grpSpPr>
          <p:sp>
            <p:nvSpPr>
              <p:cNvPr id="1071" name="Google Shape;1071;p69"/>
              <p:cNvSpPr/>
              <p:nvPr/>
            </p:nvSpPr>
            <p:spPr>
              <a:xfrm>
                <a:off x="612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69"/>
              <p:cNvSpPr/>
              <p:nvPr/>
            </p:nvSpPr>
            <p:spPr>
              <a:xfrm>
                <a:off x="626" y="2583"/>
                <a:ext cx="692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3" name="Google Shape;1073;p69"/>
            <p:cNvSpPr/>
            <p:nvPr/>
          </p:nvSpPr>
          <p:spPr>
            <a:xfrm>
              <a:off x="4219" y="1359"/>
              <a:ext cx="594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69"/>
            <p:cNvSpPr/>
            <p:nvPr/>
          </p:nvSpPr>
          <p:spPr>
            <a:xfrm>
              <a:off x="4230" y="1656"/>
              <a:ext cx="594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5" name="Google Shape;1075;p69"/>
            <p:cNvGrpSpPr/>
            <p:nvPr/>
          </p:nvGrpSpPr>
          <p:grpSpPr>
            <a:xfrm>
              <a:off x="4733" y="1629"/>
              <a:ext cx="583" cy="149"/>
              <a:chOff x="612" y="2570"/>
              <a:chExt cx="726" cy="137"/>
            </a:xfrm>
          </p:grpSpPr>
          <p:sp>
            <p:nvSpPr>
              <p:cNvPr id="1076" name="Google Shape;1076;p69"/>
              <p:cNvSpPr/>
              <p:nvPr/>
            </p:nvSpPr>
            <p:spPr>
              <a:xfrm>
                <a:off x="612" y="2570"/>
                <a:ext cx="726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69"/>
              <p:cNvSpPr/>
              <p:nvPr/>
            </p:nvSpPr>
            <p:spPr>
              <a:xfrm>
                <a:off x="627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8" name="Google Shape;1078;p69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079" name="Google Shape;1079;p69"/>
            <p:cNvGrpSpPr/>
            <p:nvPr/>
          </p:nvGrpSpPr>
          <p:grpSpPr>
            <a:xfrm>
              <a:off x="4740" y="1327"/>
              <a:ext cx="583" cy="138"/>
              <a:chOff x="615" y="2568"/>
              <a:chExt cx="726" cy="138"/>
            </a:xfrm>
          </p:grpSpPr>
          <p:sp>
            <p:nvSpPr>
              <p:cNvPr id="1080" name="Google Shape;1080;p69"/>
              <p:cNvSpPr/>
              <p:nvPr/>
            </p:nvSpPr>
            <p:spPr>
              <a:xfrm>
                <a:off x="615" y="2568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69"/>
              <p:cNvSpPr/>
              <p:nvPr/>
            </p:nvSpPr>
            <p:spPr>
              <a:xfrm>
                <a:off x="629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2" name="Google Shape;1082;p69"/>
            <p:cNvSpPr/>
            <p:nvPr/>
          </p:nvSpPr>
          <p:spPr>
            <a:xfrm>
              <a:off x="5248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69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4" name="Google Shape;1084;p69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5" name="Google Shape;1085;p69"/>
            <p:cNvSpPr/>
            <p:nvPr/>
          </p:nvSpPr>
          <p:spPr>
            <a:xfrm>
              <a:off x="5520" y="2612"/>
              <a:ext cx="45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69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7" name="Google Shape;1087;p69"/>
            <p:cNvSpPr/>
            <p:nvPr/>
          </p:nvSpPr>
          <p:spPr>
            <a:xfrm>
              <a:off x="4140" y="2676"/>
              <a:ext cx="1199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69"/>
            <p:cNvSpPr/>
            <p:nvPr/>
          </p:nvSpPr>
          <p:spPr>
            <a:xfrm>
              <a:off x="4208" y="2713"/>
              <a:ext cx="1069" cy="8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69"/>
            <p:cNvSpPr/>
            <p:nvPr/>
          </p:nvSpPr>
          <p:spPr>
            <a:xfrm>
              <a:off x="4310" y="2384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69"/>
            <p:cNvSpPr/>
            <p:nvPr/>
          </p:nvSpPr>
          <p:spPr>
            <a:xfrm>
              <a:off x="4485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9"/>
            <p:cNvSpPr/>
            <p:nvPr/>
          </p:nvSpPr>
          <p:spPr>
            <a:xfrm>
              <a:off x="4660" y="2379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9"/>
            <p:cNvSpPr/>
            <p:nvPr/>
          </p:nvSpPr>
          <p:spPr>
            <a:xfrm>
              <a:off x="5062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3" name="Google Shape;1093;p69"/>
          <p:cNvGrpSpPr/>
          <p:nvPr/>
        </p:nvGrpSpPr>
        <p:grpSpPr>
          <a:xfrm>
            <a:off x="9702800" y="2836863"/>
            <a:ext cx="433388" cy="715962"/>
            <a:chOff x="4140" y="429"/>
            <a:chExt cx="1425" cy="2396"/>
          </a:xfrm>
        </p:grpSpPr>
        <p:sp>
          <p:nvSpPr>
            <p:cNvPr id="1094" name="Google Shape;1094;p69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5" name="Google Shape;1095;p69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9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7" name="Google Shape;1097;p69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8" name="Google Shape;1098;p69"/>
            <p:cNvSpPr/>
            <p:nvPr/>
          </p:nvSpPr>
          <p:spPr>
            <a:xfrm>
              <a:off x="4213" y="695"/>
              <a:ext cx="595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9" name="Google Shape;1099;p69"/>
            <p:cNvGrpSpPr/>
            <p:nvPr/>
          </p:nvGrpSpPr>
          <p:grpSpPr>
            <a:xfrm>
              <a:off x="4751" y="668"/>
              <a:ext cx="579" cy="144"/>
              <a:chOff x="616" y="2568"/>
              <a:chExt cx="723" cy="138"/>
            </a:xfrm>
          </p:grpSpPr>
          <p:sp>
            <p:nvSpPr>
              <p:cNvPr id="1100" name="Google Shape;1100;p69"/>
              <p:cNvSpPr/>
              <p:nvPr/>
            </p:nvSpPr>
            <p:spPr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69"/>
              <p:cNvSpPr/>
              <p:nvPr/>
            </p:nvSpPr>
            <p:spPr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2" name="Google Shape;1102;p69"/>
            <p:cNvSpPr/>
            <p:nvPr/>
          </p:nvSpPr>
          <p:spPr>
            <a:xfrm>
              <a:off x="4224" y="1019"/>
              <a:ext cx="595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3" name="Google Shape;1103;p69"/>
            <p:cNvGrpSpPr/>
            <p:nvPr/>
          </p:nvGrpSpPr>
          <p:grpSpPr>
            <a:xfrm>
              <a:off x="4745" y="992"/>
              <a:ext cx="585" cy="138"/>
              <a:chOff x="612" y="2566"/>
              <a:chExt cx="730" cy="143"/>
            </a:xfrm>
          </p:grpSpPr>
          <p:sp>
            <p:nvSpPr>
              <p:cNvPr id="1104" name="Google Shape;1104;p69"/>
              <p:cNvSpPr/>
              <p:nvPr/>
            </p:nvSpPr>
            <p:spPr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69"/>
              <p:cNvSpPr/>
              <p:nvPr/>
            </p:nvSpPr>
            <p:spPr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6" name="Google Shape;1106;p69"/>
            <p:cNvSpPr/>
            <p:nvPr/>
          </p:nvSpPr>
          <p:spPr>
            <a:xfrm>
              <a:off x="4218" y="1359"/>
              <a:ext cx="595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9"/>
            <p:cNvSpPr/>
            <p:nvPr/>
          </p:nvSpPr>
          <p:spPr>
            <a:xfrm>
              <a:off x="4229" y="1656"/>
              <a:ext cx="595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8" name="Google Shape;1108;p69"/>
            <p:cNvGrpSpPr/>
            <p:nvPr/>
          </p:nvGrpSpPr>
          <p:grpSpPr>
            <a:xfrm>
              <a:off x="4735" y="1629"/>
              <a:ext cx="580" cy="149"/>
              <a:chOff x="614" y="2570"/>
              <a:chExt cx="722" cy="137"/>
            </a:xfrm>
          </p:grpSpPr>
          <p:sp>
            <p:nvSpPr>
              <p:cNvPr id="1109" name="Google Shape;1109;p69"/>
              <p:cNvSpPr/>
              <p:nvPr/>
            </p:nvSpPr>
            <p:spPr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69"/>
              <p:cNvSpPr/>
              <p:nvPr/>
            </p:nvSpPr>
            <p:spPr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1" name="Google Shape;1111;p69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112" name="Google Shape;1112;p69"/>
            <p:cNvGrpSpPr/>
            <p:nvPr/>
          </p:nvGrpSpPr>
          <p:grpSpPr>
            <a:xfrm>
              <a:off x="4741" y="1327"/>
              <a:ext cx="580" cy="138"/>
              <a:chOff x="616" y="2568"/>
              <a:chExt cx="722" cy="138"/>
            </a:xfrm>
          </p:grpSpPr>
          <p:sp>
            <p:nvSpPr>
              <p:cNvPr id="1113" name="Google Shape;1113;p69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69"/>
              <p:cNvSpPr/>
              <p:nvPr/>
            </p:nvSpPr>
            <p:spPr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5" name="Google Shape;1115;p69"/>
            <p:cNvSpPr/>
            <p:nvPr/>
          </p:nvSpPr>
          <p:spPr>
            <a:xfrm>
              <a:off x="5252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9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17" name="Google Shape;1117;p69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18" name="Google Shape;1118;p69"/>
            <p:cNvSpPr/>
            <p:nvPr/>
          </p:nvSpPr>
          <p:spPr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9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20" name="Google Shape;1120;p69"/>
            <p:cNvSpPr/>
            <p:nvPr/>
          </p:nvSpPr>
          <p:spPr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69"/>
            <p:cNvSpPr/>
            <p:nvPr/>
          </p:nvSpPr>
          <p:spPr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69"/>
            <p:cNvSpPr/>
            <p:nvPr/>
          </p:nvSpPr>
          <p:spPr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69"/>
            <p:cNvSpPr/>
            <p:nvPr/>
          </p:nvSpPr>
          <p:spPr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69"/>
            <p:cNvSpPr/>
            <p:nvPr/>
          </p:nvSpPr>
          <p:spPr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69"/>
            <p:cNvSpPr/>
            <p:nvPr/>
          </p:nvSpPr>
          <p:spPr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6" name="Google Shape;1126;p69"/>
          <p:cNvSpPr txBox="1">
            <a:spLocks noGrp="1"/>
          </p:cNvSpPr>
          <p:nvPr>
            <p:ph type="title"/>
          </p:nvPr>
        </p:nvSpPr>
        <p:spPr>
          <a:xfrm>
            <a:off x="1857375" y="234951"/>
            <a:ext cx="7772400" cy="89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Web caches (proxy server)</a:t>
            </a:r>
            <a:endParaRPr b="1"/>
          </a:p>
        </p:txBody>
      </p:sp>
      <p:sp>
        <p:nvSpPr>
          <p:cNvPr id="1127" name="Google Shape;1127;p69"/>
          <p:cNvSpPr txBox="1">
            <a:spLocks noGrp="1"/>
          </p:cNvSpPr>
          <p:nvPr>
            <p:ph type="body" idx="1"/>
          </p:nvPr>
        </p:nvSpPr>
        <p:spPr>
          <a:xfrm>
            <a:off x="918854" y="2013712"/>
            <a:ext cx="4391334" cy="4628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33363" lvl="0" indent="-2333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3200"/>
              <a:t>User sets browser: Web accesses via  cache</a:t>
            </a:r>
            <a:endParaRPr sz="2400"/>
          </a:p>
          <a:p>
            <a:pPr marL="233363" lvl="0" indent="-233363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Char char="•"/>
            </a:pPr>
            <a:r>
              <a:rPr lang="en-US" sz="3200"/>
              <a:t>Browser sends all HTTP requests to cache</a:t>
            </a:r>
            <a:endParaRPr sz="2400"/>
          </a:p>
          <a:p>
            <a:pPr marL="685800" lvl="1" indent="-22860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2320"/>
              <a:buChar char="•"/>
            </a:pPr>
            <a:r>
              <a:rPr lang="en-US" sz="2400"/>
              <a:t>Object in cache: cache returns object </a:t>
            </a:r>
            <a:endParaRPr sz="2400"/>
          </a:p>
          <a:p>
            <a:pPr marL="685800" lvl="1" indent="-22860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2320"/>
              <a:buChar char="•"/>
            </a:pPr>
            <a:r>
              <a:rPr lang="en-US" sz="2400"/>
              <a:t>Else cache requests object from origin server, then returns object to client</a:t>
            </a:r>
            <a:endParaRPr sz="2400"/>
          </a:p>
        </p:txBody>
      </p:sp>
      <p:sp>
        <p:nvSpPr>
          <p:cNvPr id="1128" name="Google Shape;1128;p69"/>
          <p:cNvSpPr/>
          <p:nvPr/>
        </p:nvSpPr>
        <p:spPr>
          <a:xfrm>
            <a:off x="1560512" y="1173231"/>
            <a:ext cx="9805988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3200" b="0" i="1" u="none" strike="noStrike" cap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Goal:</a:t>
            </a: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Satisfy client request without involving origin server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69"/>
          <p:cNvSpPr txBox="1"/>
          <p:nvPr/>
        </p:nvSpPr>
        <p:spPr>
          <a:xfrm>
            <a:off x="5695951" y="3368675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69"/>
          <p:cNvSpPr txBox="1"/>
          <p:nvPr/>
        </p:nvSpPr>
        <p:spPr>
          <a:xfrm>
            <a:off x="7481888" y="2774951"/>
            <a:ext cx="8890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69"/>
          <p:cNvSpPr txBox="1"/>
          <p:nvPr/>
        </p:nvSpPr>
        <p:spPr>
          <a:xfrm>
            <a:off x="5818189" y="5340350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2" name="Google Shape;1132;p69"/>
          <p:cNvGrpSpPr/>
          <p:nvPr/>
        </p:nvGrpSpPr>
        <p:grpSpPr>
          <a:xfrm>
            <a:off x="6128302" y="3878581"/>
            <a:ext cx="1556786" cy="980440"/>
            <a:chOff x="2900" y="2443"/>
            <a:chExt cx="981" cy="618"/>
          </a:xfrm>
        </p:grpSpPr>
        <p:cxnSp>
          <p:nvCxnSpPr>
            <p:cNvPr id="1133" name="Google Shape;1133;p69"/>
            <p:cNvCxnSpPr/>
            <p:nvPr/>
          </p:nvCxnSpPr>
          <p:spPr>
            <a:xfrm rot="10800000" flipH="1">
              <a:off x="2998" y="2580"/>
              <a:ext cx="883" cy="479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134" name="Google Shape;1134;p69"/>
            <p:cNvSpPr txBox="1"/>
            <p:nvPr/>
          </p:nvSpPr>
          <p:spPr>
            <a:xfrm rot="-1692639">
              <a:off x="2896" y="2646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sz="2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5" name="Google Shape;1135;p69"/>
          <p:cNvGrpSpPr/>
          <p:nvPr/>
        </p:nvGrpSpPr>
        <p:grpSpPr>
          <a:xfrm>
            <a:off x="6323569" y="4155801"/>
            <a:ext cx="1568927" cy="1072114"/>
            <a:chOff x="3024" y="2615"/>
            <a:chExt cx="987" cy="675"/>
          </a:xfrm>
        </p:grpSpPr>
        <p:cxnSp>
          <p:nvCxnSpPr>
            <p:cNvPr id="1136" name="Google Shape;1136;p69"/>
            <p:cNvCxnSpPr/>
            <p:nvPr/>
          </p:nvCxnSpPr>
          <p:spPr>
            <a:xfrm flipH="1">
              <a:off x="3030" y="2635"/>
              <a:ext cx="884" cy="495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137" name="Google Shape;1137;p69"/>
            <p:cNvSpPr txBox="1"/>
            <p:nvPr/>
          </p:nvSpPr>
          <p:spPr>
            <a:xfrm rot="-1737783">
              <a:off x="3012" y="2847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sz="2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8" name="Google Shape;1138;p69"/>
          <p:cNvSpPr txBox="1"/>
          <p:nvPr/>
        </p:nvSpPr>
        <p:spPr>
          <a:xfrm>
            <a:off x="9540875" y="3484564"/>
            <a:ext cx="7493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69"/>
          <p:cNvSpPr/>
          <p:nvPr/>
        </p:nvSpPr>
        <p:spPr>
          <a:xfrm>
            <a:off x="8470900" y="4349750"/>
            <a:ext cx="4064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40" name="Google Shape;1140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1863" y="2632075"/>
            <a:ext cx="527050" cy="43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1" name="Google Shape;1141;p69"/>
          <p:cNvGrpSpPr/>
          <p:nvPr/>
        </p:nvGrpSpPr>
        <p:grpSpPr>
          <a:xfrm>
            <a:off x="5561371" y="2676906"/>
            <a:ext cx="4179872" cy="1814512"/>
            <a:chOff x="2515" y="1687"/>
            <a:chExt cx="2632" cy="1143"/>
          </a:xfrm>
        </p:grpSpPr>
        <p:sp>
          <p:nvSpPr>
            <p:cNvPr id="1142" name="Google Shape;1142;p69"/>
            <p:cNvSpPr/>
            <p:nvPr/>
          </p:nvSpPr>
          <p:spPr>
            <a:xfrm>
              <a:off x="2985" y="2026"/>
              <a:ext cx="2119" cy="476"/>
            </a:xfrm>
            <a:custGeom>
              <a:avLst/>
              <a:gdLst/>
              <a:ahLst/>
              <a:cxnLst/>
              <a:rect l="l" t="t" r="r" b="b"/>
              <a:pathLst>
                <a:path w="2119" h="476" extrusionOk="0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43" name="Google Shape;1143;p69"/>
            <p:cNvSpPr txBox="1"/>
            <p:nvPr/>
          </p:nvSpPr>
          <p:spPr>
            <a:xfrm rot="1411598">
              <a:off x="2906" y="2244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sz="2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9"/>
            <p:cNvSpPr txBox="1"/>
            <p:nvPr/>
          </p:nvSpPr>
          <p:spPr>
            <a:xfrm rot="-1415789">
              <a:off x="4136" y="2232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sz="2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45" name="Google Shape;1145;p6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6" name="Google Shape;1146;p6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47" name="Google Shape;1147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4188" y="4613275"/>
            <a:ext cx="527050" cy="43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8" name="Google Shape;1148;p69"/>
          <p:cNvGrpSpPr/>
          <p:nvPr/>
        </p:nvGrpSpPr>
        <p:grpSpPr>
          <a:xfrm>
            <a:off x="6353228" y="2866947"/>
            <a:ext cx="1510250" cy="931876"/>
            <a:chOff x="6362555" y="2866722"/>
            <a:chExt cx="1510250" cy="931876"/>
          </a:xfrm>
        </p:grpSpPr>
        <p:sp>
          <p:nvSpPr>
            <p:cNvPr id="1149" name="Google Shape;1149;p69"/>
            <p:cNvSpPr txBox="1"/>
            <p:nvPr/>
          </p:nvSpPr>
          <p:spPr>
            <a:xfrm rot="1422779">
              <a:off x="6417884" y="3143576"/>
              <a:ext cx="1447948" cy="338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sz="2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0" name="Google Shape;1150;p69"/>
            <p:cNvCxnSpPr>
              <a:endCxn id="1062" idx="1"/>
            </p:cNvCxnSpPr>
            <p:nvPr/>
          </p:nvCxnSpPr>
          <p:spPr>
            <a:xfrm>
              <a:off x="6362555" y="3113099"/>
              <a:ext cx="1420800" cy="685500"/>
            </a:xfrm>
            <a:prstGeom prst="straightConnector1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151" name="Google Shape;1151;p69"/>
          <p:cNvGrpSpPr/>
          <p:nvPr/>
        </p:nvGrpSpPr>
        <p:grpSpPr>
          <a:xfrm>
            <a:off x="7913047" y="2883018"/>
            <a:ext cx="1815300" cy="901718"/>
            <a:chOff x="7913047" y="2883018"/>
            <a:chExt cx="1815300" cy="901718"/>
          </a:xfrm>
        </p:grpSpPr>
        <p:sp>
          <p:nvSpPr>
            <p:cNvPr id="1152" name="Google Shape;1152;p69"/>
            <p:cNvSpPr txBox="1"/>
            <p:nvPr/>
          </p:nvSpPr>
          <p:spPr>
            <a:xfrm rot="-1420536">
              <a:off x="8055328" y="3159466"/>
              <a:ext cx="1447861" cy="338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sz="2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3" name="Google Shape;1153;p69"/>
            <p:cNvCxnSpPr>
              <a:endCxn id="1102" idx="1"/>
            </p:cNvCxnSpPr>
            <p:nvPr/>
          </p:nvCxnSpPr>
          <p:spPr>
            <a:xfrm rot="10800000" flipH="1">
              <a:off x="7913047" y="3020336"/>
              <a:ext cx="1815300" cy="764400"/>
            </a:xfrm>
            <a:prstGeom prst="straightConnector1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70"/>
          <p:cNvSpPr txBox="1">
            <a:spLocks noGrp="1"/>
          </p:cNvSpPr>
          <p:nvPr>
            <p:ph type="title"/>
          </p:nvPr>
        </p:nvSpPr>
        <p:spPr>
          <a:xfrm>
            <a:off x="2001838" y="234950"/>
            <a:ext cx="7772400" cy="947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/>
              <a:t>More about Web caching</a:t>
            </a:r>
            <a:endParaRPr/>
          </a:p>
        </p:txBody>
      </p:sp>
      <p:sp>
        <p:nvSpPr>
          <p:cNvPr id="1160" name="Google Shape;1160;p70"/>
          <p:cNvSpPr txBox="1">
            <a:spLocks noGrp="1"/>
          </p:cNvSpPr>
          <p:nvPr>
            <p:ph type="body" idx="1"/>
          </p:nvPr>
        </p:nvSpPr>
        <p:spPr>
          <a:xfrm>
            <a:off x="1567573" y="1337366"/>
            <a:ext cx="8666609" cy="449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87"/>
              <a:buChar char="•"/>
            </a:pPr>
            <a:r>
              <a:rPr lang="en-US" sz="3200" b="1"/>
              <a:t>A Proxy Server acts as both client and server</a:t>
            </a:r>
            <a:endParaRPr sz="2400"/>
          </a:p>
          <a:p>
            <a:pPr marL="742950" lvl="1" indent="-285750" algn="l" rtl="0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Clr>
                <a:schemeClr val="dk1"/>
              </a:buClr>
              <a:buSzPts val="3487"/>
              <a:buFont typeface="Noto Sans Symbols"/>
              <a:buChar char="▪"/>
            </a:pPr>
            <a:r>
              <a:rPr lang="en-US" sz="3200"/>
              <a:t>Server for original requesting client</a:t>
            </a:r>
            <a:endParaRPr sz="2000"/>
          </a:p>
          <a:p>
            <a:pPr marL="742950" lvl="1" indent="-285750" algn="l" rtl="0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Clr>
                <a:schemeClr val="dk1"/>
              </a:buClr>
              <a:buSzPts val="3487"/>
              <a:buFont typeface="Noto Sans Symbols"/>
              <a:buChar char="▪"/>
            </a:pPr>
            <a:r>
              <a:rPr lang="en-US" sz="3200"/>
              <a:t>Client to origin server</a:t>
            </a:r>
            <a:endParaRPr sz="2000"/>
          </a:p>
          <a:p>
            <a:pPr marL="285750" lvl="0" indent="-285750" algn="l" rtl="0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Clr>
                <a:schemeClr val="dk1"/>
              </a:buClr>
              <a:buSzPts val="3487"/>
              <a:buChar char="•"/>
            </a:pPr>
            <a:r>
              <a:rPr lang="en-US" sz="3200" b="1"/>
              <a:t>Typically Proxy Servers are installed by </a:t>
            </a:r>
            <a:r>
              <a:rPr lang="en-US" sz="3200" b="1">
                <a:solidFill>
                  <a:srgbClr val="0000FF"/>
                </a:solidFill>
              </a:rPr>
              <a:t>ISPs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Clr>
                <a:schemeClr val="dk1"/>
              </a:buClr>
              <a:buSzPts val="3487"/>
              <a:buChar char="•"/>
            </a:pPr>
            <a:r>
              <a:rPr lang="en-US" sz="3000"/>
              <a:t>University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Clr>
                <a:schemeClr val="dk1"/>
              </a:buClr>
              <a:buSzPts val="3487"/>
              <a:buChar char="•"/>
            </a:pPr>
            <a:r>
              <a:rPr lang="en-US" sz="3000"/>
              <a:t>Company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Clr>
                <a:schemeClr val="dk1"/>
              </a:buClr>
              <a:buSzPts val="3487"/>
              <a:buChar char="•"/>
            </a:pPr>
            <a:r>
              <a:rPr lang="en-US" sz="3000"/>
              <a:t>Residential ISP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71"/>
          <p:cNvSpPr txBox="1">
            <a:spLocks noGrp="1"/>
          </p:cNvSpPr>
          <p:nvPr>
            <p:ph type="title"/>
          </p:nvPr>
        </p:nvSpPr>
        <p:spPr>
          <a:xfrm>
            <a:off x="1484311" y="294025"/>
            <a:ext cx="10018713" cy="78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b="1"/>
              <a:t>Advantages of Web Caching </a:t>
            </a:r>
            <a:endParaRPr/>
          </a:p>
        </p:txBody>
      </p:sp>
      <p:sp>
        <p:nvSpPr>
          <p:cNvPr id="1166" name="Google Shape;1166;p71"/>
          <p:cNvSpPr txBox="1">
            <a:spLocks noGrp="1"/>
          </p:cNvSpPr>
          <p:nvPr>
            <p:ph type="body" idx="1"/>
          </p:nvPr>
        </p:nvSpPr>
        <p:spPr>
          <a:xfrm>
            <a:off x="1384707" y="1695735"/>
            <a:ext cx="10018713" cy="4766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3600" dirty="0">
                <a:solidFill>
                  <a:schemeClr val="dk1"/>
                </a:solidFill>
              </a:rPr>
              <a:t>Reduce r</a:t>
            </a:r>
            <a:r>
              <a:rPr lang="en-US" sz="3600" dirty="0"/>
              <a:t>esponse time for client request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3600" dirty="0"/>
              <a:t>Saves bandwidth (prevents downloading of same content multiple times)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3600" dirty="0"/>
              <a:t>Helps log usage, block unwanted traffic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3190"/>
              <a:buChar char="•"/>
            </a:pPr>
            <a:r>
              <a:rPr lang="en-US" sz="3600" dirty="0"/>
              <a:t>Internet dense with caches: 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00B050"/>
              </a:buClr>
              <a:buSzPts val="3190"/>
              <a:buChar char="•"/>
            </a:pPr>
            <a:r>
              <a:rPr lang="en-US" sz="3200" dirty="0">
                <a:solidFill>
                  <a:srgbClr val="00B050"/>
                </a:solidFill>
              </a:rPr>
              <a:t>enables “poor” content providers to effectively deliver content </a:t>
            </a:r>
            <a:r>
              <a:rPr lang="en-US" sz="3200" dirty="0"/>
              <a:t>(so too does P2P file sharing)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172" name="Google Shape;1172;p7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Content Delivery Networks (CDNs)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video may be served from servers close to your location (proxy)</a:t>
            </a:r>
            <a:endParaRPr/>
          </a:p>
        </p:txBody>
      </p:sp>
      <p:pic>
        <p:nvPicPr>
          <p:cNvPr id="1173" name="Google Shape;1173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" y="230188"/>
            <a:ext cx="12192000" cy="126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9" name="Google Shape;1179;p73"/>
          <p:cNvCxnSpPr/>
          <p:nvPr/>
        </p:nvCxnSpPr>
        <p:spPr>
          <a:xfrm>
            <a:off x="6897688" y="2409825"/>
            <a:ext cx="285750" cy="114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0" name="Google Shape;1180;p73"/>
          <p:cNvSpPr txBox="1">
            <a:spLocks noGrp="1"/>
          </p:cNvSpPr>
          <p:nvPr>
            <p:ph type="title"/>
          </p:nvPr>
        </p:nvSpPr>
        <p:spPr>
          <a:xfrm>
            <a:off x="1927225" y="269876"/>
            <a:ext cx="7772400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Caching example: </a:t>
            </a:r>
            <a:endParaRPr/>
          </a:p>
        </p:txBody>
      </p:sp>
      <p:sp>
        <p:nvSpPr>
          <p:cNvPr id="1181" name="Google Shape;1181;p73"/>
          <p:cNvSpPr txBox="1"/>
          <p:nvPr/>
        </p:nvSpPr>
        <p:spPr>
          <a:xfrm>
            <a:off x="9326563" y="1824038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2" name="Google Shape;1182;p73"/>
          <p:cNvCxnSpPr/>
          <p:nvPr/>
        </p:nvCxnSpPr>
        <p:spPr>
          <a:xfrm>
            <a:off x="7707314" y="2028826"/>
            <a:ext cx="66675" cy="276225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3" name="Google Shape;1183;p73"/>
          <p:cNvCxnSpPr/>
          <p:nvPr/>
        </p:nvCxnSpPr>
        <p:spPr>
          <a:xfrm flipH="1">
            <a:off x="8335964" y="2066926"/>
            <a:ext cx="9525" cy="238125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4" name="Google Shape;1184;p73"/>
          <p:cNvCxnSpPr/>
          <p:nvPr/>
        </p:nvCxnSpPr>
        <p:spPr>
          <a:xfrm flipH="1">
            <a:off x="8793163" y="2228850"/>
            <a:ext cx="133350" cy="20955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5" name="Google Shape;1185;p73"/>
          <p:cNvCxnSpPr/>
          <p:nvPr/>
        </p:nvCxnSpPr>
        <p:spPr>
          <a:xfrm rot="10800000">
            <a:off x="8955088" y="2990850"/>
            <a:ext cx="24765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6" name="Google Shape;1186;p73"/>
          <p:cNvSpPr/>
          <p:nvPr/>
        </p:nvSpPr>
        <p:spPr>
          <a:xfrm>
            <a:off x="6981826" y="2022475"/>
            <a:ext cx="2174875" cy="1581150"/>
          </a:xfrm>
          <a:custGeom>
            <a:avLst/>
            <a:gdLst/>
            <a:ahLst/>
            <a:cxnLst/>
            <a:rect l="l" t="t" r="r" b="b"/>
            <a:pathLst>
              <a:path w="2135" h="1662" extrusionOk="0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87" name="Google Shape;1187;p73"/>
          <p:cNvSpPr txBox="1"/>
          <p:nvPr/>
        </p:nvSpPr>
        <p:spPr>
          <a:xfrm>
            <a:off x="7688263" y="2354264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 sz="16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sz="24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73"/>
          <p:cNvSpPr/>
          <p:nvPr/>
        </p:nvSpPr>
        <p:spPr>
          <a:xfrm>
            <a:off x="6562725" y="4392613"/>
            <a:ext cx="2965450" cy="1390650"/>
          </a:xfrm>
          <a:custGeom>
            <a:avLst/>
            <a:gdLst/>
            <a:ahLst/>
            <a:cxnLst/>
            <a:rect l="l" t="t" r="r" b="b"/>
            <a:pathLst>
              <a:path w="1868" h="876" extrusionOk="0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189" name="Google Shape;1189;p73"/>
          <p:cNvCxnSpPr/>
          <p:nvPr/>
        </p:nvCxnSpPr>
        <p:spPr>
          <a:xfrm flipH="1">
            <a:off x="7011988" y="4702175"/>
            <a:ext cx="855662" cy="43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0" name="Google Shape;1190;p73"/>
          <p:cNvCxnSpPr/>
          <p:nvPr/>
        </p:nvCxnSpPr>
        <p:spPr>
          <a:xfrm flipH="1">
            <a:off x="7521576" y="4749800"/>
            <a:ext cx="563563" cy="393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1" name="Google Shape;1191;p73"/>
          <p:cNvCxnSpPr/>
          <p:nvPr/>
        </p:nvCxnSpPr>
        <p:spPr>
          <a:xfrm flipH="1">
            <a:off x="8059739" y="4756150"/>
            <a:ext cx="149225" cy="382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2" name="Google Shape;1192;p73"/>
          <p:cNvCxnSpPr/>
          <p:nvPr/>
        </p:nvCxnSpPr>
        <p:spPr>
          <a:xfrm>
            <a:off x="8426451" y="4735513"/>
            <a:ext cx="123825" cy="41275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3" name="Google Shape;1193;p73"/>
          <p:cNvCxnSpPr/>
          <p:nvPr/>
        </p:nvCxnSpPr>
        <p:spPr>
          <a:xfrm>
            <a:off x="8221663" y="3467100"/>
            <a:ext cx="0" cy="10620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4" name="Google Shape;1194;p73"/>
          <p:cNvSpPr txBox="1"/>
          <p:nvPr/>
        </p:nvSpPr>
        <p:spPr>
          <a:xfrm>
            <a:off x="6578090" y="4279901"/>
            <a:ext cx="12218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 sz="16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sz="24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73"/>
          <p:cNvSpPr txBox="1"/>
          <p:nvPr/>
        </p:nvSpPr>
        <p:spPr>
          <a:xfrm>
            <a:off x="8529638" y="4660900"/>
            <a:ext cx="142716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Mbps LAN</a:t>
            </a:r>
            <a:endParaRPr sz="24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73"/>
          <p:cNvSpPr txBox="1"/>
          <p:nvPr/>
        </p:nvSpPr>
        <p:spPr>
          <a:xfrm>
            <a:off x="8223251" y="3656014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Mbps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sz="24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7" name="Google Shape;1197;p73"/>
          <p:cNvGrpSpPr/>
          <p:nvPr/>
        </p:nvGrpSpPr>
        <p:grpSpPr>
          <a:xfrm>
            <a:off x="7805738" y="3165476"/>
            <a:ext cx="881062" cy="307975"/>
            <a:chOff x="2356" y="1300"/>
            <a:chExt cx="555" cy="194"/>
          </a:xfrm>
        </p:grpSpPr>
        <p:sp>
          <p:nvSpPr>
            <p:cNvPr id="1198" name="Google Shape;1198;p73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9" name="Google Shape;1199;p73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0" name="Google Shape;1200;p73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201" name="Google Shape;1201;p73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02" name="Google Shape;1202;p73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 extrusionOk="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203" name="Google Shape;1203;p73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 extrusionOk="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cxnSp>
          <p:nvCxnSpPr>
            <p:cNvPr id="1204" name="Google Shape;1204;p73"/>
            <p:cNvCxnSpPr/>
            <p:nvPr/>
          </p:nvCxnSpPr>
          <p:spPr>
            <a:xfrm>
              <a:off x="2357" y="1361"/>
              <a:ext cx="0" cy="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5" name="Google Shape;1205;p73"/>
            <p:cNvCxnSpPr/>
            <p:nvPr/>
          </p:nvCxnSpPr>
          <p:spPr>
            <a:xfrm>
              <a:off x="2907" y="1363"/>
              <a:ext cx="0" cy="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06" name="Google Shape;1206;p73"/>
          <p:cNvGrpSpPr/>
          <p:nvPr/>
        </p:nvGrpSpPr>
        <p:grpSpPr>
          <a:xfrm>
            <a:off x="7785101" y="4460876"/>
            <a:ext cx="881063" cy="307975"/>
            <a:chOff x="2356" y="1300"/>
            <a:chExt cx="555" cy="194"/>
          </a:xfrm>
        </p:grpSpPr>
        <p:sp>
          <p:nvSpPr>
            <p:cNvPr id="1207" name="Google Shape;1207;p73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8" name="Google Shape;1208;p73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9" name="Google Shape;1209;p73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210" name="Google Shape;1210;p73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11" name="Google Shape;1211;p73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 extrusionOk="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212" name="Google Shape;1212;p73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 extrusionOk="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cxnSp>
          <p:nvCxnSpPr>
            <p:cNvPr id="1213" name="Google Shape;1213;p73"/>
            <p:cNvCxnSpPr/>
            <p:nvPr/>
          </p:nvCxnSpPr>
          <p:spPr>
            <a:xfrm>
              <a:off x="2357" y="1361"/>
              <a:ext cx="0" cy="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4" name="Google Shape;1214;p73"/>
            <p:cNvCxnSpPr/>
            <p:nvPr/>
          </p:nvCxnSpPr>
          <p:spPr>
            <a:xfrm>
              <a:off x="2907" y="1363"/>
              <a:ext cx="0" cy="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15" name="Google Shape;1215;p73"/>
          <p:cNvSpPr/>
          <p:nvPr/>
        </p:nvSpPr>
        <p:spPr>
          <a:xfrm>
            <a:off x="883973" y="933451"/>
            <a:ext cx="5843961" cy="557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lang="en-US" sz="3200" b="1" i="1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Assumptions:</a:t>
            </a:r>
            <a:endParaRPr sz="1800" b="0" i="0" u="none" strike="noStrike" cap="non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object size: </a:t>
            </a:r>
            <a:r>
              <a:rPr lang="en-US" sz="2800" b="1" i="0" u="none" strike="noStrike" cap="non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1 Mbits</a:t>
            </a:r>
            <a:endParaRPr sz="18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32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request rate from browsers to origin servers: </a:t>
            </a:r>
            <a:r>
              <a:rPr lang="en-US" sz="2800" b="1" i="0" u="none" strike="noStrike" cap="non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15/sec</a:t>
            </a:r>
            <a:endParaRPr sz="18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32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Institutional Bandwidth: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100 Mbps</a:t>
            </a:r>
            <a:endParaRPr sz="18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32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RTT from institutional router to any origin server: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2 sec</a:t>
            </a:r>
            <a:endParaRPr sz="20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32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Access link rate: </a:t>
            </a:r>
            <a:r>
              <a:rPr lang="en-US" sz="2800" b="1" i="0" u="none" strike="noStrike" cap="non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15 Mbps</a:t>
            </a:r>
            <a:endParaRPr sz="18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6" name="Google Shape;1216;p73"/>
          <p:cNvGrpSpPr/>
          <p:nvPr/>
        </p:nvGrpSpPr>
        <p:grpSpPr>
          <a:xfrm>
            <a:off x="6550026" y="1957388"/>
            <a:ext cx="377825" cy="576262"/>
            <a:chOff x="4140" y="429"/>
            <a:chExt cx="1425" cy="2396"/>
          </a:xfrm>
        </p:grpSpPr>
        <p:sp>
          <p:nvSpPr>
            <p:cNvPr id="1217" name="Google Shape;1217;p73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18" name="Google Shape;1218;p73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7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0" name="Google Shape;1220;p73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1" name="Google Shape;1221;p73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2" name="Google Shape;1222;p73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223" name="Google Shape;1223;p73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p73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5" name="Google Shape;1225;p73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6" name="Google Shape;1226;p73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227" name="Google Shape;1227;p73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73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9" name="Google Shape;1229;p73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73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1" name="Google Shape;1231;p73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232" name="Google Shape;1232;p73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3" name="Google Shape;1233;p73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4" name="Google Shape;1234;p7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235" name="Google Shape;1235;p73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236" name="Google Shape;1236;p73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73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8" name="Google Shape;1238;p73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7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0" name="Google Shape;1240;p73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1" name="Google Shape;1241;p73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73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3" name="Google Shape;1243;p73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73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73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73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73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73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9" name="Google Shape;1249;p73"/>
          <p:cNvGrpSpPr/>
          <p:nvPr/>
        </p:nvGrpSpPr>
        <p:grpSpPr>
          <a:xfrm>
            <a:off x="6699251" y="5070476"/>
            <a:ext cx="525463" cy="557213"/>
            <a:chOff x="-44" y="1473"/>
            <a:chExt cx="981" cy="1105"/>
          </a:xfrm>
        </p:grpSpPr>
        <p:pic>
          <p:nvPicPr>
            <p:cNvPr id="1250" name="Google Shape;1250;p73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1" name="Google Shape;1251;p7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252" name="Google Shape;1252;p73"/>
          <p:cNvGrpSpPr/>
          <p:nvPr/>
        </p:nvGrpSpPr>
        <p:grpSpPr>
          <a:xfrm>
            <a:off x="7464426" y="1479551"/>
            <a:ext cx="377825" cy="576263"/>
            <a:chOff x="4140" y="429"/>
            <a:chExt cx="1425" cy="2396"/>
          </a:xfrm>
        </p:grpSpPr>
        <p:sp>
          <p:nvSpPr>
            <p:cNvPr id="1253" name="Google Shape;1253;p73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4" name="Google Shape;1254;p73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7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6" name="Google Shape;1256;p73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7" name="Google Shape;1257;p73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8" name="Google Shape;1258;p73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259" name="Google Shape;1259;p73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0" name="Google Shape;1260;p73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1" name="Google Shape;1261;p73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2" name="Google Shape;1262;p73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263" name="Google Shape;1263;p73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73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5" name="Google Shape;1265;p73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73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7" name="Google Shape;1267;p73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268" name="Google Shape;1268;p73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73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0" name="Google Shape;1270;p7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271" name="Google Shape;1271;p73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272" name="Google Shape;1272;p73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73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4" name="Google Shape;1274;p73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7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6" name="Google Shape;1276;p73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7" name="Google Shape;1277;p73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73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9" name="Google Shape;1279;p73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73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73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73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73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73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5" name="Google Shape;1285;p73"/>
          <p:cNvGrpSpPr/>
          <p:nvPr/>
        </p:nvGrpSpPr>
        <p:grpSpPr>
          <a:xfrm>
            <a:off x="8216901" y="1511301"/>
            <a:ext cx="377825" cy="576263"/>
            <a:chOff x="4140" y="429"/>
            <a:chExt cx="1425" cy="2396"/>
          </a:xfrm>
        </p:grpSpPr>
        <p:sp>
          <p:nvSpPr>
            <p:cNvPr id="1286" name="Google Shape;1286;p73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7" name="Google Shape;1287;p73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7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9" name="Google Shape;1289;p73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0" name="Google Shape;1290;p73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91" name="Google Shape;1291;p73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292" name="Google Shape;1292;p73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73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4" name="Google Shape;1294;p73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95" name="Google Shape;1295;p73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296" name="Google Shape;1296;p73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73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8" name="Google Shape;1298;p73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73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0" name="Google Shape;1300;p73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301" name="Google Shape;1301;p73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73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3" name="Google Shape;1303;p7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304" name="Google Shape;1304;p73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305" name="Google Shape;1305;p73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73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7" name="Google Shape;1307;p73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7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9" name="Google Shape;1309;p73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0" name="Google Shape;1310;p73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73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2" name="Google Shape;1312;p73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73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73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73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73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73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8" name="Google Shape;1318;p73"/>
          <p:cNvGrpSpPr/>
          <p:nvPr/>
        </p:nvGrpSpPr>
        <p:grpSpPr>
          <a:xfrm>
            <a:off x="8826501" y="1663701"/>
            <a:ext cx="377825" cy="576263"/>
            <a:chOff x="4140" y="429"/>
            <a:chExt cx="1425" cy="2396"/>
          </a:xfrm>
        </p:grpSpPr>
        <p:sp>
          <p:nvSpPr>
            <p:cNvPr id="1319" name="Google Shape;1319;p73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0" name="Google Shape;1320;p73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7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2" name="Google Shape;1322;p73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3" name="Google Shape;1323;p73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4" name="Google Shape;1324;p73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325" name="Google Shape;1325;p73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6" name="Google Shape;1326;p73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7" name="Google Shape;1327;p73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8" name="Google Shape;1328;p73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329" name="Google Shape;1329;p73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0" name="Google Shape;1330;p73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1" name="Google Shape;1331;p73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73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3" name="Google Shape;1333;p73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334" name="Google Shape;1334;p73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p73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6" name="Google Shape;1336;p7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337" name="Google Shape;1337;p73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338" name="Google Shape;1338;p73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9" name="Google Shape;1339;p73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0" name="Google Shape;1340;p73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7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2" name="Google Shape;1342;p73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3" name="Google Shape;1343;p73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73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5" name="Google Shape;1345;p73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73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73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73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73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73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1" name="Google Shape;1351;p73"/>
          <p:cNvGrpSpPr/>
          <p:nvPr/>
        </p:nvGrpSpPr>
        <p:grpSpPr>
          <a:xfrm>
            <a:off x="9155114" y="2609851"/>
            <a:ext cx="377825" cy="576263"/>
            <a:chOff x="4140" y="429"/>
            <a:chExt cx="1425" cy="2396"/>
          </a:xfrm>
        </p:grpSpPr>
        <p:sp>
          <p:nvSpPr>
            <p:cNvPr id="1352" name="Google Shape;1352;p73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3" name="Google Shape;1353;p73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7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5" name="Google Shape;1355;p73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6" name="Google Shape;1356;p73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7" name="Google Shape;1357;p73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358" name="Google Shape;1358;p73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73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0" name="Google Shape;1360;p73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1" name="Google Shape;1361;p73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362" name="Google Shape;1362;p73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73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4" name="Google Shape;1364;p73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73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6" name="Google Shape;1366;p73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367" name="Google Shape;1367;p73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73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9" name="Google Shape;1369;p7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370" name="Google Shape;1370;p73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371" name="Google Shape;1371;p73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73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3" name="Google Shape;1373;p73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7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5" name="Google Shape;1375;p73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6" name="Google Shape;1376;p73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73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8" name="Google Shape;1378;p73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73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73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73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73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73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4" name="Google Shape;1384;p73"/>
          <p:cNvGrpSpPr/>
          <p:nvPr/>
        </p:nvGrpSpPr>
        <p:grpSpPr>
          <a:xfrm>
            <a:off x="8415339" y="5027613"/>
            <a:ext cx="377825" cy="576262"/>
            <a:chOff x="4140" y="429"/>
            <a:chExt cx="1425" cy="2396"/>
          </a:xfrm>
        </p:grpSpPr>
        <p:sp>
          <p:nvSpPr>
            <p:cNvPr id="1385" name="Google Shape;1385;p73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6" name="Google Shape;1386;p73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7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8" name="Google Shape;1388;p73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9" name="Google Shape;1389;p73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0" name="Google Shape;1390;p73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391" name="Google Shape;1391;p73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73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3" name="Google Shape;1393;p73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4" name="Google Shape;1394;p73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395" name="Google Shape;1395;p73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73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7" name="Google Shape;1397;p73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73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9" name="Google Shape;1399;p73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400" name="Google Shape;1400;p73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73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2" name="Google Shape;1402;p7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403" name="Google Shape;1403;p73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404" name="Google Shape;1404;p73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73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6" name="Google Shape;1406;p73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7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08" name="Google Shape;1408;p73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09" name="Google Shape;1409;p73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73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11" name="Google Shape;1411;p73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73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73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73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73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73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7" name="Google Shape;1417;p73"/>
          <p:cNvGrpSpPr/>
          <p:nvPr/>
        </p:nvGrpSpPr>
        <p:grpSpPr>
          <a:xfrm>
            <a:off x="7210426" y="5092701"/>
            <a:ext cx="525463" cy="557213"/>
            <a:chOff x="-44" y="1473"/>
            <a:chExt cx="981" cy="1105"/>
          </a:xfrm>
        </p:grpSpPr>
        <p:pic>
          <p:nvPicPr>
            <p:cNvPr id="1418" name="Google Shape;1418;p73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9" name="Google Shape;1419;p7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420" name="Google Shape;1420;p73"/>
          <p:cNvGrpSpPr/>
          <p:nvPr/>
        </p:nvGrpSpPr>
        <p:grpSpPr>
          <a:xfrm>
            <a:off x="7734301" y="5081588"/>
            <a:ext cx="525463" cy="557212"/>
            <a:chOff x="-44" y="1473"/>
            <a:chExt cx="981" cy="1105"/>
          </a:xfrm>
        </p:grpSpPr>
        <p:pic>
          <p:nvPicPr>
            <p:cNvPr id="1421" name="Google Shape;1421;p73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2" name="Google Shape;1422;p7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423" name="Google Shape;1423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6533" y="1376738"/>
            <a:ext cx="527083" cy="4333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4" name="Google Shape;1424;p73"/>
          <p:cNvGrpSpPr/>
          <p:nvPr/>
        </p:nvGrpSpPr>
        <p:grpSpPr>
          <a:xfrm>
            <a:off x="6696302" y="2947465"/>
            <a:ext cx="871816" cy="1448887"/>
            <a:chOff x="6248615" y="2958003"/>
            <a:chExt cx="871816" cy="1448887"/>
          </a:xfrm>
        </p:grpSpPr>
        <p:sp>
          <p:nvSpPr>
            <p:cNvPr id="1425" name="Google Shape;1425;p73"/>
            <p:cNvSpPr txBox="1"/>
            <p:nvPr/>
          </p:nvSpPr>
          <p:spPr>
            <a:xfrm rot="-4114077">
              <a:off x="5918130" y="3543967"/>
              <a:ext cx="14478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200" b="0" i="0" u="none" strike="noStrike" cap="none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sz="1800" b="0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6" name="Google Shape;1426;p73"/>
            <p:cNvCxnSpPr/>
            <p:nvPr/>
          </p:nvCxnSpPr>
          <p:spPr>
            <a:xfrm rot="10800000" flipH="1">
              <a:off x="6635932" y="3047436"/>
              <a:ext cx="484499" cy="1345178"/>
            </a:xfrm>
            <a:prstGeom prst="straightConnector1">
              <a:avLst/>
            </a:prstGeom>
            <a:noFill/>
            <a:ln w="38100" cap="flat" cmpd="sng">
              <a:solidFill>
                <a:srgbClr val="7D28C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427" name="Google Shape;1427;p73"/>
          <p:cNvGrpSpPr/>
          <p:nvPr/>
        </p:nvGrpSpPr>
        <p:grpSpPr>
          <a:xfrm>
            <a:off x="9329443" y="3263168"/>
            <a:ext cx="520000" cy="1473827"/>
            <a:chOff x="6408027" y="2957619"/>
            <a:chExt cx="520000" cy="1473827"/>
          </a:xfrm>
        </p:grpSpPr>
        <p:sp>
          <p:nvSpPr>
            <p:cNvPr id="1428" name="Google Shape;1428;p73"/>
            <p:cNvSpPr txBox="1"/>
            <p:nvPr/>
          </p:nvSpPr>
          <p:spPr>
            <a:xfrm rot="-5989627">
              <a:off x="5944127" y="3556053"/>
              <a:ext cx="14478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200" b="0" i="0" u="none" strike="noStrike" cap="none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sz="1800" b="0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9" name="Google Shape;1429;p73"/>
            <p:cNvCxnSpPr/>
            <p:nvPr/>
          </p:nvCxnSpPr>
          <p:spPr>
            <a:xfrm rot="10800000">
              <a:off x="6416540" y="3048526"/>
              <a:ext cx="219392" cy="1344088"/>
            </a:xfrm>
            <a:prstGeom prst="straightConnector1">
              <a:avLst/>
            </a:prstGeom>
            <a:noFill/>
            <a:ln w="38100" cap="flat" cmpd="sng">
              <a:solidFill>
                <a:srgbClr val="7D28C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430" name="Google Shape;1430;p73"/>
          <p:cNvGrpSpPr/>
          <p:nvPr/>
        </p:nvGrpSpPr>
        <p:grpSpPr>
          <a:xfrm>
            <a:off x="7824530" y="3122440"/>
            <a:ext cx="392371" cy="1464021"/>
            <a:chOff x="6328229" y="2962522"/>
            <a:chExt cx="392371" cy="1464021"/>
          </a:xfrm>
        </p:grpSpPr>
        <p:sp>
          <p:nvSpPr>
            <p:cNvPr id="1431" name="Google Shape;1431;p73"/>
            <p:cNvSpPr txBox="1"/>
            <p:nvPr/>
          </p:nvSpPr>
          <p:spPr>
            <a:xfrm rot="-5151510">
              <a:off x="5794727" y="3556053"/>
              <a:ext cx="14478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lang="en-US" sz="1200" b="0" i="0" u="none" strike="noStrike" cap="none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sz="1800" b="0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2" name="Google Shape;1432;p73"/>
            <p:cNvCxnSpPr/>
            <p:nvPr/>
          </p:nvCxnSpPr>
          <p:spPr>
            <a:xfrm rot="10800000" flipH="1">
              <a:off x="6635932" y="3026196"/>
              <a:ext cx="84668" cy="1366418"/>
            </a:xfrm>
            <a:prstGeom prst="straightConnector1">
              <a:avLst/>
            </a:prstGeom>
            <a:noFill/>
            <a:ln w="38100" cap="flat" cmpd="sng">
              <a:solidFill>
                <a:srgbClr val="7D28C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433" name="Google Shape;1433;p73"/>
          <p:cNvSpPr/>
          <p:nvPr/>
        </p:nvSpPr>
        <p:spPr>
          <a:xfrm>
            <a:off x="8625200" y="4448151"/>
            <a:ext cx="1331599" cy="89845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4" name="Google Shape;1434;p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64689" y="4356088"/>
            <a:ext cx="311176" cy="31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73"/>
          <p:cNvSpPr/>
          <p:nvPr/>
        </p:nvSpPr>
        <p:spPr>
          <a:xfrm>
            <a:off x="8204803" y="3503624"/>
            <a:ext cx="1331599" cy="89845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1" name="Google Shape;1441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2303" y="0"/>
            <a:ext cx="2939697" cy="3294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74"/>
          <p:cNvSpPr txBox="1">
            <a:spLocks noGrp="1"/>
          </p:cNvSpPr>
          <p:nvPr>
            <p:ph type="title"/>
          </p:nvPr>
        </p:nvSpPr>
        <p:spPr>
          <a:xfrm>
            <a:off x="1927225" y="269876"/>
            <a:ext cx="7772400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Caching example: </a:t>
            </a:r>
            <a:endParaRPr/>
          </a:p>
        </p:txBody>
      </p:sp>
      <p:cxnSp>
        <p:nvCxnSpPr>
          <p:cNvPr id="1443" name="Google Shape;1443;p74"/>
          <p:cNvCxnSpPr/>
          <p:nvPr/>
        </p:nvCxnSpPr>
        <p:spPr>
          <a:xfrm>
            <a:off x="7707314" y="2028826"/>
            <a:ext cx="66675" cy="276225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4" name="Google Shape;1444;p74"/>
          <p:cNvSpPr/>
          <p:nvPr/>
        </p:nvSpPr>
        <p:spPr>
          <a:xfrm>
            <a:off x="1456692" y="834716"/>
            <a:ext cx="5159870" cy="205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lang="en-US" sz="2400" b="1" i="1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Assumptions: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object size: 1 Mbits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request rate from browsers to origin servers:15/sec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RTT from institutional router to any origin server : 2 sec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74"/>
          <p:cNvSpPr/>
          <p:nvPr/>
        </p:nvSpPr>
        <p:spPr>
          <a:xfrm>
            <a:off x="1098364" y="2887353"/>
            <a:ext cx="11314629" cy="517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807" t="-200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46" name="Google Shape;1446;p74"/>
          <p:cNvSpPr/>
          <p:nvPr/>
        </p:nvSpPr>
        <p:spPr>
          <a:xfrm>
            <a:off x="10865407" y="2329955"/>
            <a:ext cx="928801" cy="48533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74"/>
          <p:cNvSpPr/>
          <p:nvPr/>
        </p:nvSpPr>
        <p:spPr>
          <a:xfrm>
            <a:off x="10557149" y="1735228"/>
            <a:ext cx="928801" cy="48533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C42D70-1037-4C8D-A05F-CCB9B9ABE9A7}"/>
              </a:ext>
            </a:extLst>
          </p:cNvPr>
          <p:cNvSpPr txBox="1"/>
          <p:nvPr/>
        </p:nvSpPr>
        <p:spPr>
          <a:xfrm>
            <a:off x="6216107" y="5472596"/>
            <a:ext cx="12089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100000000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Google Shape;1453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2303" y="0"/>
            <a:ext cx="2939697" cy="3294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75"/>
          <p:cNvSpPr txBox="1">
            <a:spLocks noGrp="1"/>
          </p:cNvSpPr>
          <p:nvPr>
            <p:ph type="title"/>
          </p:nvPr>
        </p:nvSpPr>
        <p:spPr>
          <a:xfrm>
            <a:off x="1927225" y="269876"/>
            <a:ext cx="7772400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Caching example: </a:t>
            </a:r>
            <a:endParaRPr/>
          </a:p>
        </p:txBody>
      </p:sp>
      <p:cxnSp>
        <p:nvCxnSpPr>
          <p:cNvPr id="1455" name="Google Shape;1455;p75"/>
          <p:cNvCxnSpPr/>
          <p:nvPr/>
        </p:nvCxnSpPr>
        <p:spPr>
          <a:xfrm>
            <a:off x="7707314" y="2028826"/>
            <a:ext cx="66675" cy="276225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6" name="Google Shape;1456;p75"/>
          <p:cNvSpPr/>
          <p:nvPr/>
        </p:nvSpPr>
        <p:spPr>
          <a:xfrm>
            <a:off x="952060" y="1687513"/>
            <a:ext cx="11314629" cy="5170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lang="en-US" sz="2400" b="1" i="1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Consequences:</a:t>
            </a:r>
            <a:endParaRPr sz="1400" b="0" i="0" u="none" strike="noStrike" cap="non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LAN utilization: </a:t>
            </a:r>
            <a:r>
              <a:rPr lang="en-US" sz="28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15%</a:t>
            </a:r>
            <a:endParaRPr sz="1400" b="1" i="0" u="none" strike="noStrike" cap="non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Access link utilization =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100%</a:t>
            </a:r>
            <a:endParaRPr sz="2200" b="1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26035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57" name="Google Shape;1457;p75"/>
          <p:cNvSpPr/>
          <p:nvPr/>
        </p:nvSpPr>
        <p:spPr>
          <a:xfrm>
            <a:off x="10865407" y="2329955"/>
            <a:ext cx="928801" cy="48533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75"/>
          <p:cNvSpPr/>
          <p:nvPr/>
        </p:nvSpPr>
        <p:spPr>
          <a:xfrm>
            <a:off x="10557149" y="1735228"/>
            <a:ext cx="928801" cy="48533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75"/>
          <p:cNvSpPr txBox="1"/>
          <p:nvPr/>
        </p:nvSpPr>
        <p:spPr>
          <a:xfrm>
            <a:off x="1700784" y="4123944"/>
            <a:ext cx="43652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Access Link becomes a Choke point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" name="Google Shape;1464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5196" y="3324713"/>
            <a:ext cx="2939697" cy="3294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65" name="Google Shape;1465;p76"/>
          <p:cNvSpPr txBox="1">
            <a:spLocks noGrp="1"/>
          </p:cNvSpPr>
          <p:nvPr>
            <p:ph type="title"/>
          </p:nvPr>
        </p:nvSpPr>
        <p:spPr>
          <a:xfrm>
            <a:off x="1927225" y="269876"/>
            <a:ext cx="7772400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Caching example: Solution </a:t>
            </a:r>
            <a:endParaRPr/>
          </a:p>
        </p:txBody>
      </p:sp>
      <p:sp>
        <p:nvSpPr>
          <p:cNvPr id="1466" name="Google Shape;1466;p76"/>
          <p:cNvSpPr/>
          <p:nvPr/>
        </p:nvSpPr>
        <p:spPr>
          <a:xfrm>
            <a:off x="1161675" y="1259910"/>
            <a:ext cx="10479398" cy="2064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lang="en-US" sz="2400" b="1" i="1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What is the average response time?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Average response time</a:t>
            </a:r>
            <a:r>
              <a:rPr lang="en-US" sz="24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4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=</a:t>
            </a:r>
            <a:r>
              <a:rPr lang="en-US" sz="24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400" b="1" i="0" u="none" strike="noStrike" cap="none">
                <a:solidFill>
                  <a:srgbClr val="660066"/>
                </a:solidFill>
                <a:latin typeface="Corbel"/>
                <a:ea typeface="Corbel"/>
                <a:cs typeface="Corbel"/>
                <a:sym typeface="Corbel"/>
              </a:rPr>
              <a:t>LAN Delay </a:t>
            </a:r>
            <a:r>
              <a:rPr lang="en-US" sz="24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+ </a:t>
            </a:r>
            <a:r>
              <a:rPr lang="en-US" sz="2400" b="1" i="0" u="none" strike="noStrike" cap="none">
                <a:solidFill>
                  <a:srgbClr val="3F6623"/>
                </a:solidFill>
                <a:latin typeface="Corbel"/>
                <a:ea typeface="Corbel"/>
                <a:cs typeface="Corbel"/>
                <a:sym typeface="Corbel"/>
              </a:rPr>
              <a:t>Access Delay</a:t>
            </a:r>
            <a:r>
              <a:rPr lang="en-US" sz="24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+ </a:t>
            </a:r>
            <a:r>
              <a:rPr lang="en-US" sz="2400" b="1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Internet Delay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6035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67" name="Google Shape;1467;p76"/>
          <p:cNvSpPr/>
          <p:nvPr/>
        </p:nvSpPr>
        <p:spPr>
          <a:xfrm>
            <a:off x="5341198" y="2235153"/>
            <a:ext cx="273907" cy="160009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31A88"/>
          </a:solidFill>
          <a:ln w="9525" cap="flat" cmpd="sng">
            <a:solidFill>
              <a:srgbClr val="7E28C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76"/>
          <p:cNvSpPr/>
          <p:nvPr/>
        </p:nvSpPr>
        <p:spPr>
          <a:xfrm>
            <a:off x="6660935" y="2235153"/>
            <a:ext cx="364056" cy="160009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6622"/>
          </a:solidFill>
          <a:ln w="9525" cap="flat" cmpd="sng">
            <a:solidFill>
              <a:srgbClr val="3F662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76"/>
          <p:cNvSpPr/>
          <p:nvPr/>
        </p:nvSpPr>
        <p:spPr>
          <a:xfrm>
            <a:off x="4693780" y="3909939"/>
            <a:ext cx="141933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660066"/>
                </a:solidFill>
                <a:latin typeface="Corbel"/>
                <a:ea typeface="Corbel"/>
                <a:cs typeface="Corbel"/>
                <a:sym typeface="Corbel"/>
              </a:rPr>
              <a:t>Delay is in tens of  msecs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76"/>
          <p:cNvSpPr/>
          <p:nvPr/>
        </p:nvSpPr>
        <p:spPr>
          <a:xfrm>
            <a:off x="6265519" y="3909939"/>
            <a:ext cx="11363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Delay is in of minutes.</a:t>
            </a:r>
            <a:endParaRPr sz="1400" b="0" i="0" u="none" strike="noStrike" cap="non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76"/>
          <p:cNvSpPr/>
          <p:nvPr/>
        </p:nvSpPr>
        <p:spPr>
          <a:xfrm>
            <a:off x="8397524" y="2235153"/>
            <a:ext cx="273907" cy="160009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186C3"/>
          </a:solidFill>
          <a:ln w="9525" cap="flat" cmpd="sng">
            <a:solidFill>
              <a:srgbClr val="3366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76"/>
          <p:cNvSpPr/>
          <p:nvPr/>
        </p:nvSpPr>
        <p:spPr>
          <a:xfrm>
            <a:off x="7881068" y="3947272"/>
            <a:ext cx="13570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Delay is 2 secs.</a:t>
            </a:r>
            <a:endParaRPr sz="1400" b="0" i="0" u="none" strike="noStrike" cap="none">
              <a:solidFill>
                <a:srgbClr val="1186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76"/>
          <p:cNvSpPr/>
          <p:nvPr/>
        </p:nvSpPr>
        <p:spPr>
          <a:xfrm>
            <a:off x="1006616" y="4480292"/>
            <a:ext cx="7758427" cy="2064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lang="en-US" sz="2800" b="1" i="1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Solution of reducing delay: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AutoNum type="arabicParenR"/>
            </a:pPr>
            <a:r>
              <a:rPr lang="en-US" sz="2800" b="1" i="0" u="none" strike="noStrike" cap="none">
                <a:solidFill>
                  <a:schemeClr val="accent2"/>
                </a:solidFill>
                <a:latin typeface="Corbel"/>
                <a:ea typeface="Corbel"/>
                <a:cs typeface="Corbel"/>
                <a:sym typeface="Corbel"/>
              </a:rPr>
              <a:t>Increase the bandwidth of the access link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4572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Install a web </a:t>
            </a:r>
            <a:r>
              <a:rPr lang="en-US" sz="2800" b="1" i="0" u="none" strike="noStrike" cap="none">
                <a:solidFill>
                  <a:srgbClr val="00B0F0"/>
                </a:solidFill>
                <a:latin typeface="Corbel"/>
                <a:ea typeface="Corbel"/>
                <a:cs typeface="Corbel"/>
                <a:sym typeface="Corbel"/>
              </a:rPr>
              <a:t>cache or proxy server 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at the institutional network.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4" indent="-2032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endParaRPr sz="2200" b="1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26035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4" name="Google Shape;1474;p76"/>
          <p:cNvSpPr/>
          <p:nvPr/>
        </p:nvSpPr>
        <p:spPr>
          <a:xfrm>
            <a:off x="10557893" y="4906771"/>
            <a:ext cx="996028" cy="659323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76"/>
          <p:cNvSpPr/>
          <p:nvPr/>
        </p:nvSpPr>
        <p:spPr>
          <a:xfrm>
            <a:off x="6265519" y="3865046"/>
            <a:ext cx="996028" cy="758939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1" name="Google Shape;1481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9746" y="627420"/>
            <a:ext cx="3316016" cy="3715889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77"/>
          <p:cNvSpPr/>
          <p:nvPr/>
        </p:nvSpPr>
        <p:spPr>
          <a:xfrm>
            <a:off x="1500600" y="755708"/>
            <a:ext cx="4370400" cy="3705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Assumptions:</a:t>
            </a:r>
            <a:endParaRPr sz="1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Corbe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object size: 100K bits</a:t>
            </a:r>
            <a:endParaRPr sz="1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Corbe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request rate from browsers to origin servers:15/sec</a:t>
            </a:r>
            <a:endParaRPr sz="1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Corbe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RTT from institutional router to any origin server: 2 sec</a:t>
            </a:r>
            <a:endParaRPr sz="1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Corbe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Access link rate: 15 Mbps</a:t>
            </a:r>
            <a:endParaRPr sz="1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Consequences:</a:t>
            </a:r>
            <a:endParaRPr sz="1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orbe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LAN utilization: 15%</a:t>
            </a:r>
            <a:endParaRPr sz="1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orbe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Access link utilization = </a:t>
            </a:r>
            <a:r>
              <a:rPr lang="en-US" sz="1800" b="0" i="0" u="none" strike="noStrike" cap="non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100%</a:t>
            </a:r>
            <a:endParaRPr sz="1800" b="0" i="0" u="none" strike="noStrike" cap="non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268605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marR="0" lvl="0" indent="-268605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83" name="Google Shape;1483;p77"/>
          <p:cNvSpPr txBox="1">
            <a:spLocks noGrp="1"/>
          </p:cNvSpPr>
          <p:nvPr>
            <p:ph type="title" idx="4294967295"/>
          </p:nvPr>
        </p:nvSpPr>
        <p:spPr>
          <a:xfrm>
            <a:off x="4419600" y="52388"/>
            <a:ext cx="7772400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/>
              <a:t>Caching example: </a:t>
            </a:r>
            <a:r>
              <a:rPr lang="en-US" sz="3240"/>
              <a:t>Solution 1</a:t>
            </a:r>
            <a:r>
              <a:rPr lang="en-US" sz="3600"/>
              <a:t> </a:t>
            </a:r>
            <a:endParaRPr sz="3600"/>
          </a:p>
        </p:txBody>
      </p:sp>
      <p:cxnSp>
        <p:nvCxnSpPr>
          <p:cNvPr id="1484" name="Google Shape;1484;p77"/>
          <p:cNvCxnSpPr/>
          <p:nvPr/>
        </p:nvCxnSpPr>
        <p:spPr>
          <a:xfrm>
            <a:off x="3714900" y="2847992"/>
            <a:ext cx="990600" cy="150813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85" name="Google Shape;1485;p77"/>
          <p:cNvSpPr txBox="1"/>
          <p:nvPr/>
        </p:nvSpPr>
        <p:spPr>
          <a:xfrm>
            <a:off x="4242480" y="3055561"/>
            <a:ext cx="16285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100 Mbps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77"/>
          <p:cNvSpPr txBox="1"/>
          <p:nvPr/>
        </p:nvSpPr>
        <p:spPr>
          <a:xfrm>
            <a:off x="10497326" y="2555624"/>
            <a:ext cx="1433659" cy="5847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Arial"/>
              <a:buNone/>
            </a:pPr>
            <a:r>
              <a:rPr lang="en-US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100 Mbps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Arial"/>
              <a:buNone/>
            </a:pPr>
            <a:r>
              <a:rPr lang="en-US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sz="1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77"/>
          <p:cNvSpPr txBox="1"/>
          <p:nvPr/>
        </p:nvSpPr>
        <p:spPr>
          <a:xfrm>
            <a:off x="4727050" y="5025045"/>
            <a:ext cx="1077571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msecs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77"/>
          <p:cNvSpPr txBox="1"/>
          <p:nvPr/>
        </p:nvSpPr>
        <p:spPr>
          <a:xfrm>
            <a:off x="1890745" y="5616176"/>
            <a:ext cx="769601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 Delay and Access delay </a:t>
            </a:r>
            <a:r>
              <a:rPr lang="en-US" sz="2400" b="1" i="1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becomes negligible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9" name="Google Shape;1489;p77"/>
          <p:cNvCxnSpPr/>
          <p:nvPr/>
        </p:nvCxnSpPr>
        <p:spPr>
          <a:xfrm>
            <a:off x="4140201" y="3921611"/>
            <a:ext cx="706437" cy="117475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90" name="Google Shape;1490;p77"/>
          <p:cNvSpPr txBox="1"/>
          <p:nvPr/>
        </p:nvSpPr>
        <p:spPr>
          <a:xfrm>
            <a:off x="4949825" y="3840648"/>
            <a:ext cx="185473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15%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77"/>
          <p:cNvSpPr/>
          <p:nvPr/>
        </p:nvSpPr>
        <p:spPr>
          <a:xfrm>
            <a:off x="1016102" y="4301121"/>
            <a:ext cx="7661072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Average response time</a:t>
            </a: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0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=</a:t>
            </a: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000" b="1" i="0" u="none" strike="noStrike" cap="none">
                <a:solidFill>
                  <a:srgbClr val="660066"/>
                </a:solidFill>
                <a:latin typeface="Corbel"/>
                <a:ea typeface="Corbel"/>
                <a:cs typeface="Corbel"/>
                <a:sym typeface="Corbel"/>
              </a:rPr>
              <a:t>LAN Delay </a:t>
            </a: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+ </a:t>
            </a:r>
            <a:r>
              <a:rPr lang="en-US" sz="2000" b="1" i="0" u="none" strike="noStrike" cap="none">
                <a:solidFill>
                  <a:srgbClr val="3F6623"/>
                </a:solidFill>
                <a:latin typeface="Corbel"/>
                <a:ea typeface="Corbel"/>
                <a:cs typeface="Corbel"/>
                <a:sym typeface="Corbel"/>
              </a:rPr>
              <a:t>Access Delay</a:t>
            </a: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+ </a:t>
            </a:r>
            <a:r>
              <a:rPr lang="en-US" sz="2000" b="1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Internet Delay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			          =</a:t>
            </a: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 </a:t>
            </a:r>
            <a:r>
              <a:rPr lang="en-US" sz="2000" b="1" i="0" u="none" strike="noStrike" cap="none">
                <a:solidFill>
                  <a:srgbClr val="660066"/>
                </a:solidFill>
                <a:latin typeface="Corbel"/>
                <a:ea typeface="Corbel"/>
                <a:cs typeface="Corbel"/>
                <a:sym typeface="Corbel"/>
              </a:rPr>
              <a:t>msecs     </a:t>
            </a: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+ </a:t>
            </a:r>
            <a:r>
              <a:rPr lang="en-US" sz="2000" b="1" i="0" u="none" strike="noStrike" cap="none">
                <a:solidFill>
                  <a:srgbClr val="3F6623"/>
                </a:solidFill>
                <a:latin typeface="Corbel"/>
                <a:ea typeface="Corbel"/>
                <a:cs typeface="Corbel"/>
                <a:sym typeface="Corbel"/>
              </a:rPr>
              <a:t>mins</a:t>
            </a:r>
            <a:r>
              <a:rPr lang="en-US" sz="20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     +   </a:t>
            </a:r>
            <a:r>
              <a:rPr lang="en-US" sz="2000" b="1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2 secs</a:t>
            </a:r>
            <a:endParaRPr sz="2000" b="1" i="0" u="none" strike="noStrike" cap="non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492" name="Google Shape;1492;p77"/>
          <p:cNvCxnSpPr/>
          <p:nvPr/>
        </p:nvCxnSpPr>
        <p:spPr>
          <a:xfrm>
            <a:off x="4727050" y="4757224"/>
            <a:ext cx="524400" cy="227033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93" name="Google Shape;1493;p77"/>
          <p:cNvSpPr/>
          <p:nvPr/>
        </p:nvSpPr>
        <p:spPr>
          <a:xfrm>
            <a:off x="3538893" y="4604787"/>
            <a:ext cx="996028" cy="758939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77"/>
          <p:cNvSpPr/>
          <p:nvPr/>
        </p:nvSpPr>
        <p:spPr>
          <a:xfrm>
            <a:off x="4671757" y="4819928"/>
            <a:ext cx="996028" cy="758939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77"/>
          <p:cNvSpPr/>
          <p:nvPr/>
        </p:nvSpPr>
        <p:spPr>
          <a:xfrm>
            <a:off x="1955863" y="6102911"/>
            <a:ext cx="764832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Cost: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increased access link speed (not cheap!)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78"/>
          <p:cNvSpPr/>
          <p:nvPr/>
        </p:nvSpPr>
        <p:spPr>
          <a:xfrm>
            <a:off x="6562725" y="4392613"/>
            <a:ext cx="2965450" cy="1390650"/>
          </a:xfrm>
          <a:custGeom>
            <a:avLst/>
            <a:gdLst/>
            <a:ahLst/>
            <a:cxnLst/>
            <a:rect l="l" t="t" r="r" b="b"/>
            <a:pathLst>
              <a:path w="1868" h="876" extrusionOk="0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502" name="Google Shape;1502;p78"/>
          <p:cNvCxnSpPr/>
          <p:nvPr/>
        </p:nvCxnSpPr>
        <p:spPr>
          <a:xfrm flipH="1">
            <a:off x="7011988" y="4702175"/>
            <a:ext cx="855662" cy="43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3" name="Google Shape;1503;p78"/>
          <p:cNvCxnSpPr/>
          <p:nvPr/>
        </p:nvCxnSpPr>
        <p:spPr>
          <a:xfrm flipH="1">
            <a:off x="7521576" y="4749800"/>
            <a:ext cx="563563" cy="393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4" name="Google Shape;1504;p78"/>
          <p:cNvCxnSpPr/>
          <p:nvPr/>
        </p:nvCxnSpPr>
        <p:spPr>
          <a:xfrm flipH="1">
            <a:off x="8059739" y="4756150"/>
            <a:ext cx="149225" cy="382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5" name="Google Shape;1505;p78"/>
          <p:cNvCxnSpPr/>
          <p:nvPr/>
        </p:nvCxnSpPr>
        <p:spPr>
          <a:xfrm>
            <a:off x="8426451" y="4735513"/>
            <a:ext cx="123825" cy="41275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6" name="Google Shape;1506;p78"/>
          <p:cNvSpPr txBox="1"/>
          <p:nvPr/>
        </p:nvSpPr>
        <p:spPr>
          <a:xfrm>
            <a:off x="6888145" y="4221163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sz="24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78"/>
          <p:cNvSpPr txBox="1"/>
          <p:nvPr/>
        </p:nvSpPr>
        <p:spPr>
          <a:xfrm>
            <a:off x="8529638" y="4560889"/>
            <a:ext cx="201580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Mbps LAN</a:t>
            </a:r>
            <a:endParaRPr sz="24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8" name="Google Shape;1508;p78"/>
          <p:cNvGrpSpPr/>
          <p:nvPr/>
        </p:nvGrpSpPr>
        <p:grpSpPr>
          <a:xfrm>
            <a:off x="7785101" y="4460876"/>
            <a:ext cx="881063" cy="307975"/>
            <a:chOff x="2356" y="1300"/>
            <a:chExt cx="555" cy="194"/>
          </a:xfrm>
        </p:grpSpPr>
        <p:sp>
          <p:nvSpPr>
            <p:cNvPr id="1509" name="Google Shape;1509;p78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0" name="Google Shape;1510;p78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1" name="Google Shape;1511;p78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12" name="Google Shape;1512;p78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513" name="Google Shape;1513;p78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 extrusionOk="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514" name="Google Shape;1514;p78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 extrusionOk="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cxnSp>
          <p:nvCxnSpPr>
            <p:cNvPr id="1515" name="Google Shape;1515;p78"/>
            <p:cNvCxnSpPr/>
            <p:nvPr/>
          </p:nvCxnSpPr>
          <p:spPr>
            <a:xfrm>
              <a:off x="2357" y="1361"/>
              <a:ext cx="0" cy="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16" name="Google Shape;1516;p78"/>
            <p:cNvCxnSpPr/>
            <p:nvPr/>
          </p:nvCxnSpPr>
          <p:spPr>
            <a:xfrm>
              <a:off x="2907" y="1363"/>
              <a:ext cx="0" cy="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17" name="Google Shape;1517;p78"/>
          <p:cNvGrpSpPr/>
          <p:nvPr/>
        </p:nvGrpSpPr>
        <p:grpSpPr>
          <a:xfrm>
            <a:off x="6699251" y="5070476"/>
            <a:ext cx="525463" cy="557213"/>
            <a:chOff x="-44" y="1473"/>
            <a:chExt cx="981" cy="1105"/>
          </a:xfrm>
        </p:grpSpPr>
        <p:pic>
          <p:nvPicPr>
            <p:cNvPr id="1518" name="Google Shape;1518;p78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9" name="Google Shape;1519;p7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520" name="Google Shape;1520;p78"/>
          <p:cNvGrpSpPr/>
          <p:nvPr/>
        </p:nvGrpSpPr>
        <p:grpSpPr>
          <a:xfrm>
            <a:off x="7210426" y="5092701"/>
            <a:ext cx="525463" cy="557213"/>
            <a:chOff x="-44" y="1473"/>
            <a:chExt cx="981" cy="1105"/>
          </a:xfrm>
        </p:grpSpPr>
        <p:pic>
          <p:nvPicPr>
            <p:cNvPr id="1521" name="Google Shape;1521;p78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2" name="Google Shape;1522;p7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523" name="Google Shape;1523;p78"/>
          <p:cNvGrpSpPr/>
          <p:nvPr/>
        </p:nvGrpSpPr>
        <p:grpSpPr>
          <a:xfrm>
            <a:off x="7734301" y="5081588"/>
            <a:ext cx="525463" cy="557212"/>
            <a:chOff x="-44" y="1473"/>
            <a:chExt cx="981" cy="1105"/>
          </a:xfrm>
        </p:grpSpPr>
        <p:pic>
          <p:nvPicPr>
            <p:cNvPr id="1524" name="Google Shape;1524;p78" descr="desktop_computer_stylized_mediu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5" name="Google Shape;1525;p7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526" name="Google Shape;1526;p78"/>
          <p:cNvSpPr txBox="1">
            <a:spLocks noGrp="1"/>
          </p:cNvSpPr>
          <p:nvPr>
            <p:ph type="title" idx="4294967295"/>
          </p:nvPr>
        </p:nvSpPr>
        <p:spPr>
          <a:xfrm>
            <a:off x="3138488" y="269875"/>
            <a:ext cx="9053512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 b="1"/>
              <a:t>Caching example: Solution 2</a:t>
            </a:r>
            <a:endParaRPr sz="3600" b="1"/>
          </a:p>
        </p:txBody>
      </p:sp>
      <p:sp>
        <p:nvSpPr>
          <p:cNvPr id="1527" name="Google Shape;1527;p78"/>
          <p:cNvSpPr txBox="1"/>
          <p:nvPr/>
        </p:nvSpPr>
        <p:spPr>
          <a:xfrm>
            <a:off x="9326563" y="1824038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8" name="Google Shape;1528;p78"/>
          <p:cNvCxnSpPr/>
          <p:nvPr/>
        </p:nvCxnSpPr>
        <p:spPr>
          <a:xfrm>
            <a:off x="8221663" y="3467100"/>
            <a:ext cx="0" cy="10620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9" name="Google Shape;1529;p78"/>
          <p:cNvSpPr txBox="1"/>
          <p:nvPr/>
        </p:nvSpPr>
        <p:spPr>
          <a:xfrm>
            <a:off x="8223251" y="3656014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Mbps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sz="24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0" name="Google Shape;1530;p78"/>
          <p:cNvGrpSpPr/>
          <p:nvPr/>
        </p:nvGrpSpPr>
        <p:grpSpPr>
          <a:xfrm>
            <a:off x="8350250" y="4941889"/>
            <a:ext cx="1860550" cy="809625"/>
            <a:chOff x="4217" y="3611"/>
            <a:chExt cx="1172" cy="510"/>
          </a:xfrm>
        </p:grpSpPr>
        <p:sp>
          <p:nvSpPr>
            <p:cNvPr id="1531" name="Google Shape;1531;p78"/>
            <p:cNvSpPr/>
            <p:nvPr/>
          </p:nvSpPr>
          <p:spPr>
            <a:xfrm>
              <a:off x="4217" y="3611"/>
              <a:ext cx="329" cy="473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78"/>
            <p:cNvSpPr txBox="1"/>
            <p:nvPr/>
          </p:nvSpPr>
          <p:spPr>
            <a:xfrm>
              <a:off x="4561" y="3717"/>
              <a:ext cx="828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Noto Sans Symbols"/>
                <a:buNone/>
              </a:pPr>
              <a:r>
                <a:rPr lang="en-US" sz="20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local web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Noto Sans Symbols"/>
                <a:buNone/>
              </a:pPr>
              <a:r>
                <a:rPr lang="en-US" sz="20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cache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3" name="Google Shape;1533;p78"/>
          <p:cNvSpPr/>
          <p:nvPr/>
        </p:nvSpPr>
        <p:spPr>
          <a:xfrm>
            <a:off x="1486702" y="1303735"/>
            <a:ext cx="5063324" cy="2612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1" i="1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Assumptions: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Average hit rate: 40%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lang="en-US" sz="2400" b="1" i="1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Consequences</a:t>
            </a:r>
            <a:r>
              <a:rPr lang="en-US" sz="2400" b="1" i="1" u="none" strike="noStrike" cap="non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2000" b="1" i="0" u="none" strike="noStrike" cap="none">
                <a:solidFill>
                  <a:srgbClr val="531A88"/>
                </a:solidFill>
                <a:latin typeface="Arial"/>
                <a:ea typeface="Arial"/>
                <a:cs typeface="Arial"/>
                <a:sym typeface="Arial"/>
              </a:rPr>
              <a:t>LAN delay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within 10 milliseconds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2000" b="1" i="0" u="none" strike="noStrike" cap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Access delay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tens of milliseconds in a 15 Mbps Link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20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Total Response time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endParaRPr sz="32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42900" marR="0" lvl="0" indent="-26035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4" name="Google Shape;1534;p78"/>
          <p:cNvSpPr txBox="1"/>
          <p:nvPr/>
        </p:nvSpPr>
        <p:spPr>
          <a:xfrm>
            <a:off x="1748977" y="5783263"/>
            <a:ext cx="493600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rPr lang="en-US" sz="2800" b="0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Cost: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web cache (cheap!)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5" name="Google Shape;1535;p78"/>
          <p:cNvCxnSpPr/>
          <p:nvPr/>
        </p:nvCxnSpPr>
        <p:spPr>
          <a:xfrm>
            <a:off x="6897688" y="2409825"/>
            <a:ext cx="285750" cy="114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6" name="Google Shape;1536;p78"/>
          <p:cNvCxnSpPr/>
          <p:nvPr/>
        </p:nvCxnSpPr>
        <p:spPr>
          <a:xfrm>
            <a:off x="7707314" y="2028826"/>
            <a:ext cx="66675" cy="276225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7" name="Google Shape;1537;p78"/>
          <p:cNvCxnSpPr/>
          <p:nvPr/>
        </p:nvCxnSpPr>
        <p:spPr>
          <a:xfrm flipH="1">
            <a:off x="8335964" y="2066926"/>
            <a:ext cx="9525" cy="238125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8" name="Google Shape;1538;p78"/>
          <p:cNvCxnSpPr/>
          <p:nvPr/>
        </p:nvCxnSpPr>
        <p:spPr>
          <a:xfrm flipH="1">
            <a:off x="8793163" y="2228850"/>
            <a:ext cx="133350" cy="20955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9" name="Google Shape;1539;p78"/>
          <p:cNvCxnSpPr/>
          <p:nvPr/>
        </p:nvCxnSpPr>
        <p:spPr>
          <a:xfrm rot="10800000">
            <a:off x="8955088" y="2990850"/>
            <a:ext cx="24765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0" name="Google Shape;1540;p78"/>
          <p:cNvSpPr/>
          <p:nvPr/>
        </p:nvSpPr>
        <p:spPr>
          <a:xfrm>
            <a:off x="7011988" y="2022475"/>
            <a:ext cx="2174875" cy="1581150"/>
          </a:xfrm>
          <a:custGeom>
            <a:avLst/>
            <a:gdLst/>
            <a:ahLst/>
            <a:cxnLst/>
            <a:rect l="l" t="t" r="r" b="b"/>
            <a:pathLst>
              <a:path w="2135" h="1662" extrusionOk="0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41" name="Google Shape;1541;p78"/>
          <p:cNvSpPr txBox="1"/>
          <p:nvPr/>
        </p:nvSpPr>
        <p:spPr>
          <a:xfrm>
            <a:off x="7718425" y="2354264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sz="24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2" name="Google Shape;1542;p78"/>
          <p:cNvGrpSpPr/>
          <p:nvPr/>
        </p:nvGrpSpPr>
        <p:grpSpPr>
          <a:xfrm>
            <a:off x="7835900" y="3165476"/>
            <a:ext cx="881062" cy="307975"/>
            <a:chOff x="2356" y="1300"/>
            <a:chExt cx="555" cy="194"/>
          </a:xfrm>
        </p:grpSpPr>
        <p:sp>
          <p:nvSpPr>
            <p:cNvPr id="1543" name="Google Shape;1543;p78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4" name="Google Shape;1544;p78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5" name="Google Shape;1545;p78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46" name="Google Shape;1546;p78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547" name="Google Shape;1547;p78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 extrusionOk="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548" name="Google Shape;1548;p78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 extrusionOk="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cxnSp>
          <p:nvCxnSpPr>
            <p:cNvPr id="1549" name="Google Shape;1549;p78"/>
            <p:cNvCxnSpPr/>
            <p:nvPr/>
          </p:nvCxnSpPr>
          <p:spPr>
            <a:xfrm>
              <a:off x="2357" y="1361"/>
              <a:ext cx="0" cy="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50" name="Google Shape;1550;p78"/>
            <p:cNvCxnSpPr/>
            <p:nvPr/>
          </p:nvCxnSpPr>
          <p:spPr>
            <a:xfrm>
              <a:off x="2907" y="1363"/>
              <a:ext cx="0" cy="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51" name="Google Shape;1551;p78"/>
          <p:cNvGrpSpPr/>
          <p:nvPr/>
        </p:nvGrpSpPr>
        <p:grpSpPr>
          <a:xfrm>
            <a:off x="6580188" y="1957388"/>
            <a:ext cx="377825" cy="576262"/>
            <a:chOff x="4140" y="429"/>
            <a:chExt cx="1425" cy="2396"/>
          </a:xfrm>
        </p:grpSpPr>
        <p:sp>
          <p:nvSpPr>
            <p:cNvPr id="1552" name="Google Shape;1552;p7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53" name="Google Shape;1553;p7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7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55" name="Google Shape;1555;p7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56" name="Google Shape;1556;p7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57" name="Google Shape;1557;p7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558" name="Google Shape;1558;p7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7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60" name="Google Shape;1560;p7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1" name="Google Shape;1561;p7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562" name="Google Shape;1562;p7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7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64" name="Google Shape;1564;p7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7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6" name="Google Shape;1566;p7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567" name="Google Shape;1567;p7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7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69" name="Google Shape;1569;p7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570" name="Google Shape;1570;p7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571" name="Google Shape;1571;p7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7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73" name="Google Shape;1573;p7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7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75" name="Google Shape;1575;p7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76" name="Google Shape;1576;p7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7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78" name="Google Shape;1578;p7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7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7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7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7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7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4" name="Google Shape;1584;p78"/>
          <p:cNvGrpSpPr/>
          <p:nvPr/>
        </p:nvGrpSpPr>
        <p:grpSpPr>
          <a:xfrm>
            <a:off x="7494588" y="1479551"/>
            <a:ext cx="377825" cy="576263"/>
            <a:chOff x="4140" y="429"/>
            <a:chExt cx="1425" cy="2396"/>
          </a:xfrm>
        </p:grpSpPr>
        <p:sp>
          <p:nvSpPr>
            <p:cNvPr id="1585" name="Google Shape;1585;p7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86" name="Google Shape;1586;p7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7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88" name="Google Shape;1588;p7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89" name="Google Shape;1589;p7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0" name="Google Shape;1590;p7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591" name="Google Shape;1591;p7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p7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3" name="Google Shape;1593;p7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4" name="Google Shape;1594;p7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595" name="Google Shape;1595;p7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6" name="Google Shape;1596;p7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7" name="Google Shape;1597;p7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9" name="Google Shape;1599;p7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600" name="Google Shape;1600;p7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7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2" name="Google Shape;1602;p7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603" name="Google Shape;1603;p7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604" name="Google Shape;1604;p7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7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6" name="Google Shape;1606;p7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7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08" name="Google Shape;1608;p7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09" name="Google Shape;1609;p7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7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11" name="Google Shape;1611;p7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7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7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7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7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7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7" name="Google Shape;1617;p78"/>
          <p:cNvGrpSpPr/>
          <p:nvPr/>
        </p:nvGrpSpPr>
        <p:grpSpPr>
          <a:xfrm>
            <a:off x="8247063" y="1511301"/>
            <a:ext cx="377825" cy="576263"/>
            <a:chOff x="4140" y="429"/>
            <a:chExt cx="1425" cy="2396"/>
          </a:xfrm>
        </p:grpSpPr>
        <p:sp>
          <p:nvSpPr>
            <p:cNvPr id="1618" name="Google Shape;1618;p7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19" name="Google Shape;1619;p7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7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21" name="Google Shape;1621;p7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22" name="Google Shape;1622;p7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3" name="Google Shape;1623;p7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624" name="Google Shape;1624;p7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7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26" name="Google Shape;1626;p7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7" name="Google Shape;1627;p7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628" name="Google Shape;1628;p7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7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30" name="Google Shape;1630;p7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7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32" name="Google Shape;1632;p7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633" name="Google Shape;1633;p7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7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35" name="Google Shape;1635;p7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636" name="Google Shape;1636;p7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637" name="Google Shape;1637;p7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7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39" name="Google Shape;1639;p7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7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41" name="Google Shape;1641;p7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42" name="Google Shape;1642;p7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7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44" name="Google Shape;1644;p7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7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7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7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0" name="Google Shape;1650;p78"/>
          <p:cNvGrpSpPr/>
          <p:nvPr/>
        </p:nvGrpSpPr>
        <p:grpSpPr>
          <a:xfrm>
            <a:off x="8856663" y="1663701"/>
            <a:ext cx="377825" cy="576263"/>
            <a:chOff x="4140" y="429"/>
            <a:chExt cx="1425" cy="2396"/>
          </a:xfrm>
        </p:grpSpPr>
        <p:sp>
          <p:nvSpPr>
            <p:cNvPr id="1651" name="Google Shape;1651;p7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52" name="Google Shape;1652;p7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7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56" name="Google Shape;1656;p7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657" name="Google Shape;1657;p7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8" name="Google Shape;1658;p7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9" name="Google Shape;1659;p7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0" name="Google Shape;1660;p7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661" name="Google Shape;1661;p7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7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3" name="Google Shape;1663;p7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5" name="Google Shape;1665;p7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666" name="Google Shape;1666;p7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7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8" name="Google Shape;1668;p7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669" name="Google Shape;1669;p7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670" name="Google Shape;1670;p7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1" name="Google Shape;1671;p7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72" name="Google Shape;1672;p7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7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7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7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7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7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7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3" name="Google Shape;1683;p78"/>
          <p:cNvGrpSpPr/>
          <p:nvPr/>
        </p:nvGrpSpPr>
        <p:grpSpPr>
          <a:xfrm>
            <a:off x="9185276" y="2609851"/>
            <a:ext cx="377825" cy="576263"/>
            <a:chOff x="4140" y="429"/>
            <a:chExt cx="1425" cy="2396"/>
          </a:xfrm>
        </p:grpSpPr>
        <p:sp>
          <p:nvSpPr>
            <p:cNvPr id="1684" name="Google Shape;1684;p7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85" name="Google Shape;1685;p7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7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87" name="Google Shape;1687;p7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88" name="Google Shape;1688;p7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9" name="Google Shape;1689;p7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690" name="Google Shape;1690;p7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7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2" name="Google Shape;1692;p7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93" name="Google Shape;1693;p7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694" name="Google Shape;1694;p7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5" name="Google Shape;1695;p7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6" name="Google Shape;1696;p7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7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98" name="Google Shape;1698;p7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699" name="Google Shape;1699;p7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0" name="Google Shape;1700;p7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1" name="Google Shape;1701;p7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702" name="Google Shape;1702;p7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703" name="Google Shape;1703;p7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4" name="Google Shape;1704;p7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5" name="Google Shape;1705;p7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7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07" name="Google Shape;1707;p7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08" name="Google Shape;1708;p7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7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10" name="Google Shape;1710;p7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7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7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7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7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7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6" name="Google Shape;1716;p78"/>
          <p:cNvGrpSpPr/>
          <p:nvPr/>
        </p:nvGrpSpPr>
        <p:grpSpPr>
          <a:xfrm>
            <a:off x="8415339" y="5027613"/>
            <a:ext cx="377825" cy="576262"/>
            <a:chOff x="4140" y="429"/>
            <a:chExt cx="1425" cy="2396"/>
          </a:xfrm>
        </p:grpSpPr>
        <p:sp>
          <p:nvSpPr>
            <p:cNvPr id="1717" name="Google Shape;1717;p7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18" name="Google Shape;1718;p7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7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20" name="Google Shape;1720;p7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21" name="Google Shape;1721;p7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2" name="Google Shape;1722;p7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723" name="Google Shape;1723;p7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4" name="Google Shape;1724;p7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25" name="Google Shape;1725;p7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6" name="Google Shape;1726;p7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727" name="Google Shape;1727;p7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8" name="Google Shape;1728;p7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29" name="Google Shape;1729;p7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7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31" name="Google Shape;1731;p7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732" name="Google Shape;1732;p7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3" name="Google Shape;1733;p7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4" name="Google Shape;1734;p7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735" name="Google Shape;1735;p7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736" name="Google Shape;1736;p7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7" name="Google Shape;1737;p7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8" name="Google Shape;1738;p7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7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40" name="Google Shape;1740;p7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41" name="Google Shape;1741;p7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7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43" name="Google Shape;1743;p7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7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7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7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7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7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9" name="Google Shape;1749;p78"/>
          <p:cNvSpPr/>
          <p:nvPr/>
        </p:nvSpPr>
        <p:spPr>
          <a:xfrm>
            <a:off x="745104" y="4254568"/>
            <a:ext cx="628248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 b="1" i="0" u="none" strike="noStrike" cap="non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0.4(0.01 seconds)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1" i="0" u="none" strike="noStrike" cap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0.6(0.01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 b="1" i="0" u="none" strike="noStrike" cap="none">
                <a:solidFill>
                  <a:srgbClr val="1186C3"/>
                </a:solidFill>
                <a:latin typeface="Arial"/>
                <a:ea typeface="Arial"/>
                <a:cs typeface="Arial"/>
                <a:sym typeface="Arial"/>
              </a:rPr>
              <a:t>2 seconds</a:t>
            </a:r>
            <a:r>
              <a:rPr lang="en-US" sz="2400" b="0" i="0" u="none" strike="noStrike" cap="none">
                <a:solidFill>
                  <a:srgbClr val="1287C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1.2 secs</a:t>
            </a:r>
            <a:endParaRPr sz="2000" b="1" i="0" u="none" strike="noStrike" cap="non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80"/>
          <p:cNvSpPr txBox="1">
            <a:spLocks noGrp="1"/>
          </p:cNvSpPr>
          <p:nvPr>
            <p:ph type="title"/>
          </p:nvPr>
        </p:nvSpPr>
        <p:spPr>
          <a:xfrm>
            <a:off x="1484310" y="399868"/>
            <a:ext cx="10018713" cy="571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Calibri"/>
              <a:buNone/>
            </a:pPr>
            <a:r>
              <a:rPr lang="en-US" b="1"/>
              <a:t>Stale Cache</a:t>
            </a:r>
            <a:endParaRPr b="1"/>
          </a:p>
        </p:txBody>
      </p:sp>
      <p:sp>
        <p:nvSpPr>
          <p:cNvPr id="1761" name="Google Shape;1761;p80"/>
          <p:cNvSpPr txBox="1">
            <a:spLocks noGrp="1"/>
          </p:cNvSpPr>
          <p:nvPr>
            <p:ph type="body" idx="1"/>
          </p:nvPr>
        </p:nvSpPr>
        <p:spPr>
          <a:xfrm>
            <a:off x="1608814" y="1108364"/>
            <a:ext cx="10018713" cy="5379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78378"/>
              <a:buChar char="•"/>
            </a:pPr>
            <a:r>
              <a:rPr lang="en-US" sz="3600"/>
              <a:t>One </a:t>
            </a:r>
            <a:r>
              <a:rPr lang="en-US" sz="3600">
                <a:solidFill>
                  <a:srgbClr val="0000FF"/>
                </a:solidFill>
              </a:rPr>
              <a:t>problem </a:t>
            </a:r>
            <a:r>
              <a:rPr lang="en-US" sz="3600"/>
              <a:t>of using Proxy server</a:t>
            </a:r>
            <a:endParaRPr/>
          </a:p>
          <a:p>
            <a:pPr marL="91440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772"/>
              <a:buChar char="•"/>
            </a:pPr>
            <a:r>
              <a:rPr lang="en-US" sz="2800"/>
              <a:t>The object housed in the Web server may have been modified since the copy was cached at the client. </a:t>
            </a:r>
            <a:endParaRPr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8175"/>
              <a:buChar char="•"/>
            </a:pPr>
            <a:r>
              <a:rPr lang="en-US" sz="3200"/>
              <a:t>HTTP has a mechanism that allows a cache to verify that its objects are up to date. </a:t>
            </a:r>
            <a:endParaRPr/>
          </a:p>
          <a:p>
            <a:pPr marL="457200" lvl="0" indent="-228601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8175"/>
              <a:buNone/>
            </a:pPr>
            <a:endParaRPr sz="32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8175"/>
              <a:buChar char="•"/>
            </a:pPr>
            <a:r>
              <a:rPr lang="en-US" sz="3200"/>
              <a:t>This mechanism is called the </a:t>
            </a:r>
            <a:r>
              <a:rPr lang="en-US" sz="3200" b="1">
                <a:solidFill>
                  <a:srgbClr val="FF6600"/>
                </a:solidFill>
              </a:rPr>
              <a:t>conditional GET</a:t>
            </a:r>
            <a:r>
              <a:rPr lang="en-US" sz="3200"/>
              <a:t>.</a:t>
            </a:r>
            <a:endParaRPr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8175"/>
              <a:buChar char="•"/>
            </a:pPr>
            <a:r>
              <a:rPr lang="en-US" sz="3200"/>
              <a:t>An HTTP request message is a so-called conditional GET message if</a:t>
            </a:r>
            <a:endParaRPr/>
          </a:p>
          <a:p>
            <a:pPr marL="1034414" lvl="1" indent="-51434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772"/>
              <a:buFont typeface="Arial"/>
              <a:buAutoNum type="arabicParenR"/>
            </a:pPr>
            <a:r>
              <a:rPr lang="en-US" sz="2800"/>
              <a:t>The request message uses the GET method </a:t>
            </a:r>
            <a:endParaRPr/>
          </a:p>
          <a:p>
            <a:pPr marL="1034414" lvl="1" indent="-51434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772"/>
              <a:buFont typeface="Arial"/>
              <a:buAutoNum type="arabicParenR"/>
            </a:pPr>
            <a:r>
              <a:rPr lang="en-US" sz="2800"/>
              <a:t>The request message includes an If-Modified-Since: header line.</a:t>
            </a:r>
            <a:endParaRPr/>
          </a:p>
          <a:p>
            <a:pPr marL="577215" lvl="0" indent="-34861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8175"/>
              <a:buFont typeface="Arial"/>
              <a:buNone/>
            </a:pPr>
            <a:endParaRPr sz="320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8175"/>
              <a:buNone/>
            </a:pPr>
            <a:endParaRPr sz="3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81"/>
          <p:cNvSpPr txBox="1">
            <a:spLocks noGrp="1"/>
          </p:cNvSpPr>
          <p:nvPr>
            <p:ph type="title"/>
          </p:nvPr>
        </p:nvSpPr>
        <p:spPr>
          <a:xfrm>
            <a:off x="1811338" y="193676"/>
            <a:ext cx="79629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/>
              <a:t>Conditional GET </a:t>
            </a:r>
            <a:endParaRPr/>
          </a:p>
        </p:txBody>
      </p:sp>
      <p:sp>
        <p:nvSpPr>
          <p:cNvPr id="1768" name="Google Shape;1768;p81"/>
          <p:cNvSpPr txBox="1">
            <a:spLocks noGrp="1"/>
          </p:cNvSpPr>
          <p:nvPr>
            <p:ph type="body" idx="1"/>
          </p:nvPr>
        </p:nvSpPr>
        <p:spPr>
          <a:xfrm>
            <a:off x="1793874" y="1234932"/>
            <a:ext cx="3743325" cy="513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87"/>
              <a:buChar char="•"/>
            </a:pPr>
            <a:r>
              <a:rPr lang="en-US" sz="2405" b="1" i="1">
                <a:solidFill>
                  <a:srgbClr val="002060"/>
                </a:solidFill>
              </a:rPr>
              <a:t>Goal:</a:t>
            </a:r>
            <a:r>
              <a:rPr lang="en-US" sz="2220"/>
              <a:t> Don’t send object if cache has up-to-date cached version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Clr>
                <a:schemeClr val="dk1"/>
              </a:buClr>
              <a:buSzPts val="2683"/>
              <a:buChar char="•"/>
            </a:pPr>
            <a:r>
              <a:rPr lang="en-US" sz="1850"/>
              <a:t>No object transmission delay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Clr>
                <a:schemeClr val="dk1"/>
              </a:buClr>
              <a:buSzPts val="2683"/>
              <a:buChar char="•"/>
            </a:pPr>
            <a:r>
              <a:rPr lang="en-US" sz="1850"/>
              <a:t>Lower link utilization</a:t>
            </a:r>
            <a:endParaRPr/>
          </a:p>
          <a:p>
            <a:pPr marL="285750" lvl="0" indent="-285750" algn="l" rtl="0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Clr>
                <a:srgbClr val="000090"/>
              </a:buClr>
              <a:buSzPts val="3219"/>
              <a:buChar char="•"/>
            </a:pPr>
            <a:r>
              <a:rPr lang="en-US" sz="2220" b="1" i="1">
                <a:solidFill>
                  <a:srgbClr val="000090"/>
                </a:solidFill>
              </a:rPr>
              <a:t>Cache:</a:t>
            </a:r>
            <a:r>
              <a:rPr lang="en-US" sz="2220">
                <a:solidFill>
                  <a:srgbClr val="000090"/>
                </a:solidFill>
              </a:rPr>
              <a:t> </a:t>
            </a:r>
            <a:r>
              <a:rPr lang="en-US" sz="2220"/>
              <a:t>specify date of cached copy in HTTP request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Clr>
                <a:schemeClr val="dk1"/>
              </a:buClr>
              <a:buSzPts val="2683"/>
              <a:buFont typeface="Noto Sans Symbols"/>
              <a:buNone/>
            </a:pPr>
            <a:r>
              <a:rPr lang="en-US" sz="1850" b="1">
                <a:latin typeface="Courier New"/>
                <a:ea typeface="Courier New"/>
                <a:cs typeface="Courier New"/>
                <a:sym typeface="Courier New"/>
              </a:rPr>
              <a:t>If-modified-since: &lt;date&gt;</a:t>
            </a:r>
            <a:endParaRPr/>
          </a:p>
          <a:p>
            <a:pPr marL="285750" lvl="0" indent="-285750" algn="l" rtl="0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Clr>
                <a:srgbClr val="000090"/>
              </a:buClr>
              <a:buSzPts val="3219"/>
              <a:buChar char="•"/>
            </a:pPr>
            <a:r>
              <a:rPr lang="en-US" sz="2220" b="1" i="1">
                <a:solidFill>
                  <a:srgbClr val="000090"/>
                </a:solidFill>
              </a:rPr>
              <a:t>Server:</a:t>
            </a:r>
            <a:r>
              <a:rPr lang="en-US" sz="2220">
                <a:solidFill>
                  <a:srgbClr val="000090"/>
                </a:solidFill>
              </a:rPr>
              <a:t> </a:t>
            </a:r>
            <a:r>
              <a:rPr lang="en-US" sz="2220"/>
              <a:t>response contains no object if cached copy is up-to-date: 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Clr>
                <a:schemeClr val="dk1"/>
              </a:buClr>
              <a:buSzPts val="2683"/>
              <a:buFont typeface="Noto Sans Symbols"/>
              <a:buNone/>
            </a:pPr>
            <a:r>
              <a:rPr lang="en-US" sz="1850" b="1">
                <a:latin typeface="Courier New"/>
                <a:ea typeface="Courier New"/>
                <a:cs typeface="Courier New"/>
                <a:sym typeface="Courier New"/>
              </a:rPr>
              <a:t>HTTP/1.0 304 Not Modified</a:t>
            </a:r>
            <a:endParaRPr sz="1480"/>
          </a:p>
        </p:txBody>
      </p:sp>
      <p:cxnSp>
        <p:nvCxnSpPr>
          <p:cNvPr id="1769" name="Google Shape;1769;p81"/>
          <p:cNvCxnSpPr/>
          <p:nvPr/>
        </p:nvCxnSpPr>
        <p:spPr>
          <a:xfrm>
            <a:off x="6045201" y="2114550"/>
            <a:ext cx="3305175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70" name="Google Shape;1770;p81"/>
          <p:cNvSpPr txBox="1"/>
          <p:nvPr/>
        </p:nvSpPr>
        <p:spPr>
          <a:xfrm>
            <a:off x="6351589" y="1998663"/>
            <a:ext cx="2681287" cy="6207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request msg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If-modified-since: &lt;date&gt;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1" name="Google Shape;1771;p81"/>
          <p:cNvCxnSpPr/>
          <p:nvPr/>
        </p:nvCxnSpPr>
        <p:spPr>
          <a:xfrm flipH="1">
            <a:off x="6064251" y="2860675"/>
            <a:ext cx="3305175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772" name="Google Shape;1772;p81"/>
          <p:cNvGrpSpPr/>
          <p:nvPr/>
        </p:nvGrpSpPr>
        <p:grpSpPr>
          <a:xfrm>
            <a:off x="6461125" y="2844800"/>
            <a:ext cx="2643188" cy="865188"/>
            <a:chOff x="2698" y="2036"/>
            <a:chExt cx="1665" cy="545"/>
          </a:xfrm>
        </p:grpSpPr>
        <p:sp>
          <p:nvSpPr>
            <p:cNvPr id="1773" name="Google Shape;1773;p81"/>
            <p:cNvSpPr/>
            <p:nvPr/>
          </p:nvSpPr>
          <p:spPr>
            <a:xfrm>
              <a:off x="2760" y="2071"/>
              <a:ext cx="1578" cy="46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04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81"/>
            <p:cNvSpPr txBox="1"/>
            <p:nvPr/>
          </p:nvSpPr>
          <p:spPr>
            <a:xfrm>
              <a:off x="2698" y="2036"/>
              <a:ext cx="1665" cy="54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HTTP/1.0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304 Not Modified</a:t>
              </a:r>
              <a:endPara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5" name="Google Shape;1775;p81"/>
          <p:cNvSpPr txBox="1"/>
          <p:nvPr/>
        </p:nvSpPr>
        <p:spPr>
          <a:xfrm>
            <a:off x="9429750" y="2149476"/>
            <a:ext cx="1047750" cy="146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object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modified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&lt;date&gt;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6" name="Google Shape;1776;p81"/>
          <p:cNvCxnSpPr/>
          <p:nvPr/>
        </p:nvCxnSpPr>
        <p:spPr>
          <a:xfrm>
            <a:off x="5802312" y="4079874"/>
            <a:ext cx="3971925" cy="28575"/>
          </a:xfrm>
          <a:prstGeom prst="straightConnector1">
            <a:avLst/>
          </a:prstGeom>
          <a:noFill/>
          <a:ln w="28575" cap="flat" cmpd="sng">
            <a:solidFill>
              <a:srgbClr val="0000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777" name="Google Shape;1777;p81"/>
          <p:cNvCxnSpPr/>
          <p:nvPr/>
        </p:nvCxnSpPr>
        <p:spPr>
          <a:xfrm>
            <a:off x="6111876" y="4678363"/>
            <a:ext cx="3305175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78" name="Google Shape;1778;p81"/>
          <p:cNvSpPr txBox="1"/>
          <p:nvPr/>
        </p:nvSpPr>
        <p:spPr>
          <a:xfrm>
            <a:off x="6356350" y="4562476"/>
            <a:ext cx="2681288" cy="620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request msg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If-modified-since: &lt;date&gt;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9" name="Google Shape;1779;p81"/>
          <p:cNvCxnSpPr/>
          <p:nvPr/>
        </p:nvCxnSpPr>
        <p:spPr>
          <a:xfrm flipH="1">
            <a:off x="6130926" y="5457825"/>
            <a:ext cx="3305175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80" name="Google Shape;1780;p81"/>
          <p:cNvSpPr txBox="1"/>
          <p:nvPr/>
        </p:nvSpPr>
        <p:spPr>
          <a:xfrm>
            <a:off x="6375400" y="5402263"/>
            <a:ext cx="2643188" cy="925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response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HTTP/1.0 200 OK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&lt;data&gt;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81"/>
          <p:cNvSpPr txBox="1"/>
          <p:nvPr/>
        </p:nvSpPr>
        <p:spPr>
          <a:xfrm>
            <a:off x="9509125" y="4808539"/>
            <a:ext cx="104775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object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modified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after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&lt;date&gt;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81"/>
          <p:cNvSpPr txBox="1"/>
          <p:nvPr/>
        </p:nvSpPr>
        <p:spPr>
          <a:xfrm>
            <a:off x="5141993" y="1062039"/>
            <a:ext cx="95718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proxy 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81"/>
          <p:cNvSpPr txBox="1"/>
          <p:nvPr/>
        </p:nvSpPr>
        <p:spPr>
          <a:xfrm>
            <a:off x="9007475" y="1057276"/>
            <a:ext cx="889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4" name="Google Shape;1784;p81"/>
          <p:cNvGrpSpPr/>
          <p:nvPr/>
        </p:nvGrpSpPr>
        <p:grpSpPr>
          <a:xfrm>
            <a:off x="8597901" y="977900"/>
            <a:ext cx="422275" cy="685800"/>
            <a:chOff x="4140" y="429"/>
            <a:chExt cx="1425" cy="2396"/>
          </a:xfrm>
        </p:grpSpPr>
        <p:sp>
          <p:nvSpPr>
            <p:cNvPr id="1785" name="Google Shape;1785;p81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86" name="Google Shape;1786;p81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81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88" name="Google Shape;1788;p81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89" name="Google Shape;1789;p81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90" name="Google Shape;1790;p81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1791" name="Google Shape;1791;p81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2" name="Google Shape;1792;p81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3" name="Google Shape;1793;p81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94" name="Google Shape;1794;p81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1795" name="Google Shape;1795;p81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81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7" name="Google Shape;1797;p81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81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99" name="Google Shape;1799;p81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1800" name="Google Shape;1800;p81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1" name="Google Shape;1801;p81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02" name="Google Shape;1802;p81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803" name="Google Shape;1803;p81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1804" name="Google Shape;1804;p81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5" name="Google Shape;1805;p81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06" name="Google Shape;1806;p81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81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08" name="Google Shape;1808;p81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09" name="Google Shape;1809;p81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81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1" name="Google Shape;1811;p81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81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81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81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81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81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7" name="Google Shape;1817;p81"/>
          <p:cNvGrpSpPr/>
          <p:nvPr/>
        </p:nvGrpSpPr>
        <p:grpSpPr>
          <a:xfrm>
            <a:off x="6249987" y="1043001"/>
            <a:ext cx="422275" cy="685800"/>
            <a:chOff x="4140" y="429"/>
            <a:chExt cx="1425" cy="2396"/>
          </a:xfrm>
        </p:grpSpPr>
        <p:sp>
          <p:nvSpPr>
            <p:cNvPr id="1818" name="Google Shape;1818;p81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9" name="Google Shape;1819;p81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81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21" name="Google Shape;1821;p81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22" name="Google Shape;1822;p81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23" name="Google Shape;1823;p81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1824" name="Google Shape;1824;p81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81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26" name="Google Shape;1826;p81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27" name="Google Shape;1827;p81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1828" name="Google Shape;1828;p81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81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30" name="Google Shape;1830;p81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81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32" name="Google Shape;1832;p81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1833" name="Google Shape;1833;p81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4" name="Google Shape;1834;p81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35" name="Google Shape;1835;p81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836" name="Google Shape;1836;p81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1837" name="Google Shape;1837;p81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8" name="Google Shape;1838;p81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39" name="Google Shape;1839;p81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81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41" name="Google Shape;1841;p81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42" name="Google Shape;1842;p81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81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44" name="Google Shape;1844;p81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81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81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81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81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81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82"/>
          <p:cNvSpPr txBox="1">
            <a:spLocks noGrp="1"/>
          </p:cNvSpPr>
          <p:nvPr>
            <p:ph type="title"/>
          </p:nvPr>
        </p:nvSpPr>
        <p:spPr>
          <a:xfrm>
            <a:off x="1811338" y="193676"/>
            <a:ext cx="79629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/>
              <a:t>Conditional GET </a:t>
            </a:r>
            <a:endParaRPr/>
          </a:p>
        </p:txBody>
      </p:sp>
      <p:sp>
        <p:nvSpPr>
          <p:cNvPr id="1856" name="Google Shape;1856;p82"/>
          <p:cNvSpPr txBox="1"/>
          <p:nvPr/>
        </p:nvSpPr>
        <p:spPr>
          <a:xfrm>
            <a:off x="950976" y="1444752"/>
            <a:ext cx="5442516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Sending Conditional GET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  /logo.png   HTTP/1.1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Host: example.com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If-Modified-Since: Wed, 27 Oct 2025 10:00:00 GMT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Server Reply (No change)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HTTP/1.1 304 Not Modified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Server Reply (Change)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HTTP/1.1 200 OK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Last-Modified: Wed, 28 Oct 2025 08:00:00 GMT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[new file content follows...]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82"/>
          <p:cNvSpPr txBox="1"/>
          <p:nvPr/>
        </p:nvSpPr>
        <p:spPr>
          <a:xfrm>
            <a:off x="8707374" y="1660636"/>
            <a:ext cx="233141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/logo.png HTTP/1.1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Host: www.example.com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If-None-Match: "abc123"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82"/>
          <p:cNvSpPr txBox="1"/>
          <p:nvPr/>
        </p:nvSpPr>
        <p:spPr>
          <a:xfrm>
            <a:off x="8572037" y="3913632"/>
            <a:ext cx="25123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HTTP/1.1 304 Not Modified</a:t>
            </a:r>
            <a:endParaRPr/>
          </a:p>
        </p:txBody>
      </p:sp>
      <p:sp>
        <p:nvSpPr>
          <p:cNvPr id="1859" name="Google Shape;1859;p82"/>
          <p:cNvSpPr txBox="1"/>
          <p:nvPr/>
        </p:nvSpPr>
        <p:spPr>
          <a:xfrm>
            <a:off x="8707374" y="5197364"/>
            <a:ext cx="17716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HTTP/1.1 200 OK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ETag: "xyz456"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[File data here...]</a:t>
            </a:r>
            <a:endParaRPr/>
          </a:p>
        </p:txBody>
      </p:sp>
      <p:sp>
        <p:nvSpPr>
          <p:cNvPr id="1860" name="Google Shape;1860;p82"/>
          <p:cNvSpPr txBox="1"/>
          <p:nvPr/>
        </p:nvSpPr>
        <p:spPr>
          <a:xfrm>
            <a:off x="8707374" y="1290863"/>
            <a:ext cx="11208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highlight>
                  <a:srgbClr val="808080"/>
                </a:highlight>
                <a:latin typeface="Arial"/>
                <a:ea typeface="Arial"/>
                <a:cs typeface="Arial"/>
                <a:sym typeface="Arial"/>
              </a:rPr>
              <a:t>Using ETag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8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866" name="Google Shape;1866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2" cy="1689463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83"/>
          <p:cNvSpPr txBox="1"/>
          <p:nvPr/>
        </p:nvSpPr>
        <p:spPr>
          <a:xfrm>
            <a:off x="1929384" y="2478024"/>
            <a:ext cx="7146508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webpage cached on: March 16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 until:  16+(5-1)=20 March  [Fresh]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Stale on 21 March.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client will be served from the Proxy’s cache copy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b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Proxy does not need to request the same copy from the original server again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reduces bandwidth consumption and processing speed of the proxy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84"/>
          <p:cNvSpPr txBox="1">
            <a:spLocks noGrp="1"/>
          </p:cNvSpPr>
          <p:nvPr>
            <p:ph type="ctrTitle"/>
          </p:nvPr>
        </p:nvSpPr>
        <p:spPr>
          <a:xfrm>
            <a:off x="1449977" y="1380068"/>
            <a:ext cx="10053000" cy="26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HTTPS</a:t>
            </a:r>
            <a:endParaRPr/>
          </a:p>
        </p:txBody>
      </p:sp>
      <p:sp>
        <p:nvSpPr>
          <p:cNvPr id="1873" name="Google Shape;1873;p84"/>
          <p:cNvSpPr txBox="1"/>
          <p:nvPr/>
        </p:nvSpPr>
        <p:spPr>
          <a:xfrm>
            <a:off x="8502975" y="4166075"/>
            <a:ext cx="3000000" cy="14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lang="en-US" sz="4033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Part 6</a:t>
            </a:r>
            <a:br>
              <a:rPr lang="en-US" sz="4033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40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9" name="Google Shape;1879;p85" descr="HTTP vs HTTPS comparison graphic featuring two diagrams that showcase HTTP works and how HTTPS works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900" y="1132125"/>
            <a:ext cx="6317025" cy="530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0" name="Google Shape;1880;p85"/>
          <p:cNvSpPr txBox="1">
            <a:spLocks noGrp="1"/>
          </p:cNvSpPr>
          <p:nvPr>
            <p:ph type="ctrTitle"/>
          </p:nvPr>
        </p:nvSpPr>
        <p:spPr>
          <a:xfrm>
            <a:off x="1811338" y="193676"/>
            <a:ext cx="79629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/>
              <a:t>HTTPS</a:t>
            </a:r>
            <a:endParaRPr/>
          </a:p>
        </p:txBody>
      </p:sp>
      <p:sp>
        <p:nvSpPr>
          <p:cNvPr id="1881" name="Google Shape;1881;p85"/>
          <p:cNvSpPr/>
          <p:nvPr/>
        </p:nvSpPr>
        <p:spPr>
          <a:xfrm>
            <a:off x="6751225" y="1272625"/>
            <a:ext cx="5115300" cy="55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secure version of HTTP</a:t>
            </a:r>
            <a:endParaRPr sz="2400" b="0" i="1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Allows transferring the data in an encrypted form.</a:t>
            </a:r>
            <a:endParaRPr sz="24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Uses an encryption protocol known as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Transport Layer Security</a:t>
            </a:r>
            <a:r>
              <a:rPr lang="en-US" sz="24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and officially, it is referred to as a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Secure Sockets Layer (SSL).</a:t>
            </a:r>
            <a:endParaRPr sz="2400" b="1" i="0" u="none" strike="noStrike" cap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HTTPS transmits the data over 443 port number.</a:t>
            </a:r>
            <a:endParaRPr sz="24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887" name="Google Shape;1887;p8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Char char="•"/>
            </a:pPr>
            <a:r>
              <a:rPr lang="en-US" sz="3200">
                <a:solidFill>
                  <a:srgbClr val="00B0F0"/>
                </a:solidFill>
              </a:rPr>
              <a:t>Steps</a:t>
            </a:r>
            <a:endParaRPr/>
          </a:p>
          <a:p>
            <a:pPr marL="971550" lvl="1" indent="-5143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A browser connects to the server using HTTPS.</a:t>
            </a:r>
            <a:endParaRPr/>
          </a:p>
          <a:p>
            <a:pPr marL="971550" lvl="1" indent="-5143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The server sends its SSL certificate to the browser.</a:t>
            </a:r>
            <a:endParaRPr/>
          </a:p>
          <a:p>
            <a:pPr marL="971550" lvl="1" indent="-5143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The browser checks the certificate’s authenticity.</a:t>
            </a:r>
            <a:endParaRPr/>
          </a:p>
          <a:p>
            <a:pPr marL="971550" lvl="1" indent="-5143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If valid, both sides agree on a session key to encrypt data.</a:t>
            </a:r>
            <a:endParaRPr/>
          </a:p>
          <a:p>
            <a:pPr marL="971550" lvl="1" indent="-5143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From now on, all communication is encrypted.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87"/>
          <p:cNvSpPr txBox="1">
            <a:spLocks noGrp="1"/>
          </p:cNvSpPr>
          <p:nvPr>
            <p:ph type="title"/>
          </p:nvPr>
        </p:nvSpPr>
        <p:spPr>
          <a:xfrm>
            <a:off x="1511785" y="207568"/>
            <a:ext cx="100188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Calibri"/>
              <a:buNone/>
            </a:pPr>
            <a:r>
              <a:rPr lang="en-US" b="1"/>
              <a:t>HTTPS</a:t>
            </a:r>
            <a:endParaRPr b="1"/>
          </a:p>
        </p:txBody>
      </p:sp>
      <p:sp>
        <p:nvSpPr>
          <p:cNvPr id="1893" name="Google Shape;1893;p87"/>
          <p:cNvSpPr/>
          <p:nvPr/>
        </p:nvSpPr>
        <p:spPr>
          <a:xfrm>
            <a:off x="1037750" y="990625"/>
            <a:ext cx="10492800" cy="56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746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300"/>
              <a:buFont typeface="Arial"/>
              <a:buChar char="●"/>
            </a:pPr>
            <a:r>
              <a:rPr lang="en-US" sz="2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Websites to have an HTTPS protocol, need to install the </a:t>
            </a:r>
            <a:r>
              <a:rPr lang="en-US" sz="23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signed SSL certificate.</a:t>
            </a:r>
            <a:endParaRPr sz="2300" b="1" i="0" u="none" strike="noStrike" cap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746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Arial"/>
              <a:buChar char="●"/>
            </a:pPr>
            <a:r>
              <a:rPr lang="en-US" sz="2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SSL protocol encrypts the data which the client transmits to the server.</a:t>
            </a:r>
            <a:endParaRPr sz="23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Arial"/>
              <a:buChar char="●"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digital certificate is a file that contains 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Arial"/>
              <a:buChar char="○"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about the organization to help it authenticate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Arial"/>
              <a:buChar char="○"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Cryptographic information that helps site users communicate with it securely through encryption.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7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7465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Arial"/>
              <a:buChar char="●"/>
            </a:pPr>
            <a:r>
              <a:rPr lang="en-US" sz="2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It is a transport layer protocol.</a:t>
            </a:r>
            <a:endParaRPr sz="23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746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Arial"/>
              <a:buChar char="●"/>
            </a:pPr>
            <a:r>
              <a:rPr lang="en-US" sz="2300" b="1" i="0" u="none" strike="noStrike" cap="none">
                <a:solidFill>
                  <a:srgbClr val="7E28CD"/>
                </a:solidFill>
                <a:latin typeface="Arial"/>
                <a:ea typeface="Arial"/>
                <a:cs typeface="Arial"/>
                <a:sym typeface="Arial"/>
              </a:rPr>
              <a:t>SEO Advantage</a:t>
            </a:r>
            <a:r>
              <a:rPr lang="en-US" sz="23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: GOOGLE gives the preferences to those websites that use HTTPS rather than the websites that use HTTP.</a:t>
            </a:r>
            <a:endParaRPr sz="23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4" name="Google Shape;1894;p87" descr="A screenshot of the not secure warning message that displays when users visit insecure HTTP websites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56925" y="5929350"/>
            <a:ext cx="5041399" cy="8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8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00" name="Google Shape;1900;p8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901" name="Google Shape;1901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392" y="441210"/>
            <a:ext cx="11253216" cy="2633894"/>
          </a:xfrm>
          <a:prstGeom prst="rect">
            <a:avLst/>
          </a:prstGeom>
          <a:noFill/>
          <a:ln>
            <a:noFill/>
          </a:ln>
        </p:spPr>
      </p:pic>
      <p:sp>
        <p:nvSpPr>
          <p:cNvPr id="1902" name="Google Shape;1902;p88"/>
          <p:cNvSpPr txBox="1"/>
          <p:nvPr/>
        </p:nvSpPr>
        <p:spPr>
          <a:xfrm>
            <a:off x="1216152" y="3749040"/>
            <a:ext cx="3262432" cy="8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Problem: You are using HTTP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 Use HTTPS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8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  <p:sp>
        <p:nvSpPr>
          <p:cNvPr id="1908" name="Google Shape;1908;p8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49580" algn="r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3045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4642</TotalTime>
  <Words>3853</Words>
  <Application>Microsoft Office PowerPoint</Application>
  <PresentationFormat>Widescreen</PresentationFormat>
  <Paragraphs>773</Paragraphs>
  <Slides>77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9" baseType="lpstr">
      <vt:lpstr>Calibri</vt:lpstr>
      <vt:lpstr>Verdana</vt:lpstr>
      <vt:lpstr>Arial</vt:lpstr>
      <vt:lpstr>Courier New</vt:lpstr>
      <vt:lpstr>Gill Sans</vt:lpstr>
      <vt:lpstr>Times New Roman</vt:lpstr>
      <vt:lpstr>Corbel</vt:lpstr>
      <vt:lpstr>Tahoma</vt:lpstr>
      <vt:lpstr>Comic Sans MS</vt:lpstr>
      <vt:lpstr>Noto Sans Symbols</vt:lpstr>
      <vt:lpstr>Cambria Math</vt:lpstr>
      <vt:lpstr>Office Theme</vt:lpstr>
      <vt:lpstr>Application Layer (HTTP)</vt:lpstr>
      <vt:lpstr>Applications </vt:lpstr>
      <vt:lpstr>Objectives </vt:lpstr>
      <vt:lpstr>Network Models</vt:lpstr>
      <vt:lpstr>Application Layer</vt:lpstr>
      <vt:lpstr>Application Layer</vt:lpstr>
      <vt:lpstr>PowerPoint Presentation</vt:lpstr>
      <vt:lpstr>Client/Server Model</vt:lpstr>
      <vt:lpstr>Peer-to-Peer Model</vt:lpstr>
      <vt:lpstr>Web and HTTP</vt:lpstr>
      <vt:lpstr>Objectives -Part 2</vt:lpstr>
      <vt:lpstr>    WWW—The Web  </vt:lpstr>
      <vt:lpstr>PowerPoint Presentation</vt:lpstr>
      <vt:lpstr>    WWW- The Web  </vt:lpstr>
      <vt:lpstr>    WWW—The Web  </vt:lpstr>
      <vt:lpstr>PowerPoint Presentation</vt:lpstr>
      <vt:lpstr>PowerPoint Presentation</vt:lpstr>
      <vt:lpstr>HTTP messages</vt:lpstr>
      <vt:lpstr>HTTP request message format</vt:lpstr>
      <vt:lpstr>HTTP request message: Example</vt:lpstr>
      <vt:lpstr>HTTP Method types</vt:lpstr>
      <vt:lpstr>PowerPoint Presentation</vt:lpstr>
      <vt:lpstr>Uploading form input</vt:lpstr>
      <vt:lpstr>HTTP Methods</vt:lpstr>
      <vt:lpstr>PowerPoint Presentation</vt:lpstr>
      <vt:lpstr>HTTP response message: General Format</vt:lpstr>
      <vt:lpstr>HTTP response message : Example</vt:lpstr>
      <vt:lpstr>HTTP response status codes</vt:lpstr>
      <vt:lpstr>HTTP response status codes</vt:lpstr>
      <vt:lpstr>Objectives -Part 3 </vt:lpstr>
      <vt:lpstr>HTTP Connections</vt:lpstr>
      <vt:lpstr>HTTP Connections  (cont.)</vt:lpstr>
      <vt:lpstr>Non-persistent HTTP: response time</vt:lpstr>
      <vt:lpstr>Non-persistent HTTP: response time for two objects</vt:lpstr>
      <vt:lpstr>PowerPoint Presentation</vt:lpstr>
      <vt:lpstr>HTTP Transmission Calculation</vt:lpstr>
      <vt:lpstr>PowerPoint Presentation</vt:lpstr>
      <vt:lpstr>PowerPoint Presentation</vt:lpstr>
      <vt:lpstr>Analysis of Previous Semesters' Questions </vt:lpstr>
      <vt:lpstr>Persistent HTTP</vt:lpstr>
      <vt:lpstr>Non-persistent HTTP vs Persistent HTTP</vt:lpstr>
      <vt:lpstr>PowerPoint Presentation</vt:lpstr>
      <vt:lpstr>HTTP Persistent Connections</vt:lpstr>
      <vt:lpstr>PowerPoint Presentation</vt:lpstr>
      <vt:lpstr>PowerPoint Presentation</vt:lpstr>
      <vt:lpstr>COOKIES</vt:lpstr>
      <vt:lpstr>Objectives -Part 4  </vt:lpstr>
      <vt:lpstr>Stateless HTTP</vt:lpstr>
      <vt:lpstr>User-server state: cookies</vt:lpstr>
      <vt:lpstr>Cookies: keeping “state” (cont.)</vt:lpstr>
      <vt:lpstr>Cookies: keeping “state” (cont.)</vt:lpstr>
      <vt:lpstr>Cookies (continued)</vt:lpstr>
      <vt:lpstr>PowerPoint Presentation</vt:lpstr>
      <vt:lpstr>PowerPoint Presentation</vt:lpstr>
      <vt:lpstr>PowerPoint Presentation</vt:lpstr>
      <vt:lpstr>Web Cache or Proxy Server</vt:lpstr>
      <vt:lpstr>Objectives - Part 5</vt:lpstr>
      <vt:lpstr>Web caches (proxy server)</vt:lpstr>
      <vt:lpstr>More about Web caching</vt:lpstr>
      <vt:lpstr>Advantages of Web Caching </vt:lpstr>
      <vt:lpstr>PowerPoint Presentation</vt:lpstr>
      <vt:lpstr>Caching example: </vt:lpstr>
      <vt:lpstr>Caching example: </vt:lpstr>
      <vt:lpstr>Caching example: </vt:lpstr>
      <vt:lpstr>Caching example: Solution </vt:lpstr>
      <vt:lpstr>Caching example: Solution 1 </vt:lpstr>
      <vt:lpstr>Caching example: Solution 2</vt:lpstr>
      <vt:lpstr>Stale Cache</vt:lpstr>
      <vt:lpstr>Conditional GET </vt:lpstr>
      <vt:lpstr>Conditional GET </vt:lpstr>
      <vt:lpstr>PowerPoint Presentation</vt:lpstr>
      <vt:lpstr>HTTPS</vt:lpstr>
      <vt:lpstr>HTTPS</vt:lpstr>
      <vt:lpstr>PowerPoint Presentation</vt:lpstr>
      <vt:lpstr>HTTPS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Layer (HTTP)</dc:title>
  <cp:lastModifiedBy>Md. Sakir Hossain</cp:lastModifiedBy>
  <cp:revision>33</cp:revision>
  <dcterms:modified xsi:type="dcterms:W3CDTF">2026-06-22T15:45:33Z</dcterms:modified>
</cp:coreProperties>
</file>